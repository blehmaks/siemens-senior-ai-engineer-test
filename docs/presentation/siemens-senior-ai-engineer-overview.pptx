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c278d32bca64ea4" /><Relationship Type="http://schemas.openxmlformats.org/officeDocument/2006/relationships/extended-properties" Target="/docProps/app.xml" Id="Rf1b686cc876f4454" /><Relationship Type="http://schemas.openxmlformats.org/officeDocument/2006/relationships/officeDocument" Target="/ppt/presentation.xml" Id="Rfd4eb30c3af6494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732fc8304c4410"/>
  </p:sldMasterIdLst>
  <p:notesMasterIdLst>
    <p:notesMasterId xmlns:r="http://schemas.openxmlformats.org/officeDocument/2006/relationships" r:id="Rf6df5b5652754d3f"/>
  </p:notesMasterIdLst>
  <p:sldIdLst>
    <p:sldId xmlns:r="http://schemas.openxmlformats.org/officeDocument/2006/relationships" id="256" r:id="Rd4da2411173e44ab"/>
    <p:sldId xmlns:r="http://schemas.openxmlformats.org/officeDocument/2006/relationships" id="257" r:id="R6b4fc24a19b540da"/>
    <p:sldId xmlns:r="http://schemas.openxmlformats.org/officeDocument/2006/relationships" id="258" r:id="R508ee1b6a45e4df3"/>
    <p:sldId xmlns:r="http://schemas.openxmlformats.org/officeDocument/2006/relationships" id="259" r:id="R8698431950094115"/>
    <p:sldId xmlns:r="http://schemas.openxmlformats.org/officeDocument/2006/relationships" id="260" r:id="R158880f371fe4ce9"/>
    <p:sldId xmlns:r="http://schemas.openxmlformats.org/officeDocument/2006/relationships" id="261" r:id="R49859d6139e840d2"/>
    <p:sldId xmlns:r="http://schemas.openxmlformats.org/officeDocument/2006/relationships" id="262" r:id="Ra010c59e10474751"/>
    <p:sldId xmlns:r="http://schemas.openxmlformats.org/officeDocument/2006/relationships" id="263" r:id="R7ee3556b4e0c4337"/>
    <p:sldId xmlns:r="http://schemas.openxmlformats.org/officeDocument/2006/relationships" id="264" r:id="Rcb785c2a596445c3"/>
    <p:sldId xmlns:r="http://schemas.openxmlformats.org/officeDocument/2006/relationships" id="265" r:id="R55d3d5dc0c3e469b"/>
    <p:sldId xmlns:r="http://schemas.openxmlformats.org/officeDocument/2006/relationships" id="266" r:id="R6f611b8740614c61"/>
    <p:sldId xmlns:r="http://schemas.openxmlformats.org/officeDocument/2006/relationships" id="267" r:id="R5b626d4803de4ea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eca390c7404bbf" /><Relationship Type="http://schemas.openxmlformats.org/officeDocument/2006/relationships/slideMaster" Target="/ppt/slideMasters/slideMaster1.xml" Id="Re0732fc8304c4410" /><Relationship Type="http://schemas.openxmlformats.org/officeDocument/2006/relationships/notesMaster" Target="/ppt/notesMasters/notesMaster1.xml" Id="Rf6df5b5652754d3f" /><Relationship Type="http://schemas.openxmlformats.org/officeDocument/2006/relationships/presProps" Target="/ppt/presProps.xml" Id="R444a9384c9a34f77" /><Relationship Type="http://schemas.openxmlformats.org/officeDocument/2006/relationships/tableStyles" Target="/ppt/tableStyles.xml" Id="R7b122704a4094e0a" /><Relationship Type="http://schemas.openxmlformats.org/officeDocument/2006/relationships/slide" Target="/ppt/slides/slide1.xml" Id="Rd4da2411173e44ab" /><Relationship Type="http://schemas.openxmlformats.org/officeDocument/2006/relationships/slide" Target="/ppt/slides/slide2.xml" Id="R6b4fc24a19b540da" /><Relationship Type="http://schemas.openxmlformats.org/officeDocument/2006/relationships/slide" Target="/ppt/slides/slide3.xml" Id="R508ee1b6a45e4df3" /><Relationship Type="http://schemas.openxmlformats.org/officeDocument/2006/relationships/slide" Target="/ppt/slides/slide4.xml" Id="R8698431950094115" /><Relationship Type="http://schemas.openxmlformats.org/officeDocument/2006/relationships/slide" Target="/ppt/slides/slide5.xml" Id="R158880f371fe4ce9" /><Relationship Type="http://schemas.openxmlformats.org/officeDocument/2006/relationships/slide" Target="/ppt/slides/slide6.xml" Id="R49859d6139e840d2" /><Relationship Type="http://schemas.openxmlformats.org/officeDocument/2006/relationships/slide" Target="/ppt/slides/slide7.xml" Id="Ra010c59e10474751" /><Relationship Type="http://schemas.openxmlformats.org/officeDocument/2006/relationships/slide" Target="/ppt/slides/slide8.xml" Id="R7ee3556b4e0c4337" /><Relationship Type="http://schemas.openxmlformats.org/officeDocument/2006/relationships/slide" Target="/ppt/slides/slide9.xml" Id="Rcb785c2a596445c3" /><Relationship Type="http://schemas.openxmlformats.org/officeDocument/2006/relationships/slide" Target="/ppt/slides/slide10.xml" Id="R55d3d5dc0c3e469b" /><Relationship Type="http://schemas.openxmlformats.org/officeDocument/2006/relationships/slide" Target="/ppt/slides/slide11.xml" Id="R6f611b8740614c61" /><Relationship Type="http://schemas.openxmlformats.org/officeDocument/2006/relationships/slide" Target="/ppt/slides/slide12.xml" Id="R5b626d4803de4e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a30f1ecd2e418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f3cec9c645c4ffe" /><Relationship Type="http://schemas.openxmlformats.org/officeDocument/2006/relationships/notesMaster" Target="/ppt/notesMasters/notesMaster1.xml" Id="Rda44ad48fc2a4fc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95f81d9ee84e09" /><Relationship Type="http://schemas.openxmlformats.org/officeDocument/2006/relationships/notesMaster" Target="/ppt/notesMasters/notesMaster1.xml" Id="Rd81a0b9e320c44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e4118efd1c84743" /><Relationship Type="http://schemas.openxmlformats.org/officeDocument/2006/relationships/notesMaster" Target="/ppt/notesMasters/notesMaster1.xml" Id="R1f7b9f32e9614d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aad64ca0874468" /><Relationship Type="http://schemas.openxmlformats.org/officeDocument/2006/relationships/notesMaster" Target="/ppt/notesMasters/notesMaster1.xml" Id="R41d92164494b4d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f272bf4b274755" /><Relationship Type="http://schemas.openxmlformats.org/officeDocument/2006/relationships/notesMaster" Target="/ppt/notesMasters/notesMaster1.xml" Id="R49e3af8119b049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6537db559ae4748" /><Relationship Type="http://schemas.openxmlformats.org/officeDocument/2006/relationships/notesMaster" Target="/ppt/notesMasters/notesMaster1.xml" Id="Rf2b53daab1624c1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ba85a152d8a41f6" /><Relationship Type="http://schemas.openxmlformats.org/officeDocument/2006/relationships/notesMaster" Target="/ppt/notesMasters/notesMaster1.xml" Id="Rc33f03acc39d453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65171b9801f4b91" /><Relationship Type="http://schemas.openxmlformats.org/officeDocument/2006/relationships/notesMaster" Target="/ppt/notesMasters/notesMaster1.xml" Id="R0e25f602eb5f4a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190bcc923ca4c8a" /><Relationship Type="http://schemas.openxmlformats.org/officeDocument/2006/relationships/notesMaster" Target="/ppt/notesMasters/notesMaster1.xml" Id="Rfe75f5ced1db460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936098e10194175" /><Relationship Type="http://schemas.openxmlformats.org/officeDocument/2006/relationships/notesMaster" Target="/ppt/notesMasters/notesMaster1.xml" Id="Ra3a1a2ae95cf411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98721cf47ba4ea4" /><Relationship Type="http://schemas.openxmlformats.org/officeDocument/2006/relationships/notesMaster" Target="/ppt/notesMasters/notesMaster1.xml" Id="R298ae7cb539a413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35f24d2956d4a75" /><Relationship Type="http://schemas.openxmlformats.org/officeDocument/2006/relationships/notesMaster" Target="/ppt/notesMasters/notesMaster1.xml" Id="Rff0d3b5f92c640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docs/extension-scope-freeze.md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docs/adr/0007-business-extension-boundaries.md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task-01-search-agent/benchmarks/protocol.json</a:t>
            </a:r>
          </a:p>
          <a:p xmlns:a="http://schemas.openxmlformats.org/drawingml/2006/main">
            <a:r>
              <a:t>- task-01-search-agent/benchmarks/fixtures/synthetic-report.json</a:t>
            </a:r>
          </a:p>
          <a:p xmlns:a="http://schemas.openxmlformats.org/drawingml/2006/main">
            <a:r>
              <a:t>- docs/presentation/diagrams/task-01-search-agent.mmd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task-02-agent-api/tests/snapshots/openapi_contract.json</a:t>
            </a:r>
          </a:p>
          <a:p xmlns:a="http://schemas.openxmlformats.org/drawingml/2006/main">
            <a:r>
              <a:t>- task-02-agent-api/README.md</a:t>
            </a:r>
          </a:p>
          <a:p xmlns:a="http://schemas.openxmlformats.org/drawingml/2006/main">
            <a:r>
              <a:t>- docs/presentation/diagrams/task-02-agent-api.mmd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task-03-deployment-strategy/architecture/capacity-load-proof.sample.json</a:t>
            </a:r>
          </a:p>
          <a:p xmlns:a="http://schemas.openxmlformats.org/drawingml/2006/main">
            <a:r>
              <a:t>- task-03-deployment-strategy/architecture/strategy.md</a:t>
            </a:r>
          </a:p>
          <a:p xmlns:a="http://schemas.openxmlformats.org/drawingml/2006/main">
            <a:r>
              <a:t>- docs/presentation/diagrams/task-03-deployment-strategy.mmd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task-04-binary-classification/README.md</a:t>
            </a:r>
          </a:p>
          <a:p xmlns:a="http://schemas.openxmlformats.org/drawingml/2006/main">
            <a:r>
              <a:t>- docs/adr/0008-task4-calibrated-decision-layer.md</a:t>
            </a:r>
          </a:p>
          <a:p xmlns:a="http://schemas.openxmlformats.org/drawingml/2006/main">
            <a:r>
              <a:t>- docs/presentation/diagrams/task-04-binary-classification.mmd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task-04-binary-classification/reports/metrics.json</a:t>
            </a:r>
          </a:p>
          <a:p xmlns:a="http://schemas.openxmlformats.org/drawingml/2006/main">
            <a:r>
              <a:t>- task-04-binary-classification/reports/baseline-vs-extension.json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task-05-material-similarity/README.md</a:t>
            </a:r>
          </a:p>
          <a:p xmlns:a="http://schemas.openxmlformats.org/drawingml/2006/main">
            <a:r>
              <a:t>- docs/adr/0009-task5-compatibility-policy.md</a:t>
            </a:r>
          </a:p>
          <a:p xmlns:a="http://schemas.openxmlformats.org/drawingml/2006/main">
            <a:r>
              <a:t>- docs/presentation/diagrams/task-05-material-similarity.mmd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task-05-material-similarity/reports/relevance-metrics.json</a:t>
            </a:r>
          </a:p>
          <a:p xmlns:a="http://schemas.openxmlformats.org/drawingml/2006/main">
            <a:r>
              <a:t>- task-05-material-similarity/reports/baseline-vs-extension.json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task-06-category-consolidation/README.md</a:t>
            </a:r>
          </a:p>
          <a:p xmlns:a="http://schemas.openxmlformats.org/drawingml/2006/main">
            <a:r>
              <a:t>- docs/adr/0010-task6-optional-sklearn-adapter.md</a:t>
            </a:r>
          </a:p>
          <a:p xmlns:a="http://schemas.openxmlformats.org/drawingml/2006/main">
            <a:r>
              <a:t>- docs/presentation/diagrams/task-06-category-consolidation.mmd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task-06-category-consolidation/reports/baseline-vs-extension.json</a:t>
            </a:r>
          </a:p>
          <a:p xmlns:a="http://schemas.openxmlformats.org/drawingml/2006/main">
            <a:r>
              <a:t>- reports/test-coverage-baseline.md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docs/owner-acceptance-checklist.md</a:t>
            </a:r>
          </a:p>
          <a:p xmlns:a="http://schemas.openxmlformats.org/drawingml/2006/main">
            <a:r>
              <a:t>- docs/reviewer-guide.md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9312c7259e489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d232f1a416478d" /><Relationship Type="http://schemas.openxmlformats.org/officeDocument/2006/relationships/slideLayout" Target="/ppt/slideLayouts/slideLayout1.xml" Id="R7c82d0fc7f8b4d5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82d0fc7f8b4d5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808a26560349a1" /><Relationship Type="http://schemas.openxmlformats.org/officeDocument/2006/relationships/notesSlide" Target="/ppt/notesSlides/notesSlide1.xml" Id="Re65be3b81d354d7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9f001e4dd049fa" /><Relationship Type="http://schemas.openxmlformats.org/officeDocument/2006/relationships/notesSlide" Target="/ppt/notesSlides/notesSlide2.xml" Id="Refc03fc20d3642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d162036ddb443b" /><Relationship Type="http://schemas.openxmlformats.org/officeDocument/2006/relationships/image" Target="/ppt/media/image.png" Id="Ree49c891043244c9" /><Relationship Type="http://schemas.openxmlformats.org/officeDocument/2006/relationships/notesSlide" Target="/ppt/notesSlides/notesSlide3.xml" Id="R9ca99125776541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150b72df5b49b3" /><Relationship Type="http://schemas.openxmlformats.org/officeDocument/2006/relationships/image" Target="/ppt/media/image2.png" Id="R2ec90bd050ab4ff2" /><Relationship Type="http://schemas.openxmlformats.org/officeDocument/2006/relationships/notesSlide" Target="/ppt/notesSlides/notesSlide4.xml" Id="R2f0a8ed105cb4e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8af5bd410f44df" /><Relationship Type="http://schemas.openxmlformats.org/officeDocument/2006/relationships/image" Target="/ppt/media/image3.png" Id="R9562f5c9af4a4763" /><Relationship Type="http://schemas.openxmlformats.org/officeDocument/2006/relationships/notesSlide" Target="/ppt/notesSlides/notesSlide5.xml" Id="Rd23a1c39aeca42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f66abe803b4526" /><Relationship Type="http://schemas.openxmlformats.org/officeDocument/2006/relationships/image" Target="/ppt/media/image4.png" Id="R00e8dafb3c7f479b" /><Relationship Type="http://schemas.openxmlformats.org/officeDocument/2006/relationships/notesSlide" Target="/ppt/notesSlides/notesSlide6.xml" Id="R93d433b03dd2495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3f9b0c145246cb" /><Relationship Type="http://schemas.openxmlformats.org/officeDocument/2006/relationships/notesSlide" Target="/ppt/notesSlides/notesSlide7.xml" Id="Rf6a21b96af41407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d635c2a1c540fe" /><Relationship Type="http://schemas.openxmlformats.org/officeDocument/2006/relationships/image" Target="/ppt/media/image5.png" Id="Rc2aa103b38c4422c" /><Relationship Type="http://schemas.openxmlformats.org/officeDocument/2006/relationships/notesSlide" Target="/ppt/notesSlides/notesSlide8.xml" Id="R17eecf0f77764af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f66ba3e7a84add" /><Relationship Type="http://schemas.openxmlformats.org/officeDocument/2006/relationships/notesSlide" Target="/ppt/notesSlides/notesSlide9.xml" Id="Re5c4aa0f785749f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35ae8b2863445c" /><Relationship Type="http://schemas.openxmlformats.org/officeDocument/2006/relationships/image" Target="/ppt/media/image6.png" Id="Rfd9f3ac50bb540c8" /><Relationship Type="http://schemas.openxmlformats.org/officeDocument/2006/relationships/notesSlide" Target="/ppt/notesSlides/notesSlide10.xml" Id="Ra343b74fd4214a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97b8e566949c1" /><Relationship Type="http://schemas.openxmlformats.org/officeDocument/2006/relationships/notesSlide" Target="/ppt/notesSlides/notesSlide11.xml" Id="R6a7a6c34377f46c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92dd69b654802" /><Relationship Type="http://schemas.openxmlformats.org/officeDocument/2006/relationships/notesSlide" Target="/ppt/notesSlides/notesSlide12.xml" Id="R959e511557ab43b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E4C4B6-2675-43EC-9CE5-D396C69B3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E6470"/>
                </a:solidFill>
                <a:latin typeface="Arial"/>
                <a:ea typeface="Arial"/>
                <a:cs typeface="Arial"/>
              </a:rPr>
              <a:t>SIEMENS · SENIOR AI ENGINEER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F8BEDF-7364-449D-BD04-387847479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971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Six bounded systems.</a:t>
            </a:r>
          </a:p>
          <a:p xmlns:a="http://schemas.openxmlformats.org/drawingml/2006/main">
            <a:pPr algn="l">
              <a:defRPr sz="5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evidence discipline.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FC796A-B0EA-4E35-B872-DC79ECDB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1066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84163A-4DAC-4044-99AA-776A405B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0"/>
            <a:ext cx="7429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Assignment baselines stay usable; business extensions remain explicit, tested, and reviewable.</a:t>
            </a:r>
          </a:p>
        </p:txBody>
      </p:sp>
    </p:spTree>
    <p:extLst>
      <p:ext uri="{BB962C8B-B14F-4D97-AF65-F5344CB8AC3E}">
        <p14:creationId xmlns:p14="http://schemas.microsoft.com/office/powerpoint/2010/main" val="10698233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8BE6E5-DFA7-42B6-903C-DEDD80EF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E6470"/>
                </a:solidFill>
                <a:latin typeface="Arial"/>
                <a:ea typeface="Arial"/>
                <a:cs typeface="Arial"/>
              </a:rPr>
              <a:t>SYSTEM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E0B9AF-7B1A-43BC-8609-406798693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076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repository turns six requirements into auditable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275A9F-1AB2-4799-860A-242ABB1C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D000EF-1E24-468E-9223-63998250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57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3195E0-6280-491D-A2F1-78116972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08EF5A-EBBF-435F-B1C4-5D14FA43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E6470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340098-C652-4484-95C2-795CF77D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90875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Task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6DD99B-81E0-4232-91A1-AFA09251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0"/>
            <a:ext cx="285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Bounded research</a:t>
            </a:r>
          </a:p>
          <a:p xmlns:a="http://schemas.openxmlformats.org/drawingml/2006/main">
            <a:pPr algn="l">
              <a:defRPr sz="18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and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C2218D-3993-4998-BD3B-4676CF9A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6670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C8C1C0-797D-457F-A11F-223391E8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0002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E6470"/>
                </a:solidFill>
                <a:latin typeface="Arial"/>
                <a:ea typeface="Arial"/>
                <a:cs typeface="Arial"/>
              </a:rPr>
              <a:t>OPERATE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1E4691-06BB-4EC0-BA36-830D62916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190875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Tasks 2–3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7C9EE6-4214-4BF8-9E65-5694E651A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810000"/>
            <a:ext cx="285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Durable API</a:t>
            </a:r>
          </a:p>
          <a:p xmlns:a="http://schemas.openxmlformats.org/drawingml/2006/main">
            <a:pPr algn="l">
              <a:defRPr sz="18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and GCP reference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4C8024-C727-40DB-B3AE-16343428C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670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CE70DA-68DC-4E27-9764-C62DBB1D9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002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E6470"/>
                </a:solidFill>
                <a:latin typeface="Arial"/>
                <a:ea typeface="Arial"/>
                <a:cs typeface="Arial"/>
              </a:rPr>
              <a:t>DECIDE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A0F544-B233-4093-88AD-C4EE9713B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90875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Tasks 4–6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382507-9FDF-4877-87EB-526916E9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10000"/>
            <a:ext cx="285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Calibrated, compatible,</a:t>
            </a:r>
          </a:p>
          <a:p xmlns:a="http://schemas.openxmlformats.org/drawingml/2006/main">
            <a:pPr algn="l">
              <a:defRPr sz="18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leakage-safe extensions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D4DAF7-DF97-4702-9544-06DAA5DF0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97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2613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2613B"/>
                </a:solidFill>
                <a:latin typeface="Arial"/>
                <a:ea typeface="Arial"/>
                <a:cs typeface="Arial"/>
              </a:rPr>
              <a:t>Evidence moves forward; unsupported claims stop at the boundary.</a:t>
            </a:r>
          </a:p>
        </p:txBody>
      </p:sp>
    </p:spTree>
    <p:extLst>
      <p:ext uri="{BB962C8B-B14F-4D97-AF65-F5344CB8AC3E}">
        <p14:creationId xmlns:p14="http://schemas.microsoft.com/office/powerpoint/2010/main" val="9393622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49c891043244c9"/>
          <a:stretch xmlns:a="http://schemas.openxmlformats.org/drawingml/2006/main"/>
        </p:blipFill>
        <p:spPr>
          <a:xfrm xmlns:a="http://schemas.openxmlformats.org/drawingml/2006/main">
            <a:off x="241927" y="762000"/>
            <a:ext cx="8326771" cy="4810125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65096F-1569-46FE-A106-FBE7F3190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876300"/>
            <a:ext cx="276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Committed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4C1AA9-FA35-4E0E-A1D3-43C19430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76375"/>
            <a:ext cx="2714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27F28-11E7-4D0C-9EDF-7D8CD846F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43125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4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candidate model configurations in a frozen protocol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6EF4E7-86E5-4603-954A-F798CF49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0375"/>
            <a:ext cx="2714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FROZEN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1C556F-90A6-4F07-BF97-08EC02DC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67125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protocol status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91C86F-931E-4409-8A48-B2E5381E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762500"/>
            <a:ext cx="2857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0"/>
          </a:solidFill>
          <a:ln xmlns:a="http://schemas.openxmlformats.org/drawingml/2006/main" w="19050">
            <a:solidFill>
              <a:srgbClr val="D14B2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16042D-CC0F-4836-830A-293F5E51F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933950"/>
            <a:ext cx="2438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C2F1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8C2F1E"/>
                </a:solidFill>
                <a:latin typeface="Arial"/>
                <a:ea typeface="Arial"/>
                <a:cs typeface="Arial"/>
              </a:rPr>
              <a:t>Synthetic fixture: synthetic; no live model selected.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23E5BB-2C27-4B33-994B-86EC8DE9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891610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c90bd050ab4ff2"/>
          <a:stretch xmlns:a="http://schemas.openxmlformats.org/drawingml/2006/main"/>
        </p:blipFill>
        <p:spPr>
          <a:xfrm xmlns:a="http://schemas.openxmlformats.org/drawingml/2006/main">
            <a:off x="241927" y="762000"/>
            <a:ext cx="8326771" cy="4810125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A740CE-19B1-47E1-9CCE-287DD7DD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876300"/>
            <a:ext cx="276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Versioned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488FFF-4A2B-4EF6-8A2F-44686618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76375"/>
            <a:ext cx="2714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84CE9A-9BB9-41E7-BFC0-555FAF18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43125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API paths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4850A-4B7C-464B-83B3-25EEC034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57500"/>
            <a:ext cx="2714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11706F-ACA1-4641-96CE-A878E4037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2425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HTTP operations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100EEC-F1C0-422A-9485-47B42D54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14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3A6368-8425-4433-B3F3-8E8A1A7C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905375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declared schemas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5C8D3C-1054-416B-A21D-63A5BEB4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370877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62f5c9af4a4763"/>
          <a:stretch xmlns:a="http://schemas.openxmlformats.org/drawingml/2006/main"/>
        </p:blipFill>
        <p:spPr>
          <a:xfrm xmlns:a="http://schemas.openxmlformats.org/drawingml/2006/main">
            <a:off x="190500" y="722235"/>
            <a:ext cx="8382000" cy="4842029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138297-FA66-4810-B495-25E26199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8572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Local capacity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A7ACDF-46A5-45DB-93C3-CB581C01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76375"/>
            <a:ext cx="2714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FD60FC-3D20-4AAF-9C0D-89DECDBE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43125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submitted jobs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4C9F53-8407-4CF7-AE6C-65A22115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57500"/>
            <a:ext cx="2714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8/12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599E2E-18E4-4BE0-B308-039C3348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2425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accepted under the bounded envelope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ECDD53-84CF-45CE-8410-01DD2940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14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264 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4FE6EA-AF22-4D5C-8860-EAB18C4A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905375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p95 first event — fake provider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6EC06F-4CF5-49B8-B50E-8AD51322E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619750"/>
            <a:ext cx="7905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0"/>
          </a:solidFill>
          <a:ln xmlns:a="http://schemas.openxmlformats.org/drawingml/2006/main" w="19050">
            <a:solidFill>
              <a:srgbClr val="D14B2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E0C4AC-D042-478F-833D-A1F10D55D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91200"/>
            <a:ext cx="7486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C2F1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8C2F1E"/>
                </a:solidFill>
                <a:latin typeface="Arial"/>
                <a:ea typeface="Arial"/>
                <a:cs typeface="Arial"/>
              </a:rPr>
              <a:t>Reference architecture and local proof — not a live production claim.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BC1389-1A92-461F-B9CC-F920A7AA9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789708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e8dafb3c7f479b"/>
          <a:stretch xmlns:a="http://schemas.openxmlformats.org/drawingml/2006/main"/>
        </p:blipFill>
        <p:spPr>
          <a:xfrm xmlns:a="http://schemas.openxmlformats.org/drawingml/2006/main">
            <a:off x="324971" y="95250"/>
            <a:ext cx="11542059" cy="6667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63E5E1-DA56-4F83-9029-57046078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262954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76C4AF-CCD1-43D9-A1AB-0CDD4B09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E6470"/>
                </a:solidFill>
                <a:latin typeface="Arial"/>
                <a:ea typeface="Arial"/>
                <a:cs typeface="Arial"/>
              </a:rPr>
              <a:t>TASK 4 ·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EE26B4-AA58-42CD-B50C-B775B5E4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076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Calibration improves probability quality without rewriting the baseline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50335B-7A62-4246-9135-A3C7B512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325C10-213F-4661-A6F5-66F111064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34000"/>
            <a:ext cx="5286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72A65A-513C-47D3-A814-0AA6149C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19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2386C1-BF1C-47CE-B76A-A0E2E3022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57700"/>
            <a:ext cx="5286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FA1834-05D5-4FEE-8CBE-03823895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3434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0.1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96B42E-43B6-4843-AB0B-5F846D5D9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81400"/>
            <a:ext cx="5286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C33F51-F58D-4E2D-9BB3-005B7C45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671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4713EE-8B32-4F27-BE1E-86E3963F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5286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7732BE-6E4B-43C8-9449-3919D67C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908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606678-F512-4ED5-B118-B8990BE72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681256"/>
            <a:ext cx="1381125" cy="2652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EEEDC5-2A2C-49AE-83A6-F9AF03B8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395506"/>
            <a:ext cx="1381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3A7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3A7A"/>
                </a:solidFill>
                <a:latin typeface="Arial"/>
                <a:ea typeface="Arial"/>
                <a:cs typeface="Arial"/>
              </a:rPr>
              <a:t>0.303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ACB8EE-0D3B-40F3-9EF7-C458F8D8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40067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Raw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E75319-4022-4A68-9B7E-CE6C319F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52583"/>
            <a:ext cx="1381125" cy="14814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024B0C-B7E4-4FE6-9410-CA600695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566833"/>
            <a:ext cx="1381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3A7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3A7A"/>
                </a:solidFill>
                <a:latin typeface="Arial"/>
                <a:ea typeface="Arial"/>
                <a:cs typeface="Arial"/>
              </a:rPr>
              <a:t>0.169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73D052-6C46-48A5-8265-84D4F7872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40067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Calibrated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7BA3E3-09C5-46B4-9B43-2C45F56AC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762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470"/>
                </a:solidFill>
                <a:latin typeface="Arial"/>
                <a:ea typeface="Arial"/>
                <a:cs typeface="Arial"/>
              </a:rPr>
              <a:t>Brier score · lower is better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E33899-674B-48BC-820A-32063B48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19750"/>
            <a:ext cx="561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Sanitized extension fixture · 96 train / 24 holdout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31E013-71D1-4693-AEB8-49E65B3E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14500"/>
            <a:ext cx="476250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8CF720-915E-41CB-8988-98267EEE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47875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174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3A7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A7A"/>
                </a:solidFill>
                <a:latin typeface="Arial"/>
                <a:ea typeface="Arial"/>
                <a:cs typeface="Arial"/>
              </a:rPr>
              <a:t>Recorded assignment baseline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25C60A-D7F8-4041-9E4C-470ECA81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714625"/>
            <a:ext cx="190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3A7A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73A7A"/>
                </a:solidFill>
                <a:latin typeface="Arial"/>
                <a:ea typeface="Arial"/>
                <a:cs typeface="Arial"/>
              </a:rPr>
              <a:t>3,700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968E47-FB10-47FA-B09F-F7C3C953E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381375"/>
            <a:ext cx="190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joined entities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707CB2-D57A-4598-B528-D956C3B59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714625"/>
            <a:ext cx="190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3A7A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73A7A"/>
                </a:solidFill>
                <a:latin typeface="Arial"/>
                <a:ea typeface="Arial"/>
                <a:cs typeface="Arial"/>
              </a:rPr>
              <a:t>0.423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A83E3D-929B-4FB3-B2F4-FB1036351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381375"/>
            <a:ext cx="190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holdout PR-AUC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FAE572-2585-4C91-94B6-CEBA421A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000500"/>
            <a:ext cx="190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3A7A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73A7A"/>
                </a:solidFill>
                <a:latin typeface="Arial"/>
                <a:ea typeface="Arial"/>
                <a:cs typeface="Arial"/>
              </a:rPr>
              <a:t>0.855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F49093-262F-4BB2-808E-1FD0721F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667250"/>
            <a:ext cx="190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holdout recall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0A3FA3-D2F1-4ED9-8DDF-91FC7BCB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238625"/>
            <a:ext cx="1952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063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3A7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A7A"/>
                </a:solidFill>
                <a:latin typeface="Arial"/>
                <a:ea typeface="Arial"/>
                <a:cs typeface="Arial"/>
              </a:rPr>
              <a:t>Selected: weighted logistic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A0AA5A-75F5-4460-9FC0-4C192238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334000"/>
            <a:ext cx="4762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0"/>
          </a:solidFill>
          <a:ln xmlns:a="http://schemas.openxmlformats.org/drawingml/2006/main" w="19050">
            <a:solidFill>
              <a:srgbClr val="D14B2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210472-0ECC-4809-BFCD-9C30C0B7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505450"/>
            <a:ext cx="4343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908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C2F1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8C2F1E"/>
                </a:solidFill>
                <a:latin typeface="Arial"/>
                <a:ea typeface="Arial"/>
                <a:cs typeface="Arial"/>
              </a:rPr>
              <a:t>Costs are example scenarios; class semantics and production costs require owner confirmation.</a:t>
            </a:r>
          </a:p>
        </p:txBody>
      </p:sp>
    </p:spTree>
    <p:extLst>
      <p:ext uri="{BB962C8B-B14F-4D97-AF65-F5344CB8AC3E}">
        <p14:creationId xmlns:p14="http://schemas.microsoft.com/office/powerpoint/2010/main" val="1824877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aa103b38c4422c"/>
          <a:stretch xmlns:a="http://schemas.openxmlformats.org/drawingml/2006/main"/>
        </p:blipFill>
        <p:spPr>
          <a:xfrm xmlns:a="http://schemas.openxmlformats.org/drawingml/2006/main">
            <a:off x="324971" y="95250"/>
            <a:ext cx="11542059" cy="6667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6FCF89-E2B9-4A57-B6FB-FD66E893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474024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E15C26-3A99-495F-A6A0-E43F2DA8B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E6470"/>
                </a:solidFill>
                <a:latin typeface="Arial"/>
                <a:ea typeface="Arial"/>
                <a:cs typeface="Arial"/>
              </a:rPr>
              <a:t>TASK 5 ·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1215B6-ADE2-4234-9FA4-F6F1FE3CD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076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Retrieval quality and engineering safety are measured on separate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1A7572-D406-46AC-980B-996AF642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1C08BE-BDE6-4957-9EEE-08E5621F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38375"/>
            <a:ext cx="5143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DCC78E-C650-464B-BF1F-8083F6233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2412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3A7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3A7A"/>
                </a:solidFill>
                <a:latin typeface="Arial"/>
                <a:ea typeface="Arial"/>
                <a:cs typeface="Arial"/>
              </a:rPr>
              <a:t>Recorded 998-row baseline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A11A10-1384-491F-9516-EC05E87E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38500"/>
            <a:ext cx="190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3A7A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73A7A"/>
                </a:solidFill>
                <a:latin typeface="Arial"/>
                <a:ea typeface="Arial"/>
                <a:cs typeface="Arial"/>
              </a:rPr>
              <a:t>0.847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C6842B-B507-48CE-A4F6-64CA2911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190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NDCG@5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FF30C5-6789-4D77-AA6C-E631D333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38500"/>
            <a:ext cx="190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3A7A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73A7A"/>
                </a:solidFill>
                <a:latin typeface="Arial"/>
                <a:ea typeface="Arial"/>
                <a:cs typeface="Arial"/>
              </a:rPr>
              <a:t>0.875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4E809A-4814-4882-8ED1-349B4DF3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905250"/>
            <a:ext cx="190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F240AA-7667-4F7F-9CB0-30E5ED19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14875"/>
            <a:ext cx="419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3A7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A7A"/>
                </a:solidFill>
                <a:latin typeface="Arial"/>
                <a:ea typeface="Arial"/>
                <a:cs typeface="Arial"/>
              </a:rPr>
              <a:t>25% word · 75% character TF-IDF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4892FE-1E5C-42E1-9602-A3D9D727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38375"/>
            <a:ext cx="5524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EF"/>
          </a:solidFill>
          <a:ln xmlns:a="http://schemas.openxmlformats.org/drawingml/2006/main" w="19050">
            <a:solidFill>
              <a:srgbClr val="148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944648-48A6-4ACB-A484-5A405E58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24125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61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2613B"/>
                </a:solidFill>
                <a:latin typeface="Arial"/>
                <a:ea typeface="Arial"/>
                <a:cs typeface="Arial"/>
              </a:rPr>
              <a:t>Sanitized extension fixture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E7F40E-4698-4218-BB55-C648E0F73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385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2613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2613B"/>
                </a:solidFill>
                <a:latin typeface="Arial"/>
                <a:ea typeface="Arial"/>
                <a:cs typeface="Arial"/>
              </a:rPr>
              <a:t>20/20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4F2F09-E370-4584-857F-F4BE1061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05250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reviewed safety cases passed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B940DA-9CF9-48EE-9293-5A171228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2613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2613B"/>
                </a:solidFill>
                <a:latin typeface="Arial"/>
                <a:ea typeface="Arial"/>
                <a:cs typeface="Arial"/>
              </a:rPr>
              <a:t>0 → 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7C0D76-7C0D-4E3F-9937-747D04A3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05250"/>
            <a:ext cx="219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strict → relaxed exactly-five coverage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345701-1C49-4463-B61E-2461DCC9C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14875"/>
            <a:ext cx="466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61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2613B"/>
                </a:solidFill>
                <a:latin typeface="Arial"/>
                <a:ea typeface="Arial"/>
                <a:cs typeface="Arial"/>
              </a:rPr>
              <a:t>7 cases require review · 0 hard-negative rate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9153C3-F2DD-41DC-8772-31DA2A85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429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0"/>
          </a:solidFill>
          <a:ln xmlns:a="http://schemas.openxmlformats.org/drawingml/2006/main" w="19050">
            <a:solidFill>
              <a:srgbClr val="D14B2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0814A9-7787-41FE-BCD3-AF1F45DA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791200"/>
            <a:ext cx="701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129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C2F1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8C2F1E"/>
                </a:solidFill>
                <a:latin typeface="Arial"/>
                <a:ea typeface="Arial"/>
                <a:cs typeface="Arial"/>
              </a:rPr>
              <a:t>The relaxed result is an engineering review aid, never interchangeability certification.</a:t>
            </a:r>
          </a:p>
        </p:txBody>
      </p:sp>
    </p:spTree>
    <p:extLst>
      <p:ext uri="{BB962C8B-B14F-4D97-AF65-F5344CB8AC3E}">
        <p14:creationId xmlns:p14="http://schemas.microsoft.com/office/powerpoint/2010/main" val="89716240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9f3ac50bb540c8"/>
          <a:stretch xmlns:a="http://schemas.openxmlformats.org/drawingml/2006/main"/>
        </p:blipFill>
        <p:spPr>
          <a:xfrm xmlns:a="http://schemas.openxmlformats.org/drawingml/2006/main">
            <a:off x="324971" y="95250"/>
            <a:ext cx="11542059" cy="6667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3CEC63-AC62-4B03-9341-8BB714374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3508363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3AE717-5381-4063-8401-2A5DDD9D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E6470"/>
                </a:solidFill>
                <a:latin typeface="Arial"/>
                <a:ea typeface="Arial"/>
                <a:cs typeface="Arial"/>
              </a:rPr>
              <a:t>TASK 6 · RELEASE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238E6E-9FC8-4559-B6AC-E2F04790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076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Default equivalence survives the reusable transformer and reviewed aliases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45C999-9EAC-4090-9150-A1DD1059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7108D6-8E68-4099-A150-E9CF5F9F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3A7A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73A7A"/>
                </a:solidFill>
                <a:latin typeface="Arial"/>
                <a:ea typeface="Arial"/>
                <a:cs typeface="Arial"/>
              </a:rPr>
              <a:t>YES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7E6A84-419C-4DA9-9E78-65D285B1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28875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assignment output equivalent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C18E79-3505-43A0-BB68-7346278D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6212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2613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2613B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EF8EC8-C17F-485D-ABF2-B0BE84C8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28875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sklearn integration checks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227E1B-10CF-4520-B43C-6242AEFA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762125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v1 / v2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C16692-F45F-4480-A7F1-55320AD77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428875"/>
            <a:ext cx="342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default artifact / alias-aware 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5890A4-DF27-4B12-825B-6A8E8A33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81375"/>
            <a:ext cx="10382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1312F3-D586-496F-9BBA-7E5E9799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395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A90908-BA40-447F-9F9F-7E302B41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7675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Tasks 4–6 deterministic tests passed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48896B-9B8F-4041-8A05-F19061B1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100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19FE13-DC1D-49FC-A59D-2A879971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767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2,951 statements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77CDCF-7E41-4908-B128-A277FE60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100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2C8106-A2A1-467E-9CD6-CDBA313B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767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812 branches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6EA82A-5B47-44BE-9A5F-D8692D98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67375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C2F1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8C2F1E"/>
                </a:solidFill>
                <a:latin typeface="Arial"/>
                <a:ea typeface="Arial"/>
                <a:cs typeface="Arial"/>
              </a:rPr>
              <a:t>3 owner-private-data tests remain explicit acceptance handoffs.</a:t>
            </a:r>
          </a:p>
        </p:txBody>
      </p:sp>
    </p:spTree>
    <p:extLst>
      <p:ext uri="{BB962C8B-B14F-4D97-AF65-F5344CB8AC3E}">
        <p14:creationId xmlns:p14="http://schemas.microsoft.com/office/powerpoint/2010/main" val="4046178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82B7A0-F39A-4E51-B27C-E3C544F59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E6470"/>
                </a:solidFill>
                <a:latin typeface="Arial"/>
                <a:ea typeface="Arial"/>
                <a:cs typeface="Arial"/>
              </a:rPr>
              <a:t>RELEASE POSITION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5B33A5-EBDD-4603-ADFA-963C756C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8096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Ready for owner evidence,</a:t>
            </a:r>
          </a:p>
          <a:p xmlns:a="http://schemas.openxmlformats.org/drawingml/2006/main">
            <a:pPr algn="l">
              <a:defRPr sz="4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without overstating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C0663C-1648-4DAC-9E5F-2B525998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71875"/>
            <a:ext cx="1066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F83BC8-AF37-4374-931C-6C701C59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2613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2613B"/>
                </a:solidFill>
                <a:latin typeface="Arial"/>
                <a:ea typeface="Arial"/>
                <a:cs typeface="Arial"/>
              </a:rPr>
              <a:t>Deterministic release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FC5513-E9E2-4E6F-87D9-548E8ACAD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4762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Tasks 4–6 code, reports, docs, and presentation evidence are locally reproducible.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57F745-2278-447E-8646-7C13E5AD4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8C2F1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C2F1E"/>
                </a:solidFill>
                <a:latin typeface="Arial"/>
                <a:ea typeface="Arial"/>
                <a:cs typeface="Arial"/>
              </a:rPr>
              <a:t>Owner acceptance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9277B1-68DF-446E-B561-66093BFA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76750"/>
            <a:ext cx="4762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Private datasets, second-computer setup, and live deployment remain explicit owner-run checks.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D4ED51-7BE6-4325-B6D5-C118C450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E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4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094632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2026-08-31T01:14:36.3710000Z</dcterms:created>
  <dcterms:modified xsi:type="dcterms:W3CDTF">2026-08-31T01:14:36.3710000Z</dcterms:modified>
</coreProperties>
</file>