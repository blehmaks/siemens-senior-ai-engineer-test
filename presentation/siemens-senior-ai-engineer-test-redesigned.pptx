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8d30532afe40ba" /><Relationship Type="http://schemas.openxmlformats.org/officeDocument/2006/relationships/extended-properties" Target="/docProps/app.xml" Id="Red209ae53dd24331" /><Relationship Type="http://schemas.openxmlformats.org/officeDocument/2006/relationships/officeDocument" Target="/ppt/presentation.xml" Id="R456b9674311e48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e153def17d4382"/>
  </p:sldMasterIdLst>
  <p:notesMasterIdLst>
    <p:notesMasterId xmlns:r="http://schemas.openxmlformats.org/officeDocument/2006/relationships" r:id="Rf9589276c49643c4"/>
  </p:notesMasterIdLst>
  <p:sldIdLst>
    <p:sldId xmlns:r="http://schemas.openxmlformats.org/officeDocument/2006/relationships" id="256" r:id="R5067d0f4e596426d"/>
    <p:sldId xmlns:r="http://schemas.openxmlformats.org/officeDocument/2006/relationships" id="257" r:id="Rce0a2f5724e04284"/>
    <p:sldId xmlns:r="http://schemas.openxmlformats.org/officeDocument/2006/relationships" id="258" r:id="R8489835322ca4f0e"/>
    <p:sldId xmlns:r="http://schemas.openxmlformats.org/officeDocument/2006/relationships" id="259" r:id="R9a6f204c649b4b6d"/>
    <p:sldId xmlns:r="http://schemas.openxmlformats.org/officeDocument/2006/relationships" id="260" r:id="Rad54e286107748d7"/>
    <p:sldId xmlns:r="http://schemas.openxmlformats.org/officeDocument/2006/relationships" id="261" r:id="Rb1862c25d1594480"/>
    <p:sldId xmlns:r="http://schemas.openxmlformats.org/officeDocument/2006/relationships" id="262" r:id="R4215544feb84493d"/>
    <p:sldId xmlns:r="http://schemas.openxmlformats.org/officeDocument/2006/relationships" id="263" r:id="R61e2895b1b7c49a0"/>
    <p:sldId xmlns:r="http://schemas.openxmlformats.org/officeDocument/2006/relationships" id="264" r:id="R928fe164c9f04b13"/>
    <p:sldId xmlns:r="http://schemas.openxmlformats.org/officeDocument/2006/relationships" id="265" r:id="R4ad7974d26424b4c"/>
    <p:sldId xmlns:r="http://schemas.openxmlformats.org/officeDocument/2006/relationships" id="266" r:id="R7476397437684998"/>
    <p:sldId xmlns:r="http://schemas.openxmlformats.org/officeDocument/2006/relationships" id="267" r:id="Rbb9ab106df6e43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1eaf11152447d3" /><Relationship Type="http://schemas.openxmlformats.org/officeDocument/2006/relationships/slideMaster" Target="/ppt/slideMasters/slideMaster1.xml" Id="Rdfe153def17d4382" /><Relationship Type="http://schemas.openxmlformats.org/officeDocument/2006/relationships/notesMaster" Target="/ppt/notesMasters/notesMaster1.xml" Id="Rf9589276c49643c4" /><Relationship Type="http://schemas.openxmlformats.org/officeDocument/2006/relationships/presProps" Target="/ppt/presProps.xml" Id="Raa547a98b98d47a1" /><Relationship Type="http://schemas.openxmlformats.org/officeDocument/2006/relationships/tableStyles" Target="/ppt/tableStyles.xml" Id="Rfdefa2b973d54b25" /><Relationship Type="http://schemas.openxmlformats.org/officeDocument/2006/relationships/slide" Target="/ppt/slides/slide1.xml" Id="R5067d0f4e596426d" /><Relationship Type="http://schemas.openxmlformats.org/officeDocument/2006/relationships/slide" Target="/ppt/slides/slide2.xml" Id="Rce0a2f5724e04284" /><Relationship Type="http://schemas.openxmlformats.org/officeDocument/2006/relationships/slide" Target="/ppt/slides/slide3.xml" Id="R8489835322ca4f0e" /><Relationship Type="http://schemas.openxmlformats.org/officeDocument/2006/relationships/slide" Target="/ppt/slides/slide4.xml" Id="R9a6f204c649b4b6d" /><Relationship Type="http://schemas.openxmlformats.org/officeDocument/2006/relationships/slide" Target="/ppt/slides/slide5.xml" Id="Rad54e286107748d7" /><Relationship Type="http://schemas.openxmlformats.org/officeDocument/2006/relationships/slide" Target="/ppt/slides/slide6.xml" Id="Rb1862c25d1594480" /><Relationship Type="http://schemas.openxmlformats.org/officeDocument/2006/relationships/slide" Target="/ppt/slides/slide7.xml" Id="R4215544feb84493d" /><Relationship Type="http://schemas.openxmlformats.org/officeDocument/2006/relationships/slide" Target="/ppt/slides/slide8.xml" Id="R61e2895b1b7c49a0" /><Relationship Type="http://schemas.openxmlformats.org/officeDocument/2006/relationships/slide" Target="/ppt/slides/slide9.xml" Id="R928fe164c9f04b13" /><Relationship Type="http://schemas.openxmlformats.org/officeDocument/2006/relationships/slide" Target="/ppt/slides/slide10.xml" Id="R4ad7974d26424b4c" /><Relationship Type="http://schemas.openxmlformats.org/officeDocument/2006/relationships/slide" Target="/ppt/slides/slide11.xml" Id="R7476397437684998" /><Relationship Type="http://schemas.openxmlformats.org/officeDocument/2006/relationships/slide" Target="/ppt/slides/slide12.xml" Id="Rbb9ab106df6e43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bbded2b26647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ca59775a044c05" /><Relationship Type="http://schemas.openxmlformats.org/officeDocument/2006/relationships/notesMaster" Target="/ppt/notesMasters/notesMaster1.xml" Id="Rea425dda59ef48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4e10cb49684a57" /><Relationship Type="http://schemas.openxmlformats.org/officeDocument/2006/relationships/notesMaster" Target="/ppt/notesMasters/notesMaster1.xml" Id="Rf810f17fa7b140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6a457fbd6e4834" /><Relationship Type="http://schemas.openxmlformats.org/officeDocument/2006/relationships/notesMaster" Target="/ppt/notesMasters/notesMaster1.xml" Id="R84dff7cd8bff43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2c3470f4a440b4" /><Relationship Type="http://schemas.openxmlformats.org/officeDocument/2006/relationships/notesMaster" Target="/ppt/notesMasters/notesMaster1.xml" Id="Rec816d93992244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58df8eaba64692" /><Relationship Type="http://schemas.openxmlformats.org/officeDocument/2006/relationships/notesMaster" Target="/ppt/notesMasters/notesMaster1.xml" Id="R0be4f20a0fa744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eb9ee9d8b64bfb" /><Relationship Type="http://schemas.openxmlformats.org/officeDocument/2006/relationships/notesMaster" Target="/ppt/notesMasters/notesMaster1.xml" Id="R5decc6e6258d43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ae7d002580410c" /><Relationship Type="http://schemas.openxmlformats.org/officeDocument/2006/relationships/notesMaster" Target="/ppt/notesMasters/notesMaster1.xml" Id="R778ada7e6eb04f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1b56682c724a6c" /><Relationship Type="http://schemas.openxmlformats.org/officeDocument/2006/relationships/notesMaster" Target="/ppt/notesMasters/notesMaster1.xml" Id="R89012a0141e245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0b225974684020" /><Relationship Type="http://schemas.openxmlformats.org/officeDocument/2006/relationships/notesMaster" Target="/ppt/notesMasters/notesMaster1.xml" Id="R1dd23af75c514d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1860994f754047" /><Relationship Type="http://schemas.openxmlformats.org/officeDocument/2006/relationships/notesMaster" Target="/ppt/notesMasters/notesMaster1.xml" Id="R38b8f9e9c6da42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e8078a4d394821" /><Relationship Type="http://schemas.openxmlformats.org/officeDocument/2006/relationships/notesMaster" Target="/ppt/notesMasters/notesMaster1.xml" Id="R430d688923ae45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960870995f45a5" /><Relationship Type="http://schemas.openxmlformats.org/officeDocument/2006/relationships/notesMaster" Target="/ppt/notesMasters/notesMaster1.xml" Id="R6821c519031145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frame the deck as a direct answer to the supplied assignment, not as a hiring scorecard.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task-01-search-agent/README.md</a:t>
            </a:r>
          </a:p>
          <a:p xmlns:a="http://schemas.openxmlformats.org/drawingml/2006/main">
            <a:r>
              <a:t>- task-02-agent-api/README.md</a:t>
            </a:r>
          </a:p>
          <a:p xmlns:a="http://schemas.openxmlformats.org/drawingml/2006/main">
            <a:r>
              <a:t>- task-03-deployment-strategy/README.md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 (Task 1)</a:t>
            </a:r>
          </a:p>
          <a:p xmlns:a="http://schemas.openxmlformats.org/drawingml/2006/main">
            <a:r>
              <a:t>- task-01-search-agent/README.md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 (Task 2)</a:t>
            </a:r>
          </a:p>
          <a:p xmlns:a="http://schemas.openxmlformats.org/drawingml/2006/main">
            <a:r>
              <a:t>- task-02-agent-api/README.md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 (Task 3)</a:t>
            </a:r>
          </a:p>
          <a:p xmlns:a="http://schemas.openxmlformats.org/drawingml/2006/main">
            <a:r>
              <a:t>- task-03-deployment-strategy/README.md</a:t>
            </a:r>
          </a:p>
          <a:p xmlns:a="http://schemas.openxmlformats.org/drawingml/2006/main">
            <a:r>
              <a:t>- task-03-deployment-strategy/architecture/strategy.md</a:t>
            </a:r>
          </a:p>
          <a:p xmlns:a="http://schemas.openxmlformats.org/drawingml/2006/main">
            <a:r>
              <a:t>- docs/cloud-resource-manifest.md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 (Task 4)</a:t>
            </a:r>
          </a:p>
          <a:p xmlns:a="http://schemas.openxmlformats.org/drawingml/2006/main">
            <a:r>
              <a:t>- task-04-binary-classification/README.md</a:t>
            </a:r>
          </a:p>
          <a:p xmlns:a="http://schemas.openxmlformats.org/drawingml/2006/main">
            <a:r>
              <a:t>- task-04-binary-classification/reports/data-analysis.md</a:t>
            </a:r>
          </a:p>
          <a:p xmlns:a="http://schemas.openxmlformats.org/drawingml/2006/main">
            <a:r>
              <a:t>- task-04-binary-classification/reports/model-card.md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 (Task 5)</a:t>
            </a:r>
          </a:p>
          <a:p xmlns:a="http://schemas.openxmlformats.org/drawingml/2006/main">
            <a:r>
              <a:t>- task-05-material-similarity/README.md</a:t>
            </a:r>
          </a:p>
          <a:p xmlns:a="http://schemas.openxmlformats.org/drawingml/2006/main">
            <a:r>
              <a:t>- task-05-material-similarity/reports/data-analysis.md</a:t>
            </a:r>
          </a:p>
          <a:p xmlns:a="http://schemas.openxmlformats.org/drawingml/2006/main">
            <a:r>
              <a:t>- task-05-material-similarity/reports/retrieval-evaluation.md</a:t>
            </a:r>
          </a:p>
          <a:p xmlns:a="http://schemas.openxmlformats.org/drawingml/2006/main">
            <a:r>
              <a:t>- task-05-material-similarity/reports/hybrid-extension-design.md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 (Task 6)</a:t>
            </a:r>
          </a:p>
          <a:p xmlns:a="http://schemas.openxmlformats.org/drawingml/2006/main">
            <a:r>
              <a:t>- task-06-category-consolidation/README.md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docs/reviewer-guide.md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docs/test-strategy.md</a:t>
            </a:r>
          </a:p>
          <a:p xmlns:a="http://schemas.openxmlformats.org/drawingml/2006/main">
            <a:r>
              <a:t>- docs/local-testing.md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docs/reviewer-guide.md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separating the reviewable submission from decisions that require Siemens owners and production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docs/reviewer-guide.md</a:t>
            </a:r>
          </a:p>
          <a:p xmlns:a="http://schemas.openxmlformats.org/drawingml/2006/main">
            <a:r>
              <a:t>- task-03-deployment-strategy/README.md</a:t>
            </a:r>
          </a:p>
          <a:p xmlns:a="http://schemas.openxmlformats.org/drawingml/2006/main">
            <a:r>
              <a:t>- task-04-binary-classification/reports/model-card.md</a:t>
            </a:r>
          </a:p>
          <a:p xmlns:a="http://schemas.openxmlformats.org/drawingml/2006/main">
            <a:r>
              <a:t>- task-05-material-similarity/reports/retrieval-evaluation.md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9b37f598945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930e9ea5ae496d" /><Relationship Type="http://schemas.openxmlformats.org/officeDocument/2006/relationships/slideLayout" Target="/ppt/slideLayouts/slideLayout1.xml" Id="R14b3c5f0a1e747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b3c5f0a1e747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089f89a674baa" /><Relationship Type="http://schemas.openxmlformats.org/officeDocument/2006/relationships/notesSlide" Target="/ppt/notesSlides/notesSlide1.xml" Id="Rfdc28bad84d945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0b6fbd9f64a95" /><Relationship Type="http://schemas.openxmlformats.org/officeDocument/2006/relationships/notesSlide" Target="/ppt/notesSlides/notesSlide2.xml" Id="R6bf0f8af591c44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cb860eab9495d" /><Relationship Type="http://schemas.openxmlformats.org/officeDocument/2006/relationships/notesSlide" Target="/ppt/notesSlides/notesSlide3.xml" Id="R45cc8cfe82aa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c5f3335a14474" /><Relationship Type="http://schemas.openxmlformats.org/officeDocument/2006/relationships/notesSlide" Target="/ppt/notesSlides/notesSlide4.xml" Id="R3c8f34cf94f242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73acc30d04ef2" /><Relationship Type="http://schemas.openxmlformats.org/officeDocument/2006/relationships/notesSlide" Target="/ppt/notesSlides/notesSlide5.xml" Id="Ra7ec1f0ca17740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c559a42244037" /><Relationship Type="http://schemas.openxmlformats.org/officeDocument/2006/relationships/notesSlide" Target="/ppt/notesSlides/notesSlide6.xml" Id="R670eec54871345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4bc10cb9c46cc" /><Relationship Type="http://schemas.openxmlformats.org/officeDocument/2006/relationships/notesSlide" Target="/ppt/notesSlides/notesSlide7.xml" Id="R5e933689c4ea4d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bc4122b4f4c72" /><Relationship Type="http://schemas.openxmlformats.org/officeDocument/2006/relationships/notesSlide" Target="/ppt/notesSlides/notesSlide8.xml" Id="R1653abcde6f44e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c976dfead464d" /><Relationship Type="http://schemas.openxmlformats.org/officeDocument/2006/relationships/notesSlide" Target="/ppt/notesSlides/notesSlide9.xml" Id="R64ba16be81ce41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db7071c3a4a45" /><Relationship Type="http://schemas.openxmlformats.org/officeDocument/2006/relationships/notesSlide" Target="/ppt/notesSlides/notesSlide10.xml" Id="Rdeb2a2e5f0a641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4549a10bb4592" /><Relationship Type="http://schemas.openxmlformats.org/officeDocument/2006/relationships/notesSlide" Target="/ppt/notesSlides/notesSlide11.xml" Id="Rd2ce0eaee3d94f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64bb0f8d1449f" /><Relationship Type="http://schemas.openxmlformats.org/officeDocument/2006/relationships/notesSlide" Target="/ppt/notesSlides/notesSlide12.xml" Id="R6a50059a16ea4f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CDA72-ABBF-4954-A1D8-B458539F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SIEMENS · SENIOR AI ENGINEER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7F269-85F0-4147-9FD1-579ABE06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Technical assignment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892D3-A3A8-4A22-BBB4-95AD7DE4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981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Six systems explained as one engineering submission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0690C-671D-4EFA-B1C4-C3600478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112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94D21-BB84-418A-9ADB-77543C55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Internet research · Agent API · GCP deployment · Binary classification · Material similarity · Categorical preprocessing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81647-E802-40FC-A340-F5A161BB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Architecture, implementation choices, results, and review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B91BC-5624-4650-91EC-BF4FC228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626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772214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2">
            <a:extLst xmlns:a="http://schemas.openxmlformats.org/drawingml/2006/main">
              <a:ext uri="{FF2B5EF4-FFF2-40B4-BE49-F238E27FC236}">
                <a16:creationId xmlns:a16="http://schemas.microsoft.com/office/drawing/2014/main" id="{4C78FE17-5A02-4CBE-BC65-066804DA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SUBMISSION MAP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70AC5E2-4732-4233-B1A3-544E2F32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The six tasks resolve into two clear system families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082AFE24-892C-4F16-BADC-13066AC8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Tasks 1–3 form one deployable research platform; Tasks 4–6 are independent, reproducible data-science packages.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2104A-0527-44CF-B84E-52F38AFB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14721-7E01-4E3A-8DBB-5F930A33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Submission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1EFB5-3CC4-4EE7-93F9-FBD8A770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32C02-5986-45C5-82A7-9214C0F6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DEPLOYABLE RESEARCH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E3940-9F24-4F2D-9F39-157396AE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12776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F14CD-602E-4EE6-BC22-E7205643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B41FF-33C7-4B7F-9C89-95A0A401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62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Internet-search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08122-FBF4-4C51-81F6-F14E4F4E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33675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Decides when to search, retrieves safely, and answers from validated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83446-24D7-4178-9985-A7335532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62200"/>
            <a:ext cx="1143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7A492-1925-4943-AEEA-1CBE4C91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62E83-6C35-488E-AFA3-FEAE1796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62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Agent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E9408-052B-4DBB-9F8E-19DE6F34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33675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Turns long research into durable runs with status, events, cancellation, and tenant scope.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FF186-8C65-4DD9-B955-D53706E8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1143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34397-6726-43C9-801B-D186E7F1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E7C39-D2F3-4A12-97AE-42A1252E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GCP deployment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99A66-054F-44C3-997B-6D25E3C1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33675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Packages the platform as an executable Cloud Run assessment cell with Terraform delivery.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66706-D992-4C09-BE2A-04EDE79C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LOCAL DATA-SCIENCE PACKAGES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3A717-9AAA-415D-8C18-A6EB95C3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1277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0C834-CF1D-48BD-A698-F05AE34F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F65F3E-2AAA-4C63-B537-C3E2FD67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Binary classification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B92A1-0957-41C5-8781-42C21BFB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29175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Builds a leakage-safe model after a strict entity join and grouped evaluation.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513C1-434C-4E0E-9D2E-808B64C5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57700"/>
            <a:ext cx="1143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A6A327-18B0-4A7D-93E3-8547E496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5E0A8A-FA48-473F-93AE-4C7D7BDC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57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Material similarity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DD3405-2DF1-4281-8941-D1AF0CA9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29175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Returns five description-based alternatives with evidence, evaluation, and abstention.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1A26A7-7DFA-45CB-AEEA-1C8D43A0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57700"/>
            <a:ext cx="1143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B6A3D4-B20E-4E2D-AB30-4712DB6F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76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0B8609-0575-487A-A1BF-1A445AD8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57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Category consolidation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4238B4-CA22-4518-9128-B30B7349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29175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Learns rare levels on training data and freezes the mapping for inference.</a:t>
            </a:r>
          </a:p>
        </p:txBody>
      </p:sp>
    </p:spTree>
    <p:extLst>
      <p:ext uri="{BB962C8B-B14F-4D97-AF65-F5344CB8AC3E}">
        <p14:creationId xmlns:p14="http://schemas.microsoft.com/office/powerpoint/2010/main" val="2020314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3">
            <a:extLst xmlns:a="http://schemas.openxmlformats.org/drawingml/2006/main">
              <a:ext uri="{FF2B5EF4-FFF2-40B4-BE49-F238E27FC236}">
                <a16:creationId xmlns:a16="http://schemas.microsoft.com/office/drawing/2014/main" id="{7FC50129-F72C-4CF5-979B-3385A94E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TASKS 1–3 · ONE PLATFORM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DFDB484-2816-4875-BDEB-1D525317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Tasks 1–3 form one durable research platform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CC655EDA-91D6-4920-A414-2D49C65B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Each task owns a distinct boundary; together they form one reviewable request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C50F4-DB48-48C7-A33C-A63BEE72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79B5E-1928-4377-8E7A-01E6DFD5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Tasks 1–3 · One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4AEF2-9E08-404B-8E3A-3A8BAE9A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39E05-5D5A-449C-A914-8FB76D7B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1466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Client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submit · poll · SSE · cancel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F0C66-482F-4AB9-ABC2-372DD595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4315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Agent API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authorize and persist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1FFFD-C5FE-497B-A180-08847146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Queue + worker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durable dispatch and 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6DA8C-406F-4854-A75A-D49E7844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1752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Search agent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plan · retrieve · synthesize · verify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CB922-F2C2-487D-991D-3CA144EA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1752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Tools + model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search · guarded fetch · provider 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1AA53-E1EF-4970-82AD-06D18B8A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43150"/>
            <a:ext cx="1162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7"/>
          </a:solidFill>
          <a:ln xmlns:a="http://schemas.openxmlformats.org/drawingml/2006/main" w="11430">
            <a:solidFill>
              <a:srgbClr val="10232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Cited answer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typed events and terminal result</a:t>
            </a:r>
          </a:p>
        </p:txBody>
      </p: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981200" y="2781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43350" y="2781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81700" y="2781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096250" y="2781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0210800" y="2781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327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E3A2A-8692-4328-8AB8-C03B3CB5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29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Durable control plane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EC034-9A18-4091-88EA-C304CB4C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71950"/>
            <a:ext cx="7848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7D1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05F16-37F8-4E60-A1E4-E2778CE7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005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Runs and events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12C92-B4C0-49C0-A578-75BEC674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00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Tenant-scoped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26A82-2911-4E2F-A617-A22472E3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005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Budgets · leases · idempotency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F0B9C2-233D-47D0-B407-66A97350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24350"/>
            <a:ext cx="1143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59688-8FD7-4111-9F59-7B9339D8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24350"/>
            <a:ext cx="1143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561391-40ED-4B3F-A5D4-6A55BA5B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38750"/>
            <a:ext cx="784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Deterministic code owns authorization, URL policy, budgets, state transitions, and evidence provenance.</a:t>
            </a:r>
          </a:p>
        </p:txBody>
      </p:sp>
    </p:spTree>
    <p:extLst>
      <p:ext uri="{BB962C8B-B14F-4D97-AF65-F5344CB8AC3E}">
        <p14:creationId xmlns:p14="http://schemas.microsoft.com/office/powerpoint/2010/main" val="3241624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4">
            <a:extLst xmlns:a="http://schemas.openxmlformats.org/drawingml/2006/main">
              <a:ext uri="{FF2B5EF4-FFF2-40B4-BE49-F238E27FC236}">
                <a16:creationId xmlns:a16="http://schemas.microsoft.com/office/drawing/2014/main" id="{0CAAD043-885F-487F-BB1D-18D3D906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TASK 1 · INTERNET-SEARCH AGENT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C7AFA14-A9D5-4207-84F5-4E7A1F40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External evidence triggers search; context does not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45FACE5A-5D42-4C68-91FD-8C129CA8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The design answers the assignment’s central behavioral requirement before adding deeper research capabilities.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F5EEB-3BC7-4B60-A8D0-80ED7499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508C0-72D9-4D54-B9E2-E2FBB64C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 1 · Internet-search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FD923-1278-4868-A89D-A22FC86E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A8BF3-63E0-4DB4-A718-A996F229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What the assignment asks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2231C-D4B5-422D-85F5-20BE15B6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37338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Route intelligently. </a:t>
            </a: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Greetings and context replies stay local; factual research triggers search.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Use the web. </a:t>
            </a: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Discovery and guarded retrieval extend the model beyond embedded knowledge.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Return a human answer. </a:t>
            </a: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The model synthesizes only validated evidence and emits citations.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E692C-DE49-4F54-A1C7-AF89C94B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IMPLEMENTED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B9B7E-9204-48F3-8D85-4F813A37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3733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Explicit query, fetch, byte, token, iteration, and wall-clock budgets; URL safety; typed failure states; tenant-scoped memory.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00F5B-66F9-419C-B421-4BE685EE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85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Decision and research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07212-F4AD-4F44-BD7B-5027EAB6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1466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User query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typed 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C622D-A304-4B31-ACEA-1CB69578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1771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Search router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need current external evidence?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ADC96-54C8-40BB-91AD-A92C9C89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6215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Context reply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no web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EFF42-4DA5-4F0D-B826-97846B5F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9085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Bounded research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plan → search → fetch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CF717-8911-4FF7-A5C5-4719B6E9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1771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Evidence layer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passages and provenance IDs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92040-1C6F-46DA-9C5B-4F75314E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91000"/>
            <a:ext cx="1924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7"/>
          </a:solidFill>
          <a:ln xmlns:a="http://schemas.openxmlformats.org/drawingml/2006/main" w="11430">
            <a:solidFill>
              <a:srgbClr val="10232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Verified answer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supported claims or explicit abstention</a:t>
            </a:r>
          </a:p>
        </p:txBody>
      </p:sp>
      <p:cxnSp>
        <p:nvCxnSpPr>
          <p:cNvPr id="4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229350" y="27432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477250" y="2305050"/>
            <a:ext cx="609600" cy="438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3666B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477250" y="2743200"/>
            <a:ext cx="609600" cy="590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5" idx="2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8477250" y="3676650"/>
            <a:ext cx="1571625" cy="885825"/>
          </a:xfrm>
          <a:prstGeom xmlns:a="http://schemas.openxmlformats.org/drawingml/2006/main" prst="bentConnector5">
            <a:avLst>
              <a:gd name="adj1" fmla="val 0"/>
              <a:gd name="adj2" fmla="val 25806"/>
              <a:gd name="adj3" fmla="val 85455"/>
            </a:avLst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77250" y="45624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77BD1-F937-4DE2-8378-A25A74D2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NO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C7D4B-A019-4FCD-A0C4-47CF29FB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81375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1057879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ection-5">
            <a:extLst xmlns:a="http://schemas.openxmlformats.org/drawingml/2006/main">
              <a:ext uri="{FF2B5EF4-FFF2-40B4-BE49-F238E27FC236}">
                <a16:creationId xmlns:a16="http://schemas.microsoft.com/office/drawing/2014/main" id="{4D5681B3-0070-4204-9075-ABDB9F21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TASK 2 · AGENT API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33F018D-E4B1-4431-AF48-25EEDD49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Research becomes a durable asynchronous run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AF73B3C7-C09C-4CDB-85D0-5C70C101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The API covers query submission and live status while remaining safe across restarts and replicas.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F1162-2FF8-4649-B237-349EAB46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09D8A-1A40-4EB9-A261-8E4EDB8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 2 · Agent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1E9EE-DF5E-45ED-B9C3-C5C7211E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D24E4-CFF6-419B-8CFD-63DC1930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Public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63757-2756-4F6F-A42D-897F24CF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POST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17CD6-F1FE-4191-90C7-42ADBD77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955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/v1/sessions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82C04-41BC-4327-A8DE-5FC88F7B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955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create tenant-scoped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A67F7-B947-4286-89C8-0C28F8C2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3842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FAF32-1809-4A66-A388-6D09BE12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05069-3D00-4BB9-B390-BA59B9BB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/sessions/{id}/runs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A84D2-9911-4301-A23A-1DAC765C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202 Accepted + run identifier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383A7-FB76-46BD-8806-C6994836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63914-22AD-4572-8F92-4271DB67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EA6FD-352D-4B62-B748-EF1C6342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432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/v1/runs/{id}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25B51-144C-4128-B9C5-64675304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432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state, progress, and final answer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014CF-AEAB-4470-857B-B4CF3E9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8617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E2BA7-194B-4E3F-8A59-59850A12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38575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F2BB2-961C-4AC5-9AFD-7B13F5BE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/runs/{id}/events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7669F-03DF-40B4-8FEA-7E127542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67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ordered replayable SSE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185599-4610-4BBE-BC70-ADE61717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0B388C-AE11-4860-96DD-5AEE5F92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POST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557AF-6D22-4323-8A97-B7082A7B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910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/runs/{id}/cancel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151E76-61A9-4B7E-B7FC-420D1A34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safe idempotent cancellation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E01400-D860-4708-B3EF-30D4967C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3392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3B08B-5ECB-4F29-AFD9-1ACE6A8B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Run lifecycle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6336E7-57CF-4F81-A5B6-F39E2C7A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QUEUED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persisted before enqueue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1237B-F64A-4E43-B26D-FE003121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RUNNING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worker owns renewable lease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BEF4C7-A662-400A-A970-8E4FA1BD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622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7"/>
          </a:solidFill>
          <a:ln xmlns:a="http://schemas.openxmlformats.org/drawingml/2006/main" w="11430">
            <a:solidFill>
              <a:srgbClr val="10232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TERMINAL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completed · failed · cancelled</a:t>
            </a:r>
          </a:p>
        </p:txBody>
      </p:sp>
      <p:cxnSp>
        <p:nvCxnSpPr>
          <p:cNvPr id="72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829550" y="2724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734550" y="2724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327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8AF044-AD97-4F03-8426-120045BA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542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 dropped SSE connection does not change execution. Reconnect authorization is checked again and durable events replay in order.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BABF88-A913-40AC-A58D-035BFC4C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542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257989-AC06-4916-B47F-557896EE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72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Controls owned by the API boundary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8452F3-F982-4712-8832-2CFD0EB4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91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Authentication + tenant authorization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3E24B0-2988-4D81-B92B-120F9DFE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91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Idempotency + quotas + request limits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F05B50-91CE-424A-AAFC-F15FE0A2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149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Opaque IDs + durable state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5D59C7-1323-44C0-9E01-EEDB120F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149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Typed public events; no hidden reasoning</a:t>
            </a:r>
          </a:p>
        </p:txBody>
      </p:sp>
    </p:spTree>
    <p:extLst>
      <p:ext uri="{BB962C8B-B14F-4D97-AF65-F5344CB8AC3E}">
        <p14:creationId xmlns:p14="http://schemas.microsoft.com/office/powerpoint/2010/main" val="20088477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6">
            <a:extLst xmlns:a="http://schemas.openxmlformats.org/drawingml/2006/main">
              <a:ext uri="{FF2B5EF4-FFF2-40B4-BE49-F238E27FC236}">
                <a16:creationId xmlns:a16="http://schemas.microsoft.com/office/drawing/2014/main" id="{BA749292-554F-44BB-9361-DD66E65D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TASK 3 · DEPLOYMENT STRATEGY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F4D22E4-DDE0-419D-A59A-D055CF16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The GCP assessment cell is executable and gated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E13E7F51-EA48-46FD-A810-18F1BB26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Cloud Run keeps the reference deployable and low-cost while ports preserve a path to larger topology choices.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A2491-530F-4D6E-AC89-C3071BB5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3AE1D-EC41-4C0A-AFF0-7213228B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 3 · Deployment strategy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FAFA1-3290-4AA1-A432-EFE7CC51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6DBC0-BE54-4D8A-86B5-070275BE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Keyless delivery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8A640-4712-4147-8671-64D67DE0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2076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GitHub Actions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protected environment + WIF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4C651-4149-4DBE-A809-DD3FDB81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076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Artifact Registry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digest-pinned image</a:t>
            </a:r>
          </a:p>
        </p:txBody>
      </p:sp>
      <p:cxnSp>
        <p:nvCxnSpPr>
          <p:cNvPr id="41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495425" y="30861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6B992-6478-4E27-BF8E-5AC8AD6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Terraform provisions GCP resources, identities, IAM, GitHub variables, and the deployment boundary.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281E4-697E-4B88-9CD3-2C3B9B12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24050"/>
            <a:ext cx="87249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2383">
            <a:solidFill>
              <a:srgbClr val="C7D1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FA613-3F21-423F-A647-4D2BE41B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EXECUTABLE ASSESSMENT CELL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12949-8CA2-4A12-98D5-2B52A0EA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Cloud Run API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auth · admission · status · SSE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AD597-70A7-4C8C-A8FB-91D4F60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Cloud Tasks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authenticated dispatch + throttling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9661A-BF9C-4689-9FAA-785E905B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43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Cloud Run worker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claims lease and executes agent</a:t>
            </a:r>
          </a:p>
        </p:txBody>
      </p:sp>
      <p:cxnSp>
        <p:nvCxnSpPr>
          <p:cNvPr id="48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372100" y="313372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362950" y="313372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39D3E-EDB4-49CA-BB40-D3E19226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67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Firestore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shared runs · events · quotas · 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D34390-E38A-484D-9055-7619D37E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Secret Manager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identity-authorized references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1E07D-BB87-4E91-8106-2A8C4FF5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67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Cloud operations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logging · metrics · alerts</a:t>
            </a:r>
          </a:p>
        </p:txBody>
      </p:sp>
      <p:cxnSp>
        <p:nvCxnSpPr>
          <p:cNvPr id="53" name=""/>
          <p:cNvCxnSpPr>
            <a:stCxn xmlns:a="http://schemas.openxmlformats.org/drawingml/2006/main" id="14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371975" y="352425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0353675" y="352425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533650" y="3133725"/>
            <a:ext cx="83820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prstDash val="dash"/>
            <a:headEnd type="none" w="sm" len="sm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3D6F2D-CF89-49BA-9659-1B34C502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674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Scale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10FDFA-1279-4A2F-9646-DC29EA9D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67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stateless compute + queue controls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371EA-47D1-48AB-9FC8-99382FA6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8674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Reliability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64C21B-B045-4505-BF13-7610C060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67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durable state + retries + rollback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9C8703-C372-4928-8732-5213297F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674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Security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F87DB0-1FBF-4100-A5DA-E7CA3547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8674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short-lived identity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724CC-BAE6-4E4E-9AD4-3F1484AC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191250"/>
            <a:ext cx="872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B97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97400"/>
                </a:solidFill>
                <a:latin typeface="Helvetica Neue"/>
                <a:ea typeface="Helvetica Neue"/>
                <a:cs typeface="Helvetica Neue"/>
              </a:rPr>
              <a:t>The LLM engine is not part of the assessment deployment; the private GPU model plane is disabled by default and cost-gated.</a:t>
            </a:r>
          </a:p>
        </p:txBody>
      </p:sp>
    </p:spTree>
    <p:extLst>
      <p:ext uri="{BB962C8B-B14F-4D97-AF65-F5344CB8AC3E}">
        <p14:creationId xmlns:p14="http://schemas.microsoft.com/office/powerpoint/2010/main" val="246413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ection-7">
            <a:extLst xmlns:a="http://schemas.openxmlformats.org/drawingml/2006/main">
              <a:ext uri="{FF2B5EF4-FFF2-40B4-BE49-F238E27FC236}">
                <a16:creationId xmlns:a16="http://schemas.microsoft.com/office/drawing/2014/main" id="{FCC56E11-9192-49C5-B36A-BF15D02C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TASK 4 · BINARY CLASSIFICATION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21FC41D-F779-467E-B238-B8800D58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Duplicate-safe grouping makes the classifier credible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6B82914D-2D6C-4FF2-A114-04F148D3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The pipeline treats preprocessing, leakage control, model selection, and threshold choice as one reproducible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E9F9D-DE95-4C2D-A2D6-7E4027DC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56B11-A350-40FD-94E8-4D6B1889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 4 · Binary 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7389B-7D6A-410D-89FA-8DADE329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96644-EC13-4063-B37A-1A52A20C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75ABC-C4F1-4160-BB09-5AE9DAA3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B506B-78A6-46EF-9DE4-458C522A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semicolon 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B109B-2390-41B7-B31E-38D78D96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43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72E4F-1FC8-4C6A-BE38-36699383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A831A-51D0-4084-A905-40C304F2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0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Deduplicate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9939D-FBAD-4D12-AECF-EC36D309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050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exact source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3E236-A5DA-4016-85B5-8DABD026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43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9FE9F-7E84-46F8-A5E0-3866EEE9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CCE6D-3AB2-4C1F-AC42-6518421D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Join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76079-3C51-4C69-B64F-2ECC5D22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one-to-one on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47A0C-4919-4A9B-B524-4BC36455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43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BE5FC-4096-4C56-93D0-E64ECE9A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7DB52-169B-4408-B33C-AEBEBD8D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Split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0F78BC-216F-420E-A270-C564A8AA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feature-vector groups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0548D-D7A0-4E5F-9EB7-27E59E1F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00DA1-3BC1-4724-B24F-BD894B12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B2E423-4338-4494-B505-0662F9B0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DFFE32-D2EF-4A77-AFF3-DC65CA1D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fold-local preprocessing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1E1371-8BC2-4CC9-8268-376FA217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43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B3FCD1-2F38-4352-95A6-95FF414C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3C8196-CBDD-4A4B-B6EB-D02EB5B8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0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Decide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4EDAB4-D70F-48B9-BB20-E5A0EC07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050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PR-AUC + cost threshold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B44C6B-A174-4D88-8F12-167ABBFB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4216DD-A47C-43C6-B9E0-DA86C9AD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Observed data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009977-D6B5-4B2A-B9AD-45A30402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3,700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5FFC34-F45C-47F2-805B-C6375E48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entities after exact-row deduplication and strict join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FFAFF7-3E83-46F7-AF02-6B05F76A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766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490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6A70A6-D3C4-4480-A836-9A15E714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distinct complete feature vectors; duplicates stay in one split group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D82F7B-6A5D-40A8-925A-A3AC5A42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1143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00EC29-7086-4593-BD98-8BD00FEC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Selected baseline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9A5013-DAED-4594-8A1A-DD265E37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38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Class-weighted logistic regression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705B8C-2961-4046-AD2F-275E6C5E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672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0.423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F2A5BC-5A7E-4BA1-8415-4F914CB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577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holdout PR-AUC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3CCDEC-2CC7-416C-8580-26570C10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0.855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A75D54-BB15-4857-8406-0771EE86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minority recall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7DA69A-57DE-420D-9F46-2C5AA700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2672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0.423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D03BCF-AE4A-4F40-ACA1-819EC3AF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8577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minority precision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4415A6-B2D1-4A87-904E-BCF44F50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292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B97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97400"/>
                </a:solidFill>
                <a:latin typeface="Helvetica Neue"/>
                <a:ea typeface="Helvetica Neue"/>
                <a:cs typeface="Helvetica Neue"/>
              </a:rPr>
              <a:t>Decision boundary: useful ranking, but probabilities are not calibrated and the cost ratio is illustrative—not production approval.</a:t>
            </a:r>
          </a:p>
        </p:txBody>
      </p:sp>
    </p:spTree>
    <p:extLst>
      <p:ext uri="{BB962C8B-B14F-4D97-AF65-F5344CB8AC3E}">
        <p14:creationId xmlns:p14="http://schemas.microsoft.com/office/powerpoint/2010/main" val="1261885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8">
            <a:extLst xmlns:a="http://schemas.openxmlformats.org/drawingml/2006/main">
              <a:ext uri="{FF2B5EF4-FFF2-40B4-BE49-F238E27FC236}">
                <a16:creationId xmlns:a16="http://schemas.microsoft.com/office/drawing/2014/main" id="{E19B6903-4C2D-4A34-B94B-92C13F58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TASK 5 · ALTERNATIVE MATERIALS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B1F6E63-F551-43FE-8D86-FAD9BBA4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Missing evidence is explicit in material similarity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0EA5CE76-28CB-4124-960C-7569E9F2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 transparent lexical model answers the assignment; structured engineering compatibility remains a separate, gated extension.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3EF2E-EB50-46BF-BA84-0A74B9AF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D1880-82AE-44DE-A5C2-086CDF2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 5 · Alternative 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E6ACB-DDB1-4339-89D9-66EDBED2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8EAF7-F52B-4104-AE1D-2416CB55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1 · Data difficulties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2AB2B-8DAC-45B7-A203-040ED141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998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88959-82D4-4081-B3B0-5F8C8ECD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unique part IDs across 32 columns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D8E6A-0400-47DA-AE5B-442790F9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00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33.57%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B8B66-3F92-44A4-9051-E47ED566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908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blank PART_DESCRIPTION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C4EDE-521C-449E-A9F9-EE243A79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Duplicate descriptions make different IDs textually indistinguishable.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Technical fields contain units, ranges, qualifiers, and AC/DC modes.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Missing-aware scoring must report coverage instead of inventing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C5862-8C50-4746-91B7-6C7CAAA5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85950"/>
            <a:ext cx="1143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5D4D9-964B-4657-8F4E-C8549E2D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43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2 · Implemented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2D073-F783-4717-8411-BB7F1EA4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Word + character TF-IDF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FAAB8-DEE6-4B80-B968-C51C8AEE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14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0.25 word / 0.75 character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56DF7-2E05-4B07-81C3-BE21D5E6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528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Cosine ranking · deterministic ties · self excluded · distinct IDs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491C7-797E-4C95-A368-A0F29AA5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32575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754AA-28F6-4F65-99A0-54E366D1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624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0.847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D949C-D451-4678-8919-EBA4757A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5300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reviewed macro nDCG@5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9B9BC-4A4C-4E27-A20C-086A0C0F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624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66.43%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4D3AE-011A-447A-8D9A-D57F7D9F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5300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catalog text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71850-F2AC-41C0-A32A-FD99A56E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85950"/>
            <a:ext cx="1143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860E5-43B6-44D5-AE17-1C38E0AB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43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3 · Output and extension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F1B1F9-C6A0-4488-AE61-C080C92D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Every result </a:t>
            </a:r>
            <a:r>
              <a: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includes five unique alternatives, channel scores, and shared features.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Blank text </a:t>
            </a:r>
            <a:r>
              <a: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returns an explicit insufficient_description status—no fabricated match.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Hybrid roadmap </a:t>
            </a:r>
            <a:r>
              <a: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parses current, voltage, dimensions, and form before calibrated scoring.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16A755-D0B4-47F2-9A5A-DE509474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2AC738-1BE2-41DD-9C81-46974304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149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B97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97400"/>
                </a:solidFill>
                <a:latin typeface="Helvetica Neue"/>
                <a:ea typeface="Helvetica Neue"/>
                <a:cs typeface="Helvetica Neue"/>
              </a:rPr>
              <a:t>Similarity is not electrical compatibility or approval to substitute a fuse.</a:t>
            </a:r>
          </a:p>
        </p:txBody>
      </p:sp>
    </p:spTree>
    <p:extLst>
      <p:ext uri="{BB962C8B-B14F-4D97-AF65-F5344CB8AC3E}">
        <p14:creationId xmlns:p14="http://schemas.microsoft.com/office/powerpoint/2010/main" val="10646009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9">
            <a:extLst xmlns:a="http://schemas.openxmlformats.org/drawingml/2006/main">
              <a:ext uri="{FF2B5EF4-FFF2-40B4-BE49-F238E27FC236}">
                <a16:creationId xmlns:a16="http://schemas.microsoft.com/office/drawing/2014/main" id="{0FF68FD0-2F52-438C-A76F-ABFBA443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TASK 6 · CATEGORICAL ATTRIBUTES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CE1E6DC-F918-4F71-A90C-6C7065A5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Rare-category mappings are learned once and frozen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2F597544-7B09-4150-A684-B9A6829E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The function is delivered as a reusable fit/transform object plus the assignment’s standalone helper.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9B537-B1BD-4BBF-9BA7-AC191F13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9E118-575F-46F0-97E6-317723C2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 6 · Categorical attributes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5FD9C-7239-41FA-83FF-AD37CB73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992EA-7009-4EF0-A6FB-9D40BB54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Function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AE8B0-3BD3-409D-93AD-95E2633A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4953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9525">
            <a:solidFill>
              <a:srgbClr val="C7D1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C9BE5-A5EC-40FD-9D02-F59375A5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fit(values, threshold)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DEF84-3E9F-4CD7-86F1-03FFC496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frequency(category) &lt; threshold  → 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C5568-2D50-4664-9435-C2765C85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At the exact threshold boundary, the category stays. Unseen inference values map to the collision-safe fallback label and are reported in diagnostics.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8B7A9-A606-42DD-BFB0-BCF9A0E1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DFB5D-0589-4714-936C-7A92F9EF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[DE, EN, CH, DE]  +  30%  →  [DE, __RARE__, __RARE__, DE]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07926-A4E9-4C35-82B6-723CED62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24050"/>
            <a:ext cx="1143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D56D2-F5D0-4F43-9FCE-DCFE7699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Why it helps logistic regression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60414-E425-4E76-B8EF-2C8DDEA0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One-hot encoding creates one coefficient per level; very rare levels have weak statistical support.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Grouping reduces fragile sparse columns and makes the design matrix denser.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Learning the mapping only on training data prevents future categories from influencing model fit.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1DD5E-0D7E-4B86-966F-254533EB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005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AE7CC-28E1-4774-99E7-CEEBAB51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672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Alternatives requested by the assignment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32989-455E-4B34-915C-96013AB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24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Leakage-safe target encoding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4E4A6-1C93-43F8-8FEF-AD538BB0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91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smoothing + cross-fitting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63E6F-B00C-4A45-B8DF-CA848CAE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124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CatBoost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9BCF5-0370-4AE3-8628-697F186C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911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ordered categorical statistics</a:t>
            </a:r>
          </a:p>
        </p:txBody>
      </p:sp>
    </p:spTree>
    <p:extLst>
      <p:ext uri="{BB962C8B-B14F-4D97-AF65-F5344CB8AC3E}">
        <p14:creationId xmlns:p14="http://schemas.microsoft.com/office/powerpoint/2010/main" val="6717202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10">
            <a:extLst xmlns:a="http://schemas.openxmlformats.org/drawingml/2006/main">
              <a:ext uri="{FF2B5EF4-FFF2-40B4-BE49-F238E27FC236}">
                <a16:creationId xmlns:a16="http://schemas.microsoft.com/office/drawing/2014/main" id="{A2BDDE31-2E8C-45B1-8A4E-09B53B46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REVIEW PATH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3B91EDA-771F-4D85-BC52-0E457388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The submission is reproducible and challengeable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412B5411-9BF7-4429-9774-F492EC72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 reviewer can move from one command to architecture, focused evidence, and task-specific reports without trusting presentation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E3D4F-D5F2-4D16-A5D0-E086ABC1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C4BE0-1E02-40A9-8578-EC954FAC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Review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F402B-2F7D-456C-8292-6D3B16A0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C5CAB-4061-4267-8E5B-E283078B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8BDA5-1571-416B-A2D8-49FCAEE7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Run the full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14ACB-3EE9-4FA9-9095-D55F5486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574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make local-submission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A752E-F13C-4BEA-9C3B-C25F1AF4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format · lint · types · tests · audit · API smoke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99731-32E3-4E1D-BED1-4540F331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36A9E-F682-4050-AA3A-C8FA2716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E8F6F-47AF-48EB-B24A-41BF6DED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Follow one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B99B1-3AF3-441E-9E31-7E5D584C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2895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docs/architecture.md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F568A-9C65-4CE9-B453-E3A5DAAB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client → API → queue → worker → agent →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ABBAB-F455-47A7-B8BA-87C1A6AC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9D325-1E4F-4948-B47C-3425BF43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5AFD7-FCFD-45C0-BA8E-6E031877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Inspect claims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35C97-CA91-4350-9C09-78E9BCD2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docs/reviewer-guide.md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32868-159F-4EC8-B0AF-8B522418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every major claim maps to implementation and executable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967EC-CD71-402E-B932-8BBA76DA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910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2E711-B6F2-4E7F-9C4D-9C4FDC72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D378A-2C71-4DD4-AD83-ABB0F497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Review ML decisions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1A9CC8-5728-49C8-9071-0784AA69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7205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Task 4/5 reports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FF818-F56F-4232-AAA3-EA7CCCEA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data profile · evaluation · failures · limitations · reproduction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DDC2AB-406D-4F22-9113-92B887C4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626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3A8612-9F72-4695-B812-EA1EAB78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43600"/>
            <a:ext cx="1013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97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7400"/>
                </a:solidFill>
                <a:latin typeface="Helvetica Neue"/>
                <a:ea typeface="Helvetica Neue"/>
                <a:cs typeface="Helvetica Neue"/>
              </a:rPr>
              <a:t>Data-dependent Task 4 and Task 5 checks become active when the private input files are supplied locally; committed reports preserve the recorded analysis without redistributing source data.</a:t>
            </a:r>
          </a:p>
        </p:txBody>
      </p:sp>
    </p:spTree>
    <p:extLst>
      <p:ext uri="{BB962C8B-B14F-4D97-AF65-F5344CB8AC3E}">
        <p14:creationId xmlns:p14="http://schemas.microsoft.com/office/powerpoint/2010/main" val="11690246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1">
            <a:extLst xmlns:a="http://schemas.openxmlformats.org/drawingml/2006/main">
              <a:ext uri="{FF2B5EF4-FFF2-40B4-BE49-F238E27FC236}">
                <a16:creationId xmlns:a16="http://schemas.microsoft.com/office/drawing/2014/main" id="{315376F2-3312-4F14-AD2A-2E374D8C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ASSIGNMENT COVERAGE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8DE4DE50-F802-496B-89E4-18A81A5E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Every task maps directly to a concrete deliverable</a:t>
            </a:r>
          </a:p>
        </p:txBody>
      </p:sp>
      <p:sp>
        <p:nvSpPr>
          <p:cNvPr id="3" name="subtitle-11">
            <a:extLst xmlns:a="http://schemas.openxmlformats.org/drawingml/2006/main">
              <a:ext uri="{FF2B5EF4-FFF2-40B4-BE49-F238E27FC236}">
                <a16:creationId xmlns:a16="http://schemas.microsoft.com/office/drawing/2014/main" id="{EE6C6BEB-2671-4F34-A49F-3015E5A4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This matrix is the direct reading guide for the six requested deliverables.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7F776-5018-4BDF-8E73-FC29262E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FF979-7F2A-48A8-8780-FD59CE67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Assignment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B0F2D-7F4F-41EA-AB89-6167BA47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57200" y="1943100"/>
          <a:ext xmlns:a="http://schemas.openxmlformats.org/drawingml/2006/main" cx="112776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"/>
                <a:gridCol w="3105150"/>
                <a:gridCol w="4629150"/>
                <a:gridCol w="2819400"/>
              </a:tblGrid>
              <a:tr h="585107"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Task</a:t>
                      </a:r>
                    </a:p>
                  </a:txBody>
                  <a:tcPr marL="91440" marR="91440" marT="45720" marB="45720" anchor="ctr">
                    <a:solidFill>
                      <a:srgbClr val="102327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from the brief</a:t>
                      </a:r>
                    </a:p>
                  </a:txBody>
                  <a:tcPr marL="91440" marR="91440" marT="45720" marB="45720" anchor="ctr">
                    <a:solidFill>
                      <a:srgbClr val="102327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Delivered system answer</a:t>
                      </a:r>
                    </a:p>
                  </a:txBody>
                  <a:tcPr marL="91440" marR="91440" marT="45720" marB="45720" anchor="ctr">
                    <a:solidFill>
                      <a:srgbClr val="102327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review artifact</a:t>
                      </a:r>
                    </a:p>
                  </a:txBody>
                  <a:tcPr marL="91440" marR="91440" marT="45720" marB="45720" anchor="ctr">
                    <a:solidFill>
                      <a:srgbClr val="102327"/>
                    </a:solidFill>
                  </a:tcPr>
                </a:tc>
              </a:tr>
              <a:tr h="585107"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Search only when appropriate; interpret web results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Bounded router + guarded retrieval + evidence-grounded synthesis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Task 1 README + agent tests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Submit queries; retrieve current status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Async sessions/runs API + polling + SSE + cancellation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OpenAPI + Task 2 docs/tests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</a:tr>
              <a:tr h="585107"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Architecture; scale, reliability, security; services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Terraform GCP assessment cell + gated enterprise strategy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Task 3 strategy + manifest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Join by id; preprocess; train binary model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Strict dedupe/join + grouped CV + weighted logistic baseline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analysis + model card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</a:tr>
              <a:tr h="585107"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Analyze data; five alternatives; extension plan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Word/char TF-IDF retrieval + abstention + structured roadmap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Task 5 reports + CLI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Rare-level function; LR utility; alternatives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Frozen consolidator + target encoding explanation + CatBoost overview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Task 6 README + tests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C56D0-6E7E-493F-B52A-D42ED941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The source brief inconsistently mentions four tasks while defining six sections; the repository and this deck cover all six.</a:t>
            </a:r>
          </a:p>
        </p:txBody>
      </p:sp>
    </p:spTree>
    <p:extLst>
      <p:ext uri="{BB962C8B-B14F-4D97-AF65-F5344CB8AC3E}">
        <p14:creationId xmlns:p14="http://schemas.microsoft.com/office/powerpoint/2010/main" val="1612812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12">
            <a:extLst xmlns:a="http://schemas.openxmlformats.org/drawingml/2006/main">
              <a:ext uri="{FF2B5EF4-FFF2-40B4-BE49-F238E27FC236}">
                <a16:creationId xmlns:a16="http://schemas.microsoft.com/office/drawing/2014/main" id="{74A66C37-49FB-4803-8F7F-60BA8431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FA496B28-8D16-4614-87CD-8479BEB5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Production-minded, with production gates explicit</a:t>
            </a:r>
          </a:p>
        </p:txBody>
      </p:sp>
      <p:sp>
        <p:nvSpPr>
          <p:cNvPr id="3" name="subtitle-12">
            <a:extLst xmlns:a="http://schemas.openxmlformats.org/drawingml/2006/main">
              <a:ext uri="{FF2B5EF4-FFF2-40B4-BE49-F238E27FC236}">
                <a16:creationId xmlns:a16="http://schemas.microsoft.com/office/drawing/2014/main" id="{243A0B8A-3CA8-459A-A451-F8E54D69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What exists is executable and reviewable; what depends on Siemens context is explicitly gated.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B441B-36D5-4D18-A950-B867B50A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63600-0A28-40A3-8370-D67CF1D4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76283-1D01-4450-87EB-7576A380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31262-264B-4990-ABCB-BA90B799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Implemented and evidenced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1CBCD-D609-4802-BA0E-327E3D59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4762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Bounded internet research with validated evidence and citations.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Tenant-isolated asynchronous API with durable runs and observable progress.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Terraform-managed GCP assessment cell with keyless delivery.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Reproducible classification, retrieval, and categorical preprocessing packages.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351EF-0815-4A74-8445-9C315890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START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DF129-74A9-48F8-8A44-CC5436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768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make local-submission  →  docs/architecture.md  →  docs/reviewer-guide.md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C4B78-ADEA-4DF8-9787-EBFEE0DF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19300"/>
            <a:ext cx="1143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D2795-8665-4EA1-B54E-50D0B098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Gated before production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DD8BC-0EC9-4A9F-B6A5-7C2CB9D4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762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Owner-approved SLO, recovery, cost, residency, and traffic assumptions.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Approved model, calibrated business thresholds, and domain-reviewed relevance labels.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Corporate identity, enterprise topology, SIEM integration, and operational ownership.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Live deployment and smoke evidence tied to a revision, digest, and timestamp.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AECAE-A4E2-498B-BE00-F455DC3C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102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The engineering choice throughout: keep policy deterministic, make evidence inspectable, and scale only after the decision inputs are known.</a:t>
            </a:r>
          </a:p>
        </p:txBody>
      </p:sp>
    </p:spTree>
    <p:extLst>
      <p:ext uri="{BB962C8B-B14F-4D97-AF65-F5344CB8AC3E}">
        <p14:creationId xmlns:p14="http://schemas.microsoft.com/office/powerpoint/2010/main" val="924236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2026-08-30T18:43:28.6840000Z</dcterms:created>
  <dcterms:modified xsi:type="dcterms:W3CDTF">2026-08-30T18:43:28.6840000Z</dcterms:modified>
</coreProperties>
</file>