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54"/>
  </p:normalViewPr>
  <p:slideViewPr>
    <p:cSldViewPr snapToGrid="0" snapToObjects="1">
      <p:cViewPr varScale="1">
        <p:scale>
          <a:sx n="85" d="100"/>
          <a:sy n="85" d="100"/>
        </p:scale>
        <p:origin x="192"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hiring thesis, not the task list. I treated the assignment as one operating system: evidence generation, durable serving, immutable delivery, and honest ML evaluation. The deck is intentionally organized around the questions a hiring manager or team lead would ask. Sources: README.md; docs/architecture.md.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evaluation lens for the rest of the deck. The strongest signal is not any one framework; it is the repeated ability to make boundaries explicit and executable. Every row maps to a concrete artifact shown later. Sources: docs/reviewer-guide.md; docs/test-strategy.md.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Follow a single user request from the public boundary to a durable result. Tasks 1 to 3 form the online product; Tasks 4 to 6 are deliberately separate local analytical packages. This separation avoids pretending that every deliverable belongs in one deployed runtime. Sources: docs/architecture.md; 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key agent decision is that model prose is never treated as evidence. The planner proposes bounded searches, the fetch layer creates evidence records, synthesis can reference only those records, and the final validator checks support. If support is missing, the correct output is an abstention. Sources: task-01-search-agent/src/search_agent/evidence.py; answering.py; runner.py; task-01-search-agent/tests/test_evidence.py.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hard defaults from RunBudget, not dashboard suggestions. Every phase consumes the same budget authority, so a retry cannot accidentally reset usage. The system also caps iterations, attempts, decoded bytes, and fetch policy. Sources: task-01-search-agent/src/search_agent/runner.py; task-01-search-agent/src/search_agent/security/.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public API returns 202 after validation, authorization, persistence, idempotency handling, and enqueue. Research is then driven by a worker lease. SSE is replayable over durable events, while polling and cancellation use the same tenant-scoped state. Sources: task-02-agent-api/README.md; docs/architecture.md; task-02-agent-api/src/agent_api/routes/.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Authentication is only the outer boundary. Tenant context is propagated into every repository operation, lifecycle command, event replay, quota decision, and memory action. A cross-tenant identifier is treated as absent, producing a safe 404 rather than leaking existence. Sources: task-02-agent-api/src/agent_api/security/; storage/; task-02-agent-api/tests/security/.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pipeline treats provenance as a chain of custody. GitHub Actions uses Workload Identity Federation, rebuilds and verifies the source, scans and produces an SBOM, pushes the tested image, resolves its immutable digest, and binds Terraform's binary plan to both commit and digest. Sources: .github/workflows/deploy.yml; task-03-deployment-strategy/operations/ci-cd.md; docs/release-and-operations.md.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assessment profile is intentionally small and executable: two Cloud Run services scale to zero and cap at one instance, Cloud Tasks limits concurrency to one, and an operator-selected budget alerts the owner. The expensive model runtime is a separate, disabled-by-default production plane with explicit evaluation, quota, security, and cost gates. Sources: task-03-deployment-strategy/README.md; architecture/strategy.md; docs/release-and-operations.md.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offline tasks are not filler. Together they show three different forms of modeling judgment: entity-level leakage control, domain-appropriate retrieval with abstention, and reusable train/inference preprocessing. Sources: task-04-binary-classification/README.md; task-05-material-similarity/README.md; task-06-category-consolidation/README.md.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classifier story is not '90 percent accuracy.' It is a leakage-aware screening baseline. Weighted logistic regression improves grouped-CV PR-AUC and recall, but holdout precision remains moderate and probabilities are overconfident. That makes calibration and business cost ownership explicit next steps. Sources: task-04-binary-classification/reports/model-card.md; reports/metrics.json.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selected word/character mixture wins the reviewed eight-query benchmark on nDCG@5 while preserving deterministic ranking. But benchmark coverage and catalog coverage are different: 335 blank descriptions force explicit abstention, leaving text-backed catalog coverage at 66.43 percent. Sources: task-05-material-similarity/reports/relevance-metrics.json; retrieval-evaluation.md; data-analysis.md.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rare-category transformer behaves like a proper estimator. Fit learns counts, retained categories, a collision-safe fallback label, and diagnostics from training data only. Transform applies that frozen state to validation, test, and inference; unseen values map deterministically. Sources: task-06-category-consolidation/README.md; src/category_consolidation/core.py; tests/test_category_consolidation.py.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clean computer is part of the product contract. One command builds a temporary locked environment, runs formatting, lint, strict typing, all six task tests, the submission audit, and a two-tenant HTTP smoke using fake inference. It needs neither cloud credentials nor a language model. Sources: Makefile; scripts/local_submission_check.sh; docs/test-strategy.md; docs/release-and-operations.md.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boundary I would want a senior engineer to state clearly. Production-minded means the seams, controls, and evidence paths exist; it does not mean that unmeasured enterprise claims are presented as facts. The next steps are gated by workload, ownership, policy, and observed data. Sources: docs/reviewer-guide.md; task-03-deployment-strategy/architecture/strategy.md; production-scale.md.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on the operating principle rather than the technologies. My value is the ability to turn ambiguity into explicit contracts, choose the simplest defensible model, make failure observable, and leave a clean path from local proof to cloud delivery. Sources: README.md; docs/architecture.md; docs/test-strategy.md.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3" Type="http://schemas.openxmlformats.org/officeDocument/2006/relationships/image" Target="../media/image17.svg"/><Relationship Id="rId7" Type="http://schemas.openxmlformats.org/officeDocument/2006/relationships/image" Target="../media/image21.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4.svg"/><Relationship Id="rId4" Type="http://schemas.openxmlformats.org/officeDocument/2006/relationships/image" Target="../media/image23.svg"/></Relationships>
</file>

<file path=ppt/slides/_rels/slide12.xml.rels><?xml version="1.0" encoding="UTF-8" standalone="yes"?>
<Relationships xmlns="http://schemas.openxmlformats.org/package/2006/relationships"><Relationship Id="rId8" Type="http://schemas.openxmlformats.org/officeDocument/2006/relationships/image" Target="../media/image30.svg"/><Relationship Id="rId13" Type="http://schemas.openxmlformats.org/officeDocument/2006/relationships/image" Target="../media/image35.png"/><Relationship Id="rId3" Type="http://schemas.openxmlformats.org/officeDocument/2006/relationships/image" Target="../media/image25.svg"/><Relationship Id="rId7" Type="http://schemas.openxmlformats.org/officeDocument/2006/relationships/image" Target="../media/image29.png"/><Relationship Id="rId12" Type="http://schemas.openxmlformats.org/officeDocument/2006/relationships/image" Target="../media/image34.sv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svg"/><Relationship Id="rId9" Type="http://schemas.openxmlformats.org/officeDocument/2006/relationships/image" Target="../media/image31.png"/><Relationship Id="rId14" Type="http://schemas.openxmlformats.org/officeDocument/2006/relationships/image" Target="../media/image36.svg"/></Relationships>
</file>

<file path=ppt/slides/_rels/slide13.xml.rels><?xml version="1.0" encoding="UTF-8" standalone="yes"?>
<Relationships xmlns="http://schemas.openxmlformats.org/package/2006/relationships"><Relationship Id="rId8" Type="http://schemas.openxmlformats.org/officeDocument/2006/relationships/image" Target="../media/image42.svg"/><Relationship Id="rId13" Type="http://schemas.openxmlformats.org/officeDocument/2006/relationships/image" Target="../media/image47.png"/><Relationship Id="rId3" Type="http://schemas.openxmlformats.org/officeDocument/2006/relationships/image" Target="../media/image37.svg"/><Relationship Id="rId7" Type="http://schemas.openxmlformats.org/officeDocument/2006/relationships/image" Target="../media/image41.png"/><Relationship Id="rId12" Type="http://schemas.openxmlformats.org/officeDocument/2006/relationships/image" Target="../media/image46.svg"/><Relationship Id="rId17" Type="http://schemas.openxmlformats.org/officeDocument/2006/relationships/image" Target="../media/image51.svg"/><Relationship Id="rId2" Type="http://schemas.openxmlformats.org/officeDocument/2006/relationships/notesSlide" Target="../notesSlides/notesSlide13.xml"/><Relationship Id="rId16" Type="http://schemas.openxmlformats.org/officeDocument/2006/relationships/image" Target="../media/image50.svg"/><Relationship Id="rId1" Type="http://schemas.openxmlformats.org/officeDocument/2006/relationships/slideLayout" Target="../slideLayouts/slideLayout1.xml"/><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5" Type="http://schemas.openxmlformats.org/officeDocument/2006/relationships/image" Target="../media/image4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 Id="rId14" Type="http://schemas.openxmlformats.org/officeDocument/2006/relationships/image" Target="../media/image48.svg"/></Relationships>
</file>

<file path=ppt/slides/_rels/slide14.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7.svg"/><Relationship Id="rId5" Type="http://schemas.openxmlformats.org/officeDocument/2006/relationships/image" Target="../media/image56.svg"/><Relationship Id="rId4" Type="http://schemas.openxmlformats.org/officeDocument/2006/relationships/image" Target="../media/image5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5085B0CD-A037-4324-A439-2AF5EEA28FE6}"/>
              </a:ext>
            </a:extLst>
          </p:cNvPr>
          <p:cNvSpPr>
            <a:spLocks noGrp="1"/>
          </p:cNvSpPr>
          <p:nvPr/>
        </p:nvSpPr>
        <p:spPr>
          <a:xfrm>
            <a:off x="0" y="86"/>
            <a:ext cx="12191695" cy="6857829"/>
          </a:xfrm>
          <a:prstGeom prst="rect">
            <a:avLst/>
          </a:prstGeom>
          <a:solidFill>
            <a:srgbClr val="162A2D"/>
          </a:solidFill>
        </p:spPr>
        <p:txBody>
          <a:bodyPr/>
          <a:lstStyle/>
          <a:p>
            <a:endParaRPr lang="en-DE"/>
          </a:p>
        </p:txBody>
      </p:sp>
      <p:sp>
        <p:nvSpPr>
          <p:cNvPr id="3" name="TextBox 3">
            <a:extLst>
              <a:ext uri="{FF2B5EF4-FFF2-40B4-BE49-F238E27FC236}">
                <a16:creationId xmlns:a16="http://schemas.microsoft.com/office/drawing/2014/main" id="{F2BF80EC-4BDE-4496-9863-009D76EF0E8C}"/>
              </a:ext>
            </a:extLst>
          </p:cNvPr>
          <p:cNvSpPr>
            <a:spLocks noGrp="1"/>
          </p:cNvSpPr>
          <p:nvPr/>
        </p:nvSpPr>
        <p:spPr>
          <a:xfrm>
            <a:off x="609585" y="546172"/>
            <a:ext cx="2285943"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SENIOR AI ENGINEER · CASE STUDY</a:t>
            </a:r>
            <a:endParaRPr sz="1000"/>
          </a:p>
        </p:txBody>
      </p:sp>
      <p:sp>
        <p:nvSpPr>
          <p:cNvPr id="4" name="TextBox 7">
            <a:extLst>
              <a:ext uri="{FF2B5EF4-FFF2-40B4-BE49-F238E27FC236}">
                <a16:creationId xmlns:a16="http://schemas.microsoft.com/office/drawing/2014/main" id="{F9F6A381-0B18-4A4A-A609-3DBF944E259E}"/>
              </a:ext>
            </a:extLst>
          </p:cNvPr>
          <p:cNvSpPr>
            <a:spLocks noGrp="1"/>
          </p:cNvSpPr>
          <p:nvPr/>
        </p:nvSpPr>
        <p:spPr>
          <a:xfrm>
            <a:off x="609585" y="1016060"/>
            <a:ext cx="6667333" cy="1438437"/>
          </a:xfrm>
          <a:prstGeom prst="rect">
            <a:avLst/>
          </a:prstGeom>
          <a:noFill/>
        </p:spPr>
        <p:txBody>
          <a:bodyPr wrap="square" lIns="0" tIns="0" rIns="0" bIns="0" anchor="t">
            <a:spAutoFit/>
          </a:bodyPr>
          <a:lstStyle/>
          <a:p>
            <a:pPr marL="0" indent="0" algn="l">
              <a:lnSpc>
                <a:spcPts val="5664"/>
              </a:lnSpc>
              <a:buNone/>
            </a:pPr>
            <a:r>
              <a:rPr sz="5900" spc="-300">
                <a:solidFill>
                  <a:srgbClr val="FFFFFF"/>
                </a:solidFill>
                <a:latin typeface="Arial"/>
                <a:ea typeface="Arial"/>
                <a:cs typeface="Arial"/>
              </a:rPr>
              <a:t>Six tasks.</a:t>
            </a:r>
            <a:endParaRPr sz="5900"/>
          </a:p>
          <a:p>
            <a:pPr marL="0" indent="0" algn="l">
              <a:lnSpc>
                <a:spcPts val="5664"/>
              </a:lnSpc>
              <a:buNone/>
            </a:pPr>
            <a:r>
              <a:rPr sz="5900" spc="-300">
                <a:solidFill>
                  <a:srgbClr val="FFFFFF"/>
                </a:solidFill>
                <a:latin typeface="Arial"/>
                <a:ea typeface="Arial"/>
                <a:cs typeface="Arial"/>
              </a:rPr>
              <a:t>One hiring signal.</a:t>
            </a:r>
            <a:endParaRPr sz="5900"/>
          </a:p>
        </p:txBody>
      </p:sp>
      <p:sp>
        <p:nvSpPr>
          <p:cNvPr id="5" name="Shape 10">
            <a:extLst>
              <a:ext uri="{FF2B5EF4-FFF2-40B4-BE49-F238E27FC236}">
                <a16:creationId xmlns:a16="http://schemas.microsoft.com/office/drawing/2014/main" id="{0F5BBF7D-C31A-4563-9AFE-EEEDC04F7448}"/>
              </a:ext>
            </a:extLst>
          </p:cNvPr>
          <p:cNvSpPr>
            <a:spLocks noGrp="1"/>
          </p:cNvSpPr>
          <p:nvPr/>
        </p:nvSpPr>
        <p:spPr>
          <a:xfrm>
            <a:off x="660383" y="4356077"/>
            <a:ext cx="5905352" cy="825479"/>
          </a:xfrm>
          <a:prstGeom prst="rect">
            <a:avLst/>
          </a:prstGeom>
          <a:noFill/>
        </p:spPr>
        <p:txBody>
          <a:bodyPr/>
          <a:lstStyle/>
          <a:p>
            <a:endParaRPr lang="en-DE"/>
          </a:p>
        </p:txBody>
      </p:sp>
      <p:pic>
        <p:nvPicPr>
          <p:cNvPr id="22" name="Picture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0383" y="4356077"/>
            <a:ext cx="5905352" cy="825479"/>
          </a:xfrm>
          <a:prstGeom prst="rect">
            <a:avLst/>
          </a:prstGeom>
        </p:spPr>
      </p:pic>
      <p:sp>
        <p:nvSpPr>
          <p:cNvPr id="7" name="TextBox 12">
            <a:extLst>
              <a:ext uri="{FF2B5EF4-FFF2-40B4-BE49-F238E27FC236}">
                <a16:creationId xmlns:a16="http://schemas.microsoft.com/office/drawing/2014/main" id="{812C26BD-9FDB-48DF-BB58-CADFFE150B3F}"/>
              </a:ext>
            </a:extLst>
          </p:cNvPr>
          <p:cNvSpPr>
            <a:spLocks noGrp="1"/>
          </p:cNvSpPr>
          <p:nvPr/>
        </p:nvSpPr>
        <p:spPr>
          <a:xfrm>
            <a:off x="914377" y="4356077"/>
            <a:ext cx="5651359" cy="552635"/>
          </a:xfrm>
          <a:prstGeom prst="rect">
            <a:avLst/>
          </a:prstGeom>
          <a:noFill/>
        </p:spPr>
        <p:txBody>
          <a:bodyPr wrap="square" lIns="0" tIns="0" rIns="0" bIns="0" anchor="t">
            <a:spAutoFit/>
          </a:bodyPr>
          <a:lstStyle/>
          <a:p>
            <a:pPr marL="0" indent="0" algn="l">
              <a:lnSpc>
                <a:spcPts val="2176"/>
              </a:lnSpc>
              <a:buNone/>
            </a:pPr>
            <a:r>
              <a:rPr sz="1700">
                <a:solidFill>
                  <a:srgbClr val="F4F1EA"/>
                </a:solidFill>
                <a:latin typeface="Arial"/>
                <a:ea typeface="Arial"/>
                <a:cs typeface="Arial"/>
              </a:rPr>
              <a:t>I turn ambiguous AI problems into</a:t>
            </a:r>
            <a:endParaRPr sz="1700"/>
          </a:p>
          <a:p>
            <a:pPr marL="0" indent="0" algn="l">
              <a:lnSpc>
                <a:spcPts val="2176"/>
              </a:lnSpc>
              <a:buNone/>
            </a:pPr>
            <a:r>
              <a:rPr sz="1700">
                <a:solidFill>
                  <a:srgbClr val="F4F1EA"/>
                </a:solidFill>
                <a:latin typeface="Arial"/>
                <a:ea typeface="Arial"/>
                <a:cs typeface="Arial"/>
              </a:rPr>
              <a:t>reviewable, deployable systems.</a:t>
            </a:r>
            <a:endParaRPr sz="1700"/>
          </a:p>
        </p:txBody>
      </p:sp>
      <p:sp>
        <p:nvSpPr>
          <p:cNvPr id="8" name="Shape 15">
            <a:extLst>
              <a:ext uri="{FF2B5EF4-FFF2-40B4-BE49-F238E27FC236}">
                <a16:creationId xmlns:a16="http://schemas.microsoft.com/office/drawing/2014/main" id="{C03A470E-D90D-45F9-9E39-EC97B60D9965}"/>
              </a:ext>
            </a:extLst>
          </p:cNvPr>
          <p:cNvSpPr>
            <a:spLocks noGrp="1"/>
          </p:cNvSpPr>
          <p:nvPr/>
        </p:nvSpPr>
        <p:spPr>
          <a:xfrm>
            <a:off x="7480113" y="609670"/>
            <a:ext cx="4127397" cy="4127397"/>
          </a:xfrm>
          <a:prstGeom prst="ellipse">
            <a:avLst/>
          </a:prstGeom>
          <a:noFill/>
          <a:ln w="12700">
            <a:solidFill>
              <a:srgbClr val="FFFFFF">
                <a:alpha val="24000"/>
              </a:srgbClr>
            </a:solidFill>
            <a:prstDash val="solid"/>
          </a:ln>
        </p:spPr>
        <p:txBody>
          <a:bodyPr/>
          <a:lstStyle/>
          <a:p>
            <a:endParaRPr lang="en-DE"/>
          </a:p>
        </p:txBody>
      </p:sp>
      <p:sp>
        <p:nvSpPr>
          <p:cNvPr id="9" name="Shape 17">
            <a:extLst>
              <a:ext uri="{FF2B5EF4-FFF2-40B4-BE49-F238E27FC236}">
                <a16:creationId xmlns:a16="http://schemas.microsoft.com/office/drawing/2014/main" id="{56C99DF2-3135-4897-A4D7-090C0A0C5DE9}"/>
              </a:ext>
            </a:extLst>
          </p:cNvPr>
          <p:cNvSpPr>
            <a:spLocks noGrp="1"/>
          </p:cNvSpPr>
          <p:nvPr/>
        </p:nvSpPr>
        <p:spPr>
          <a:xfrm>
            <a:off x="7937302" y="1066859"/>
            <a:ext cx="3238419" cy="3238419"/>
          </a:xfrm>
          <a:prstGeom prst="ellipse">
            <a:avLst/>
          </a:prstGeom>
          <a:noFill/>
          <a:ln w="12700">
            <a:solidFill>
              <a:srgbClr val="00A99D">
                <a:alpha val="48000"/>
              </a:srgbClr>
            </a:solidFill>
            <a:prstDash val="solid"/>
          </a:ln>
        </p:spPr>
        <p:txBody>
          <a:bodyPr/>
          <a:lstStyle/>
          <a:p>
            <a:endParaRPr lang="en-DE"/>
          </a:p>
        </p:txBody>
      </p:sp>
      <p:sp>
        <p:nvSpPr>
          <p:cNvPr id="10" name="Shape 19">
            <a:extLst>
              <a:ext uri="{FF2B5EF4-FFF2-40B4-BE49-F238E27FC236}">
                <a16:creationId xmlns:a16="http://schemas.microsoft.com/office/drawing/2014/main" id="{4487222D-1C58-4F53-B9C1-9D83741AFF16}"/>
              </a:ext>
            </a:extLst>
          </p:cNvPr>
          <p:cNvSpPr>
            <a:spLocks noGrp="1"/>
          </p:cNvSpPr>
          <p:nvPr/>
        </p:nvSpPr>
        <p:spPr>
          <a:xfrm>
            <a:off x="8661183" y="1790741"/>
            <a:ext cx="1790655" cy="1790655"/>
          </a:xfrm>
          <a:prstGeom prst="ellipse">
            <a:avLst/>
          </a:prstGeom>
          <a:solidFill>
            <a:srgbClr val="00A99D"/>
          </a:solidFill>
        </p:spPr>
        <p:txBody>
          <a:bodyPr/>
          <a:lstStyle/>
          <a:p>
            <a:endParaRPr lang="en-DE"/>
          </a:p>
        </p:txBody>
      </p:sp>
      <p:sp>
        <p:nvSpPr>
          <p:cNvPr id="11" name="TextBox 21">
            <a:extLst>
              <a:ext uri="{FF2B5EF4-FFF2-40B4-BE49-F238E27FC236}">
                <a16:creationId xmlns:a16="http://schemas.microsoft.com/office/drawing/2014/main" id="{72B9108E-95B8-45BA-A102-742D5CF5391F}"/>
              </a:ext>
            </a:extLst>
          </p:cNvPr>
          <p:cNvSpPr>
            <a:spLocks noGrp="1"/>
          </p:cNvSpPr>
          <p:nvPr/>
        </p:nvSpPr>
        <p:spPr>
          <a:xfrm>
            <a:off x="8731032" y="2336827"/>
            <a:ext cx="1650959" cy="698483"/>
          </a:xfrm>
          <a:prstGeom prst="rect">
            <a:avLst/>
          </a:prstGeom>
          <a:noFill/>
        </p:spPr>
        <p:txBody>
          <a:bodyPr wrap="none" lIns="0" tIns="0" rIns="0" bIns="0" anchor="t">
            <a:spAutoFit/>
          </a:bodyPr>
          <a:lstStyle/>
          <a:p>
            <a:pPr marL="0" indent="0" algn="ctr">
              <a:buNone/>
            </a:pPr>
            <a:r>
              <a:rPr sz="4400" b="1" spc="-200">
                <a:solidFill>
                  <a:srgbClr val="162A2D"/>
                </a:solidFill>
                <a:latin typeface="Arial"/>
                <a:ea typeface="Arial"/>
                <a:cs typeface="Arial"/>
              </a:rPr>
              <a:t>6→1</a:t>
            </a:r>
            <a:endParaRPr sz="4400"/>
          </a:p>
        </p:txBody>
      </p:sp>
      <p:sp>
        <p:nvSpPr>
          <p:cNvPr id="12" name="TextBox 24">
            <a:extLst>
              <a:ext uri="{FF2B5EF4-FFF2-40B4-BE49-F238E27FC236}">
                <a16:creationId xmlns:a16="http://schemas.microsoft.com/office/drawing/2014/main" id="{30F090E7-0AD8-48E5-AD64-92C212DEE531}"/>
              </a:ext>
            </a:extLst>
          </p:cNvPr>
          <p:cNvSpPr>
            <a:spLocks noGrp="1"/>
          </p:cNvSpPr>
          <p:nvPr/>
        </p:nvSpPr>
        <p:spPr>
          <a:xfrm>
            <a:off x="7746806" y="2476524"/>
            <a:ext cx="1142971" cy="355591"/>
          </a:xfrm>
          <a:prstGeom prst="roundRect">
            <a:avLst>
              <a:gd name="adj" fmla="val 50000"/>
            </a:avLst>
          </a:prstGeom>
          <a:solidFill>
            <a:srgbClr val="FFFFFF"/>
          </a:solidFill>
        </p:spPr>
        <p:txBody>
          <a:bodyPr wrap="square" lIns="0" tIns="0" rIns="0" bIns="0" anchor="ctr">
            <a:spAutoFit/>
          </a:bodyPr>
          <a:lstStyle/>
          <a:p>
            <a:pPr marL="0" indent="0" algn="ctr">
              <a:buNone/>
            </a:pPr>
            <a:r>
              <a:rPr sz="1100" b="1">
                <a:solidFill>
                  <a:srgbClr val="162A2D"/>
                </a:solidFill>
                <a:latin typeface="Arial"/>
                <a:ea typeface="Arial"/>
                <a:cs typeface="Arial"/>
              </a:rPr>
              <a:t>REASON</a:t>
            </a:r>
            <a:endParaRPr sz="1100"/>
          </a:p>
        </p:txBody>
      </p:sp>
      <p:sp>
        <p:nvSpPr>
          <p:cNvPr id="13" name="TextBox 26">
            <a:extLst>
              <a:ext uri="{FF2B5EF4-FFF2-40B4-BE49-F238E27FC236}">
                <a16:creationId xmlns:a16="http://schemas.microsoft.com/office/drawing/2014/main" id="{C7A4174A-EDAD-4018-8DD9-D03B4400EEEC}"/>
              </a:ext>
            </a:extLst>
          </p:cNvPr>
          <p:cNvSpPr>
            <a:spLocks noGrp="1"/>
          </p:cNvSpPr>
          <p:nvPr/>
        </p:nvSpPr>
        <p:spPr>
          <a:xfrm>
            <a:off x="10274043" y="1384351"/>
            <a:ext cx="1142971" cy="355591"/>
          </a:xfrm>
          <a:prstGeom prst="roundRect">
            <a:avLst>
              <a:gd name="adj" fmla="val 50000"/>
            </a:avLst>
          </a:prstGeom>
          <a:noFill/>
          <a:ln w="12700">
            <a:solidFill>
              <a:srgbClr val="00A99D"/>
            </a:solidFill>
            <a:prstDash val="solid"/>
          </a:ln>
        </p:spPr>
        <p:txBody>
          <a:bodyPr wrap="square" lIns="0" tIns="0" rIns="0" bIns="0" anchor="ctr">
            <a:spAutoFit/>
          </a:bodyPr>
          <a:lstStyle/>
          <a:p>
            <a:pPr marL="0" indent="0" algn="ctr">
              <a:buNone/>
            </a:pPr>
            <a:r>
              <a:rPr sz="1100" b="1">
                <a:solidFill>
                  <a:srgbClr val="FFFFFF"/>
                </a:solidFill>
                <a:latin typeface="Arial"/>
                <a:ea typeface="Arial"/>
                <a:cs typeface="Arial"/>
              </a:rPr>
              <a:t>SERVE</a:t>
            </a:r>
            <a:endParaRPr sz="1100"/>
          </a:p>
        </p:txBody>
      </p:sp>
      <p:sp>
        <p:nvSpPr>
          <p:cNvPr id="14" name="TextBox 28">
            <a:extLst>
              <a:ext uri="{FF2B5EF4-FFF2-40B4-BE49-F238E27FC236}">
                <a16:creationId xmlns:a16="http://schemas.microsoft.com/office/drawing/2014/main" id="{6573BE6E-0A8B-4319-918D-DCBDEF2C080E}"/>
              </a:ext>
            </a:extLst>
          </p:cNvPr>
          <p:cNvSpPr>
            <a:spLocks noGrp="1"/>
          </p:cNvSpPr>
          <p:nvPr/>
        </p:nvSpPr>
        <p:spPr>
          <a:xfrm>
            <a:off x="10350241" y="3632195"/>
            <a:ext cx="1142971" cy="355591"/>
          </a:xfrm>
          <a:prstGeom prst="roundRect">
            <a:avLst>
              <a:gd name="adj" fmla="val 50000"/>
            </a:avLst>
          </a:prstGeom>
          <a:solidFill>
            <a:srgbClr val="F4F1EA"/>
          </a:solidFill>
        </p:spPr>
        <p:txBody>
          <a:bodyPr wrap="square" lIns="0" tIns="0" rIns="0" bIns="0" anchor="ctr">
            <a:spAutoFit/>
          </a:bodyPr>
          <a:lstStyle/>
          <a:p>
            <a:pPr marL="0" indent="0" algn="ctr">
              <a:buNone/>
            </a:pPr>
            <a:r>
              <a:rPr sz="1100" b="1">
                <a:solidFill>
                  <a:srgbClr val="162A2D"/>
                </a:solidFill>
                <a:latin typeface="Arial"/>
                <a:ea typeface="Arial"/>
                <a:cs typeface="Arial"/>
              </a:rPr>
              <a:t>DEPLOY</a:t>
            </a:r>
            <a:endParaRPr sz="1100"/>
          </a:p>
        </p:txBody>
      </p:sp>
      <p:sp>
        <p:nvSpPr>
          <p:cNvPr id="15" name="TextBox 31">
            <a:extLst>
              <a:ext uri="{FF2B5EF4-FFF2-40B4-BE49-F238E27FC236}">
                <a16:creationId xmlns:a16="http://schemas.microsoft.com/office/drawing/2014/main" id="{F1120D59-BD0D-4F73-8859-65A072BC8B6E}"/>
              </a:ext>
            </a:extLst>
          </p:cNvPr>
          <p:cNvSpPr>
            <a:spLocks noGrp="1"/>
          </p:cNvSpPr>
          <p:nvPr/>
        </p:nvSpPr>
        <p:spPr>
          <a:xfrm>
            <a:off x="609585" y="6108633"/>
            <a:ext cx="4952876" cy="279393"/>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Maksim Blekhshtein · Technical assignment · August 2026</a:t>
            </a:r>
            <a:endParaRPr sz="1200"/>
          </a:p>
        </p:txBody>
      </p:sp>
      <p:sp>
        <p:nvSpPr>
          <p:cNvPr id="16" name="TextBox 33">
            <a:extLst>
              <a:ext uri="{FF2B5EF4-FFF2-40B4-BE49-F238E27FC236}">
                <a16:creationId xmlns:a16="http://schemas.microsoft.com/office/drawing/2014/main" id="{C748FF78-3FE7-43A3-8493-1F04A31D4F62}"/>
              </a:ext>
            </a:extLst>
          </p:cNvPr>
          <p:cNvSpPr>
            <a:spLocks noGrp="1"/>
          </p:cNvSpPr>
          <p:nvPr/>
        </p:nvSpPr>
        <p:spPr>
          <a:xfrm>
            <a:off x="8877078" y="6083234"/>
            <a:ext cx="2730432" cy="330192"/>
          </a:xfrm>
          <a:prstGeom prst="rect">
            <a:avLst/>
          </a:prstGeom>
          <a:noFill/>
        </p:spPr>
        <p:txBody>
          <a:bodyPr wrap="square" lIns="0" tIns="0" rIns="0" bIns="0" anchor="t">
            <a:spAutoFit/>
          </a:bodyPr>
          <a:lstStyle/>
          <a:p>
            <a:pPr marL="0" indent="0" algn="r">
              <a:buNone/>
            </a:pPr>
            <a:r>
              <a:rPr sz="1100" spc="100">
                <a:solidFill>
                  <a:srgbClr val="B8C3C1"/>
                </a:solidFill>
                <a:latin typeface="Arial"/>
                <a:ea typeface="Arial"/>
                <a:cs typeface="Arial"/>
              </a:rPr>
              <a:t>EVIDENCE → OPERATIONS → TRUST</a:t>
            </a:r>
            <a:endParaRPr sz="1100"/>
          </a:p>
        </p:txBody>
      </p:sp>
    </p:spTree>
    <p:extLst>
      <p:ext uri="{BB962C8B-B14F-4D97-AF65-F5344CB8AC3E}">
        <p14:creationId xmlns:p14="http://schemas.microsoft.com/office/powerpoint/2010/main" val="10124846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62A9D72D-142C-4523-81DB-525F88F3845C}"/>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AC4609C9-4E81-4618-9664-1DF77809B70F}"/>
              </a:ext>
            </a:extLst>
          </p:cNvPr>
          <p:cNvSpPr>
            <a:spLocks noGrp="1"/>
          </p:cNvSpPr>
          <p:nvPr/>
        </p:nvSpPr>
        <p:spPr>
          <a:xfrm>
            <a:off x="584185" y="457274"/>
            <a:ext cx="2666933"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THE HIRING SCORECARD</a:t>
            </a:r>
            <a:endParaRPr sz="1000"/>
          </a:p>
        </p:txBody>
      </p:sp>
      <p:sp>
        <p:nvSpPr>
          <p:cNvPr id="4" name="TextBox 5">
            <a:extLst>
              <a:ext uri="{FF2B5EF4-FFF2-40B4-BE49-F238E27FC236}">
                <a16:creationId xmlns:a16="http://schemas.microsoft.com/office/drawing/2014/main" id="{AC0716AD-1876-4B73-B3BD-082371BD9CF6}"/>
              </a:ext>
            </a:extLst>
          </p:cNvPr>
          <p:cNvSpPr>
            <a:spLocks noGrp="1"/>
          </p:cNvSpPr>
          <p:nvPr/>
        </p:nvSpPr>
        <p:spPr>
          <a:xfrm>
            <a:off x="584185" y="812865"/>
            <a:ext cx="7492813" cy="736582"/>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What I would look for as a team lead</a:t>
            </a:r>
            <a:endParaRPr sz="3400"/>
          </a:p>
        </p:txBody>
      </p:sp>
      <p:sp>
        <p:nvSpPr>
          <p:cNvPr id="5" name="TextBox 7">
            <a:extLst>
              <a:ext uri="{FF2B5EF4-FFF2-40B4-BE49-F238E27FC236}">
                <a16:creationId xmlns:a16="http://schemas.microsoft.com/office/drawing/2014/main" id="{30AC3642-B243-423B-A619-F80041D39400}"/>
              </a:ext>
            </a:extLst>
          </p:cNvPr>
          <p:cNvSpPr>
            <a:spLocks noGrp="1"/>
          </p:cNvSpPr>
          <p:nvPr/>
        </p:nvSpPr>
        <p:spPr>
          <a:xfrm>
            <a:off x="8750081" y="920813"/>
            <a:ext cx="2857429" cy="634984"/>
          </a:xfrm>
          <a:prstGeom prst="rect">
            <a:avLst/>
          </a:prstGeom>
          <a:noFill/>
        </p:spPr>
        <p:txBody>
          <a:bodyPr wrap="square" lIns="0" tIns="0" rIns="0" bIns="0" anchor="t">
            <a:spAutoFit/>
          </a:bodyPr>
          <a:lstStyle/>
          <a:p>
            <a:pPr marL="0" indent="0" algn="l">
              <a:lnSpc>
                <a:spcPts val="1890"/>
              </a:lnSpc>
              <a:buNone/>
            </a:pPr>
            <a:r>
              <a:rPr sz="1400">
                <a:solidFill>
                  <a:srgbClr val="5E6D6C"/>
                </a:solidFill>
                <a:latin typeface="Arial"/>
                <a:ea typeface="Arial"/>
                <a:cs typeface="Arial"/>
              </a:rPr>
              <a:t>Each proof is designed to survive</a:t>
            </a:r>
            <a:endParaRPr sz="1400"/>
          </a:p>
          <a:p>
            <a:pPr marL="0" indent="0" algn="l">
              <a:lnSpc>
                <a:spcPts val="1890"/>
              </a:lnSpc>
              <a:buNone/>
            </a:pPr>
            <a:r>
              <a:rPr sz="1400">
                <a:solidFill>
                  <a:srgbClr val="5E6D6C"/>
                </a:solidFill>
                <a:latin typeface="Arial"/>
                <a:ea typeface="Arial"/>
                <a:cs typeface="Arial"/>
              </a:rPr>
              <a:t>a skeptical code review.</a:t>
            </a:r>
            <a:endParaRPr sz="1400"/>
          </a:p>
        </p:txBody>
      </p:sp>
      <p:sp>
        <p:nvSpPr>
          <p:cNvPr id="6" name="Shape 9">
            <a:extLst>
              <a:ext uri="{FF2B5EF4-FFF2-40B4-BE49-F238E27FC236}">
                <a16:creationId xmlns:a16="http://schemas.microsoft.com/office/drawing/2014/main" id="{BDEAD0FB-2AFB-442E-A0C1-D1B513445134}"/>
              </a:ext>
            </a:extLst>
          </p:cNvPr>
          <p:cNvSpPr>
            <a:spLocks noGrp="1"/>
          </p:cNvSpPr>
          <p:nvPr/>
        </p:nvSpPr>
        <p:spPr>
          <a:xfrm>
            <a:off x="584185" y="1968537"/>
            <a:ext cx="11023324" cy="3936902"/>
          </a:xfrm>
          <a:prstGeom prst="rect">
            <a:avLst/>
          </a:prstGeom>
          <a:noFill/>
        </p:spPr>
        <p:txBody>
          <a:bodyPr/>
          <a:lstStyle/>
          <a:p>
            <a:endParaRPr lang="en-DE"/>
          </a:p>
        </p:txBody>
      </p:sp>
      <p:pic>
        <p:nvPicPr>
          <p:cNvPr id="43" name="Picture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185" y="1968537"/>
            <a:ext cx="11023324" cy="3936902"/>
          </a:xfrm>
          <a:prstGeom prst="rect">
            <a:avLst/>
          </a:prstGeom>
        </p:spPr>
      </p:pic>
      <p:sp>
        <p:nvSpPr>
          <p:cNvPr id="8" name="Shape 11">
            <a:extLst>
              <a:ext uri="{FF2B5EF4-FFF2-40B4-BE49-F238E27FC236}">
                <a16:creationId xmlns:a16="http://schemas.microsoft.com/office/drawing/2014/main" id="{718122F3-FC9B-4C91-8751-FC2FC3F489E0}"/>
              </a:ext>
            </a:extLst>
          </p:cNvPr>
          <p:cNvSpPr>
            <a:spLocks noGrp="1"/>
          </p:cNvSpPr>
          <p:nvPr/>
        </p:nvSpPr>
        <p:spPr>
          <a:xfrm>
            <a:off x="584185" y="1981236"/>
            <a:ext cx="11023324" cy="787380"/>
          </a:xfrm>
          <a:prstGeom prst="rect">
            <a:avLst/>
          </a:prstGeom>
          <a:noFill/>
        </p:spPr>
        <p:txBody>
          <a:bodyPr/>
          <a:lstStyle/>
          <a:p>
            <a:endParaRPr lang="en-DE"/>
          </a:p>
        </p:txBody>
      </p:sp>
      <p:pic>
        <p:nvPicPr>
          <p:cNvPr id="45" name="Picture 1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4185" y="1981236"/>
            <a:ext cx="11023324" cy="787380"/>
          </a:xfrm>
          <a:prstGeom prst="rect">
            <a:avLst/>
          </a:prstGeom>
        </p:spPr>
      </p:pic>
      <p:sp>
        <p:nvSpPr>
          <p:cNvPr id="10" name="TextBox 13">
            <a:extLst>
              <a:ext uri="{FF2B5EF4-FFF2-40B4-BE49-F238E27FC236}">
                <a16:creationId xmlns:a16="http://schemas.microsoft.com/office/drawing/2014/main" id="{9A226E71-5FE9-4FD6-B9DB-9120972919FC}"/>
              </a:ext>
            </a:extLst>
          </p:cNvPr>
          <p:cNvSpPr>
            <a:spLocks noGrp="1"/>
          </p:cNvSpPr>
          <p:nvPr/>
        </p:nvSpPr>
        <p:spPr>
          <a:xfrm>
            <a:off x="584185" y="2289203"/>
            <a:ext cx="1968451" cy="165096"/>
          </a:xfrm>
          <a:prstGeom prst="rect">
            <a:avLst/>
          </a:prstGeom>
          <a:noFill/>
        </p:spPr>
        <p:txBody>
          <a:bodyPr wrap="square" lIns="152396" tIns="0" rIns="0" bIns="0" anchor="t">
            <a:spAutoFit/>
          </a:bodyPr>
          <a:lstStyle/>
          <a:p>
            <a:pPr marL="0" indent="0" algn="l">
              <a:buNone/>
            </a:pPr>
            <a:r>
              <a:rPr sz="1100" b="1" spc="100">
                <a:solidFill>
                  <a:srgbClr val="00A99D"/>
                </a:solidFill>
                <a:latin typeface="Arial"/>
                <a:ea typeface="Arial"/>
                <a:cs typeface="Arial"/>
              </a:rPr>
              <a:t>AI JUDGMENT</a:t>
            </a:r>
            <a:endParaRPr sz="1100"/>
          </a:p>
        </p:txBody>
      </p:sp>
      <p:sp>
        <p:nvSpPr>
          <p:cNvPr id="11" name="TextBox 15">
            <a:extLst>
              <a:ext uri="{FF2B5EF4-FFF2-40B4-BE49-F238E27FC236}">
                <a16:creationId xmlns:a16="http://schemas.microsoft.com/office/drawing/2014/main" id="{2FEF07E5-0A8E-4919-95CE-CE6161E373C0}"/>
              </a:ext>
            </a:extLst>
          </p:cNvPr>
          <p:cNvSpPr>
            <a:spLocks noGrp="1"/>
          </p:cNvSpPr>
          <p:nvPr/>
        </p:nvSpPr>
        <p:spPr>
          <a:xfrm>
            <a:off x="2552636" y="2247930"/>
            <a:ext cx="4063898" cy="247644"/>
          </a:xfrm>
          <a:prstGeom prst="rect">
            <a:avLst/>
          </a:prstGeom>
          <a:noFill/>
        </p:spPr>
        <p:txBody>
          <a:bodyPr wrap="square" lIns="0" tIns="0" rIns="0" bIns="0" anchor="t">
            <a:spAutoFit/>
          </a:bodyPr>
          <a:lstStyle/>
          <a:p>
            <a:pPr marL="0" indent="0" algn="l">
              <a:buNone/>
            </a:pPr>
            <a:r>
              <a:rPr sz="1700" b="1">
                <a:solidFill>
                  <a:srgbClr val="162A2D"/>
                </a:solidFill>
                <a:latin typeface="Arial"/>
                <a:ea typeface="Arial"/>
                <a:cs typeface="Arial"/>
              </a:rPr>
              <a:t>Policy stays deterministic</a:t>
            </a:r>
            <a:endParaRPr sz="1700"/>
          </a:p>
        </p:txBody>
      </p:sp>
      <p:sp>
        <p:nvSpPr>
          <p:cNvPr id="12" name="TextBox 17">
            <a:extLst>
              <a:ext uri="{FF2B5EF4-FFF2-40B4-BE49-F238E27FC236}">
                <a16:creationId xmlns:a16="http://schemas.microsoft.com/office/drawing/2014/main" id="{CEA772D0-992C-4405-98ED-F1F5D787B03A}"/>
              </a:ext>
            </a:extLst>
          </p:cNvPr>
          <p:cNvSpPr>
            <a:spLocks noGrp="1"/>
          </p:cNvSpPr>
          <p:nvPr/>
        </p:nvSpPr>
        <p:spPr>
          <a:xfrm>
            <a:off x="6616535" y="2264598"/>
            <a:ext cx="4571886" cy="214307"/>
          </a:xfrm>
          <a:prstGeom prst="rect">
            <a:avLst/>
          </a:prstGeom>
          <a:noFill/>
        </p:spPr>
        <p:txBody>
          <a:bodyPr wrap="square" lIns="0" tIns="0" rIns="0" bIns="0" anchor="t">
            <a:spAutoFit/>
          </a:bodyPr>
          <a:lstStyle/>
          <a:p>
            <a:pPr marL="0" indent="0" algn="l">
              <a:lnSpc>
                <a:spcPts val="1687"/>
              </a:lnSpc>
              <a:buNone/>
            </a:pPr>
            <a:r>
              <a:rPr sz="1350">
                <a:solidFill>
                  <a:srgbClr val="5E6D6C"/>
                </a:solidFill>
                <a:latin typeface="Arial"/>
                <a:ea typeface="Arial"/>
                <a:cs typeface="Arial"/>
              </a:rPr>
              <a:t>Models propose; code owns budgets, access and evidence.</a:t>
            </a:r>
            <a:endParaRPr sz="1350"/>
          </a:p>
        </p:txBody>
      </p:sp>
      <p:sp>
        <p:nvSpPr>
          <p:cNvPr id="13" name="Shape 20">
            <a:extLst>
              <a:ext uri="{FF2B5EF4-FFF2-40B4-BE49-F238E27FC236}">
                <a16:creationId xmlns:a16="http://schemas.microsoft.com/office/drawing/2014/main" id="{EA31764F-43AA-42A7-A5A7-57527EF41873}"/>
              </a:ext>
            </a:extLst>
          </p:cNvPr>
          <p:cNvSpPr>
            <a:spLocks noGrp="1"/>
          </p:cNvSpPr>
          <p:nvPr/>
        </p:nvSpPr>
        <p:spPr>
          <a:xfrm>
            <a:off x="584185" y="2768617"/>
            <a:ext cx="11023324" cy="787380"/>
          </a:xfrm>
          <a:prstGeom prst="rect">
            <a:avLst/>
          </a:prstGeom>
          <a:solidFill>
            <a:srgbClr val="FFFFFF">
              <a:alpha val="44000"/>
            </a:srgbClr>
          </a:solidFill>
        </p:spPr>
        <p:txBody>
          <a:bodyPr/>
          <a:lstStyle/>
          <a:p>
            <a:endParaRPr lang="en-DE"/>
          </a:p>
        </p:txBody>
      </p:sp>
      <p:pic>
        <p:nvPicPr>
          <p:cNvPr id="50" name="Picture 20"/>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4185" y="2768617"/>
            <a:ext cx="11023324" cy="787380"/>
          </a:xfrm>
          <a:prstGeom prst="rect">
            <a:avLst/>
          </a:prstGeom>
        </p:spPr>
      </p:pic>
      <p:sp>
        <p:nvSpPr>
          <p:cNvPr id="15" name="TextBox 22">
            <a:extLst>
              <a:ext uri="{FF2B5EF4-FFF2-40B4-BE49-F238E27FC236}">
                <a16:creationId xmlns:a16="http://schemas.microsoft.com/office/drawing/2014/main" id="{62BB9BCF-4578-4DD3-8458-91FC8AC521F7}"/>
              </a:ext>
            </a:extLst>
          </p:cNvPr>
          <p:cNvSpPr>
            <a:spLocks noGrp="1"/>
          </p:cNvSpPr>
          <p:nvPr/>
        </p:nvSpPr>
        <p:spPr>
          <a:xfrm>
            <a:off x="584185" y="3076584"/>
            <a:ext cx="1968451" cy="165096"/>
          </a:xfrm>
          <a:prstGeom prst="rect">
            <a:avLst/>
          </a:prstGeom>
          <a:noFill/>
        </p:spPr>
        <p:txBody>
          <a:bodyPr wrap="square" lIns="152396" tIns="0" rIns="0" bIns="0" anchor="t">
            <a:spAutoFit/>
          </a:bodyPr>
          <a:lstStyle/>
          <a:p>
            <a:pPr marL="0" indent="0" algn="l">
              <a:buNone/>
            </a:pPr>
            <a:r>
              <a:rPr sz="1100" b="1" spc="100">
                <a:solidFill>
                  <a:srgbClr val="00A99D"/>
                </a:solidFill>
                <a:latin typeface="Arial"/>
                <a:ea typeface="Arial"/>
                <a:cs typeface="Arial"/>
              </a:rPr>
              <a:t>PLATFORM</a:t>
            </a:r>
            <a:endParaRPr sz="1100"/>
          </a:p>
        </p:txBody>
      </p:sp>
      <p:sp>
        <p:nvSpPr>
          <p:cNvPr id="16" name="TextBox 24">
            <a:extLst>
              <a:ext uri="{FF2B5EF4-FFF2-40B4-BE49-F238E27FC236}">
                <a16:creationId xmlns:a16="http://schemas.microsoft.com/office/drawing/2014/main" id="{31B56B1D-4408-4542-A395-50EA1B39586A}"/>
              </a:ext>
            </a:extLst>
          </p:cNvPr>
          <p:cNvSpPr>
            <a:spLocks noGrp="1"/>
          </p:cNvSpPr>
          <p:nvPr/>
        </p:nvSpPr>
        <p:spPr>
          <a:xfrm>
            <a:off x="2552636" y="3035310"/>
            <a:ext cx="4063898" cy="247644"/>
          </a:xfrm>
          <a:prstGeom prst="rect">
            <a:avLst/>
          </a:prstGeom>
          <a:noFill/>
        </p:spPr>
        <p:txBody>
          <a:bodyPr wrap="square" lIns="0" tIns="0" rIns="0" bIns="0" anchor="t">
            <a:spAutoFit/>
          </a:bodyPr>
          <a:lstStyle/>
          <a:p>
            <a:pPr marL="0" indent="0" algn="l">
              <a:buNone/>
            </a:pPr>
            <a:r>
              <a:rPr sz="1700" b="1">
                <a:solidFill>
                  <a:srgbClr val="162A2D"/>
                </a:solidFill>
                <a:latin typeface="Arial"/>
                <a:ea typeface="Arial"/>
                <a:cs typeface="Arial"/>
              </a:rPr>
              <a:t>Long work becomes a job</a:t>
            </a:r>
            <a:endParaRPr sz="1700"/>
          </a:p>
        </p:txBody>
      </p:sp>
      <p:sp>
        <p:nvSpPr>
          <p:cNvPr id="17" name="TextBox 26">
            <a:extLst>
              <a:ext uri="{FF2B5EF4-FFF2-40B4-BE49-F238E27FC236}">
                <a16:creationId xmlns:a16="http://schemas.microsoft.com/office/drawing/2014/main" id="{03A4A39D-7404-496F-B679-239C8BBBBD23}"/>
              </a:ext>
            </a:extLst>
          </p:cNvPr>
          <p:cNvSpPr>
            <a:spLocks noGrp="1"/>
          </p:cNvSpPr>
          <p:nvPr/>
        </p:nvSpPr>
        <p:spPr>
          <a:xfrm>
            <a:off x="6616535" y="3051978"/>
            <a:ext cx="4571886" cy="214307"/>
          </a:xfrm>
          <a:prstGeom prst="rect">
            <a:avLst/>
          </a:prstGeom>
          <a:noFill/>
        </p:spPr>
        <p:txBody>
          <a:bodyPr wrap="square" lIns="0" tIns="0" rIns="0" bIns="0" anchor="t">
            <a:spAutoFit/>
          </a:bodyPr>
          <a:lstStyle/>
          <a:p>
            <a:pPr marL="0" indent="0" algn="l">
              <a:lnSpc>
                <a:spcPts val="1687"/>
              </a:lnSpc>
              <a:buNone/>
            </a:pPr>
            <a:r>
              <a:rPr sz="1350">
                <a:solidFill>
                  <a:srgbClr val="5E6D6C"/>
                </a:solidFill>
                <a:latin typeface="Arial"/>
                <a:ea typeface="Arial"/>
                <a:cs typeface="Arial"/>
              </a:rPr>
              <a:t>Persistence, leases, SSE and cancellation are contracts.</a:t>
            </a:r>
            <a:endParaRPr sz="1350"/>
          </a:p>
        </p:txBody>
      </p:sp>
      <p:sp>
        <p:nvSpPr>
          <p:cNvPr id="18" name="Shape 29">
            <a:extLst>
              <a:ext uri="{FF2B5EF4-FFF2-40B4-BE49-F238E27FC236}">
                <a16:creationId xmlns:a16="http://schemas.microsoft.com/office/drawing/2014/main" id="{58427F35-1F75-4159-BA6D-C09409BD6EE7}"/>
              </a:ext>
            </a:extLst>
          </p:cNvPr>
          <p:cNvSpPr>
            <a:spLocks noGrp="1"/>
          </p:cNvSpPr>
          <p:nvPr/>
        </p:nvSpPr>
        <p:spPr>
          <a:xfrm>
            <a:off x="584185" y="3555997"/>
            <a:ext cx="11023324" cy="787380"/>
          </a:xfrm>
          <a:prstGeom prst="rect">
            <a:avLst/>
          </a:prstGeom>
          <a:noFill/>
        </p:spPr>
        <p:txBody>
          <a:bodyPr/>
          <a:lstStyle/>
          <a:p>
            <a:endParaRPr lang="en-DE"/>
          </a:p>
        </p:txBody>
      </p:sp>
      <p:pic>
        <p:nvPicPr>
          <p:cNvPr id="55" name="Picture 29"/>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4185" y="3555997"/>
            <a:ext cx="11023324" cy="787380"/>
          </a:xfrm>
          <a:prstGeom prst="rect">
            <a:avLst/>
          </a:prstGeom>
        </p:spPr>
      </p:pic>
      <p:sp>
        <p:nvSpPr>
          <p:cNvPr id="20" name="TextBox 31">
            <a:extLst>
              <a:ext uri="{FF2B5EF4-FFF2-40B4-BE49-F238E27FC236}">
                <a16:creationId xmlns:a16="http://schemas.microsoft.com/office/drawing/2014/main" id="{2BC45B2B-56CE-482E-A073-DB72BBE00794}"/>
              </a:ext>
            </a:extLst>
          </p:cNvPr>
          <p:cNvSpPr>
            <a:spLocks noGrp="1"/>
          </p:cNvSpPr>
          <p:nvPr/>
        </p:nvSpPr>
        <p:spPr>
          <a:xfrm>
            <a:off x="584185" y="3863964"/>
            <a:ext cx="1968451" cy="165096"/>
          </a:xfrm>
          <a:prstGeom prst="rect">
            <a:avLst/>
          </a:prstGeom>
          <a:noFill/>
        </p:spPr>
        <p:txBody>
          <a:bodyPr wrap="square" lIns="152396" tIns="0" rIns="0" bIns="0" anchor="t">
            <a:spAutoFit/>
          </a:bodyPr>
          <a:lstStyle/>
          <a:p>
            <a:pPr marL="0" indent="0" algn="l">
              <a:buNone/>
            </a:pPr>
            <a:r>
              <a:rPr sz="1100" b="1" spc="100">
                <a:solidFill>
                  <a:srgbClr val="00A99D"/>
                </a:solidFill>
                <a:latin typeface="Arial"/>
                <a:ea typeface="Arial"/>
                <a:cs typeface="Arial"/>
              </a:rPr>
              <a:t>ML PRACTICE</a:t>
            </a:r>
            <a:endParaRPr sz="1100"/>
          </a:p>
        </p:txBody>
      </p:sp>
      <p:sp>
        <p:nvSpPr>
          <p:cNvPr id="21" name="TextBox 33">
            <a:extLst>
              <a:ext uri="{FF2B5EF4-FFF2-40B4-BE49-F238E27FC236}">
                <a16:creationId xmlns:a16="http://schemas.microsoft.com/office/drawing/2014/main" id="{59845877-FC17-405E-AA55-6018CDF12329}"/>
              </a:ext>
            </a:extLst>
          </p:cNvPr>
          <p:cNvSpPr>
            <a:spLocks noGrp="1"/>
          </p:cNvSpPr>
          <p:nvPr/>
        </p:nvSpPr>
        <p:spPr>
          <a:xfrm>
            <a:off x="2552636" y="3822690"/>
            <a:ext cx="4063898" cy="247644"/>
          </a:xfrm>
          <a:prstGeom prst="rect">
            <a:avLst/>
          </a:prstGeom>
          <a:noFill/>
        </p:spPr>
        <p:txBody>
          <a:bodyPr wrap="square" lIns="0" tIns="0" rIns="0" bIns="0" anchor="t">
            <a:spAutoFit/>
          </a:bodyPr>
          <a:lstStyle/>
          <a:p>
            <a:pPr marL="0" indent="0" algn="l">
              <a:buNone/>
            </a:pPr>
            <a:r>
              <a:rPr sz="1700" b="1">
                <a:solidFill>
                  <a:srgbClr val="162A2D"/>
                </a:solidFill>
                <a:latin typeface="Arial"/>
                <a:ea typeface="Arial"/>
                <a:cs typeface="Arial"/>
              </a:rPr>
              <a:t>Leakage before leaderboard</a:t>
            </a:r>
            <a:endParaRPr sz="1700"/>
          </a:p>
        </p:txBody>
      </p:sp>
      <p:sp>
        <p:nvSpPr>
          <p:cNvPr id="22" name="TextBox 35">
            <a:extLst>
              <a:ext uri="{FF2B5EF4-FFF2-40B4-BE49-F238E27FC236}">
                <a16:creationId xmlns:a16="http://schemas.microsoft.com/office/drawing/2014/main" id="{C86DACD7-F89E-478A-8144-BE7E6149253A}"/>
              </a:ext>
            </a:extLst>
          </p:cNvPr>
          <p:cNvSpPr>
            <a:spLocks noGrp="1"/>
          </p:cNvSpPr>
          <p:nvPr/>
        </p:nvSpPr>
        <p:spPr>
          <a:xfrm>
            <a:off x="6616535" y="3839358"/>
            <a:ext cx="4571886" cy="214307"/>
          </a:xfrm>
          <a:prstGeom prst="rect">
            <a:avLst/>
          </a:prstGeom>
          <a:noFill/>
        </p:spPr>
        <p:txBody>
          <a:bodyPr wrap="square" lIns="0" tIns="0" rIns="0" bIns="0" anchor="t">
            <a:spAutoFit/>
          </a:bodyPr>
          <a:lstStyle/>
          <a:p>
            <a:pPr marL="0" indent="0" algn="l">
              <a:lnSpc>
                <a:spcPts val="1687"/>
              </a:lnSpc>
              <a:buNone/>
            </a:pPr>
            <a:r>
              <a:rPr sz="1350">
                <a:solidFill>
                  <a:srgbClr val="5E6D6C"/>
                </a:solidFill>
                <a:latin typeface="Arial"/>
                <a:ea typeface="Arial"/>
                <a:cs typeface="Arial"/>
              </a:rPr>
              <a:t>Splits, abstention and calibration precede complexity.</a:t>
            </a:r>
            <a:endParaRPr sz="1350"/>
          </a:p>
        </p:txBody>
      </p:sp>
      <p:sp>
        <p:nvSpPr>
          <p:cNvPr id="23" name="Shape 38">
            <a:extLst>
              <a:ext uri="{FF2B5EF4-FFF2-40B4-BE49-F238E27FC236}">
                <a16:creationId xmlns:a16="http://schemas.microsoft.com/office/drawing/2014/main" id="{A4A94028-E05A-4AE9-8289-E6AE1994D88E}"/>
              </a:ext>
            </a:extLst>
          </p:cNvPr>
          <p:cNvSpPr>
            <a:spLocks noGrp="1"/>
          </p:cNvSpPr>
          <p:nvPr/>
        </p:nvSpPr>
        <p:spPr>
          <a:xfrm>
            <a:off x="584185" y="4343377"/>
            <a:ext cx="11023324" cy="787380"/>
          </a:xfrm>
          <a:prstGeom prst="rect">
            <a:avLst/>
          </a:prstGeom>
          <a:solidFill>
            <a:srgbClr val="FFFFFF">
              <a:alpha val="44000"/>
            </a:srgbClr>
          </a:solidFill>
        </p:spPr>
        <p:txBody>
          <a:bodyPr/>
          <a:lstStyle/>
          <a:p>
            <a:endParaRPr lang="en-DE"/>
          </a:p>
        </p:txBody>
      </p:sp>
      <p:pic>
        <p:nvPicPr>
          <p:cNvPr id="60" name="Picture 38"/>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4185" y="4343377"/>
            <a:ext cx="11023324" cy="787380"/>
          </a:xfrm>
          <a:prstGeom prst="rect">
            <a:avLst/>
          </a:prstGeom>
        </p:spPr>
      </p:pic>
      <p:sp>
        <p:nvSpPr>
          <p:cNvPr id="25" name="TextBox 40">
            <a:extLst>
              <a:ext uri="{FF2B5EF4-FFF2-40B4-BE49-F238E27FC236}">
                <a16:creationId xmlns:a16="http://schemas.microsoft.com/office/drawing/2014/main" id="{14E5BD58-DAF9-420D-9E3B-A4EE51307EE5}"/>
              </a:ext>
            </a:extLst>
          </p:cNvPr>
          <p:cNvSpPr>
            <a:spLocks noGrp="1"/>
          </p:cNvSpPr>
          <p:nvPr/>
        </p:nvSpPr>
        <p:spPr>
          <a:xfrm>
            <a:off x="584185" y="4651344"/>
            <a:ext cx="1968451" cy="165096"/>
          </a:xfrm>
          <a:prstGeom prst="rect">
            <a:avLst/>
          </a:prstGeom>
          <a:noFill/>
        </p:spPr>
        <p:txBody>
          <a:bodyPr wrap="square" lIns="152396" tIns="0" rIns="0" bIns="0" anchor="t">
            <a:spAutoFit/>
          </a:bodyPr>
          <a:lstStyle/>
          <a:p>
            <a:pPr marL="0" indent="0" algn="l">
              <a:buNone/>
            </a:pPr>
            <a:r>
              <a:rPr sz="1100" b="1" spc="100">
                <a:solidFill>
                  <a:srgbClr val="00A99D"/>
                </a:solidFill>
                <a:latin typeface="Arial"/>
                <a:ea typeface="Arial"/>
                <a:cs typeface="Arial"/>
              </a:rPr>
              <a:t>DELIVERY</a:t>
            </a:r>
            <a:endParaRPr sz="1100"/>
          </a:p>
        </p:txBody>
      </p:sp>
      <p:sp>
        <p:nvSpPr>
          <p:cNvPr id="26" name="TextBox 42">
            <a:extLst>
              <a:ext uri="{FF2B5EF4-FFF2-40B4-BE49-F238E27FC236}">
                <a16:creationId xmlns:a16="http://schemas.microsoft.com/office/drawing/2014/main" id="{47AC6FC4-6AD8-4682-86EC-B011D9CC61E8}"/>
              </a:ext>
            </a:extLst>
          </p:cNvPr>
          <p:cNvSpPr>
            <a:spLocks noGrp="1"/>
          </p:cNvSpPr>
          <p:nvPr/>
        </p:nvSpPr>
        <p:spPr>
          <a:xfrm>
            <a:off x="2552636" y="4610070"/>
            <a:ext cx="4063898" cy="247644"/>
          </a:xfrm>
          <a:prstGeom prst="rect">
            <a:avLst/>
          </a:prstGeom>
          <a:noFill/>
        </p:spPr>
        <p:txBody>
          <a:bodyPr wrap="square" lIns="0" tIns="0" rIns="0" bIns="0" anchor="t">
            <a:spAutoFit/>
          </a:bodyPr>
          <a:lstStyle/>
          <a:p>
            <a:pPr marL="0" indent="0" algn="l">
              <a:buNone/>
            </a:pPr>
            <a:r>
              <a:rPr sz="1700" b="1">
                <a:solidFill>
                  <a:srgbClr val="162A2D"/>
                </a:solidFill>
                <a:latin typeface="Arial"/>
                <a:ea typeface="Arial"/>
                <a:cs typeface="Arial"/>
              </a:rPr>
              <a:t>Promote the tested digest</a:t>
            </a:r>
            <a:endParaRPr sz="1700"/>
          </a:p>
        </p:txBody>
      </p:sp>
      <p:sp>
        <p:nvSpPr>
          <p:cNvPr id="27" name="TextBox 44">
            <a:extLst>
              <a:ext uri="{FF2B5EF4-FFF2-40B4-BE49-F238E27FC236}">
                <a16:creationId xmlns:a16="http://schemas.microsoft.com/office/drawing/2014/main" id="{7DBD057A-1408-4891-B630-7C9815544A76}"/>
              </a:ext>
            </a:extLst>
          </p:cNvPr>
          <p:cNvSpPr>
            <a:spLocks noGrp="1"/>
          </p:cNvSpPr>
          <p:nvPr/>
        </p:nvSpPr>
        <p:spPr>
          <a:xfrm>
            <a:off x="6616535" y="4626739"/>
            <a:ext cx="4571886" cy="214307"/>
          </a:xfrm>
          <a:prstGeom prst="rect">
            <a:avLst/>
          </a:prstGeom>
          <a:noFill/>
        </p:spPr>
        <p:txBody>
          <a:bodyPr wrap="square" lIns="0" tIns="0" rIns="0" bIns="0" anchor="t">
            <a:spAutoFit/>
          </a:bodyPr>
          <a:lstStyle/>
          <a:p>
            <a:pPr marL="0" indent="0" algn="l">
              <a:lnSpc>
                <a:spcPts val="1687"/>
              </a:lnSpc>
              <a:buNone/>
            </a:pPr>
            <a:r>
              <a:rPr sz="1350">
                <a:solidFill>
                  <a:srgbClr val="5E6D6C"/>
                </a:solidFill>
                <a:latin typeface="Arial"/>
                <a:ea typeface="Arial"/>
                <a:cs typeface="Arial"/>
              </a:rPr>
              <a:t>Keyless identity and reviewed Terraform close the loop.</a:t>
            </a:r>
            <a:endParaRPr sz="1350"/>
          </a:p>
        </p:txBody>
      </p:sp>
      <p:sp>
        <p:nvSpPr>
          <p:cNvPr id="28" name="TextBox 49">
            <a:extLst>
              <a:ext uri="{FF2B5EF4-FFF2-40B4-BE49-F238E27FC236}">
                <a16:creationId xmlns:a16="http://schemas.microsoft.com/office/drawing/2014/main" id="{7AABB1A4-73F1-4EF3-89DD-17048FF13967}"/>
              </a:ext>
            </a:extLst>
          </p:cNvPr>
          <p:cNvSpPr>
            <a:spLocks noGrp="1"/>
          </p:cNvSpPr>
          <p:nvPr/>
        </p:nvSpPr>
        <p:spPr>
          <a:xfrm>
            <a:off x="584185" y="5441900"/>
            <a:ext cx="1968451" cy="165096"/>
          </a:xfrm>
          <a:prstGeom prst="rect">
            <a:avLst/>
          </a:prstGeom>
          <a:noFill/>
        </p:spPr>
        <p:txBody>
          <a:bodyPr wrap="square" lIns="152396" tIns="0" rIns="0" bIns="0" anchor="t">
            <a:spAutoFit/>
          </a:bodyPr>
          <a:lstStyle/>
          <a:p>
            <a:pPr marL="0" indent="0" algn="l">
              <a:buNone/>
            </a:pPr>
            <a:r>
              <a:rPr sz="1100" b="1" spc="100">
                <a:solidFill>
                  <a:srgbClr val="00A99D"/>
                </a:solidFill>
                <a:latin typeface="Arial"/>
                <a:ea typeface="Arial"/>
                <a:cs typeface="Arial"/>
              </a:rPr>
              <a:t>PRODUCT SENSE</a:t>
            </a:r>
            <a:endParaRPr sz="1100"/>
          </a:p>
        </p:txBody>
      </p:sp>
      <p:sp>
        <p:nvSpPr>
          <p:cNvPr id="29" name="TextBox 51">
            <a:extLst>
              <a:ext uri="{FF2B5EF4-FFF2-40B4-BE49-F238E27FC236}">
                <a16:creationId xmlns:a16="http://schemas.microsoft.com/office/drawing/2014/main" id="{91128555-419B-4EC2-B255-45BEF988FE50}"/>
              </a:ext>
            </a:extLst>
          </p:cNvPr>
          <p:cNvSpPr>
            <a:spLocks noGrp="1"/>
          </p:cNvSpPr>
          <p:nvPr/>
        </p:nvSpPr>
        <p:spPr>
          <a:xfrm>
            <a:off x="2552636" y="5400626"/>
            <a:ext cx="4063898" cy="247644"/>
          </a:xfrm>
          <a:prstGeom prst="rect">
            <a:avLst/>
          </a:prstGeom>
          <a:noFill/>
        </p:spPr>
        <p:txBody>
          <a:bodyPr wrap="square" lIns="0" tIns="0" rIns="0" bIns="0" anchor="t">
            <a:spAutoFit/>
          </a:bodyPr>
          <a:lstStyle/>
          <a:p>
            <a:pPr marL="0" indent="0" algn="l">
              <a:buNone/>
            </a:pPr>
            <a:r>
              <a:rPr sz="1700" b="1">
                <a:solidFill>
                  <a:srgbClr val="162A2D"/>
                </a:solidFill>
                <a:latin typeface="Arial"/>
                <a:ea typeface="Arial"/>
                <a:cs typeface="Arial"/>
              </a:rPr>
              <a:t>Limits are part of the UX</a:t>
            </a:r>
            <a:endParaRPr sz="1700"/>
          </a:p>
        </p:txBody>
      </p:sp>
      <p:sp>
        <p:nvSpPr>
          <p:cNvPr id="30" name="TextBox 53">
            <a:extLst>
              <a:ext uri="{FF2B5EF4-FFF2-40B4-BE49-F238E27FC236}">
                <a16:creationId xmlns:a16="http://schemas.microsoft.com/office/drawing/2014/main" id="{26CD8628-4B3E-49FB-A97C-7F2A8AC33E31}"/>
              </a:ext>
            </a:extLst>
          </p:cNvPr>
          <p:cNvSpPr>
            <a:spLocks noGrp="1"/>
          </p:cNvSpPr>
          <p:nvPr/>
        </p:nvSpPr>
        <p:spPr>
          <a:xfrm>
            <a:off x="6616535" y="5417294"/>
            <a:ext cx="4571886" cy="214307"/>
          </a:xfrm>
          <a:prstGeom prst="rect">
            <a:avLst/>
          </a:prstGeom>
          <a:noFill/>
        </p:spPr>
        <p:txBody>
          <a:bodyPr wrap="square" lIns="0" tIns="0" rIns="0" bIns="0" anchor="t">
            <a:spAutoFit/>
          </a:bodyPr>
          <a:lstStyle/>
          <a:p>
            <a:pPr marL="0" indent="0" algn="l">
              <a:lnSpc>
                <a:spcPts val="1687"/>
              </a:lnSpc>
              <a:buNone/>
            </a:pPr>
            <a:r>
              <a:rPr sz="1350">
                <a:solidFill>
                  <a:srgbClr val="5E6D6C"/>
                </a:solidFill>
                <a:latin typeface="Arial"/>
                <a:ea typeface="Arial"/>
                <a:cs typeface="Arial"/>
              </a:rPr>
              <a:t>Typed failures beat confident output with weak evidence.</a:t>
            </a:r>
            <a:endParaRPr sz="1350"/>
          </a:p>
        </p:txBody>
      </p:sp>
      <p:sp>
        <p:nvSpPr>
          <p:cNvPr id="31" name="TextBox 57">
            <a:extLst>
              <a:ext uri="{FF2B5EF4-FFF2-40B4-BE49-F238E27FC236}">
                <a16:creationId xmlns:a16="http://schemas.microsoft.com/office/drawing/2014/main" id="{8B87A907-B852-43E4-926C-B9A1C107D44E}"/>
              </a:ext>
            </a:extLst>
          </p:cNvPr>
          <p:cNvSpPr>
            <a:spLocks noGrp="1"/>
          </p:cNvSpPr>
          <p:nvPr/>
        </p:nvSpPr>
        <p:spPr>
          <a:xfrm>
            <a:off x="584185" y="6286429"/>
            <a:ext cx="6032349" cy="215895"/>
          </a:xfrm>
          <a:prstGeom prst="rect">
            <a:avLst/>
          </a:prstGeom>
          <a:noFill/>
        </p:spPr>
        <p:txBody>
          <a:bodyPr wrap="square" lIns="0" tIns="0" rIns="0" bIns="0" anchor="t">
            <a:spAutoFit/>
          </a:bodyPr>
          <a:lstStyle/>
          <a:p>
            <a:pPr marL="0" indent="0" algn="l">
              <a:buNone/>
            </a:pPr>
            <a:r>
              <a:rPr sz="1100">
                <a:solidFill>
                  <a:srgbClr val="5E6D6C"/>
                </a:solidFill>
                <a:latin typeface="Arial"/>
                <a:ea typeface="Arial"/>
                <a:cs typeface="Arial"/>
              </a:rPr>
              <a:t>The rest of the deck is the evidence behind this scorecard.</a:t>
            </a:r>
            <a:endParaRPr sz="1100"/>
          </a:p>
        </p:txBody>
      </p:sp>
      <p:sp>
        <p:nvSpPr>
          <p:cNvPr id="32" name="TextBox 59">
            <a:extLst>
              <a:ext uri="{FF2B5EF4-FFF2-40B4-BE49-F238E27FC236}">
                <a16:creationId xmlns:a16="http://schemas.microsoft.com/office/drawing/2014/main" id="{CCD8BDB9-07B5-46AA-82A0-16C3CC13A131}"/>
              </a:ext>
            </a:extLst>
          </p:cNvPr>
          <p:cNvSpPr>
            <a:spLocks noGrp="1"/>
          </p:cNvSpPr>
          <p:nvPr/>
        </p:nvSpPr>
        <p:spPr>
          <a:xfrm>
            <a:off x="11099523" y="6248330"/>
            <a:ext cx="507987" cy="279393"/>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02</a:t>
            </a:r>
            <a:endParaRPr sz="1200"/>
          </a:p>
        </p:txBody>
      </p:sp>
    </p:spTree>
    <p:extLst>
      <p:ext uri="{BB962C8B-B14F-4D97-AF65-F5344CB8AC3E}">
        <p14:creationId xmlns:p14="http://schemas.microsoft.com/office/powerpoint/2010/main" val="2090265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512A9D5-5680-4547-BE2A-51AF1111FA23}"/>
              </a:ext>
            </a:extLst>
          </p:cNvPr>
          <p:cNvSpPr>
            <a:spLocks noGrp="1"/>
          </p:cNvSpPr>
          <p:nvPr/>
        </p:nvSpPr>
        <p:spPr>
          <a:xfrm>
            <a:off x="0" y="86"/>
            <a:ext cx="12191695" cy="6857829"/>
          </a:xfrm>
          <a:prstGeom prst="rect">
            <a:avLst/>
          </a:prstGeom>
          <a:solidFill>
            <a:srgbClr val="FFFFFF"/>
          </a:solidFill>
        </p:spPr>
        <p:txBody>
          <a:bodyPr/>
          <a:lstStyle/>
          <a:p>
            <a:endParaRPr lang="en-DE"/>
          </a:p>
        </p:txBody>
      </p:sp>
      <p:sp>
        <p:nvSpPr>
          <p:cNvPr id="3" name="TextBox 3">
            <a:extLst>
              <a:ext uri="{FF2B5EF4-FFF2-40B4-BE49-F238E27FC236}">
                <a16:creationId xmlns:a16="http://schemas.microsoft.com/office/drawing/2014/main" id="{CFEF174A-FAC3-406F-920B-D961A4A129AA}"/>
              </a:ext>
            </a:extLst>
          </p:cNvPr>
          <p:cNvSpPr>
            <a:spLocks noGrp="1"/>
          </p:cNvSpPr>
          <p:nvPr/>
        </p:nvSpPr>
        <p:spPr>
          <a:xfrm>
            <a:off x="584185" y="457274"/>
            <a:ext cx="2539936"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THE PRODUCT IN ONE REQUEST</a:t>
            </a:r>
            <a:endParaRPr sz="1000"/>
          </a:p>
        </p:txBody>
      </p:sp>
      <p:sp>
        <p:nvSpPr>
          <p:cNvPr id="4" name="TextBox 5">
            <a:extLst>
              <a:ext uri="{FF2B5EF4-FFF2-40B4-BE49-F238E27FC236}">
                <a16:creationId xmlns:a16="http://schemas.microsoft.com/office/drawing/2014/main" id="{D38C8833-0D50-4790-8975-D0CAE0F3C266}"/>
              </a:ext>
            </a:extLst>
          </p:cNvPr>
          <p:cNvSpPr>
            <a:spLocks noGrp="1"/>
          </p:cNvSpPr>
          <p:nvPr/>
        </p:nvSpPr>
        <p:spPr>
          <a:xfrm>
            <a:off x="584185" y="800166"/>
            <a:ext cx="7048324" cy="603235"/>
          </a:xfrm>
          <a:prstGeom prst="rect">
            <a:avLst/>
          </a:prstGeom>
          <a:noFill/>
        </p:spPr>
        <p:txBody>
          <a:bodyPr wrap="square" lIns="0" tIns="0" rIns="0" bIns="0" anchor="t">
            <a:spAutoFit/>
          </a:bodyPr>
          <a:lstStyle/>
          <a:p>
            <a:pPr marL="0" indent="0" algn="l">
              <a:lnSpc>
                <a:spcPts val="3564"/>
              </a:lnSpc>
              <a:buNone/>
            </a:pPr>
            <a:r>
              <a:rPr sz="3300" spc="-150">
                <a:solidFill>
                  <a:srgbClr val="162A2D"/>
                </a:solidFill>
                <a:latin typeface="Arial"/>
                <a:ea typeface="Arial"/>
                <a:cs typeface="Arial"/>
              </a:rPr>
              <a:t>From question to durable evidence</a:t>
            </a:r>
            <a:endParaRPr sz="3300"/>
          </a:p>
        </p:txBody>
      </p:sp>
      <p:sp>
        <p:nvSpPr>
          <p:cNvPr id="5" name="TextBox 7">
            <a:extLst>
              <a:ext uri="{FF2B5EF4-FFF2-40B4-BE49-F238E27FC236}">
                <a16:creationId xmlns:a16="http://schemas.microsoft.com/office/drawing/2014/main" id="{E3C695A8-3DA8-4581-9766-363CE5C07E0A}"/>
              </a:ext>
            </a:extLst>
          </p:cNvPr>
          <p:cNvSpPr>
            <a:spLocks noGrp="1"/>
          </p:cNvSpPr>
          <p:nvPr/>
        </p:nvSpPr>
        <p:spPr>
          <a:xfrm>
            <a:off x="8623084" y="901763"/>
            <a:ext cx="2984425" cy="533387"/>
          </a:xfrm>
          <a:prstGeom prst="rect">
            <a:avLst/>
          </a:prstGeom>
          <a:noFill/>
        </p:spPr>
        <p:txBody>
          <a:bodyPr wrap="square" lIns="0" tIns="0" rIns="0" bIns="0" anchor="t">
            <a:spAutoFit/>
          </a:bodyPr>
          <a:lstStyle/>
          <a:p>
            <a:pPr marL="0" indent="0" algn="l">
              <a:lnSpc>
                <a:spcPts val="1822"/>
              </a:lnSpc>
              <a:buNone/>
            </a:pPr>
            <a:r>
              <a:rPr sz="1350">
                <a:solidFill>
                  <a:srgbClr val="5E6D6C"/>
                </a:solidFill>
                <a:latin typeface="Arial"/>
                <a:ea typeface="Arial"/>
                <a:cs typeface="Arial"/>
              </a:rPr>
              <a:t>One trace crosses three tasks</a:t>
            </a:r>
            <a:endParaRPr sz="1350"/>
          </a:p>
          <a:p>
            <a:pPr marL="0" indent="0" algn="l">
              <a:lnSpc>
                <a:spcPts val="1822"/>
              </a:lnSpc>
              <a:buNone/>
            </a:pPr>
            <a:r>
              <a:rPr sz="1350">
                <a:solidFill>
                  <a:srgbClr val="5E6D6C"/>
                </a:solidFill>
                <a:latin typeface="Arial"/>
                <a:ea typeface="Arial"/>
                <a:cs typeface="Arial"/>
              </a:rPr>
              <a:t>without crossing responsibility.</a:t>
            </a:r>
            <a:endParaRPr sz="1350"/>
          </a:p>
        </p:txBody>
      </p:sp>
      <p:sp>
        <p:nvSpPr>
          <p:cNvPr id="6" name="Shape 9">
            <a:extLst>
              <a:ext uri="{FF2B5EF4-FFF2-40B4-BE49-F238E27FC236}">
                <a16:creationId xmlns:a16="http://schemas.microsoft.com/office/drawing/2014/main" id="{58AFB459-17EE-4A8F-A029-5145BCB23880}"/>
              </a:ext>
            </a:extLst>
          </p:cNvPr>
          <p:cNvSpPr>
            <a:spLocks noGrp="1"/>
          </p:cNvSpPr>
          <p:nvPr/>
        </p:nvSpPr>
        <p:spPr>
          <a:xfrm>
            <a:off x="761981" y="3086109"/>
            <a:ext cx="10667733" cy="50799"/>
          </a:xfrm>
          <a:prstGeom prst="roundRect">
            <a:avLst>
              <a:gd name="adj" fmla="val 50000"/>
            </a:avLst>
          </a:prstGeom>
          <a:solidFill>
            <a:srgbClr val="C8D3D1"/>
          </a:solidFill>
        </p:spPr>
        <p:txBody>
          <a:bodyPr/>
          <a:lstStyle/>
          <a:p>
            <a:endParaRPr lang="en-DE"/>
          </a:p>
        </p:txBody>
      </p:sp>
      <p:sp>
        <p:nvSpPr>
          <p:cNvPr id="7" name="Shape 11">
            <a:extLst>
              <a:ext uri="{FF2B5EF4-FFF2-40B4-BE49-F238E27FC236}">
                <a16:creationId xmlns:a16="http://schemas.microsoft.com/office/drawing/2014/main" id="{BCE40269-9AE7-4E05-B2A0-13E663F480E1}"/>
              </a:ext>
            </a:extLst>
          </p:cNvPr>
          <p:cNvSpPr>
            <a:spLocks noGrp="1"/>
          </p:cNvSpPr>
          <p:nvPr/>
        </p:nvSpPr>
        <p:spPr>
          <a:xfrm>
            <a:off x="761981" y="3086109"/>
            <a:ext cx="9270768" cy="50799"/>
          </a:xfrm>
          <a:prstGeom prst="roundRect">
            <a:avLst>
              <a:gd name="adj" fmla="val 50000"/>
            </a:avLst>
          </a:prstGeom>
          <a:solidFill>
            <a:srgbClr val="00A99D"/>
          </a:solidFill>
        </p:spPr>
        <p:txBody>
          <a:bodyPr/>
          <a:lstStyle/>
          <a:p>
            <a:endParaRPr lang="en-DE"/>
          </a:p>
        </p:txBody>
      </p:sp>
      <p:sp>
        <p:nvSpPr>
          <p:cNvPr id="8" name="TextBox 15">
            <a:extLst>
              <a:ext uri="{FF2B5EF4-FFF2-40B4-BE49-F238E27FC236}">
                <a16:creationId xmlns:a16="http://schemas.microsoft.com/office/drawing/2014/main" id="{DBD5D7A9-0A46-461E-874D-6CB828AD740F}"/>
              </a:ext>
            </a:extLst>
          </p:cNvPr>
          <p:cNvSpPr>
            <a:spLocks noGrp="1"/>
          </p:cNvSpPr>
          <p:nvPr/>
        </p:nvSpPr>
        <p:spPr>
          <a:xfrm>
            <a:off x="666733" y="2108233"/>
            <a:ext cx="1587460"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01 · CLIENT</a:t>
            </a:r>
            <a:endParaRPr sz="1150"/>
          </a:p>
        </p:txBody>
      </p:sp>
      <p:sp>
        <p:nvSpPr>
          <p:cNvPr id="9" name="TextBox 17">
            <a:extLst>
              <a:ext uri="{FF2B5EF4-FFF2-40B4-BE49-F238E27FC236}">
                <a16:creationId xmlns:a16="http://schemas.microsoft.com/office/drawing/2014/main" id="{0E6B5E01-EE5A-42A2-BB3E-7C069095C2E3}"/>
              </a:ext>
            </a:extLst>
          </p:cNvPr>
          <p:cNvSpPr>
            <a:spLocks noGrp="1"/>
          </p:cNvSpPr>
          <p:nvPr/>
        </p:nvSpPr>
        <p:spPr>
          <a:xfrm>
            <a:off x="666733" y="2368577"/>
            <a:ext cx="1587460"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Question +</a:t>
            </a:r>
            <a:endParaRPr sz="1550"/>
          </a:p>
          <a:p>
            <a:pPr marL="0" indent="0" algn="l">
              <a:lnSpc>
                <a:spcPts val="1736"/>
              </a:lnSpc>
              <a:buNone/>
            </a:pPr>
            <a:r>
              <a:rPr sz="1550" b="1">
                <a:solidFill>
                  <a:srgbClr val="162A2D"/>
                </a:solidFill>
                <a:latin typeface="Arial"/>
                <a:ea typeface="Arial"/>
                <a:cs typeface="Arial"/>
              </a:rPr>
              <a:t>tenant context</a:t>
            </a:r>
            <a:endParaRPr sz="1550"/>
          </a:p>
        </p:txBody>
      </p:sp>
      <p:sp>
        <p:nvSpPr>
          <p:cNvPr id="10" name="TextBox 22">
            <a:extLst>
              <a:ext uri="{FF2B5EF4-FFF2-40B4-BE49-F238E27FC236}">
                <a16:creationId xmlns:a16="http://schemas.microsoft.com/office/drawing/2014/main" id="{CE475A07-5AE4-4365-8303-0ADD9E626712}"/>
              </a:ext>
            </a:extLst>
          </p:cNvPr>
          <p:cNvSpPr>
            <a:spLocks noGrp="1"/>
          </p:cNvSpPr>
          <p:nvPr/>
        </p:nvSpPr>
        <p:spPr>
          <a:xfrm>
            <a:off x="2387540" y="3302003"/>
            <a:ext cx="1587460"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02 · API</a:t>
            </a:r>
            <a:endParaRPr sz="1150"/>
          </a:p>
        </p:txBody>
      </p:sp>
      <p:sp>
        <p:nvSpPr>
          <p:cNvPr id="11" name="TextBox 24">
            <a:extLst>
              <a:ext uri="{FF2B5EF4-FFF2-40B4-BE49-F238E27FC236}">
                <a16:creationId xmlns:a16="http://schemas.microsoft.com/office/drawing/2014/main" id="{E6F46917-926B-4119-907B-E2BFD310F429}"/>
              </a:ext>
            </a:extLst>
          </p:cNvPr>
          <p:cNvSpPr>
            <a:spLocks noGrp="1"/>
          </p:cNvSpPr>
          <p:nvPr/>
        </p:nvSpPr>
        <p:spPr>
          <a:xfrm>
            <a:off x="2387540" y="3562347"/>
            <a:ext cx="1587460"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Persist before</a:t>
            </a:r>
            <a:endParaRPr sz="1550"/>
          </a:p>
          <a:p>
            <a:pPr marL="0" indent="0" algn="l">
              <a:lnSpc>
                <a:spcPts val="1736"/>
              </a:lnSpc>
              <a:buNone/>
            </a:pPr>
            <a:r>
              <a:rPr sz="1550" b="1">
                <a:solidFill>
                  <a:srgbClr val="162A2D"/>
                </a:solidFill>
                <a:latin typeface="Arial"/>
                <a:ea typeface="Arial"/>
                <a:cs typeface="Arial"/>
              </a:rPr>
              <a:t>enqueue</a:t>
            </a:r>
            <a:endParaRPr sz="1550"/>
          </a:p>
        </p:txBody>
      </p:sp>
      <p:sp>
        <p:nvSpPr>
          <p:cNvPr id="12" name="TextBox 29">
            <a:extLst>
              <a:ext uri="{FF2B5EF4-FFF2-40B4-BE49-F238E27FC236}">
                <a16:creationId xmlns:a16="http://schemas.microsoft.com/office/drawing/2014/main" id="{1750CE7C-23A3-4C1C-AE38-C0BD6DACD2E7}"/>
              </a:ext>
            </a:extLst>
          </p:cNvPr>
          <p:cNvSpPr>
            <a:spLocks noGrp="1"/>
          </p:cNvSpPr>
          <p:nvPr/>
        </p:nvSpPr>
        <p:spPr>
          <a:xfrm>
            <a:off x="4114697" y="2108233"/>
            <a:ext cx="1587460"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03 · WORKER</a:t>
            </a:r>
            <a:endParaRPr sz="1150"/>
          </a:p>
        </p:txBody>
      </p:sp>
      <p:sp>
        <p:nvSpPr>
          <p:cNvPr id="13" name="TextBox 31">
            <a:extLst>
              <a:ext uri="{FF2B5EF4-FFF2-40B4-BE49-F238E27FC236}">
                <a16:creationId xmlns:a16="http://schemas.microsoft.com/office/drawing/2014/main" id="{A2FE938C-CBA3-4E68-9C59-2EA4E0BE9368}"/>
              </a:ext>
            </a:extLst>
          </p:cNvPr>
          <p:cNvSpPr>
            <a:spLocks noGrp="1"/>
          </p:cNvSpPr>
          <p:nvPr/>
        </p:nvSpPr>
        <p:spPr>
          <a:xfrm>
            <a:off x="4114697" y="2368577"/>
            <a:ext cx="1587460"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Claim lease +</a:t>
            </a:r>
            <a:endParaRPr sz="1550"/>
          </a:p>
          <a:p>
            <a:pPr marL="0" indent="0" algn="l">
              <a:lnSpc>
                <a:spcPts val="1736"/>
              </a:lnSpc>
              <a:buNone/>
            </a:pPr>
            <a:r>
              <a:rPr sz="1550" b="1">
                <a:solidFill>
                  <a:srgbClr val="162A2D"/>
                </a:solidFill>
                <a:latin typeface="Arial"/>
                <a:ea typeface="Arial"/>
                <a:cs typeface="Arial"/>
              </a:rPr>
              <a:t>run budget</a:t>
            </a:r>
            <a:endParaRPr sz="1550"/>
          </a:p>
        </p:txBody>
      </p:sp>
      <p:sp>
        <p:nvSpPr>
          <p:cNvPr id="14" name="TextBox 36">
            <a:extLst>
              <a:ext uri="{FF2B5EF4-FFF2-40B4-BE49-F238E27FC236}">
                <a16:creationId xmlns:a16="http://schemas.microsoft.com/office/drawing/2014/main" id="{C651FA34-0253-4384-9DCD-F990661F24D3}"/>
              </a:ext>
            </a:extLst>
          </p:cNvPr>
          <p:cNvSpPr>
            <a:spLocks noGrp="1"/>
          </p:cNvSpPr>
          <p:nvPr/>
        </p:nvSpPr>
        <p:spPr>
          <a:xfrm>
            <a:off x="5841854" y="3302003"/>
            <a:ext cx="1587460"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04 · AGENT</a:t>
            </a:r>
            <a:endParaRPr sz="1150"/>
          </a:p>
        </p:txBody>
      </p:sp>
      <p:sp>
        <p:nvSpPr>
          <p:cNvPr id="15" name="TextBox 38">
            <a:extLst>
              <a:ext uri="{FF2B5EF4-FFF2-40B4-BE49-F238E27FC236}">
                <a16:creationId xmlns:a16="http://schemas.microsoft.com/office/drawing/2014/main" id="{DD36F430-25FE-497B-BFFC-0049670697AC}"/>
              </a:ext>
            </a:extLst>
          </p:cNvPr>
          <p:cNvSpPr>
            <a:spLocks noGrp="1"/>
          </p:cNvSpPr>
          <p:nvPr/>
        </p:nvSpPr>
        <p:spPr>
          <a:xfrm>
            <a:off x="5841854" y="3562347"/>
            <a:ext cx="1587460"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Plan, search,</a:t>
            </a:r>
            <a:endParaRPr sz="1550"/>
          </a:p>
          <a:p>
            <a:pPr marL="0" indent="0" algn="l">
              <a:lnSpc>
                <a:spcPts val="1736"/>
              </a:lnSpc>
              <a:buNone/>
            </a:pPr>
            <a:r>
              <a:rPr sz="1550" b="1">
                <a:solidFill>
                  <a:srgbClr val="162A2D"/>
                </a:solidFill>
                <a:latin typeface="Arial"/>
                <a:ea typeface="Arial"/>
                <a:cs typeface="Arial"/>
              </a:rPr>
              <a:t>fetch, validate</a:t>
            </a:r>
            <a:endParaRPr sz="1550"/>
          </a:p>
        </p:txBody>
      </p:sp>
      <p:sp>
        <p:nvSpPr>
          <p:cNvPr id="16" name="TextBox 43">
            <a:extLst>
              <a:ext uri="{FF2B5EF4-FFF2-40B4-BE49-F238E27FC236}">
                <a16:creationId xmlns:a16="http://schemas.microsoft.com/office/drawing/2014/main" id="{0DB5ED70-012A-4FF6-91A8-258910BF0FB2}"/>
              </a:ext>
            </a:extLst>
          </p:cNvPr>
          <p:cNvSpPr>
            <a:spLocks noGrp="1"/>
          </p:cNvSpPr>
          <p:nvPr/>
        </p:nvSpPr>
        <p:spPr>
          <a:xfrm>
            <a:off x="7569011" y="2108233"/>
            <a:ext cx="1587460"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05 · STATE</a:t>
            </a:r>
            <a:endParaRPr sz="1150"/>
          </a:p>
        </p:txBody>
      </p:sp>
      <p:sp>
        <p:nvSpPr>
          <p:cNvPr id="17" name="TextBox 45">
            <a:extLst>
              <a:ext uri="{FF2B5EF4-FFF2-40B4-BE49-F238E27FC236}">
                <a16:creationId xmlns:a16="http://schemas.microsoft.com/office/drawing/2014/main" id="{5EAED125-9618-40D3-A218-30203780C84D}"/>
              </a:ext>
            </a:extLst>
          </p:cNvPr>
          <p:cNvSpPr>
            <a:spLocks noGrp="1"/>
          </p:cNvSpPr>
          <p:nvPr/>
        </p:nvSpPr>
        <p:spPr>
          <a:xfrm>
            <a:off x="7569011" y="2368577"/>
            <a:ext cx="1587460"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Typed events +</a:t>
            </a:r>
            <a:endParaRPr sz="1550"/>
          </a:p>
          <a:p>
            <a:pPr marL="0" indent="0" algn="l">
              <a:lnSpc>
                <a:spcPts val="1736"/>
              </a:lnSpc>
              <a:buNone/>
            </a:pPr>
            <a:r>
              <a:rPr sz="1550" b="1">
                <a:solidFill>
                  <a:srgbClr val="162A2D"/>
                </a:solidFill>
                <a:latin typeface="Arial"/>
                <a:ea typeface="Arial"/>
                <a:cs typeface="Arial"/>
              </a:rPr>
              <a:t>terminal result</a:t>
            </a:r>
            <a:endParaRPr sz="1550"/>
          </a:p>
        </p:txBody>
      </p:sp>
      <p:sp>
        <p:nvSpPr>
          <p:cNvPr id="18" name="TextBox 50">
            <a:extLst>
              <a:ext uri="{FF2B5EF4-FFF2-40B4-BE49-F238E27FC236}">
                <a16:creationId xmlns:a16="http://schemas.microsoft.com/office/drawing/2014/main" id="{1EB3C6CC-8E4B-43A9-8CBA-F1B8DC9A168C}"/>
              </a:ext>
            </a:extLst>
          </p:cNvPr>
          <p:cNvSpPr>
            <a:spLocks noGrp="1"/>
          </p:cNvSpPr>
          <p:nvPr/>
        </p:nvSpPr>
        <p:spPr>
          <a:xfrm>
            <a:off x="9296168" y="3302003"/>
            <a:ext cx="1904952" cy="171446"/>
          </a:xfrm>
          <a:prstGeom prst="rect">
            <a:avLst/>
          </a:prstGeom>
          <a:noFill/>
        </p:spPr>
        <p:txBody>
          <a:bodyPr wrap="square" lIns="0" tIns="0" rIns="0" bIns="0" anchor="t">
            <a:spAutoFit/>
          </a:bodyPr>
          <a:lstStyle/>
          <a:p>
            <a:pPr marL="0" indent="0" algn="l">
              <a:buNone/>
            </a:pPr>
            <a:r>
              <a:rPr sz="1150" b="1" spc="100">
                <a:solidFill>
                  <a:srgbClr val="00A99D"/>
                </a:solidFill>
                <a:latin typeface="Arial"/>
                <a:ea typeface="Arial"/>
                <a:cs typeface="Arial"/>
              </a:rPr>
              <a:t>06 · DELIVERY</a:t>
            </a:r>
            <a:endParaRPr sz="1150"/>
          </a:p>
        </p:txBody>
      </p:sp>
      <p:sp>
        <p:nvSpPr>
          <p:cNvPr id="19" name="TextBox 52">
            <a:extLst>
              <a:ext uri="{FF2B5EF4-FFF2-40B4-BE49-F238E27FC236}">
                <a16:creationId xmlns:a16="http://schemas.microsoft.com/office/drawing/2014/main" id="{7C6CA52E-BA31-4BB1-91A9-7BE8A17FB4E7}"/>
              </a:ext>
            </a:extLst>
          </p:cNvPr>
          <p:cNvSpPr>
            <a:spLocks noGrp="1"/>
          </p:cNvSpPr>
          <p:nvPr/>
        </p:nvSpPr>
        <p:spPr>
          <a:xfrm>
            <a:off x="9296168" y="3562347"/>
            <a:ext cx="1904952" cy="440917"/>
          </a:xfrm>
          <a:prstGeom prst="rect">
            <a:avLst/>
          </a:prstGeom>
          <a:noFill/>
        </p:spPr>
        <p:txBody>
          <a:bodyPr wrap="square" lIns="0" tIns="0" rIns="0" bIns="0" anchor="t">
            <a:spAutoFit/>
          </a:bodyPr>
          <a:lstStyle/>
          <a:p>
            <a:pPr marL="0" indent="0" algn="l">
              <a:lnSpc>
                <a:spcPts val="1736"/>
              </a:lnSpc>
              <a:buNone/>
            </a:pPr>
            <a:r>
              <a:rPr sz="1550" b="1">
                <a:solidFill>
                  <a:srgbClr val="162A2D"/>
                </a:solidFill>
                <a:latin typeface="Arial"/>
                <a:ea typeface="Arial"/>
                <a:cs typeface="Arial"/>
              </a:rPr>
              <a:t>Poll, SSE or</a:t>
            </a:r>
            <a:endParaRPr sz="1550"/>
          </a:p>
          <a:p>
            <a:pPr marL="0" indent="0" algn="l">
              <a:lnSpc>
                <a:spcPts val="1736"/>
              </a:lnSpc>
              <a:buNone/>
            </a:pPr>
            <a:r>
              <a:rPr sz="1550" b="1">
                <a:solidFill>
                  <a:srgbClr val="162A2D"/>
                </a:solidFill>
                <a:latin typeface="Arial"/>
                <a:ea typeface="Arial"/>
                <a:cs typeface="Arial"/>
              </a:rPr>
              <a:t>safe cancellation</a:t>
            </a:r>
            <a:endParaRPr sz="1550"/>
          </a:p>
        </p:txBody>
      </p:sp>
      <p:sp>
        <p:nvSpPr>
          <p:cNvPr id="20" name="Shape 55">
            <a:extLst>
              <a:ext uri="{FF2B5EF4-FFF2-40B4-BE49-F238E27FC236}">
                <a16:creationId xmlns:a16="http://schemas.microsoft.com/office/drawing/2014/main" id="{8456554B-FE51-4142-B51B-336797DE568A}"/>
              </a:ext>
            </a:extLst>
          </p:cNvPr>
          <p:cNvSpPr>
            <a:spLocks noGrp="1"/>
          </p:cNvSpPr>
          <p:nvPr/>
        </p:nvSpPr>
        <p:spPr>
          <a:xfrm>
            <a:off x="584185" y="5130757"/>
            <a:ext cx="11023324" cy="1104872"/>
          </a:xfrm>
          <a:prstGeom prst="roundRect">
            <a:avLst>
              <a:gd name="adj" fmla="val 18391"/>
            </a:avLst>
          </a:prstGeom>
          <a:solidFill>
            <a:srgbClr val="F4F1EA"/>
          </a:solidFill>
          <a:ln w="6350">
            <a:solidFill>
              <a:srgbClr val="D4DCDA"/>
            </a:solidFill>
            <a:prstDash val="solid"/>
          </a:ln>
        </p:spPr>
        <p:txBody>
          <a:bodyPr/>
          <a:lstStyle/>
          <a:p>
            <a:endParaRPr lang="en-DE"/>
          </a:p>
        </p:txBody>
      </p:sp>
      <p:sp>
        <p:nvSpPr>
          <p:cNvPr id="21" name="TextBox 57">
            <a:extLst>
              <a:ext uri="{FF2B5EF4-FFF2-40B4-BE49-F238E27FC236}">
                <a16:creationId xmlns:a16="http://schemas.microsoft.com/office/drawing/2014/main" id="{83D3C83A-41C0-4C4F-A1A6-134EB7D95330}"/>
              </a:ext>
            </a:extLst>
          </p:cNvPr>
          <p:cNvSpPr>
            <a:spLocks noGrp="1"/>
          </p:cNvSpPr>
          <p:nvPr/>
        </p:nvSpPr>
        <p:spPr>
          <a:xfrm>
            <a:off x="882628" y="5511748"/>
            <a:ext cx="1904952" cy="342891"/>
          </a:xfrm>
          <a:prstGeom prst="rect">
            <a:avLst/>
          </a:prstGeom>
          <a:noFill/>
        </p:spPr>
        <p:txBody>
          <a:bodyPr wrap="square" lIns="0" tIns="0" rIns="0" bIns="0" anchor="t">
            <a:spAutoFit/>
          </a:bodyPr>
          <a:lstStyle/>
          <a:p>
            <a:pPr marL="0" indent="0" algn="l">
              <a:buNone/>
            </a:pPr>
            <a:r>
              <a:rPr sz="1150" b="1" spc="150">
                <a:solidFill>
                  <a:srgbClr val="5E6D6C"/>
                </a:solidFill>
                <a:latin typeface="Arial"/>
                <a:ea typeface="Arial"/>
                <a:cs typeface="Arial"/>
              </a:rPr>
              <a:t>OFFLINE · SAME DISCIPLINE</a:t>
            </a:r>
            <a:endParaRPr sz="1150"/>
          </a:p>
        </p:txBody>
      </p:sp>
      <p:sp>
        <p:nvSpPr>
          <p:cNvPr id="22" name="TextBox 59">
            <a:extLst>
              <a:ext uri="{FF2B5EF4-FFF2-40B4-BE49-F238E27FC236}">
                <a16:creationId xmlns:a16="http://schemas.microsoft.com/office/drawing/2014/main" id="{02D2D7D9-192A-4B39-84B0-5CEFA0103909}"/>
              </a:ext>
            </a:extLst>
          </p:cNvPr>
          <p:cNvSpPr>
            <a:spLocks noGrp="1"/>
          </p:cNvSpPr>
          <p:nvPr/>
        </p:nvSpPr>
        <p:spPr>
          <a:xfrm>
            <a:off x="2787580" y="5565722"/>
            <a:ext cx="2793930" cy="234944"/>
          </a:xfrm>
          <a:prstGeom prst="rect">
            <a:avLst/>
          </a:prstGeom>
          <a:noFill/>
        </p:spPr>
        <p:txBody>
          <a:bodyPr wrap="square" lIns="0" tIns="0" rIns="0" bIns="0" anchor="t">
            <a:spAutoFit/>
          </a:bodyPr>
          <a:lstStyle/>
          <a:p>
            <a:pPr marL="0" indent="0" algn="l">
              <a:buNone/>
            </a:pPr>
            <a:r>
              <a:rPr sz="1600" b="1">
                <a:solidFill>
                  <a:srgbClr val="162A2D"/>
                </a:solidFill>
                <a:latin typeface="Arial"/>
                <a:ea typeface="Arial"/>
                <a:cs typeface="Arial"/>
              </a:rPr>
              <a:t>04 · Failure prediction</a:t>
            </a:r>
            <a:endParaRPr sz="1600"/>
          </a:p>
        </p:txBody>
      </p:sp>
      <p:sp>
        <p:nvSpPr>
          <p:cNvPr id="23" name="TextBox 61">
            <a:extLst>
              <a:ext uri="{FF2B5EF4-FFF2-40B4-BE49-F238E27FC236}">
                <a16:creationId xmlns:a16="http://schemas.microsoft.com/office/drawing/2014/main" id="{6232DA61-5B38-4927-B524-8517F6FBFC14}"/>
              </a:ext>
            </a:extLst>
          </p:cNvPr>
          <p:cNvSpPr>
            <a:spLocks noGrp="1"/>
          </p:cNvSpPr>
          <p:nvPr/>
        </p:nvSpPr>
        <p:spPr>
          <a:xfrm>
            <a:off x="5581510" y="5565722"/>
            <a:ext cx="2857429" cy="234944"/>
          </a:xfrm>
          <a:prstGeom prst="rect">
            <a:avLst/>
          </a:prstGeom>
          <a:noFill/>
        </p:spPr>
        <p:txBody>
          <a:bodyPr wrap="square" lIns="0" tIns="0" rIns="0" bIns="0" anchor="t">
            <a:spAutoFit/>
          </a:bodyPr>
          <a:lstStyle/>
          <a:p>
            <a:pPr marL="0" indent="0" algn="l">
              <a:buNone/>
            </a:pPr>
            <a:r>
              <a:rPr sz="1600" b="1">
                <a:solidFill>
                  <a:srgbClr val="162A2D"/>
                </a:solidFill>
                <a:latin typeface="Arial"/>
                <a:ea typeface="Arial"/>
                <a:cs typeface="Arial"/>
              </a:rPr>
              <a:t>05 · Material similarity</a:t>
            </a:r>
            <a:endParaRPr sz="1600"/>
          </a:p>
        </p:txBody>
      </p:sp>
      <p:sp>
        <p:nvSpPr>
          <p:cNvPr id="24" name="TextBox 63">
            <a:extLst>
              <a:ext uri="{FF2B5EF4-FFF2-40B4-BE49-F238E27FC236}">
                <a16:creationId xmlns:a16="http://schemas.microsoft.com/office/drawing/2014/main" id="{81534BB9-E0C3-4C74-AA0D-FF332778D9DA}"/>
              </a:ext>
            </a:extLst>
          </p:cNvPr>
          <p:cNvSpPr>
            <a:spLocks noGrp="1"/>
          </p:cNvSpPr>
          <p:nvPr/>
        </p:nvSpPr>
        <p:spPr>
          <a:xfrm>
            <a:off x="8438939" y="5565722"/>
            <a:ext cx="2857429" cy="234944"/>
          </a:xfrm>
          <a:prstGeom prst="rect">
            <a:avLst/>
          </a:prstGeom>
          <a:noFill/>
        </p:spPr>
        <p:txBody>
          <a:bodyPr wrap="square" lIns="0" tIns="0" rIns="0" bIns="0" anchor="t">
            <a:spAutoFit/>
          </a:bodyPr>
          <a:lstStyle/>
          <a:p>
            <a:pPr marL="0" indent="0" algn="l">
              <a:buNone/>
            </a:pPr>
            <a:r>
              <a:rPr sz="1600" b="1">
                <a:solidFill>
                  <a:srgbClr val="162A2D"/>
                </a:solidFill>
                <a:latin typeface="Arial"/>
                <a:ea typeface="Arial"/>
                <a:cs typeface="Arial"/>
              </a:rPr>
              <a:t>06 · Category consolidation</a:t>
            </a:r>
            <a:endParaRPr sz="1600"/>
          </a:p>
        </p:txBody>
      </p:sp>
      <p:sp>
        <p:nvSpPr>
          <p:cNvPr id="25" name="TextBox 66">
            <a:extLst>
              <a:ext uri="{FF2B5EF4-FFF2-40B4-BE49-F238E27FC236}">
                <a16:creationId xmlns:a16="http://schemas.microsoft.com/office/drawing/2014/main" id="{53E81D27-58BC-45E0-9557-C4190C521C4C}"/>
              </a:ext>
            </a:extLst>
          </p:cNvPr>
          <p:cNvSpPr>
            <a:spLocks noGrp="1"/>
          </p:cNvSpPr>
          <p:nvPr/>
        </p:nvSpPr>
        <p:spPr>
          <a:xfrm>
            <a:off x="11099523" y="6388026"/>
            <a:ext cx="507987" cy="2412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03</a:t>
            </a:r>
            <a:endParaRPr sz="1200"/>
          </a:p>
        </p:txBody>
      </p:sp>
    </p:spTree>
    <p:extLst>
      <p:ext uri="{BB962C8B-B14F-4D97-AF65-F5344CB8AC3E}">
        <p14:creationId xmlns:p14="http://schemas.microsoft.com/office/powerpoint/2010/main" val="804232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F1A4264E-F50E-4890-85FF-4940CF0B929E}"/>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8910E98D-0064-4EEA-8A43-1E88FFF9502A}"/>
              </a:ext>
            </a:extLst>
          </p:cNvPr>
          <p:cNvSpPr>
            <a:spLocks noGrp="1"/>
          </p:cNvSpPr>
          <p:nvPr/>
        </p:nvSpPr>
        <p:spPr>
          <a:xfrm>
            <a:off x="584185" y="457274"/>
            <a:ext cx="2476438"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01 · EVIDENCE CONTRACT</a:t>
            </a:r>
            <a:endParaRPr sz="1000"/>
          </a:p>
        </p:txBody>
      </p:sp>
      <p:sp>
        <p:nvSpPr>
          <p:cNvPr id="4" name="TextBox 5">
            <a:extLst>
              <a:ext uri="{FF2B5EF4-FFF2-40B4-BE49-F238E27FC236}">
                <a16:creationId xmlns:a16="http://schemas.microsoft.com/office/drawing/2014/main" id="{5453AE77-2936-4195-8A77-C8286504B697}"/>
              </a:ext>
            </a:extLst>
          </p:cNvPr>
          <p:cNvSpPr>
            <a:spLocks noGrp="1"/>
          </p:cNvSpPr>
          <p:nvPr/>
        </p:nvSpPr>
        <p:spPr>
          <a:xfrm>
            <a:off x="584185" y="812865"/>
            <a:ext cx="9016775" cy="1130272"/>
          </a:xfrm>
          <a:prstGeom prst="rect">
            <a:avLst/>
          </a:prstGeom>
          <a:noFill/>
        </p:spPr>
        <p:txBody>
          <a:bodyPr wrap="square" lIns="0" tIns="0" rIns="0" bIns="0" anchor="t">
            <a:spAutoFit/>
          </a:bodyPr>
          <a:lstStyle/>
          <a:p>
            <a:pPr marL="0" indent="0" algn="l">
              <a:lnSpc>
                <a:spcPts val="3710"/>
              </a:lnSpc>
              <a:buNone/>
            </a:pPr>
            <a:r>
              <a:rPr sz="3500" spc="-150">
                <a:solidFill>
                  <a:srgbClr val="162A2D"/>
                </a:solidFill>
                <a:latin typeface="Arial"/>
                <a:ea typeface="Arial"/>
                <a:cs typeface="Arial"/>
              </a:rPr>
              <a:t>The agent does not get to</a:t>
            </a:r>
            <a:endParaRPr sz="3500"/>
          </a:p>
          <a:p>
            <a:pPr marL="0" indent="0" algn="l">
              <a:lnSpc>
                <a:spcPts val="3710"/>
              </a:lnSpc>
              <a:buNone/>
            </a:pPr>
            <a:r>
              <a:rPr sz="3500" spc="-150">
                <a:solidFill>
                  <a:srgbClr val="162A2D"/>
                </a:solidFill>
                <a:latin typeface="Arial"/>
                <a:ea typeface="Arial"/>
                <a:cs typeface="Arial"/>
              </a:rPr>
              <a:t>“just answer”</a:t>
            </a:r>
            <a:endParaRPr sz="3500"/>
          </a:p>
        </p:txBody>
      </p:sp>
      <p:sp>
        <p:nvSpPr>
          <p:cNvPr id="5" name="Shape 7">
            <a:extLst>
              <a:ext uri="{FF2B5EF4-FFF2-40B4-BE49-F238E27FC236}">
                <a16:creationId xmlns:a16="http://schemas.microsoft.com/office/drawing/2014/main" id="{023A7594-632C-4274-82C7-EC003667DB3F}"/>
              </a:ext>
            </a:extLst>
          </p:cNvPr>
          <p:cNvSpPr>
            <a:spLocks noGrp="1"/>
          </p:cNvSpPr>
          <p:nvPr/>
        </p:nvSpPr>
        <p:spPr>
          <a:xfrm>
            <a:off x="584185" y="2362227"/>
            <a:ext cx="4063898" cy="3492413"/>
          </a:xfrm>
          <a:prstGeom prst="roundRect">
            <a:avLst>
              <a:gd name="adj" fmla="val 8000"/>
            </a:avLst>
          </a:prstGeom>
          <a:solidFill>
            <a:srgbClr val="162A2D"/>
          </a:solidFill>
        </p:spPr>
        <p:txBody>
          <a:bodyPr/>
          <a:lstStyle/>
          <a:p>
            <a:endParaRPr lang="en-DE"/>
          </a:p>
        </p:txBody>
      </p:sp>
      <p:sp>
        <p:nvSpPr>
          <p:cNvPr id="6" name="TextBox 9">
            <a:extLst>
              <a:ext uri="{FF2B5EF4-FFF2-40B4-BE49-F238E27FC236}">
                <a16:creationId xmlns:a16="http://schemas.microsoft.com/office/drawing/2014/main" id="{B86117E4-E195-4420-AAFA-C62F062714E7}"/>
              </a:ext>
            </a:extLst>
          </p:cNvPr>
          <p:cNvSpPr>
            <a:spLocks noGrp="1"/>
          </p:cNvSpPr>
          <p:nvPr/>
        </p:nvSpPr>
        <p:spPr>
          <a:xfrm>
            <a:off x="927077" y="2705118"/>
            <a:ext cx="3378116" cy="165096"/>
          </a:xfrm>
          <a:prstGeom prst="rect">
            <a:avLst/>
          </a:prstGeom>
          <a:noFill/>
        </p:spPr>
        <p:txBody>
          <a:bodyPr wrap="square" lIns="0" tIns="0" rIns="0" bIns="0" anchor="t">
            <a:spAutoFit/>
          </a:bodyPr>
          <a:lstStyle/>
          <a:p>
            <a:pPr marL="0" indent="0" algn="l">
              <a:buNone/>
            </a:pPr>
            <a:r>
              <a:rPr sz="1100" b="1" spc="150">
                <a:solidFill>
                  <a:srgbClr val="00A99D"/>
                </a:solidFill>
                <a:latin typeface="Arial"/>
                <a:ea typeface="Arial"/>
                <a:cs typeface="Arial"/>
              </a:rPr>
              <a:t>THE ACCEPTANCE TEST</a:t>
            </a:r>
            <a:endParaRPr sz="1100"/>
          </a:p>
        </p:txBody>
      </p:sp>
      <p:sp>
        <p:nvSpPr>
          <p:cNvPr id="7" name="TextBox 11">
            <a:extLst>
              <a:ext uri="{FF2B5EF4-FFF2-40B4-BE49-F238E27FC236}">
                <a16:creationId xmlns:a16="http://schemas.microsoft.com/office/drawing/2014/main" id="{82C0D013-0368-456F-A382-09891D1B5CFD}"/>
              </a:ext>
            </a:extLst>
          </p:cNvPr>
          <p:cNvSpPr>
            <a:spLocks noGrp="1"/>
          </p:cNvSpPr>
          <p:nvPr/>
        </p:nvSpPr>
        <p:spPr>
          <a:xfrm>
            <a:off x="927077" y="3238505"/>
            <a:ext cx="3378116" cy="1708504"/>
          </a:xfrm>
          <a:prstGeom prst="rect">
            <a:avLst/>
          </a:prstGeom>
          <a:noFill/>
        </p:spPr>
        <p:txBody>
          <a:bodyPr wrap="square" lIns="0" tIns="0" rIns="0" bIns="0" anchor="t">
            <a:spAutoFit/>
          </a:bodyPr>
          <a:lstStyle/>
          <a:p>
            <a:pPr marL="0" indent="0" algn="l">
              <a:lnSpc>
                <a:spcPts val="3364"/>
              </a:lnSpc>
              <a:buNone/>
            </a:pPr>
            <a:r>
              <a:rPr sz="2900">
                <a:solidFill>
                  <a:srgbClr val="FFFFFF"/>
                </a:solidFill>
                <a:latin typeface="Georgia"/>
                <a:ea typeface="Georgia"/>
                <a:cs typeface="Georgia"/>
              </a:rPr>
              <a:t>“Can every factual claim point to evidence the system actually fetched?”</a:t>
            </a:r>
            <a:endParaRPr sz="2900"/>
          </a:p>
        </p:txBody>
      </p:sp>
      <p:pic>
        <p:nvPicPr>
          <p:cNvPr id="36" name="Picture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7077" y="5105358"/>
            <a:ext cx="3301917" cy="444489"/>
          </a:xfrm>
          <a:prstGeom prst="rect">
            <a:avLst/>
          </a:prstGeom>
        </p:spPr>
      </p:pic>
      <p:sp>
        <p:nvSpPr>
          <p:cNvPr id="9" name="TextBox 13">
            <a:extLst>
              <a:ext uri="{FF2B5EF4-FFF2-40B4-BE49-F238E27FC236}">
                <a16:creationId xmlns:a16="http://schemas.microsoft.com/office/drawing/2014/main" id="{2857926A-21EC-4576-A2D9-34D9BEB5F45D}"/>
              </a:ext>
            </a:extLst>
          </p:cNvPr>
          <p:cNvSpPr>
            <a:spLocks noGrp="1"/>
          </p:cNvSpPr>
          <p:nvPr/>
        </p:nvSpPr>
        <p:spPr>
          <a:xfrm>
            <a:off x="927077" y="5105358"/>
            <a:ext cx="3301917" cy="444489"/>
          </a:xfrm>
          <a:prstGeom prst="rect">
            <a:avLst/>
          </a:prstGeom>
          <a:noFill/>
        </p:spPr>
        <p:txBody>
          <a:bodyPr wrap="square" lIns="0" tIns="139697" rIns="0" bIns="0" anchor="t">
            <a:spAutoFit/>
          </a:bodyPr>
          <a:lstStyle/>
          <a:p>
            <a:pPr marL="0" indent="0" algn="l">
              <a:buNone/>
            </a:pPr>
            <a:r>
              <a:rPr sz="1250">
                <a:solidFill>
                  <a:srgbClr val="B8C3C1"/>
                </a:solidFill>
                <a:latin typeface="Arial"/>
                <a:ea typeface="Arial"/>
                <a:cs typeface="Arial"/>
              </a:rPr>
              <a:t>No evidence ID → no supported claim.</a:t>
            </a:r>
            <a:endParaRPr sz="1250"/>
          </a:p>
        </p:txBody>
      </p:sp>
      <p:sp>
        <p:nvSpPr>
          <p:cNvPr id="10" name="Shape 18">
            <a:extLst>
              <a:ext uri="{FF2B5EF4-FFF2-40B4-BE49-F238E27FC236}">
                <a16:creationId xmlns:a16="http://schemas.microsoft.com/office/drawing/2014/main" id="{2355BA06-97D0-40CD-8379-947682A2F568}"/>
              </a:ext>
            </a:extLst>
          </p:cNvPr>
          <p:cNvSpPr>
            <a:spLocks noGrp="1"/>
          </p:cNvSpPr>
          <p:nvPr/>
        </p:nvSpPr>
        <p:spPr>
          <a:xfrm>
            <a:off x="5016375" y="2362227"/>
            <a:ext cx="1930352" cy="1333467"/>
          </a:xfrm>
          <a:prstGeom prst="roundRect">
            <a:avLst>
              <a:gd name="adj" fmla="val 14286"/>
            </a:avLst>
          </a:prstGeom>
          <a:solidFill>
            <a:srgbClr val="FFFFFF"/>
          </a:solidFill>
          <a:ln w="6350">
            <a:solidFill>
              <a:srgbClr val="C8D3D1"/>
            </a:solidFill>
            <a:prstDash val="solid"/>
          </a:ln>
        </p:spPr>
        <p:txBody>
          <a:bodyPr/>
          <a:lstStyle/>
          <a:p>
            <a:endParaRPr lang="en-DE"/>
          </a:p>
        </p:txBody>
      </p:sp>
      <p:sp>
        <p:nvSpPr>
          <p:cNvPr id="11" name="TextBox 20">
            <a:extLst>
              <a:ext uri="{FF2B5EF4-FFF2-40B4-BE49-F238E27FC236}">
                <a16:creationId xmlns:a16="http://schemas.microsoft.com/office/drawing/2014/main" id="{95ADA0DD-54A3-4418-8577-D6569CAD574E}"/>
              </a:ext>
            </a:extLst>
          </p:cNvPr>
          <p:cNvSpPr>
            <a:spLocks noGrp="1"/>
          </p:cNvSpPr>
          <p:nvPr/>
        </p:nvSpPr>
        <p:spPr>
          <a:xfrm>
            <a:off x="5238619" y="2584471"/>
            <a:ext cx="1485863" cy="146046"/>
          </a:xfrm>
          <a:prstGeom prst="rect">
            <a:avLst/>
          </a:prstGeom>
          <a:noFill/>
        </p:spPr>
        <p:txBody>
          <a:bodyPr wrap="square" lIns="0" tIns="0" rIns="0" bIns="0" anchor="t">
            <a:spAutoFit/>
          </a:bodyPr>
          <a:lstStyle/>
          <a:p>
            <a:pPr marL="0" indent="0" algn="l">
              <a:buNone/>
            </a:pPr>
            <a:r>
              <a:rPr sz="1000" b="1" spc="100">
                <a:solidFill>
                  <a:srgbClr val="00A99D"/>
                </a:solidFill>
                <a:latin typeface="Arial"/>
                <a:ea typeface="Arial"/>
                <a:cs typeface="Arial"/>
              </a:rPr>
              <a:t>PLAN</a:t>
            </a:r>
            <a:endParaRPr sz="1000"/>
          </a:p>
        </p:txBody>
      </p:sp>
      <p:sp>
        <p:nvSpPr>
          <p:cNvPr id="12" name="TextBox 22">
            <a:extLst>
              <a:ext uri="{FF2B5EF4-FFF2-40B4-BE49-F238E27FC236}">
                <a16:creationId xmlns:a16="http://schemas.microsoft.com/office/drawing/2014/main" id="{4026CEAD-4987-4376-98DB-5800C7475074}"/>
              </a:ext>
            </a:extLst>
          </p:cNvPr>
          <p:cNvSpPr>
            <a:spLocks noGrp="1"/>
          </p:cNvSpPr>
          <p:nvPr/>
        </p:nvSpPr>
        <p:spPr>
          <a:xfrm>
            <a:off x="5238619" y="2895613"/>
            <a:ext cx="1485863" cy="473460"/>
          </a:xfrm>
          <a:prstGeom prst="rect">
            <a:avLst/>
          </a:prstGeom>
          <a:noFill/>
        </p:spPr>
        <p:txBody>
          <a:bodyPr wrap="square" lIns="0" tIns="0" rIns="0" bIns="0" anchor="t">
            <a:spAutoFit/>
          </a:bodyPr>
          <a:lstStyle/>
          <a:p>
            <a:pPr marL="0" indent="0" algn="l">
              <a:lnSpc>
                <a:spcPts val="1864"/>
              </a:lnSpc>
              <a:buNone/>
            </a:pPr>
            <a:r>
              <a:rPr sz="1650" b="1">
                <a:solidFill>
                  <a:srgbClr val="162A2D"/>
                </a:solidFill>
                <a:latin typeface="Arial"/>
                <a:ea typeface="Arial"/>
                <a:cs typeface="Arial"/>
              </a:rPr>
              <a:t>Queries +</a:t>
            </a:r>
            <a:endParaRPr sz="1650"/>
          </a:p>
          <a:p>
            <a:pPr marL="0" indent="0" algn="l">
              <a:lnSpc>
                <a:spcPts val="1864"/>
              </a:lnSpc>
              <a:buNone/>
            </a:pPr>
            <a:r>
              <a:rPr sz="1650" b="1">
                <a:solidFill>
                  <a:srgbClr val="162A2D"/>
                </a:solidFill>
                <a:latin typeface="Arial"/>
                <a:ea typeface="Arial"/>
                <a:cs typeface="Arial"/>
              </a:rPr>
              <a:t>explicit limits</a:t>
            </a:r>
            <a:endParaRPr sz="1650"/>
          </a:p>
        </p:txBody>
      </p:sp>
      <p:sp>
        <p:nvSpPr>
          <p:cNvPr id="13" name="Shape 25">
            <a:extLst>
              <a:ext uri="{FF2B5EF4-FFF2-40B4-BE49-F238E27FC236}">
                <a16:creationId xmlns:a16="http://schemas.microsoft.com/office/drawing/2014/main" id="{2F9113AC-F541-4F47-AD06-05E94EDFBFF5}"/>
              </a:ext>
            </a:extLst>
          </p:cNvPr>
          <p:cNvSpPr>
            <a:spLocks noGrp="1"/>
          </p:cNvSpPr>
          <p:nvPr/>
        </p:nvSpPr>
        <p:spPr>
          <a:xfrm>
            <a:off x="7188020" y="2362227"/>
            <a:ext cx="1930352" cy="1333467"/>
          </a:xfrm>
          <a:prstGeom prst="roundRect">
            <a:avLst>
              <a:gd name="adj" fmla="val 14286"/>
            </a:avLst>
          </a:prstGeom>
          <a:solidFill>
            <a:srgbClr val="FFFFFF"/>
          </a:solidFill>
          <a:ln w="6350">
            <a:solidFill>
              <a:srgbClr val="C8D3D1"/>
            </a:solidFill>
            <a:prstDash val="solid"/>
          </a:ln>
        </p:spPr>
        <p:txBody>
          <a:bodyPr/>
          <a:lstStyle/>
          <a:p>
            <a:endParaRPr lang="en-DE"/>
          </a:p>
        </p:txBody>
      </p:sp>
      <p:sp>
        <p:nvSpPr>
          <p:cNvPr id="14" name="TextBox 27">
            <a:extLst>
              <a:ext uri="{FF2B5EF4-FFF2-40B4-BE49-F238E27FC236}">
                <a16:creationId xmlns:a16="http://schemas.microsoft.com/office/drawing/2014/main" id="{307F71A4-A0B1-4DFB-9E3E-CC4E02378BC3}"/>
              </a:ext>
            </a:extLst>
          </p:cNvPr>
          <p:cNvSpPr>
            <a:spLocks noGrp="1"/>
          </p:cNvSpPr>
          <p:nvPr/>
        </p:nvSpPr>
        <p:spPr>
          <a:xfrm>
            <a:off x="7410265" y="2584471"/>
            <a:ext cx="1485863" cy="146046"/>
          </a:xfrm>
          <a:prstGeom prst="rect">
            <a:avLst/>
          </a:prstGeom>
          <a:noFill/>
        </p:spPr>
        <p:txBody>
          <a:bodyPr wrap="square" lIns="0" tIns="0" rIns="0" bIns="0" anchor="t">
            <a:spAutoFit/>
          </a:bodyPr>
          <a:lstStyle/>
          <a:p>
            <a:pPr marL="0" indent="0" algn="l">
              <a:buNone/>
            </a:pPr>
            <a:r>
              <a:rPr sz="1000" b="1" spc="100">
                <a:solidFill>
                  <a:srgbClr val="00A99D"/>
                </a:solidFill>
                <a:latin typeface="Arial"/>
                <a:ea typeface="Arial"/>
                <a:cs typeface="Arial"/>
              </a:rPr>
              <a:t>RETRIEVE</a:t>
            </a:r>
            <a:endParaRPr sz="1000"/>
          </a:p>
        </p:txBody>
      </p:sp>
      <p:sp>
        <p:nvSpPr>
          <p:cNvPr id="15" name="TextBox 29">
            <a:extLst>
              <a:ext uri="{FF2B5EF4-FFF2-40B4-BE49-F238E27FC236}">
                <a16:creationId xmlns:a16="http://schemas.microsoft.com/office/drawing/2014/main" id="{68EE9ECA-546B-4075-9990-9056F2CD800C}"/>
              </a:ext>
            </a:extLst>
          </p:cNvPr>
          <p:cNvSpPr>
            <a:spLocks noGrp="1"/>
          </p:cNvSpPr>
          <p:nvPr/>
        </p:nvSpPr>
        <p:spPr>
          <a:xfrm>
            <a:off x="7410265" y="2895613"/>
            <a:ext cx="1485863" cy="710190"/>
          </a:xfrm>
          <a:prstGeom prst="rect">
            <a:avLst/>
          </a:prstGeom>
          <a:noFill/>
        </p:spPr>
        <p:txBody>
          <a:bodyPr wrap="square" lIns="0" tIns="0" rIns="0" bIns="0" anchor="t">
            <a:spAutoFit/>
          </a:bodyPr>
          <a:lstStyle/>
          <a:p>
            <a:pPr marL="0" indent="0" algn="l">
              <a:lnSpc>
                <a:spcPts val="1864"/>
              </a:lnSpc>
              <a:buNone/>
            </a:pPr>
            <a:r>
              <a:rPr sz="1650" b="1">
                <a:solidFill>
                  <a:srgbClr val="162A2D"/>
                </a:solidFill>
                <a:latin typeface="Arial"/>
                <a:ea typeface="Arial"/>
                <a:cs typeface="Arial"/>
              </a:rPr>
              <a:t>Safe URLs +</a:t>
            </a:r>
            <a:endParaRPr sz="1650"/>
          </a:p>
          <a:p>
            <a:pPr marL="0" indent="0" algn="l">
              <a:lnSpc>
                <a:spcPts val="1864"/>
              </a:lnSpc>
              <a:buNone/>
            </a:pPr>
            <a:r>
              <a:rPr sz="1650" b="1">
                <a:solidFill>
                  <a:srgbClr val="162A2D"/>
                </a:solidFill>
                <a:latin typeface="Arial"/>
                <a:ea typeface="Arial"/>
                <a:cs typeface="Arial"/>
              </a:rPr>
              <a:t>bounded bytes</a:t>
            </a:r>
            <a:endParaRPr sz="1650"/>
          </a:p>
        </p:txBody>
      </p:sp>
      <p:sp>
        <p:nvSpPr>
          <p:cNvPr id="16" name="Shape 32">
            <a:extLst>
              <a:ext uri="{FF2B5EF4-FFF2-40B4-BE49-F238E27FC236}">
                <a16:creationId xmlns:a16="http://schemas.microsoft.com/office/drawing/2014/main" id="{44ECB921-D522-4135-AAF7-D4F7F5A25C42}"/>
              </a:ext>
            </a:extLst>
          </p:cNvPr>
          <p:cNvSpPr>
            <a:spLocks noGrp="1"/>
          </p:cNvSpPr>
          <p:nvPr/>
        </p:nvSpPr>
        <p:spPr>
          <a:xfrm>
            <a:off x="9359666" y="2362227"/>
            <a:ext cx="2247844" cy="1333467"/>
          </a:xfrm>
          <a:prstGeom prst="roundRect">
            <a:avLst>
              <a:gd name="adj" fmla="val 14286"/>
            </a:avLst>
          </a:prstGeom>
          <a:solidFill>
            <a:srgbClr val="00A99D"/>
          </a:solidFill>
        </p:spPr>
        <p:txBody>
          <a:bodyPr/>
          <a:lstStyle/>
          <a:p>
            <a:endParaRPr lang="en-DE"/>
          </a:p>
        </p:txBody>
      </p:sp>
      <p:sp>
        <p:nvSpPr>
          <p:cNvPr id="17" name="TextBox 34">
            <a:extLst>
              <a:ext uri="{FF2B5EF4-FFF2-40B4-BE49-F238E27FC236}">
                <a16:creationId xmlns:a16="http://schemas.microsoft.com/office/drawing/2014/main" id="{E6B99742-6B19-4D8E-A62E-8EAF5FECA225}"/>
              </a:ext>
            </a:extLst>
          </p:cNvPr>
          <p:cNvSpPr>
            <a:spLocks noGrp="1"/>
          </p:cNvSpPr>
          <p:nvPr/>
        </p:nvSpPr>
        <p:spPr>
          <a:xfrm>
            <a:off x="9575561" y="2578121"/>
            <a:ext cx="1816055" cy="146046"/>
          </a:xfrm>
          <a:prstGeom prst="rect">
            <a:avLst/>
          </a:prstGeom>
          <a:noFill/>
        </p:spPr>
        <p:txBody>
          <a:bodyPr wrap="square" lIns="0" tIns="0" rIns="0" bIns="0" anchor="t">
            <a:spAutoFit/>
          </a:bodyPr>
          <a:lstStyle/>
          <a:p>
            <a:pPr marL="0" indent="0" algn="l">
              <a:buNone/>
            </a:pPr>
            <a:r>
              <a:rPr sz="1000" b="1" spc="100">
                <a:solidFill>
                  <a:srgbClr val="162A2D"/>
                </a:solidFill>
                <a:latin typeface="Arial"/>
                <a:ea typeface="Arial"/>
                <a:cs typeface="Arial"/>
              </a:rPr>
              <a:t>EVIDENCE</a:t>
            </a:r>
            <a:endParaRPr sz="1000"/>
          </a:p>
        </p:txBody>
      </p:sp>
      <p:sp>
        <p:nvSpPr>
          <p:cNvPr id="18" name="TextBox 36">
            <a:extLst>
              <a:ext uri="{FF2B5EF4-FFF2-40B4-BE49-F238E27FC236}">
                <a16:creationId xmlns:a16="http://schemas.microsoft.com/office/drawing/2014/main" id="{A1BEF860-A27C-43D4-A8FD-00036AF71CBF}"/>
              </a:ext>
            </a:extLst>
          </p:cNvPr>
          <p:cNvSpPr>
            <a:spLocks noGrp="1"/>
          </p:cNvSpPr>
          <p:nvPr/>
        </p:nvSpPr>
        <p:spPr>
          <a:xfrm>
            <a:off x="9575561" y="2889263"/>
            <a:ext cx="1816055" cy="473460"/>
          </a:xfrm>
          <a:prstGeom prst="rect">
            <a:avLst/>
          </a:prstGeom>
          <a:noFill/>
        </p:spPr>
        <p:txBody>
          <a:bodyPr wrap="square" lIns="0" tIns="0" rIns="0" bIns="0" anchor="t">
            <a:spAutoFit/>
          </a:bodyPr>
          <a:lstStyle/>
          <a:p>
            <a:pPr marL="0" indent="0" algn="l">
              <a:lnSpc>
                <a:spcPts val="1864"/>
              </a:lnSpc>
              <a:buNone/>
            </a:pPr>
            <a:r>
              <a:rPr sz="1650" b="1">
                <a:solidFill>
                  <a:srgbClr val="162A2D"/>
                </a:solidFill>
                <a:latin typeface="Arial"/>
                <a:ea typeface="Arial"/>
                <a:cs typeface="Arial"/>
              </a:rPr>
              <a:t>Passages +</a:t>
            </a:r>
            <a:endParaRPr sz="1650"/>
          </a:p>
          <a:p>
            <a:pPr marL="0" indent="0" algn="l">
              <a:lnSpc>
                <a:spcPts val="1864"/>
              </a:lnSpc>
              <a:buNone/>
            </a:pPr>
            <a:r>
              <a:rPr sz="1650" b="1">
                <a:solidFill>
                  <a:srgbClr val="162A2D"/>
                </a:solidFill>
                <a:latin typeface="Arial"/>
                <a:ea typeface="Arial"/>
                <a:cs typeface="Arial"/>
              </a:rPr>
              <a:t>provenance IDs</a:t>
            </a:r>
            <a:endParaRPr sz="1650"/>
          </a:p>
        </p:txBody>
      </p:sp>
      <p:sp>
        <p:nvSpPr>
          <p:cNvPr id="19" name="Shape 39">
            <a:extLst>
              <a:ext uri="{FF2B5EF4-FFF2-40B4-BE49-F238E27FC236}">
                <a16:creationId xmlns:a16="http://schemas.microsoft.com/office/drawing/2014/main" id="{E71F6866-83B7-4743-BA62-FD6C7073ED55}"/>
              </a:ext>
            </a:extLst>
          </p:cNvPr>
          <p:cNvSpPr>
            <a:spLocks noGrp="1"/>
          </p:cNvSpPr>
          <p:nvPr/>
        </p:nvSpPr>
        <p:spPr>
          <a:xfrm>
            <a:off x="5016375" y="4089383"/>
            <a:ext cx="3047924" cy="1765256"/>
          </a:xfrm>
          <a:prstGeom prst="roundRect">
            <a:avLst>
              <a:gd name="adj" fmla="val 10791"/>
            </a:avLst>
          </a:prstGeom>
          <a:solidFill>
            <a:srgbClr val="FFFFFF"/>
          </a:solidFill>
          <a:ln w="6350">
            <a:solidFill>
              <a:srgbClr val="C8D3D1"/>
            </a:solidFill>
            <a:prstDash val="solid"/>
          </a:ln>
        </p:spPr>
        <p:txBody>
          <a:bodyPr/>
          <a:lstStyle/>
          <a:p>
            <a:endParaRPr lang="en-DE"/>
          </a:p>
        </p:txBody>
      </p:sp>
      <p:sp>
        <p:nvSpPr>
          <p:cNvPr id="20" name="TextBox 41">
            <a:extLst>
              <a:ext uri="{FF2B5EF4-FFF2-40B4-BE49-F238E27FC236}">
                <a16:creationId xmlns:a16="http://schemas.microsoft.com/office/drawing/2014/main" id="{5968EBC2-978F-4AA2-AF3B-D7DADE0632B4}"/>
              </a:ext>
            </a:extLst>
          </p:cNvPr>
          <p:cNvSpPr>
            <a:spLocks noGrp="1"/>
          </p:cNvSpPr>
          <p:nvPr/>
        </p:nvSpPr>
        <p:spPr>
          <a:xfrm>
            <a:off x="5264018" y="4337027"/>
            <a:ext cx="2552636" cy="146046"/>
          </a:xfrm>
          <a:prstGeom prst="rect">
            <a:avLst/>
          </a:prstGeom>
          <a:noFill/>
        </p:spPr>
        <p:txBody>
          <a:bodyPr wrap="square" lIns="0" tIns="0" rIns="0" bIns="0" anchor="t">
            <a:spAutoFit/>
          </a:bodyPr>
          <a:lstStyle/>
          <a:p>
            <a:pPr marL="0" indent="0" algn="l">
              <a:buNone/>
            </a:pPr>
            <a:r>
              <a:rPr sz="1000" b="1" spc="100">
                <a:solidFill>
                  <a:srgbClr val="00A99D"/>
                </a:solidFill>
                <a:latin typeface="Arial"/>
                <a:ea typeface="Arial"/>
                <a:cs typeface="Arial"/>
              </a:rPr>
              <a:t>SYNTHESIZE</a:t>
            </a:r>
            <a:endParaRPr sz="1000"/>
          </a:p>
        </p:txBody>
      </p:sp>
      <p:sp>
        <p:nvSpPr>
          <p:cNvPr id="21" name="TextBox 43">
            <a:extLst>
              <a:ext uri="{FF2B5EF4-FFF2-40B4-BE49-F238E27FC236}">
                <a16:creationId xmlns:a16="http://schemas.microsoft.com/office/drawing/2014/main" id="{89153AE8-E270-4596-B200-4C813F2C209C}"/>
              </a:ext>
            </a:extLst>
          </p:cNvPr>
          <p:cNvSpPr>
            <a:spLocks noGrp="1"/>
          </p:cNvSpPr>
          <p:nvPr/>
        </p:nvSpPr>
        <p:spPr>
          <a:xfrm>
            <a:off x="5264018" y="4635470"/>
            <a:ext cx="2552636" cy="521084"/>
          </a:xfrm>
          <a:prstGeom prst="rect">
            <a:avLst/>
          </a:prstGeom>
          <a:noFill/>
        </p:spPr>
        <p:txBody>
          <a:bodyPr wrap="square" lIns="0" tIns="0" rIns="0" bIns="0" anchor="t">
            <a:spAutoFit/>
          </a:bodyPr>
          <a:lstStyle/>
          <a:p>
            <a:pPr marL="0" indent="0" algn="l">
              <a:lnSpc>
                <a:spcPts val="2052"/>
              </a:lnSpc>
              <a:buNone/>
            </a:pPr>
            <a:r>
              <a:rPr sz="1800" b="1">
                <a:solidFill>
                  <a:srgbClr val="162A2D"/>
                </a:solidFill>
                <a:latin typeface="Arial"/>
                <a:ea typeface="Arial"/>
                <a:cs typeface="Arial"/>
              </a:rPr>
              <a:t>Draft may cite only</a:t>
            </a:r>
            <a:endParaRPr sz="1800"/>
          </a:p>
          <a:p>
            <a:pPr marL="0" indent="0" algn="l">
              <a:lnSpc>
                <a:spcPts val="2052"/>
              </a:lnSpc>
              <a:buNone/>
            </a:pPr>
            <a:r>
              <a:rPr sz="1800" b="1">
                <a:solidFill>
                  <a:srgbClr val="162A2D"/>
                </a:solidFill>
                <a:latin typeface="Arial"/>
                <a:ea typeface="Arial"/>
                <a:cs typeface="Arial"/>
              </a:rPr>
              <a:t>registered evidence.</a:t>
            </a:r>
            <a:endParaRPr sz="1800"/>
          </a:p>
        </p:txBody>
      </p:sp>
      <p:sp>
        <p:nvSpPr>
          <p:cNvPr id="22" name="TextBox 45">
            <a:extLst>
              <a:ext uri="{FF2B5EF4-FFF2-40B4-BE49-F238E27FC236}">
                <a16:creationId xmlns:a16="http://schemas.microsoft.com/office/drawing/2014/main" id="{DBF4DA59-0244-49D5-AD75-942F0D0B7660}"/>
              </a:ext>
            </a:extLst>
          </p:cNvPr>
          <p:cNvSpPr>
            <a:spLocks noGrp="1"/>
          </p:cNvSpPr>
          <p:nvPr/>
        </p:nvSpPr>
        <p:spPr>
          <a:xfrm>
            <a:off x="5264018" y="5308950"/>
            <a:ext cx="2552636" cy="396865"/>
          </a:xfrm>
          <a:prstGeom prst="rect">
            <a:avLst/>
          </a:prstGeom>
          <a:noFill/>
        </p:spPr>
        <p:txBody>
          <a:bodyPr wrap="square" lIns="0" tIns="0" rIns="0" bIns="0" anchor="t">
            <a:spAutoFit/>
          </a:bodyPr>
          <a:lstStyle/>
          <a:p>
            <a:pPr marL="0" indent="0" algn="l">
              <a:lnSpc>
                <a:spcPts val="1562"/>
              </a:lnSpc>
              <a:buNone/>
            </a:pPr>
            <a:r>
              <a:rPr sz="1250">
                <a:solidFill>
                  <a:srgbClr val="5E6D6C"/>
                </a:solidFill>
                <a:latin typeface="Arial"/>
                <a:ea typeface="Arial"/>
                <a:cs typeface="Arial"/>
              </a:rPr>
              <a:t>Prompt text cannot invent provenance.</a:t>
            </a:r>
            <a:endParaRPr sz="1250"/>
          </a:p>
        </p:txBody>
      </p:sp>
      <p:sp>
        <p:nvSpPr>
          <p:cNvPr id="23" name="Shape 48">
            <a:extLst>
              <a:ext uri="{FF2B5EF4-FFF2-40B4-BE49-F238E27FC236}">
                <a16:creationId xmlns:a16="http://schemas.microsoft.com/office/drawing/2014/main" id="{E21D011D-DF01-4369-9FB2-2C1AB1C40079}"/>
              </a:ext>
            </a:extLst>
          </p:cNvPr>
          <p:cNvSpPr>
            <a:spLocks noGrp="1"/>
          </p:cNvSpPr>
          <p:nvPr/>
        </p:nvSpPr>
        <p:spPr>
          <a:xfrm>
            <a:off x="8305592" y="4089383"/>
            <a:ext cx="3301917" cy="1765256"/>
          </a:xfrm>
          <a:prstGeom prst="roundRect">
            <a:avLst>
              <a:gd name="adj" fmla="val 10791"/>
            </a:avLst>
          </a:prstGeom>
          <a:noFill/>
          <a:ln w="19050">
            <a:solidFill>
              <a:srgbClr val="00A99D"/>
            </a:solidFill>
            <a:prstDash val="solid"/>
          </a:ln>
        </p:spPr>
        <p:txBody>
          <a:bodyPr/>
          <a:lstStyle/>
          <a:p>
            <a:endParaRPr lang="en-DE"/>
          </a:p>
        </p:txBody>
      </p:sp>
      <p:sp>
        <p:nvSpPr>
          <p:cNvPr id="24" name="TextBox 50">
            <a:extLst>
              <a:ext uri="{FF2B5EF4-FFF2-40B4-BE49-F238E27FC236}">
                <a16:creationId xmlns:a16="http://schemas.microsoft.com/office/drawing/2014/main" id="{24FE0E48-C8DC-4CC9-9C5C-EA93A4E01369}"/>
              </a:ext>
            </a:extLst>
          </p:cNvPr>
          <p:cNvSpPr>
            <a:spLocks noGrp="1"/>
          </p:cNvSpPr>
          <p:nvPr/>
        </p:nvSpPr>
        <p:spPr>
          <a:xfrm>
            <a:off x="8565936" y="4349727"/>
            <a:ext cx="2781230" cy="146046"/>
          </a:xfrm>
          <a:prstGeom prst="rect">
            <a:avLst/>
          </a:prstGeom>
          <a:noFill/>
        </p:spPr>
        <p:txBody>
          <a:bodyPr wrap="square" lIns="0" tIns="0" rIns="0" bIns="0" anchor="t">
            <a:spAutoFit/>
          </a:bodyPr>
          <a:lstStyle/>
          <a:p>
            <a:pPr marL="0" indent="0" algn="l">
              <a:buNone/>
            </a:pPr>
            <a:r>
              <a:rPr sz="1000" b="1" spc="100">
                <a:solidFill>
                  <a:srgbClr val="00A99D"/>
                </a:solidFill>
                <a:latin typeface="Arial"/>
                <a:ea typeface="Arial"/>
                <a:cs typeface="Arial"/>
              </a:rPr>
              <a:t>VALIDATE</a:t>
            </a:r>
            <a:endParaRPr sz="1000"/>
          </a:p>
        </p:txBody>
      </p:sp>
      <p:sp>
        <p:nvSpPr>
          <p:cNvPr id="25" name="TextBox 52">
            <a:extLst>
              <a:ext uri="{FF2B5EF4-FFF2-40B4-BE49-F238E27FC236}">
                <a16:creationId xmlns:a16="http://schemas.microsoft.com/office/drawing/2014/main" id="{23F2D5E9-4BB4-460C-BB53-3BF93A1B1024}"/>
              </a:ext>
            </a:extLst>
          </p:cNvPr>
          <p:cNvSpPr>
            <a:spLocks noGrp="1"/>
          </p:cNvSpPr>
          <p:nvPr/>
        </p:nvSpPr>
        <p:spPr>
          <a:xfrm>
            <a:off x="8565936" y="4635470"/>
            <a:ext cx="2781230" cy="521084"/>
          </a:xfrm>
          <a:prstGeom prst="rect">
            <a:avLst/>
          </a:prstGeom>
          <a:noFill/>
        </p:spPr>
        <p:txBody>
          <a:bodyPr wrap="square" lIns="0" tIns="0" rIns="0" bIns="0" anchor="t">
            <a:spAutoFit/>
          </a:bodyPr>
          <a:lstStyle/>
          <a:p>
            <a:pPr marL="0" indent="0" algn="l">
              <a:lnSpc>
                <a:spcPts val="2052"/>
              </a:lnSpc>
              <a:buNone/>
            </a:pPr>
            <a:r>
              <a:rPr sz="1800" b="1">
                <a:solidFill>
                  <a:srgbClr val="162A2D"/>
                </a:solidFill>
                <a:latin typeface="Arial"/>
                <a:ea typeface="Arial"/>
                <a:cs typeface="Arial"/>
              </a:rPr>
              <a:t>Supported answer</a:t>
            </a:r>
            <a:endParaRPr sz="1800"/>
          </a:p>
          <a:p>
            <a:pPr marL="0" indent="0" algn="l">
              <a:lnSpc>
                <a:spcPts val="2052"/>
              </a:lnSpc>
              <a:buNone/>
            </a:pPr>
            <a:r>
              <a:rPr sz="1800" b="1">
                <a:solidFill>
                  <a:srgbClr val="162A2D"/>
                </a:solidFill>
                <a:latin typeface="Arial"/>
                <a:ea typeface="Arial"/>
                <a:cs typeface="Arial"/>
              </a:rPr>
              <a:t>or explicit abstention.</a:t>
            </a:r>
            <a:endParaRPr sz="1800"/>
          </a:p>
        </p:txBody>
      </p:sp>
      <p:sp>
        <p:nvSpPr>
          <p:cNvPr id="26" name="TextBox 54">
            <a:extLst>
              <a:ext uri="{FF2B5EF4-FFF2-40B4-BE49-F238E27FC236}">
                <a16:creationId xmlns:a16="http://schemas.microsoft.com/office/drawing/2014/main" id="{F4DB2C20-053A-4904-8E45-5A9D33E80FD4}"/>
              </a:ext>
            </a:extLst>
          </p:cNvPr>
          <p:cNvSpPr>
            <a:spLocks noGrp="1"/>
          </p:cNvSpPr>
          <p:nvPr/>
        </p:nvSpPr>
        <p:spPr>
          <a:xfrm>
            <a:off x="8565936" y="5308950"/>
            <a:ext cx="2781230" cy="396865"/>
          </a:xfrm>
          <a:prstGeom prst="rect">
            <a:avLst/>
          </a:prstGeom>
          <a:noFill/>
        </p:spPr>
        <p:txBody>
          <a:bodyPr wrap="square" lIns="0" tIns="0" rIns="0" bIns="0" anchor="t">
            <a:spAutoFit/>
          </a:bodyPr>
          <a:lstStyle/>
          <a:p>
            <a:pPr marL="0" indent="0" algn="l">
              <a:lnSpc>
                <a:spcPts val="1562"/>
              </a:lnSpc>
              <a:buNone/>
            </a:pPr>
            <a:r>
              <a:rPr sz="1250">
                <a:solidFill>
                  <a:srgbClr val="5E6D6C"/>
                </a:solidFill>
                <a:latin typeface="Arial"/>
                <a:ea typeface="Arial"/>
                <a:cs typeface="Arial"/>
              </a:rPr>
              <a:t>Confidence never overrides missing support.</a:t>
            </a:r>
            <a:endParaRPr sz="1250"/>
          </a:p>
        </p:txBody>
      </p:sp>
      <p:sp>
        <p:nvSpPr>
          <p:cNvPr id="27" name="TextBox 58">
            <a:extLst>
              <a:ext uri="{FF2B5EF4-FFF2-40B4-BE49-F238E27FC236}">
                <a16:creationId xmlns:a16="http://schemas.microsoft.com/office/drawing/2014/main" id="{B748AC82-D52F-41E6-BD6C-21BF20874B44}"/>
              </a:ext>
            </a:extLst>
          </p:cNvPr>
          <p:cNvSpPr>
            <a:spLocks noGrp="1"/>
          </p:cNvSpPr>
          <p:nvPr/>
        </p:nvSpPr>
        <p:spPr>
          <a:xfrm>
            <a:off x="584185" y="6324528"/>
            <a:ext cx="7746806" cy="215895"/>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Engineering principle: deterministic code owns truth boundaries.</a:t>
            </a:r>
            <a:endParaRPr sz="1200"/>
          </a:p>
        </p:txBody>
      </p:sp>
      <p:sp>
        <p:nvSpPr>
          <p:cNvPr id="28" name="TextBox 60">
            <a:extLst>
              <a:ext uri="{FF2B5EF4-FFF2-40B4-BE49-F238E27FC236}">
                <a16:creationId xmlns:a16="http://schemas.microsoft.com/office/drawing/2014/main" id="{2F288264-7E46-4049-A757-2CD52B93991B}"/>
              </a:ext>
            </a:extLst>
          </p:cNvPr>
          <p:cNvSpPr>
            <a:spLocks noGrp="1"/>
          </p:cNvSpPr>
          <p:nvPr/>
        </p:nvSpPr>
        <p:spPr>
          <a:xfrm>
            <a:off x="11099523" y="6311828"/>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04</a:t>
            </a:r>
            <a:endParaRPr sz="1200"/>
          </a:p>
        </p:txBody>
      </p:sp>
    </p:spTree>
    <p:extLst>
      <p:ext uri="{BB962C8B-B14F-4D97-AF65-F5344CB8AC3E}">
        <p14:creationId xmlns:p14="http://schemas.microsoft.com/office/powerpoint/2010/main" val="715798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4B3DF03E-9AD1-45E6-BDBE-585D70570ADB}"/>
              </a:ext>
            </a:extLst>
          </p:cNvPr>
          <p:cNvSpPr>
            <a:spLocks noGrp="1"/>
          </p:cNvSpPr>
          <p:nvPr/>
        </p:nvSpPr>
        <p:spPr>
          <a:xfrm>
            <a:off x="0" y="86"/>
            <a:ext cx="12191695" cy="6857829"/>
          </a:xfrm>
          <a:prstGeom prst="rect">
            <a:avLst/>
          </a:prstGeom>
          <a:solidFill>
            <a:srgbClr val="162A2D"/>
          </a:solidFill>
        </p:spPr>
        <p:txBody>
          <a:bodyPr/>
          <a:lstStyle/>
          <a:p>
            <a:endParaRPr lang="en-DE"/>
          </a:p>
        </p:txBody>
      </p:sp>
      <p:sp>
        <p:nvSpPr>
          <p:cNvPr id="3" name="TextBox 3">
            <a:extLst>
              <a:ext uri="{FF2B5EF4-FFF2-40B4-BE49-F238E27FC236}">
                <a16:creationId xmlns:a16="http://schemas.microsoft.com/office/drawing/2014/main" id="{805B8193-0E81-4D63-A880-8FA6A94B0072}"/>
              </a:ext>
            </a:extLst>
          </p:cNvPr>
          <p:cNvSpPr>
            <a:spLocks noGrp="1"/>
          </p:cNvSpPr>
          <p:nvPr/>
        </p:nvSpPr>
        <p:spPr>
          <a:xfrm>
            <a:off x="584185" y="457274"/>
            <a:ext cx="2730432"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01 · FAILURE BEHAVIOR</a:t>
            </a:r>
            <a:endParaRPr sz="1000"/>
          </a:p>
        </p:txBody>
      </p:sp>
      <p:sp>
        <p:nvSpPr>
          <p:cNvPr id="4" name="TextBox 5">
            <a:extLst>
              <a:ext uri="{FF2B5EF4-FFF2-40B4-BE49-F238E27FC236}">
                <a16:creationId xmlns:a16="http://schemas.microsoft.com/office/drawing/2014/main" id="{A1EF42C4-2DA8-4E4E-93BB-23BF3B1AF0B1}"/>
              </a:ext>
            </a:extLst>
          </p:cNvPr>
          <p:cNvSpPr>
            <a:spLocks noGrp="1"/>
          </p:cNvSpPr>
          <p:nvPr/>
        </p:nvSpPr>
        <p:spPr>
          <a:xfrm>
            <a:off x="584185" y="800166"/>
            <a:ext cx="8889778" cy="1142971"/>
          </a:xfrm>
          <a:prstGeom prst="rect">
            <a:avLst/>
          </a:prstGeom>
          <a:noFill/>
        </p:spPr>
        <p:txBody>
          <a:bodyPr wrap="square" lIns="0" tIns="0" rIns="0" bIns="0" anchor="t">
            <a:spAutoFit/>
          </a:bodyPr>
          <a:lstStyle/>
          <a:p>
            <a:pPr marL="0" indent="0" algn="l">
              <a:lnSpc>
                <a:spcPts val="3672"/>
              </a:lnSpc>
              <a:buNone/>
            </a:pPr>
            <a:r>
              <a:rPr sz="3400" spc="-150">
                <a:solidFill>
                  <a:srgbClr val="FFFFFF"/>
                </a:solidFill>
                <a:latin typeface="Arial"/>
                <a:ea typeface="Arial"/>
                <a:cs typeface="Arial"/>
              </a:rPr>
              <a:t>When confidence drops,</a:t>
            </a:r>
            <a:endParaRPr sz="3400"/>
          </a:p>
          <a:p>
            <a:pPr marL="0" indent="0" algn="l">
              <a:lnSpc>
                <a:spcPts val="3672"/>
              </a:lnSpc>
              <a:buNone/>
            </a:pPr>
            <a:r>
              <a:rPr sz="3400" spc="-150">
                <a:solidFill>
                  <a:srgbClr val="FFFFFF"/>
                </a:solidFill>
                <a:latin typeface="Arial"/>
                <a:ea typeface="Arial"/>
                <a:cs typeface="Arial"/>
              </a:rPr>
              <a:t>the blast radius shrinks</a:t>
            </a:r>
            <a:endParaRPr sz="3400"/>
          </a:p>
        </p:txBody>
      </p:sp>
      <p:sp>
        <p:nvSpPr>
          <p:cNvPr id="5" name="Shape 7">
            <a:extLst>
              <a:ext uri="{FF2B5EF4-FFF2-40B4-BE49-F238E27FC236}">
                <a16:creationId xmlns:a16="http://schemas.microsoft.com/office/drawing/2014/main" id="{7399AF9C-B322-4573-B4DB-180CCC02007E}"/>
              </a:ext>
            </a:extLst>
          </p:cNvPr>
          <p:cNvSpPr>
            <a:spLocks noGrp="1"/>
          </p:cNvSpPr>
          <p:nvPr/>
        </p:nvSpPr>
        <p:spPr>
          <a:xfrm>
            <a:off x="4381390" y="2235230"/>
            <a:ext cx="3428914" cy="3428914"/>
          </a:xfrm>
          <a:prstGeom prst="ellipse">
            <a:avLst/>
          </a:prstGeom>
          <a:noFill/>
          <a:ln w="12700">
            <a:solidFill>
              <a:srgbClr val="FFFFFF">
                <a:alpha val="26000"/>
              </a:srgbClr>
            </a:solidFill>
            <a:prstDash val="solid"/>
          </a:ln>
        </p:spPr>
        <p:txBody>
          <a:bodyPr/>
          <a:lstStyle/>
          <a:p>
            <a:endParaRPr lang="en-DE"/>
          </a:p>
        </p:txBody>
      </p:sp>
      <p:sp>
        <p:nvSpPr>
          <p:cNvPr id="6" name="Shape 9">
            <a:extLst>
              <a:ext uri="{FF2B5EF4-FFF2-40B4-BE49-F238E27FC236}">
                <a16:creationId xmlns:a16="http://schemas.microsoft.com/office/drawing/2014/main" id="{62F17587-21D2-400F-9D65-1B80BEAA1AFB}"/>
              </a:ext>
            </a:extLst>
          </p:cNvPr>
          <p:cNvSpPr>
            <a:spLocks noGrp="1"/>
          </p:cNvSpPr>
          <p:nvPr/>
        </p:nvSpPr>
        <p:spPr>
          <a:xfrm>
            <a:off x="4870328" y="2724168"/>
            <a:ext cx="2451039" cy="2451039"/>
          </a:xfrm>
          <a:prstGeom prst="ellipse">
            <a:avLst/>
          </a:prstGeom>
          <a:noFill/>
          <a:ln w="12700">
            <a:solidFill>
              <a:srgbClr val="00A99D"/>
            </a:solidFill>
            <a:prstDash val="solid"/>
          </a:ln>
        </p:spPr>
        <p:txBody>
          <a:bodyPr/>
          <a:lstStyle/>
          <a:p>
            <a:endParaRPr lang="en-DE"/>
          </a:p>
        </p:txBody>
      </p:sp>
      <p:sp>
        <p:nvSpPr>
          <p:cNvPr id="7" name="Shape 11">
            <a:extLst>
              <a:ext uri="{FF2B5EF4-FFF2-40B4-BE49-F238E27FC236}">
                <a16:creationId xmlns:a16="http://schemas.microsoft.com/office/drawing/2014/main" id="{E787BFEE-7F7D-44F2-B570-2A96CB04D682}"/>
              </a:ext>
            </a:extLst>
          </p:cNvPr>
          <p:cNvSpPr>
            <a:spLocks noGrp="1"/>
          </p:cNvSpPr>
          <p:nvPr/>
        </p:nvSpPr>
        <p:spPr>
          <a:xfrm>
            <a:off x="5206870" y="3060709"/>
            <a:ext cx="1777956" cy="1777956"/>
          </a:xfrm>
          <a:prstGeom prst="ellipse">
            <a:avLst/>
          </a:prstGeom>
          <a:solidFill>
            <a:srgbClr val="00A99D"/>
          </a:solidFill>
        </p:spPr>
        <p:txBody>
          <a:bodyPr/>
          <a:lstStyle/>
          <a:p>
            <a:endParaRPr lang="en-DE"/>
          </a:p>
        </p:txBody>
      </p:sp>
      <p:sp>
        <p:nvSpPr>
          <p:cNvPr id="8" name="TextBox 12">
            <a:extLst>
              <a:ext uri="{FF2B5EF4-FFF2-40B4-BE49-F238E27FC236}">
                <a16:creationId xmlns:a16="http://schemas.microsoft.com/office/drawing/2014/main" id="{7B5C2314-C9FD-47A0-A06C-7AB92C33A998}"/>
              </a:ext>
            </a:extLst>
          </p:cNvPr>
          <p:cNvSpPr>
            <a:spLocks noGrp="1"/>
          </p:cNvSpPr>
          <p:nvPr/>
        </p:nvSpPr>
        <p:spPr>
          <a:xfrm>
            <a:off x="5793138" y="3601751"/>
            <a:ext cx="884811" cy="283924"/>
          </a:xfrm>
          <a:prstGeom prst="rect">
            <a:avLst/>
          </a:prstGeom>
          <a:noFill/>
        </p:spPr>
        <p:txBody>
          <a:bodyPr wrap="square" lIns="0" tIns="0" rIns="0" bIns="0" anchor="ctr">
            <a:spAutoFit/>
          </a:bodyPr>
          <a:lstStyle/>
          <a:p>
            <a:pPr marL="0" indent="0">
              <a:lnSpc>
                <a:spcPts val="2244"/>
              </a:lnSpc>
              <a:buNone/>
            </a:pPr>
            <a:r>
              <a:rPr sz="2200" b="1" dirty="0">
                <a:solidFill>
                  <a:srgbClr val="162A2D"/>
                </a:solidFill>
                <a:highlight>
                  <a:srgbClr val="00A99D"/>
                </a:highlight>
                <a:latin typeface="Arial"/>
                <a:ea typeface="Arial"/>
                <a:cs typeface="Arial"/>
              </a:rPr>
              <a:t>FAIL</a:t>
            </a:r>
            <a:endParaRPr sz="2200" dirty="0"/>
          </a:p>
        </p:txBody>
      </p:sp>
      <p:sp>
        <p:nvSpPr>
          <p:cNvPr id="9" name="TextBox 14">
            <a:extLst>
              <a:ext uri="{FF2B5EF4-FFF2-40B4-BE49-F238E27FC236}">
                <a16:creationId xmlns:a16="http://schemas.microsoft.com/office/drawing/2014/main" id="{8A490ACD-6DCD-4C3B-AFEB-CEE3FD466716}"/>
              </a:ext>
            </a:extLst>
          </p:cNvPr>
          <p:cNvSpPr>
            <a:spLocks noGrp="1"/>
          </p:cNvSpPr>
          <p:nvPr/>
        </p:nvSpPr>
        <p:spPr>
          <a:xfrm>
            <a:off x="5513647" y="3930637"/>
            <a:ext cx="1164303" cy="311142"/>
          </a:xfrm>
          <a:prstGeom prst="rect">
            <a:avLst/>
          </a:prstGeom>
          <a:noFill/>
        </p:spPr>
        <p:txBody>
          <a:bodyPr wrap="square" lIns="0" tIns="0" rIns="0" bIns="0" anchor="ctr">
            <a:spAutoFit/>
          </a:bodyPr>
          <a:lstStyle/>
          <a:p>
            <a:pPr marL="0" indent="0">
              <a:lnSpc>
                <a:spcPts val="2244"/>
              </a:lnSpc>
              <a:buNone/>
            </a:pPr>
            <a:r>
              <a:rPr sz="2200" b="1">
                <a:solidFill>
                  <a:srgbClr val="162A2D"/>
                </a:solidFill>
                <a:highlight>
                  <a:srgbClr val="00A99D"/>
                </a:highlight>
                <a:latin typeface="Arial"/>
                <a:ea typeface="Arial"/>
                <a:cs typeface="Arial"/>
              </a:rPr>
              <a:t>CLOSED</a:t>
            </a:r>
            <a:endParaRPr sz="2200"/>
          </a:p>
        </p:txBody>
      </p:sp>
      <p:sp>
        <p:nvSpPr>
          <p:cNvPr id="10" name="Shape 18">
            <a:extLst>
              <a:ext uri="{FF2B5EF4-FFF2-40B4-BE49-F238E27FC236}">
                <a16:creationId xmlns:a16="http://schemas.microsoft.com/office/drawing/2014/main" id="{945EDEC1-F5CB-4954-AD1D-FDB4C45D4A3F}"/>
              </a:ext>
            </a:extLst>
          </p:cNvPr>
          <p:cNvSpPr>
            <a:spLocks noGrp="1"/>
          </p:cNvSpPr>
          <p:nvPr/>
        </p:nvSpPr>
        <p:spPr>
          <a:xfrm>
            <a:off x="698483" y="2387626"/>
            <a:ext cx="2285943" cy="1142971"/>
          </a:xfrm>
          <a:prstGeom prst="rect">
            <a:avLst/>
          </a:prstGeom>
          <a:noFill/>
        </p:spPr>
        <p:txBody>
          <a:bodyPr/>
          <a:lstStyle/>
          <a:p>
            <a:endParaRPr lang="en-DE"/>
          </a:p>
        </p:txBody>
      </p:sp>
      <p:pic>
        <p:nvPicPr>
          <p:cNvPr id="44" name="Picture 1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8483" y="2387626"/>
            <a:ext cx="2285943" cy="1142971"/>
          </a:xfrm>
          <a:prstGeom prst="rect">
            <a:avLst/>
          </a:prstGeom>
        </p:spPr>
      </p:pic>
      <p:sp>
        <p:nvSpPr>
          <p:cNvPr id="12" name="TextBox 20">
            <a:extLst>
              <a:ext uri="{FF2B5EF4-FFF2-40B4-BE49-F238E27FC236}">
                <a16:creationId xmlns:a16="http://schemas.microsoft.com/office/drawing/2014/main" id="{0E8F5D1D-AADF-4D5E-B096-9C39D8152C52}"/>
              </a:ext>
            </a:extLst>
          </p:cNvPr>
          <p:cNvSpPr>
            <a:spLocks noGrp="1"/>
          </p:cNvSpPr>
          <p:nvPr/>
        </p:nvSpPr>
        <p:spPr>
          <a:xfrm>
            <a:off x="698483" y="2520973"/>
            <a:ext cx="2285943" cy="546086"/>
          </a:xfrm>
          <a:prstGeom prst="rect">
            <a:avLst/>
          </a:prstGeom>
          <a:noFill/>
        </p:spPr>
        <p:txBody>
          <a:bodyPr wrap="square" lIns="0" tIns="0" rIns="0" bIns="0" anchor="t">
            <a:spAutoFit/>
          </a:bodyPr>
          <a:lstStyle/>
          <a:p>
            <a:pPr marL="0" indent="0" algn="l">
              <a:lnSpc>
                <a:spcPts val="4300"/>
              </a:lnSpc>
              <a:buNone/>
            </a:pPr>
            <a:r>
              <a:rPr sz="4300" b="1">
                <a:solidFill>
                  <a:srgbClr val="00A99D"/>
                </a:solidFill>
                <a:latin typeface="Arial"/>
                <a:ea typeface="Arial"/>
                <a:cs typeface="Arial"/>
              </a:rPr>
              <a:t>60 s</a:t>
            </a:r>
            <a:endParaRPr sz="4300"/>
          </a:p>
        </p:txBody>
      </p:sp>
      <p:sp>
        <p:nvSpPr>
          <p:cNvPr id="13" name="TextBox 22">
            <a:extLst>
              <a:ext uri="{FF2B5EF4-FFF2-40B4-BE49-F238E27FC236}">
                <a16:creationId xmlns:a16="http://schemas.microsoft.com/office/drawing/2014/main" id="{D629AB95-6049-4DE3-BC2F-FBAEB346D24D}"/>
              </a:ext>
            </a:extLst>
          </p:cNvPr>
          <p:cNvSpPr>
            <a:spLocks noGrp="1"/>
          </p:cNvSpPr>
          <p:nvPr/>
        </p:nvSpPr>
        <p:spPr>
          <a:xfrm>
            <a:off x="698483" y="3143257"/>
            <a:ext cx="2285943" cy="205675"/>
          </a:xfrm>
          <a:prstGeom prst="rect">
            <a:avLst/>
          </a:prstGeom>
          <a:noFill/>
        </p:spPr>
        <p:txBody>
          <a:bodyPr wrap="square" lIns="0" tIns="0" rIns="0" bIns="0" anchor="t">
            <a:spAutoFit/>
          </a:bodyPr>
          <a:lstStyle/>
          <a:p>
            <a:pPr marL="0" indent="0" algn="l">
              <a:lnSpc>
                <a:spcPts val="1620"/>
              </a:lnSpc>
              <a:buNone/>
            </a:pPr>
            <a:r>
              <a:rPr sz="1350">
                <a:solidFill>
                  <a:srgbClr val="F4F1EA"/>
                </a:solidFill>
                <a:latin typeface="Arial"/>
                <a:ea typeface="Arial"/>
                <a:cs typeface="Arial"/>
              </a:rPr>
              <a:t>wall-clock ceiling</a:t>
            </a:r>
            <a:endParaRPr sz="1350"/>
          </a:p>
        </p:txBody>
      </p:sp>
      <p:sp>
        <p:nvSpPr>
          <p:cNvPr id="14" name="Shape 25">
            <a:extLst>
              <a:ext uri="{FF2B5EF4-FFF2-40B4-BE49-F238E27FC236}">
                <a16:creationId xmlns:a16="http://schemas.microsoft.com/office/drawing/2014/main" id="{607634BE-1B9E-4F13-96AE-3602E371F916}"/>
              </a:ext>
            </a:extLst>
          </p:cNvPr>
          <p:cNvSpPr>
            <a:spLocks noGrp="1"/>
          </p:cNvSpPr>
          <p:nvPr/>
        </p:nvSpPr>
        <p:spPr>
          <a:xfrm>
            <a:off x="1587460" y="5054559"/>
            <a:ext cx="2285943" cy="1142971"/>
          </a:xfrm>
          <a:prstGeom prst="rect">
            <a:avLst/>
          </a:prstGeom>
          <a:noFill/>
        </p:spPr>
        <p:txBody>
          <a:bodyPr/>
          <a:lstStyle/>
          <a:p>
            <a:endParaRPr lang="en-DE"/>
          </a:p>
        </p:txBody>
      </p:sp>
      <p:pic>
        <p:nvPicPr>
          <p:cNvPr id="48" name="Picture 25"/>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87460" y="5054559"/>
            <a:ext cx="2285943" cy="1142971"/>
          </a:xfrm>
          <a:prstGeom prst="rect">
            <a:avLst/>
          </a:prstGeom>
        </p:spPr>
      </p:pic>
      <p:sp>
        <p:nvSpPr>
          <p:cNvPr id="16" name="TextBox 27">
            <a:extLst>
              <a:ext uri="{FF2B5EF4-FFF2-40B4-BE49-F238E27FC236}">
                <a16:creationId xmlns:a16="http://schemas.microsoft.com/office/drawing/2014/main" id="{B3276ABA-C278-44C4-9A03-6BE4F6345799}"/>
              </a:ext>
            </a:extLst>
          </p:cNvPr>
          <p:cNvSpPr>
            <a:spLocks noGrp="1"/>
          </p:cNvSpPr>
          <p:nvPr/>
        </p:nvSpPr>
        <p:spPr>
          <a:xfrm>
            <a:off x="1587460" y="5187906"/>
            <a:ext cx="2285943" cy="546086"/>
          </a:xfrm>
          <a:prstGeom prst="rect">
            <a:avLst/>
          </a:prstGeom>
          <a:noFill/>
        </p:spPr>
        <p:txBody>
          <a:bodyPr wrap="square" lIns="0" tIns="0" rIns="0" bIns="0" anchor="t">
            <a:spAutoFit/>
          </a:bodyPr>
          <a:lstStyle/>
          <a:p>
            <a:pPr marL="0" indent="0" algn="l">
              <a:lnSpc>
                <a:spcPts val="4300"/>
              </a:lnSpc>
              <a:buNone/>
            </a:pPr>
            <a:r>
              <a:rPr sz="4300" b="1">
                <a:solidFill>
                  <a:srgbClr val="00A99D"/>
                </a:solidFill>
                <a:latin typeface="Arial"/>
                <a:ea typeface="Arial"/>
                <a:cs typeface="Arial"/>
              </a:rPr>
              <a:t>8</a:t>
            </a:r>
            <a:endParaRPr sz="4300"/>
          </a:p>
        </p:txBody>
      </p:sp>
      <p:sp>
        <p:nvSpPr>
          <p:cNvPr id="17" name="TextBox 29">
            <a:extLst>
              <a:ext uri="{FF2B5EF4-FFF2-40B4-BE49-F238E27FC236}">
                <a16:creationId xmlns:a16="http://schemas.microsoft.com/office/drawing/2014/main" id="{590C5D65-33D9-44F2-89AF-898DFCE03533}"/>
              </a:ext>
            </a:extLst>
          </p:cNvPr>
          <p:cNvSpPr>
            <a:spLocks noGrp="1"/>
          </p:cNvSpPr>
          <p:nvPr/>
        </p:nvSpPr>
        <p:spPr>
          <a:xfrm>
            <a:off x="1587460" y="5810190"/>
            <a:ext cx="2285943" cy="205675"/>
          </a:xfrm>
          <a:prstGeom prst="rect">
            <a:avLst/>
          </a:prstGeom>
          <a:noFill/>
        </p:spPr>
        <p:txBody>
          <a:bodyPr wrap="square" lIns="0" tIns="0" rIns="0" bIns="0" anchor="t">
            <a:spAutoFit/>
          </a:bodyPr>
          <a:lstStyle/>
          <a:p>
            <a:pPr marL="0" indent="0" algn="l">
              <a:lnSpc>
                <a:spcPts val="1620"/>
              </a:lnSpc>
              <a:buNone/>
            </a:pPr>
            <a:r>
              <a:rPr sz="1350">
                <a:solidFill>
                  <a:srgbClr val="F4F1EA"/>
                </a:solidFill>
                <a:latin typeface="Arial"/>
                <a:ea typeface="Arial"/>
                <a:cs typeface="Arial"/>
              </a:rPr>
              <a:t>search queries</a:t>
            </a:r>
            <a:endParaRPr sz="1350"/>
          </a:p>
        </p:txBody>
      </p:sp>
      <p:sp>
        <p:nvSpPr>
          <p:cNvPr id="18" name="Shape 32">
            <a:extLst>
              <a:ext uri="{FF2B5EF4-FFF2-40B4-BE49-F238E27FC236}">
                <a16:creationId xmlns:a16="http://schemas.microsoft.com/office/drawing/2014/main" id="{6377D2E5-88E6-4351-9E18-A24721D6A163}"/>
              </a:ext>
            </a:extLst>
          </p:cNvPr>
          <p:cNvSpPr>
            <a:spLocks noGrp="1"/>
          </p:cNvSpPr>
          <p:nvPr/>
        </p:nvSpPr>
        <p:spPr>
          <a:xfrm>
            <a:off x="8305592" y="5054559"/>
            <a:ext cx="2285943" cy="1142971"/>
          </a:xfrm>
          <a:prstGeom prst="rect">
            <a:avLst/>
          </a:prstGeom>
          <a:noFill/>
        </p:spPr>
        <p:txBody>
          <a:bodyPr/>
          <a:lstStyle/>
          <a:p>
            <a:endParaRPr lang="en-DE"/>
          </a:p>
        </p:txBody>
      </p:sp>
      <p:pic>
        <p:nvPicPr>
          <p:cNvPr id="52" name="Picture 3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05592" y="5054559"/>
            <a:ext cx="2285943" cy="1142971"/>
          </a:xfrm>
          <a:prstGeom prst="rect">
            <a:avLst/>
          </a:prstGeom>
        </p:spPr>
      </p:pic>
      <p:sp>
        <p:nvSpPr>
          <p:cNvPr id="20" name="TextBox 34">
            <a:extLst>
              <a:ext uri="{FF2B5EF4-FFF2-40B4-BE49-F238E27FC236}">
                <a16:creationId xmlns:a16="http://schemas.microsoft.com/office/drawing/2014/main" id="{1C68CDC9-F189-4E70-9DEC-31404FF00E9C}"/>
              </a:ext>
            </a:extLst>
          </p:cNvPr>
          <p:cNvSpPr>
            <a:spLocks noGrp="1"/>
          </p:cNvSpPr>
          <p:nvPr/>
        </p:nvSpPr>
        <p:spPr>
          <a:xfrm>
            <a:off x="8305592" y="5187906"/>
            <a:ext cx="2285943" cy="546086"/>
          </a:xfrm>
          <a:prstGeom prst="rect">
            <a:avLst/>
          </a:prstGeom>
          <a:noFill/>
        </p:spPr>
        <p:txBody>
          <a:bodyPr wrap="square" lIns="0" tIns="0" rIns="0" bIns="0" anchor="t">
            <a:spAutoFit/>
          </a:bodyPr>
          <a:lstStyle/>
          <a:p>
            <a:pPr marL="0" indent="0" algn="r">
              <a:lnSpc>
                <a:spcPts val="4300"/>
              </a:lnSpc>
              <a:buNone/>
            </a:pPr>
            <a:r>
              <a:rPr sz="4300" b="1">
                <a:solidFill>
                  <a:srgbClr val="00A99D"/>
                </a:solidFill>
                <a:latin typeface="Arial"/>
                <a:ea typeface="Arial"/>
                <a:cs typeface="Arial"/>
              </a:rPr>
              <a:t>12</a:t>
            </a:r>
            <a:endParaRPr sz="4300"/>
          </a:p>
        </p:txBody>
      </p:sp>
      <p:sp>
        <p:nvSpPr>
          <p:cNvPr id="21" name="TextBox 36">
            <a:extLst>
              <a:ext uri="{FF2B5EF4-FFF2-40B4-BE49-F238E27FC236}">
                <a16:creationId xmlns:a16="http://schemas.microsoft.com/office/drawing/2014/main" id="{0FDCA0AF-6C0E-4009-A5C4-8B89ED22032D}"/>
              </a:ext>
            </a:extLst>
          </p:cNvPr>
          <p:cNvSpPr>
            <a:spLocks noGrp="1"/>
          </p:cNvSpPr>
          <p:nvPr/>
        </p:nvSpPr>
        <p:spPr>
          <a:xfrm>
            <a:off x="8305592" y="5810190"/>
            <a:ext cx="2285943" cy="205675"/>
          </a:xfrm>
          <a:prstGeom prst="rect">
            <a:avLst/>
          </a:prstGeom>
          <a:noFill/>
        </p:spPr>
        <p:txBody>
          <a:bodyPr wrap="square" lIns="0" tIns="0" rIns="0" bIns="0" anchor="t">
            <a:spAutoFit/>
          </a:bodyPr>
          <a:lstStyle/>
          <a:p>
            <a:pPr marL="0" indent="0" algn="r">
              <a:lnSpc>
                <a:spcPts val="1620"/>
              </a:lnSpc>
              <a:buNone/>
            </a:pPr>
            <a:r>
              <a:rPr sz="1350">
                <a:solidFill>
                  <a:srgbClr val="F4F1EA"/>
                </a:solidFill>
                <a:latin typeface="Arial"/>
                <a:ea typeface="Arial"/>
                <a:cs typeface="Arial"/>
              </a:rPr>
              <a:t>pages fetched</a:t>
            </a:r>
            <a:endParaRPr sz="1350"/>
          </a:p>
        </p:txBody>
      </p:sp>
      <p:sp>
        <p:nvSpPr>
          <p:cNvPr id="22" name="Shape 39">
            <a:extLst>
              <a:ext uri="{FF2B5EF4-FFF2-40B4-BE49-F238E27FC236}">
                <a16:creationId xmlns:a16="http://schemas.microsoft.com/office/drawing/2014/main" id="{9375678D-71BF-4391-BD93-CC77BA8BAA68}"/>
              </a:ext>
            </a:extLst>
          </p:cNvPr>
          <p:cNvSpPr>
            <a:spLocks noGrp="1"/>
          </p:cNvSpPr>
          <p:nvPr/>
        </p:nvSpPr>
        <p:spPr>
          <a:xfrm>
            <a:off x="9207270" y="2387626"/>
            <a:ext cx="2285943" cy="1142971"/>
          </a:xfrm>
          <a:prstGeom prst="rect">
            <a:avLst/>
          </a:prstGeom>
          <a:noFill/>
        </p:spPr>
        <p:txBody>
          <a:bodyPr/>
          <a:lstStyle/>
          <a:p>
            <a:endParaRPr lang="en-DE"/>
          </a:p>
        </p:txBody>
      </p:sp>
      <p:pic>
        <p:nvPicPr>
          <p:cNvPr id="56" name="Picture 39"/>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07270" y="2387626"/>
            <a:ext cx="2285943" cy="1142971"/>
          </a:xfrm>
          <a:prstGeom prst="rect">
            <a:avLst/>
          </a:prstGeom>
        </p:spPr>
      </p:pic>
      <p:sp>
        <p:nvSpPr>
          <p:cNvPr id="24" name="TextBox 41">
            <a:extLst>
              <a:ext uri="{FF2B5EF4-FFF2-40B4-BE49-F238E27FC236}">
                <a16:creationId xmlns:a16="http://schemas.microsoft.com/office/drawing/2014/main" id="{4EBF13A9-4694-4DBA-9359-51F9F7EBD2F3}"/>
              </a:ext>
            </a:extLst>
          </p:cNvPr>
          <p:cNvSpPr>
            <a:spLocks noGrp="1"/>
          </p:cNvSpPr>
          <p:nvPr/>
        </p:nvSpPr>
        <p:spPr>
          <a:xfrm>
            <a:off x="9207270" y="2520973"/>
            <a:ext cx="2285943" cy="546086"/>
          </a:xfrm>
          <a:prstGeom prst="rect">
            <a:avLst/>
          </a:prstGeom>
          <a:noFill/>
        </p:spPr>
        <p:txBody>
          <a:bodyPr wrap="square" lIns="0" tIns="0" rIns="0" bIns="0" anchor="t">
            <a:spAutoFit/>
          </a:bodyPr>
          <a:lstStyle/>
          <a:p>
            <a:pPr marL="0" indent="0" algn="r">
              <a:lnSpc>
                <a:spcPts val="4300"/>
              </a:lnSpc>
              <a:buNone/>
            </a:pPr>
            <a:r>
              <a:rPr sz="4300" b="1">
                <a:solidFill>
                  <a:srgbClr val="00A99D"/>
                </a:solidFill>
                <a:latin typeface="Arial"/>
                <a:ea typeface="Arial"/>
                <a:cs typeface="Arial"/>
              </a:rPr>
              <a:t>2</a:t>
            </a:r>
            <a:endParaRPr sz="4300"/>
          </a:p>
        </p:txBody>
      </p:sp>
      <p:sp>
        <p:nvSpPr>
          <p:cNvPr id="25" name="TextBox 43">
            <a:extLst>
              <a:ext uri="{FF2B5EF4-FFF2-40B4-BE49-F238E27FC236}">
                <a16:creationId xmlns:a16="http://schemas.microsoft.com/office/drawing/2014/main" id="{1CA3C1C6-87EA-4E47-BEC7-4C10438CC4C1}"/>
              </a:ext>
            </a:extLst>
          </p:cNvPr>
          <p:cNvSpPr>
            <a:spLocks noGrp="1"/>
          </p:cNvSpPr>
          <p:nvPr/>
        </p:nvSpPr>
        <p:spPr>
          <a:xfrm>
            <a:off x="9207270" y="3143257"/>
            <a:ext cx="2285943" cy="205675"/>
          </a:xfrm>
          <a:prstGeom prst="rect">
            <a:avLst/>
          </a:prstGeom>
          <a:noFill/>
        </p:spPr>
        <p:txBody>
          <a:bodyPr wrap="square" lIns="0" tIns="0" rIns="0" bIns="0" anchor="t">
            <a:spAutoFit/>
          </a:bodyPr>
          <a:lstStyle/>
          <a:p>
            <a:pPr marL="0" indent="0" algn="r">
              <a:lnSpc>
                <a:spcPts val="1620"/>
              </a:lnSpc>
              <a:buNone/>
            </a:pPr>
            <a:r>
              <a:rPr sz="1350">
                <a:solidFill>
                  <a:srgbClr val="F4F1EA"/>
                </a:solidFill>
                <a:latin typeface="Arial"/>
                <a:ea typeface="Arial"/>
                <a:cs typeface="Arial"/>
              </a:rPr>
              <a:t>model calls</a:t>
            </a:r>
            <a:endParaRPr sz="1350"/>
          </a:p>
        </p:txBody>
      </p:sp>
      <p:sp>
        <p:nvSpPr>
          <p:cNvPr id="26" name="Shape 46">
            <a:extLst>
              <a:ext uri="{FF2B5EF4-FFF2-40B4-BE49-F238E27FC236}">
                <a16:creationId xmlns:a16="http://schemas.microsoft.com/office/drawing/2014/main" id="{2019D4A6-E604-47C6-A665-FFADDA69893D}"/>
              </a:ext>
            </a:extLst>
          </p:cNvPr>
          <p:cNvSpPr>
            <a:spLocks noGrp="1"/>
          </p:cNvSpPr>
          <p:nvPr/>
        </p:nvSpPr>
        <p:spPr>
          <a:xfrm>
            <a:off x="8330992" y="3873489"/>
            <a:ext cx="2730432" cy="939777"/>
          </a:xfrm>
          <a:prstGeom prst="roundRect">
            <a:avLst>
              <a:gd name="adj" fmla="val 18919"/>
            </a:avLst>
          </a:prstGeom>
          <a:solidFill>
            <a:srgbClr val="FFFFFF">
              <a:alpha val="8000"/>
            </a:srgbClr>
          </a:solidFill>
          <a:ln w="6350">
            <a:solidFill>
              <a:srgbClr val="FFFFFF">
                <a:alpha val="20000"/>
              </a:srgbClr>
            </a:solidFill>
            <a:prstDash val="solid"/>
          </a:ln>
        </p:spPr>
        <p:txBody>
          <a:bodyPr/>
          <a:lstStyle/>
          <a:p>
            <a:endParaRPr lang="en-DE"/>
          </a:p>
        </p:txBody>
      </p:sp>
      <p:sp>
        <p:nvSpPr>
          <p:cNvPr id="27" name="TextBox 48">
            <a:extLst>
              <a:ext uri="{FF2B5EF4-FFF2-40B4-BE49-F238E27FC236}">
                <a16:creationId xmlns:a16="http://schemas.microsoft.com/office/drawing/2014/main" id="{6E553003-DF15-4616-833A-11A2A3C8FDA2}"/>
              </a:ext>
            </a:extLst>
          </p:cNvPr>
          <p:cNvSpPr>
            <a:spLocks noGrp="1"/>
          </p:cNvSpPr>
          <p:nvPr/>
        </p:nvSpPr>
        <p:spPr>
          <a:xfrm>
            <a:off x="8515137" y="4057634"/>
            <a:ext cx="2362141" cy="304792"/>
          </a:xfrm>
          <a:prstGeom prst="rect">
            <a:avLst/>
          </a:prstGeom>
          <a:noFill/>
        </p:spPr>
        <p:txBody>
          <a:bodyPr wrap="square" lIns="0" tIns="0" rIns="0" bIns="0" anchor="t">
            <a:spAutoFit/>
          </a:bodyPr>
          <a:lstStyle/>
          <a:p>
            <a:pPr marL="0" indent="0" algn="l">
              <a:buNone/>
            </a:pPr>
            <a:r>
              <a:rPr sz="2100" b="1">
                <a:solidFill>
                  <a:srgbClr val="FFFFFF"/>
                </a:solidFill>
                <a:latin typeface="Arial"/>
                <a:ea typeface="Arial"/>
                <a:cs typeface="Arial"/>
              </a:rPr>
              <a:t>24 MB</a:t>
            </a:r>
            <a:endParaRPr sz="2100"/>
          </a:p>
        </p:txBody>
      </p:sp>
      <p:sp>
        <p:nvSpPr>
          <p:cNvPr id="28" name="TextBox 50">
            <a:extLst>
              <a:ext uri="{FF2B5EF4-FFF2-40B4-BE49-F238E27FC236}">
                <a16:creationId xmlns:a16="http://schemas.microsoft.com/office/drawing/2014/main" id="{AA73403D-D228-4980-9AE2-D79D2AFFF3EC}"/>
              </a:ext>
            </a:extLst>
          </p:cNvPr>
          <p:cNvSpPr>
            <a:spLocks noGrp="1"/>
          </p:cNvSpPr>
          <p:nvPr/>
        </p:nvSpPr>
        <p:spPr>
          <a:xfrm>
            <a:off x="8515137" y="4425925"/>
            <a:ext cx="2362141" cy="177796"/>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raw + decoded byte caps</a:t>
            </a:r>
            <a:endParaRPr sz="1200"/>
          </a:p>
        </p:txBody>
      </p:sp>
      <p:sp>
        <p:nvSpPr>
          <p:cNvPr id="29" name="TextBox 53">
            <a:extLst>
              <a:ext uri="{FF2B5EF4-FFF2-40B4-BE49-F238E27FC236}">
                <a16:creationId xmlns:a16="http://schemas.microsoft.com/office/drawing/2014/main" id="{34CC3344-8731-4EDE-8364-8A81CB53CE2D}"/>
              </a:ext>
            </a:extLst>
          </p:cNvPr>
          <p:cNvSpPr>
            <a:spLocks noGrp="1"/>
          </p:cNvSpPr>
          <p:nvPr/>
        </p:nvSpPr>
        <p:spPr>
          <a:xfrm>
            <a:off x="584185" y="6324528"/>
            <a:ext cx="6857829" cy="228594"/>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Unsafe URL, exhausted budget, missing evidence → typed terminal state.</a:t>
            </a:r>
            <a:endParaRPr sz="1200"/>
          </a:p>
        </p:txBody>
      </p:sp>
      <p:sp>
        <p:nvSpPr>
          <p:cNvPr id="30" name="TextBox 55">
            <a:extLst>
              <a:ext uri="{FF2B5EF4-FFF2-40B4-BE49-F238E27FC236}">
                <a16:creationId xmlns:a16="http://schemas.microsoft.com/office/drawing/2014/main" id="{4C2C485A-A5DC-492F-BB22-08A6223AEB16}"/>
              </a:ext>
            </a:extLst>
          </p:cNvPr>
          <p:cNvSpPr>
            <a:spLocks noGrp="1"/>
          </p:cNvSpPr>
          <p:nvPr/>
        </p:nvSpPr>
        <p:spPr>
          <a:xfrm>
            <a:off x="11099523" y="6324528"/>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05</a:t>
            </a:r>
            <a:endParaRPr sz="1200"/>
          </a:p>
        </p:txBody>
      </p:sp>
    </p:spTree>
    <p:extLst>
      <p:ext uri="{BB962C8B-B14F-4D97-AF65-F5344CB8AC3E}">
        <p14:creationId xmlns:p14="http://schemas.microsoft.com/office/powerpoint/2010/main" val="465009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FFEA3AA-540C-4B67-B2CF-05C9C52ACA36}"/>
              </a:ext>
            </a:extLst>
          </p:cNvPr>
          <p:cNvSpPr>
            <a:spLocks noGrp="1"/>
          </p:cNvSpPr>
          <p:nvPr/>
        </p:nvSpPr>
        <p:spPr>
          <a:xfrm>
            <a:off x="0" y="86"/>
            <a:ext cx="12191695" cy="6857829"/>
          </a:xfrm>
          <a:prstGeom prst="rect">
            <a:avLst/>
          </a:prstGeom>
          <a:solidFill>
            <a:srgbClr val="FFFFFF"/>
          </a:solidFill>
        </p:spPr>
        <p:txBody>
          <a:bodyPr/>
          <a:lstStyle/>
          <a:p>
            <a:endParaRPr lang="en-DE"/>
          </a:p>
        </p:txBody>
      </p:sp>
      <p:sp>
        <p:nvSpPr>
          <p:cNvPr id="3" name="TextBox 3">
            <a:extLst>
              <a:ext uri="{FF2B5EF4-FFF2-40B4-BE49-F238E27FC236}">
                <a16:creationId xmlns:a16="http://schemas.microsoft.com/office/drawing/2014/main" id="{CBE6FF8F-A136-4AC6-9340-5CD9F0D3277E}"/>
              </a:ext>
            </a:extLst>
          </p:cNvPr>
          <p:cNvSpPr>
            <a:spLocks noGrp="1"/>
          </p:cNvSpPr>
          <p:nvPr/>
        </p:nvSpPr>
        <p:spPr>
          <a:xfrm>
            <a:off x="584185" y="457274"/>
            <a:ext cx="2476438"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02 · ASYNC CONTROL</a:t>
            </a:r>
            <a:endParaRPr sz="1000"/>
          </a:p>
        </p:txBody>
      </p:sp>
      <p:sp>
        <p:nvSpPr>
          <p:cNvPr id="4" name="TextBox 5">
            <a:extLst>
              <a:ext uri="{FF2B5EF4-FFF2-40B4-BE49-F238E27FC236}">
                <a16:creationId xmlns:a16="http://schemas.microsoft.com/office/drawing/2014/main" id="{CBDDB2CF-1382-46DC-8574-7FD0C94377C1}"/>
              </a:ext>
            </a:extLst>
          </p:cNvPr>
          <p:cNvSpPr>
            <a:spLocks noGrp="1"/>
          </p:cNvSpPr>
          <p:nvPr/>
        </p:nvSpPr>
        <p:spPr>
          <a:xfrm>
            <a:off x="584185" y="812865"/>
            <a:ext cx="9207270" cy="1130272"/>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HTTP returns fast.</a:t>
            </a:r>
            <a:endParaRPr sz="3400"/>
          </a:p>
          <a:p>
            <a:pPr marL="0" indent="0" algn="l">
              <a:lnSpc>
                <a:spcPts val="3672"/>
              </a:lnSpc>
              <a:buNone/>
            </a:pPr>
            <a:r>
              <a:rPr sz="3400" spc="-150">
                <a:solidFill>
                  <a:srgbClr val="162A2D"/>
                </a:solidFill>
                <a:latin typeface="Arial"/>
                <a:ea typeface="Arial"/>
                <a:cs typeface="Arial"/>
              </a:rPr>
              <a:t>Research is allowed to take time.</a:t>
            </a:r>
            <a:endParaRPr sz="3400"/>
          </a:p>
        </p:txBody>
      </p:sp>
      <p:sp>
        <p:nvSpPr>
          <p:cNvPr id="5" name="Shape 7">
            <a:extLst>
              <a:ext uri="{FF2B5EF4-FFF2-40B4-BE49-F238E27FC236}">
                <a16:creationId xmlns:a16="http://schemas.microsoft.com/office/drawing/2014/main" id="{0ECA078F-7FE8-4592-9819-A340ABEC2877}"/>
              </a:ext>
            </a:extLst>
          </p:cNvPr>
          <p:cNvSpPr>
            <a:spLocks noGrp="1"/>
          </p:cNvSpPr>
          <p:nvPr/>
        </p:nvSpPr>
        <p:spPr>
          <a:xfrm>
            <a:off x="584185" y="2286029"/>
            <a:ext cx="3365416" cy="3428914"/>
          </a:xfrm>
          <a:prstGeom prst="roundRect">
            <a:avLst>
              <a:gd name="adj" fmla="val 8302"/>
            </a:avLst>
          </a:prstGeom>
          <a:solidFill>
            <a:srgbClr val="F4F1EA"/>
          </a:solidFill>
          <a:ln w="6350">
            <a:solidFill>
              <a:srgbClr val="D4DCDA"/>
            </a:solidFill>
            <a:prstDash val="solid"/>
          </a:ln>
        </p:spPr>
        <p:txBody>
          <a:bodyPr/>
          <a:lstStyle/>
          <a:p>
            <a:endParaRPr lang="en-DE"/>
          </a:p>
        </p:txBody>
      </p:sp>
      <p:sp>
        <p:nvSpPr>
          <p:cNvPr id="6" name="TextBox 9">
            <a:extLst>
              <a:ext uri="{FF2B5EF4-FFF2-40B4-BE49-F238E27FC236}">
                <a16:creationId xmlns:a16="http://schemas.microsoft.com/office/drawing/2014/main" id="{F8E98D50-41C0-4A34-A270-871221F8D3B4}"/>
              </a:ext>
            </a:extLst>
          </p:cNvPr>
          <p:cNvSpPr>
            <a:spLocks noGrp="1"/>
          </p:cNvSpPr>
          <p:nvPr/>
        </p:nvSpPr>
        <p:spPr>
          <a:xfrm>
            <a:off x="908027" y="2609870"/>
            <a:ext cx="2717732" cy="1028674"/>
          </a:xfrm>
          <a:prstGeom prst="rect">
            <a:avLst/>
          </a:prstGeom>
          <a:noFill/>
        </p:spPr>
        <p:txBody>
          <a:bodyPr wrap="square" lIns="0" tIns="0" rIns="0" bIns="0" anchor="t">
            <a:spAutoFit/>
          </a:bodyPr>
          <a:lstStyle/>
          <a:p>
            <a:pPr marL="0" indent="0" algn="l">
              <a:lnSpc>
                <a:spcPts val="8100"/>
              </a:lnSpc>
              <a:buNone/>
            </a:pPr>
            <a:r>
              <a:rPr sz="9000" b="1" spc="-600">
                <a:solidFill>
                  <a:srgbClr val="00A99D"/>
                </a:solidFill>
                <a:latin typeface="Arial"/>
                <a:ea typeface="Arial"/>
                <a:cs typeface="Arial"/>
              </a:rPr>
              <a:t>202</a:t>
            </a:r>
            <a:endParaRPr sz="9000"/>
          </a:p>
        </p:txBody>
      </p:sp>
      <p:sp>
        <p:nvSpPr>
          <p:cNvPr id="7" name="TextBox 11">
            <a:extLst>
              <a:ext uri="{FF2B5EF4-FFF2-40B4-BE49-F238E27FC236}">
                <a16:creationId xmlns:a16="http://schemas.microsoft.com/office/drawing/2014/main" id="{F38FC596-EA72-4E00-B4D2-7F79952AF819}"/>
              </a:ext>
            </a:extLst>
          </p:cNvPr>
          <p:cNvSpPr>
            <a:spLocks noGrp="1"/>
          </p:cNvSpPr>
          <p:nvPr/>
        </p:nvSpPr>
        <p:spPr>
          <a:xfrm>
            <a:off x="908027" y="3854439"/>
            <a:ext cx="2717732" cy="300030"/>
          </a:xfrm>
          <a:prstGeom prst="rect">
            <a:avLst/>
          </a:prstGeom>
          <a:noFill/>
        </p:spPr>
        <p:txBody>
          <a:bodyPr wrap="square" lIns="0" tIns="0" rIns="0" bIns="0" anchor="t">
            <a:spAutoFit/>
          </a:bodyPr>
          <a:lstStyle/>
          <a:p>
            <a:pPr marL="0" indent="0" algn="l">
              <a:lnSpc>
                <a:spcPts val="2362"/>
              </a:lnSpc>
              <a:buNone/>
            </a:pPr>
            <a:r>
              <a:rPr sz="2250" b="1">
                <a:solidFill>
                  <a:srgbClr val="162A2D"/>
                </a:solidFill>
                <a:latin typeface="Arial"/>
                <a:ea typeface="Arial"/>
                <a:cs typeface="Arial"/>
              </a:rPr>
              <a:t>Accepted</a:t>
            </a:r>
            <a:endParaRPr sz="2250"/>
          </a:p>
        </p:txBody>
      </p:sp>
      <p:sp>
        <p:nvSpPr>
          <p:cNvPr id="8" name="TextBox 13">
            <a:extLst>
              <a:ext uri="{FF2B5EF4-FFF2-40B4-BE49-F238E27FC236}">
                <a16:creationId xmlns:a16="http://schemas.microsoft.com/office/drawing/2014/main" id="{9E4BDA73-54E3-4947-BEE0-D6EC32021735}"/>
              </a:ext>
            </a:extLst>
          </p:cNvPr>
          <p:cNvSpPr>
            <a:spLocks noGrp="1"/>
          </p:cNvSpPr>
          <p:nvPr/>
        </p:nvSpPr>
        <p:spPr>
          <a:xfrm>
            <a:off x="908027" y="4294166"/>
            <a:ext cx="2717732" cy="462745"/>
          </a:xfrm>
          <a:prstGeom prst="rect">
            <a:avLst/>
          </a:prstGeom>
          <a:noFill/>
        </p:spPr>
        <p:txBody>
          <a:bodyPr wrap="square" lIns="0" tIns="0" rIns="0" bIns="0" anchor="t">
            <a:spAutoFit/>
          </a:bodyPr>
          <a:lstStyle/>
          <a:p>
            <a:pPr marL="0" indent="0" algn="l">
              <a:lnSpc>
                <a:spcPts val="1822"/>
              </a:lnSpc>
              <a:buNone/>
            </a:pPr>
            <a:r>
              <a:rPr sz="1350">
                <a:solidFill>
                  <a:srgbClr val="5E6D6C"/>
                </a:solidFill>
                <a:latin typeface="Arial"/>
                <a:ea typeface="Arial"/>
                <a:cs typeface="Arial"/>
              </a:rPr>
              <a:t>Stable run ID after</a:t>
            </a:r>
            <a:endParaRPr sz="1350"/>
          </a:p>
          <a:p>
            <a:pPr marL="0" indent="0" algn="l">
              <a:lnSpc>
                <a:spcPts val="1822"/>
              </a:lnSpc>
              <a:buNone/>
            </a:pPr>
            <a:r>
              <a:rPr sz="1350">
                <a:solidFill>
                  <a:srgbClr val="5E6D6C"/>
                </a:solidFill>
                <a:latin typeface="Arial"/>
                <a:ea typeface="Arial"/>
                <a:cs typeface="Arial"/>
              </a:rPr>
              <a:t>persist-before-enqueue.</a:t>
            </a:r>
            <a:endParaRPr sz="1350"/>
          </a:p>
        </p:txBody>
      </p:sp>
      <p:pic>
        <p:nvPicPr>
          <p:cNvPr id="36" name="Picture 15"/>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8027" y="4972011"/>
            <a:ext cx="2666933" cy="469888"/>
          </a:xfrm>
          <a:prstGeom prst="rect">
            <a:avLst/>
          </a:prstGeom>
        </p:spPr>
      </p:pic>
      <p:sp>
        <p:nvSpPr>
          <p:cNvPr id="10" name="TextBox 15">
            <a:extLst>
              <a:ext uri="{FF2B5EF4-FFF2-40B4-BE49-F238E27FC236}">
                <a16:creationId xmlns:a16="http://schemas.microsoft.com/office/drawing/2014/main" id="{2E5D3F65-796E-4F27-AB2E-EFD52868655A}"/>
              </a:ext>
            </a:extLst>
          </p:cNvPr>
          <p:cNvSpPr>
            <a:spLocks noGrp="1"/>
          </p:cNvSpPr>
          <p:nvPr/>
        </p:nvSpPr>
        <p:spPr>
          <a:xfrm>
            <a:off x="908027" y="4972011"/>
            <a:ext cx="2666933" cy="469888"/>
          </a:xfrm>
          <a:prstGeom prst="rect">
            <a:avLst/>
          </a:prstGeom>
          <a:noFill/>
        </p:spPr>
        <p:txBody>
          <a:bodyPr wrap="square" lIns="0" tIns="126997" rIns="0" bIns="0" anchor="t">
            <a:spAutoFit/>
          </a:bodyPr>
          <a:lstStyle/>
          <a:p>
            <a:pPr marL="0" indent="0" algn="l">
              <a:buNone/>
            </a:pPr>
            <a:r>
              <a:rPr sz="1250">
                <a:solidFill>
                  <a:srgbClr val="162A2D"/>
                </a:solidFill>
                <a:latin typeface="Arial"/>
                <a:ea typeface="Arial"/>
                <a:cs typeface="Arial"/>
              </a:rPr>
              <a:t>Idempotency makes retries cheap.</a:t>
            </a:r>
            <a:endParaRPr sz="1250"/>
          </a:p>
        </p:txBody>
      </p:sp>
      <p:sp>
        <p:nvSpPr>
          <p:cNvPr id="11" name="Shape 20">
            <a:extLst>
              <a:ext uri="{FF2B5EF4-FFF2-40B4-BE49-F238E27FC236}">
                <a16:creationId xmlns:a16="http://schemas.microsoft.com/office/drawing/2014/main" id="{50A98796-F8D6-4938-86A0-D3DF17824471}"/>
              </a:ext>
            </a:extLst>
          </p:cNvPr>
          <p:cNvSpPr>
            <a:spLocks noGrp="1"/>
          </p:cNvSpPr>
          <p:nvPr/>
        </p:nvSpPr>
        <p:spPr>
          <a:xfrm>
            <a:off x="4711582" y="3924288"/>
            <a:ext cx="6254594" cy="50799"/>
          </a:xfrm>
          <a:prstGeom prst="roundRect">
            <a:avLst>
              <a:gd name="adj" fmla="val 50000"/>
            </a:avLst>
          </a:prstGeom>
          <a:solidFill>
            <a:srgbClr val="C8D3D1"/>
          </a:solidFill>
        </p:spPr>
        <p:txBody>
          <a:bodyPr/>
          <a:lstStyle/>
          <a:p>
            <a:endParaRPr lang="en-DE"/>
          </a:p>
        </p:txBody>
      </p:sp>
      <p:sp>
        <p:nvSpPr>
          <p:cNvPr id="12" name="Shape 22">
            <a:extLst>
              <a:ext uri="{FF2B5EF4-FFF2-40B4-BE49-F238E27FC236}">
                <a16:creationId xmlns:a16="http://schemas.microsoft.com/office/drawing/2014/main" id="{AE3EDF95-C3E2-4257-973B-FFB003179DA1}"/>
              </a:ext>
            </a:extLst>
          </p:cNvPr>
          <p:cNvSpPr>
            <a:spLocks noGrp="1"/>
          </p:cNvSpPr>
          <p:nvPr/>
        </p:nvSpPr>
        <p:spPr>
          <a:xfrm>
            <a:off x="4711582" y="3924288"/>
            <a:ext cx="4190895" cy="50799"/>
          </a:xfrm>
          <a:prstGeom prst="roundRect">
            <a:avLst>
              <a:gd name="adj" fmla="val 50000"/>
            </a:avLst>
          </a:prstGeom>
          <a:solidFill>
            <a:srgbClr val="00A99D"/>
          </a:solidFill>
        </p:spPr>
        <p:txBody>
          <a:bodyPr/>
          <a:lstStyle/>
          <a:p>
            <a:endParaRPr lang="en-DE"/>
          </a:p>
        </p:txBody>
      </p:sp>
      <p:sp>
        <p:nvSpPr>
          <p:cNvPr id="13" name="TextBox 24">
            <a:extLst>
              <a:ext uri="{FF2B5EF4-FFF2-40B4-BE49-F238E27FC236}">
                <a16:creationId xmlns:a16="http://schemas.microsoft.com/office/drawing/2014/main" id="{6D14F217-31F4-4DE3-83B9-EB92EACD9FE9}"/>
              </a:ext>
            </a:extLst>
          </p:cNvPr>
          <p:cNvSpPr>
            <a:spLocks noGrp="1"/>
          </p:cNvSpPr>
          <p:nvPr/>
        </p:nvSpPr>
        <p:spPr>
          <a:xfrm>
            <a:off x="4444889" y="3390901"/>
            <a:ext cx="1079473" cy="1079473"/>
          </a:xfrm>
          <a:prstGeom prst="ellipse">
            <a:avLst/>
          </a:prstGeom>
          <a:solidFill>
            <a:srgbClr val="F4F1EA"/>
          </a:solidFill>
          <a:ln w="19050">
            <a:solidFill>
              <a:srgbClr val="162A2D"/>
            </a:solidFill>
            <a:prstDash val="solid"/>
          </a:ln>
        </p:spPr>
        <p:txBody>
          <a:bodyPr wrap="square" lIns="0" tIns="0" rIns="0" bIns="0" anchor="ctr">
            <a:spAutoFit/>
          </a:bodyPr>
          <a:lstStyle/>
          <a:p>
            <a:pPr marL="0" indent="0" algn="ctr">
              <a:lnSpc>
                <a:spcPts val="1470"/>
              </a:lnSpc>
              <a:buNone/>
            </a:pPr>
            <a:r>
              <a:rPr sz="1400" b="1">
                <a:solidFill>
                  <a:srgbClr val="162A2D"/>
                </a:solidFill>
                <a:latin typeface="Arial"/>
                <a:ea typeface="Arial"/>
                <a:cs typeface="Arial"/>
              </a:rPr>
              <a:t>QUEUED</a:t>
            </a:r>
            <a:endParaRPr sz="1400"/>
          </a:p>
        </p:txBody>
      </p:sp>
      <p:sp>
        <p:nvSpPr>
          <p:cNvPr id="14" name="TextBox 26">
            <a:extLst>
              <a:ext uri="{FF2B5EF4-FFF2-40B4-BE49-F238E27FC236}">
                <a16:creationId xmlns:a16="http://schemas.microsoft.com/office/drawing/2014/main" id="{02D3D59C-78D5-463C-8C54-7E62042F6B94}"/>
              </a:ext>
            </a:extLst>
          </p:cNvPr>
          <p:cNvSpPr>
            <a:spLocks noGrp="1"/>
          </p:cNvSpPr>
          <p:nvPr/>
        </p:nvSpPr>
        <p:spPr>
          <a:xfrm>
            <a:off x="5905352" y="3390901"/>
            <a:ext cx="1079473" cy="1079473"/>
          </a:xfrm>
          <a:prstGeom prst="ellipse">
            <a:avLst/>
          </a:prstGeom>
          <a:solidFill>
            <a:srgbClr val="00A99D"/>
          </a:solidFill>
        </p:spPr>
        <p:txBody>
          <a:bodyPr wrap="square" lIns="0" tIns="0" rIns="0" bIns="0" anchor="ctr">
            <a:spAutoFit/>
          </a:bodyPr>
          <a:lstStyle/>
          <a:p>
            <a:pPr marL="0" indent="0" algn="ctr">
              <a:lnSpc>
                <a:spcPts val="1470"/>
              </a:lnSpc>
              <a:buNone/>
            </a:pPr>
            <a:r>
              <a:rPr sz="1400" b="1" dirty="0">
                <a:solidFill>
                  <a:srgbClr val="162A2D"/>
                </a:solidFill>
                <a:latin typeface="Arial"/>
                <a:ea typeface="Arial"/>
                <a:cs typeface="Arial"/>
              </a:rPr>
              <a:t>RUNNING</a:t>
            </a:r>
            <a:endParaRPr sz="1400" dirty="0"/>
          </a:p>
        </p:txBody>
      </p:sp>
      <p:sp>
        <p:nvSpPr>
          <p:cNvPr id="15" name="Shape 28">
            <a:extLst>
              <a:ext uri="{FF2B5EF4-FFF2-40B4-BE49-F238E27FC236}">
                <a16:creationId xmlns:a16="http://schemas.microsoft.com/office/drawing/2014/main" id="{C9CB9A0C-38E4-49CE-8540-13D3B4E2EC78}"/>
              </a:ext>
            </a:extLst>
          </p:cNvPr>
          <p:cNvSpPr>
            <a:spLocks noGrp="1"/>
          </p:cNvSpPr>
          <p:nvPr/>
        </p:nvSpPr>
        <p:spPr>
          <a:xfrm>
            <a:off x="7365816" y="3390901"/>
            <a:ext cx="1079473" cy="1079473"/>
          </a:xfrm>
          <a:prstGeom prst="ellipse">
            <a:avLst/>
          </a:prstGeom>
          <a:solidFill>
            <a:srgbClr val="F4F1EA"/>
          </a:solidFill>
          <a:ln w="19050">
            <a:solidFill>
              <a:srgbClr val="00A99D"/>
            </a:solidFill>
            <a:prstDash val="solid"/>
          </a:ln>
        </p:spPr>
        <p:txBody>
          <a:bodyPr/>
          <a:lstStyle/>
          <a:p>
            <a:endParaRPr lang="en-DE"/>
          </a:p>
        </p:txBody>
      </p:sp>
      <p:sp>
        <p:nvSpPr>
          <p:cNvPr id="16" name="TextBox 29">
            <a:extLst>
              <a:ext uri="{FF2B5EF4-FFF2-40B4-BE49-F238E27FC236}">
                <a16:creationId xmlns:a16="http://schemas.microsoft.com/office/drawing/2014/main" id="{36B659AF-FF5F-441F-B759-4501DC82D983}"/>
              </a:ext>
            </a:extLst>
          </p:cNvPr>
          <p:cNvSpPr>
            <a:spLocks noGrp="1"/>
          </p:cNvSpPr>
          <p:nvPr/>
        </p:nvSpPr>
        <p:spPr>
          <a:xfrm>
            <a:off x="7538849" y="3696907"/>
            <a:ext cx="808017" cy="179536"/>
          </a:xfrm>
          <a:prstGeom prst="rect">
            <a:avLst/>
          </a:prstGeom>
          <a:noFill/>
        </p:spPr>
        <p:txBody>
          <a:bodyPr wrap="square" lIns="0" tIns="0" rIns="0" bIns="0" anchor="ctr">
            <a:spAutoFit/>
          </a:bodyPr>
          <a:lstStyle/>
          <a:p>
            <a:pPr marL="0" indent="0">
              <a:lnSpc>
                <a:spcPts val="1417"/>
              </a:lnSpc>
              <a:buNone/>
            </a:pPr>
            <a:r>
              <a:rPr sz="1350" b="1" dirty="0">
                <a:solidFill>
                  <a:srgbClr val="162A2D"/>
                </a:solidFill>
                <a:highlight>
                  <a:srgbClr val="F4F1EA"/>
                </a:highlight>
                <a:latin typeface="Arial"/>
                <a:ea typeface="Arial"/>
                <a:cs typeface="Arial"/>
              </a:rPr>
              <a:t>WAITING</a:t>
            </a:r>
            <a:endParaRPr sz="1350" dirty="0"/>
          </a:p>
        </p:txBody>
      </p:sp>
      <p:sp>
        <p:nvSpPr>
          <p:cNvPr id="17" name="TextBox 31">
            <a:extLst>
              <a:ext uri="{FF2B5EF4-FFF2-40B4-BE49-F238E27FC236}">
                <a16:creationId xmlns:a16="http://schemas.microsoft.com/office/drawing/2014/main" id="{ECB1E1FD-D6A9-43DA-9AEE-C56429C05C15}"/>
              </a:ext>
            </a:extLst>
          </p:cNvPr>
          <p:cNvSpPr>
            <a:spLocks noGrp="1"/>
          </p:cNvSpPr>
          <p:nvPr/>
        </p:nvSpPr>
        <p:spPr>
          <a:xfrm>
            <a:off x="7464238" y="3905846"/>
            <a:ext cx="1019150" cy="179536"/>
          </a:xfrm>
          <a:prstGeom prst="rect">
            <a:avLst/>
          </a:prstGeom>
          <a:noFill/>
        </p:spPr>
        <p:txBody>
          <a:bodyPr wrap="square" lIns="0" tIns="0" rIns="0" bIns="0" anchor="ctr">
            <a:spAutoFit/>
          </a:bodyPr>
          <a:lstStyle/>
          <a:p>
            <a:pPr marL="0" indent="0">
              <a:lnSpc>
                <a:spcPts val="1417"/>
              </a:lnSpc>
              <a:buNone/>
            </a:pPr>
            <a:r>
              <a:rPr sz="1350" b="1" dirty="0">
                <a:solidFill>
                  <a:srgbClr val="162A2D"/>
                </a:solidFill>
                <a:highlight>
                  <a:srgbClr val="F4F1EA"/>
                </a:highlight>
                <a:latin typeface="Arial"/>
                <a:ea typeface="Arial"/>
                <a:cs typeface="Arial"/>
              </a:rPr>
              <a:t>FOR TOOL</a:t>
            </a:r>
            <a:endParaRPr sz="1350" dirty="0"/>
          </a:p>
        </p:txBody>
      </p:sp>
      <p:sp>
        <p:nvSpPr>
          <p:cNvPr id="18" name="TextBox 33">
            <a:extLst>
              <a:ext uri="{FF2B5EF4-FFF2-40B4-BE49-F238E27FC236}">
                <a16:creationId xmlns:a16="http://schemas.microsoft.com/office/drawing/2014/main" id="{C7CE01A3-BF56-45DD-9BF1-99C40C784C12}"/>
              </a:ext>
            </a:extLst>
          </p:cNvPr>
          <p:cNvSpPr>
            <a:spLocks noGrp="1"/>
          </p:cNvSpPr>
          <p:nvPr/>
        </p:nvSpPr>
        <p:spPr>
          <a:xfrm>
            <a:off x="8826279" y="2717818"/>
            <a:ext cx="1206470" cy="952476"/>
          </a:xfrm>
          <a:prstGeom prst="roundRect">
            <a:avLst>
              <a:gd name="adj" fmla="val 20000"/>
            </a:avLst>
          </a:prstGeom>
          <a:solidFill>
            <a:srgbClr val="162A2D"/>
          </a:solidFill>
        </p:spPr>
        <p:txBody>
          <a:bodyPr wrap="square" lIns="0" tIns="0" rIns="0" bIns="0" anchor="ctr">
            <a:spAutoFit/>
          </a:bodyPr>
          <a:lstStyle/>
          <a:p>
            <a:pPr marL="0" indent="0" algn="ctr">
              <a:lnSpc>
                <a:spcPts val="1417"/>
              </a:lnSpc>
              <a:buNone/>
            </a:pPr>
            <a:r>
              <a:rPr sz="1350" b="1">
                <a:solidFill>
                  <a:srgbClr val="FFFFFF"/>
                </a:solidFill>
                <a:latin typeface="Arial"/>
                <a:ea typeface="Arial"/>
                <a:cs typeface="Arial"/>
              </a:rPr>
              <a:t>COMPLETED</a:t>
            </a:r>
            <a:endParaRPr sz="1350"/>
          </a:p>
        </p:txBody>
      </p:sp>
      <p:sp>
        <p:nvSpPr>
          <p:cNvPr id="19" name="TextBox 35">
            <a:extLst>
              <a:ext uri="{FF2B5EF4-FFF2-40B4-BE49-F238E27FC236}">
                <a16:creationId xmlns:a16="http://schemas.microsoft.com/office/drawing/2014/main" id="{5AA03F71-55E5-4F3F-8233-F846CAF06B2D}"/>
              </a:ext>
            </a:extLst>
          </p:cNvPr>
          <p:cNvSpPr>
            <a:spLocks noGrp="1"/>
          </p:cNvSpPr>
          <p:nvPr/>
        </p:nvSpPr>
        <p:spPr>
          <a:xfrm>
            <a:off x="8826279" y="4317978"/>
            <a:ext cx="1206470" cy="952476"/>
          </a:xfrm>
          <a:prstGeom prst="roundRect">
            <a:avLst>
              <a:gd name="adj" fmla="val 20000"/>
            </a:avLst>
          </a:prstGeom>
          <a:noFill/>
          <a:ln w="12700">
            <a:solidFill>
              <a:srgbClr val="5E6D6C"/>
            </a:solidFill>
            <a:prstDash val="solid"/>
          </a:ln>
        </p:spPr>
        <p:txBody>
          <a:bodyPr wrap="square" lIns="0" tIns="0" rIns="0" bIns="0" anchor="ctr">
            <a:spAutoFit/>
          </a:bodyPr>
          <a:lstStyle/>
          <a:p>
            <a:pPr marL="0" indent="0" algn="ctr">
              <a:lnSpc>
                <a:spcPts val="1417"/>
              </a:lnSpc>
              <a:buNone/>
            </a:pPr>
            <a:r>
              <a:rPr sz="1350" b="1">
                <a:solidFill>
                  <a:srgbClr val="162A2D"/>
                </a:solidFill>
                <a:latin typeface="Arial"/>
                <a:ea typeface="Arial"/>
                <a:cs typeface="Arial"/>
              </a:rPr>
              <a:t>FAILED</a:t>
            </a:r>
            <a:endParaRPr sz="1350"/>
          </a:p>
        </p:txBody>
      </p:sp>
      <p:sp>
        <p:nvSpPr>
          <p:cNvPr id="20" name="TextBox 37">
            <a:extLst>
              <a:ext uri="{FF2B5EF4-FFF2-40B4-BE49-F238E27FC236}">
                <a16:creationId xmlns:a16="http://schemas.microsoft.com/office/drawing/2014/main" id="{25D6105F-EDA7-4639-B819-2BA666327AB7}"/>
              </a:ext>
            </a:extLst>
          </p:cNvPr>
          <p:cNvSpPr>
            <a:spLocks noGrp="1"/>
          </p:cNvSpPr>
          <p:nvPr/>
        </p:nvSpPr>
        <p:spPr>
          <a:xfrm>
            <a:off x="10401040" y="3390901"/>
            <a:ext cx="1206470" cy="1079473"/>
          </a:xfrm>
          <a:prstGeom prst="roundRect">
            <a:avLst>
              <a:gd name="adj" fmla="val 17647"/>
            </a:avLst>
          </a:prstGeom>
          <a:solidFill>
            <a:srgbClr val="F4F1EA"/>
          </a:solidFill>
          <a:ln w="12700">
            <a:solidFill>
              <a:srgbClr val="00A99D"/>
            </a:solidFill>
            <a:prstDash val="solid"/>
          </a:ln>
        </p:spPr>
        <p:txBody>
          <a:bodyPr wrap="square" lIns="0" tIns="0" rIns="0" bIns="0" anchor="ctr">
            <a:spAutoFit/>
          </a:bodyPr>
          <a:lstStyle/>
          <a:p>
            <a:pPr marL="0" indent="0" algn="ctr">
              <a:lnSpc>
                <a:spcPts val="1417"/>
              </a:lnSpc>
              <a:buNone/>
            </a:pPr>
            <a:r>
              <a:rPr sz="1350" b="1">
                <a:solidFill>
                  <a:srgbClr val="162A2D"/>
                </a:solidFill>
                <a:latin typeface="Arial"/>
                <a:ea typeface="Arial"/>
                <a:cs typeface="Arial"/>
              </a:rPr>
              <a:t>CANCELLED</a:t>
            </a:r>
            <a:endParaRPr sz="1350"/>
          </a:p>
        </p:txBody>
      </p:sp>
      <p:sp>
        <p:nvSpPr>
          <p:cNvPr id="21" name="Shape 40">
            <a:extLst>
              <a:ext uri="{FF2B5EF4-FFF2-40B4-BE49-F238E27FC236}">
                <a16:creationId xmlns:a16="http://schemas.microsoft.com/office/drawing/2014/main" id="{07D95B7E-78F0-439F-B8E9-E4CD57F5D9B0}"/>
              </a:ext>
            </a:extLst>
          </p:cNvPr>
          <p:cNvSpPr>
            <a:spLocks noGrp="1"/>
          </p:cNvSpPr>
          <p:nvPr/>
        </p:nvSpPr>
        <p:spPr>
          <a:xfrm>
            <a:off x="4444889" y="5397451"/>
            <a:ext cx="7162621" cy="507987"/>
          </a:xfrm>
          <a:prstGeom prst="rect">
            <a:avLst/>
          </a:prstGeom>
          <a:noFill/>
        </p:spPr>
        <p:txBody>
          <a:bodyPr/>
          <a:lstStyle/>
          <a:p>
            <a:endParaRPr lang="en-DE"/>
          </a:p>
        </p:txBody>
      </p:sp>
      <p:pic>
        <p:nvPicPr>
          <p:cNvPr id="49" name="Picture 40"/>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44889" y="5397451"/>
            <a:ext cx="7162621" cy="507987"/>
          </a:xfrm>
          <a:prstGeom prst="rect">
            <a:avLst/>
          </a:prstGeom>
        </p:spPr>
      </p:pic>
      <p:sp>
        <p:nvSpPr>
          <p:cNvPr id="23" name="TextBox 42">
            <a:extLst>
              <a:ext uri="{FF2B5EF4-FFF2-40B4-BE49-F238E27FC236}">
                <a16:creationId xmlns:a16="http://schemas.microsoft.com/office/drawing/2014/main" id="{09F785E0-6521-4338-87D5-94993F9902CA}"/>
              </a:ext>
            </a:extLst>
          </p:cNvPr>
          <p:cNvSpPr>
            <a:spLocks noGrp="1"/>
          </p:cNvSpPr>
          <p:nvPr/>
        </p:nvSpPr>
        <p:spPr>
          <a:xfrm>
            <a:off x="4444889" y="5562547"/>
            <a:ext cx="1904952" cy="184145"/>
          </a:xfrm>
          <a:prstGeom prst="rect">
            <a:avLst/>
          </a:prstGeom>
          <a:noFill/>
        </p:spPr>
        <p:txBody>
          <a:bodyPr wrap="square" lIns="0" tIns="0" rIns="0" bIns="0" anchor="t">
            <a:spAutoFit/>
          </a:bodyPr>
          <a:lstStyle/>
          <a:p>
            <a:pPr marL="0" indent="0" algn="l">
              <a:buNone/>
            </a:pPr>
            <a:r>
              <a:rPr sz="1250" b="1">
                <a:solidFill>
                  <a:srgbClr val="00A99D"/>
                </a:solidFill>
                <a:latin typeface="Arial"/>
                <a:ea typeface="Arial"/>
                <a:cs typeface="Arial"/>
              </a:rPr>
              <a:t>LEASE RECOVERY</a:t>
            </a:r>
            <a:endParaRPr sz="1250"/>
          </a:p>
        </p:txBody>
      </p:sp>
      <p:sp>
        <p:nvSpPr>
          <p:cNvPr id="24" name="TextBox 44">
            <a:extLst>
              <a:ext uri="{FF2B5EF4-FFF2-40B4-BE49-F238E27FC236}">
                <a16:creationId xmlns:a16="http://schemas.microsoft.com/office/drawing/2014/main" id="{83806CF5-DFAF-4D16-B564-608F70C77C0B}"/>
              </a:ext>
            </a:extLst>
          </p:cNvPr>
          <p:cNvSpPr>
            <a:spLocks noGrp="1"/>
          </p:cNvSpPr>
          <p:nvPr/>
        </p:nvSpPr>
        <p:spPr>
          <a:xfrm>
            <a:off x="6349841" y="5556197"/>
            <a:ext cx="5257669" cy="196845"/>
          </a:xfrm>
          <a:prstGeom prst="rect">
            <a:avLst/>
          </a:prstGeom>
          <a:noFill/>
        </p:spPr>
        <p:txBody>
          <a:bodyPr wrap="square" lIns="0" tIns="0" rIns="0" bIns="0" anchor="t">
            <a:spAutoFit/>
          </a:bodyPr>
          <a:lstStyle/>
          <a:p>
            <a:pPr marL="0" indent="0" algn="l">
              <a:buNone/>
            </a:pPr>
            <a:r>
              <a:rPr sz="1350">
                <a:solidFill>
                  <a:srgbClr val="5E6D6C"/>
                </a:solidFill>
                <a:latin typeface="Arial"/>
                <a:ea typeface="Arial"/>
                <a:cs typeface="Arial"/>
              </a:rPr>
              <a:t>Expired claims can recover. Terminal states cannot move backward.</a:t>
            </a:r>
            <a:endParaRPr sz="1350"/>
          </a:p>
        </p:txBody>
      </p:sp>
      <p:sp>
        <p:nvSpPr>
          <p:cNvPr id="25" name="TextBox 47">
            <a:extLst>
              <a:ext uri="{FF2B5EF4-FFF2-40B4-BE49-F238E27FC236}">
                <a16:creationId xmlns:a16="http://schemas.microsoft.com/office/drawing/2014/main" id="{1F71EE1B-FC45-41B9-8F48-19B0BFDF9E3D}"/>
              </a:ext>
            </a:extLst>
          </p:cNvPr>
          <p:cNvSpPr>
            <a:spLocks noGrp="1"/>
          </p:cNvSpPr>
          <p:nvPr/>
        </p:nvSpPr>
        <p:spPr>
          <a:xfrm>
            <a:off x="584185" y="6324528"/>
            <a:ext cx="5714857" cy="228594"/>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Poll · replayable SSE · idempotent cancellation</a:t>
            </a:r>
            <a:endParaRPr sz="1200"/>
          </a:p>
        </p:txBody>
      </p:sp>
      <p:sp>
        <p:nvSpPr>
          <p:cNvPr id="26" name="TextBox 49">
            <a:extLst>
              <a:ext uri="{FF2B5EF4-FFF2-40B4-BE49-F238E27FC236}">
                <a16:creationId xmlns:a16="http://schemas.microsoft.com/office/drawing/2014/main" id="{851BB46E-C087-4731-ABD4-E2512F5E8803}"/>
              </a:ext>
            </a:extLst>
          </p:cNvPr>
          <p:cNvSpPr>
            <a:spLocks noGrp="1"/>
          </p:cNvSpPr>
          <p:nvPr/>
        </p:nvSpPr>
        <p:spPr>
          <a:xfrm>
            <a:off x="11099523" y="6324528"/>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06</a:t>
            </a:r>
            <a:endParaRPr sz="1200"/>
          </a:p>
        </p:txBody>
      </p:sp>
    </p:spTree>
    <p:extLst>
      <p:ext uri="{BB962C8B-B14F-4D97-AF65-F5344CB8AC3E}">
        <p14:creationId xmlns:p14="http://schemas.microsoft.com/office/powerpoint/2010/main" val="1921364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CE182966-21AA-47C8-BFD7-1A77A048EA8F}"/>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6E63E599-BEF7-4217-8F18-1F7DDB5DA2D5}"/>
              </a:ext>
            </a:extLst>
          </p:cNvPr>
          <p:cNvSpPr>
            <a:spLocks noGrp="1"/>
          </p:cNvSpPr>
          <p:nvPr/>
        </p:nvSpPr>
        <p:spPr>
          <a:xfrm>
            <a:off x="584185" y="457274"/>
            <a:ext cx="2730432"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02 · MULTI-TENANT TRUST</a:t>
            </a:r>
            <a:endParaRPr sz="1000"/>
          </a:p>
        </p:txBody>
      </p:sp>
      <p:sp>
        <p:nvSpPr>
          <p:cNvPr id="4" name="TextBox 5">
            <a:extLst>
              <a:ext uri="{FF2B5EF4-FFF2-40B4-BE49-F238E27FC236}">
                <a16:creationId xmlns:a16="http://schemas.microsoft.com/office/drawing/2014/main" id="{429CAA8D-165B-49D5-BFDA-59BA2EBEEA77}"/>
              </a:ext>
            </a:extLst>
          </p:cNvPr>
          <p:cNvSpPr>
            <a:spLocks noGrp="1"/>
          </p:cNvSpPr>
          <p:nvPr/>
        </p:nvSpPr>
        <p:spPr>
          <a:xfrm>
            <a:off x="584185" y="812865"/>
            <a:ext cx="8826279" cy="698483"/>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Isolation lives inside every query</a:t>
            </a:r>
            <a:endParaRPr sz="3400"/>
          </a:p>
        </p:txBody>
      </p:sp>
      <p:sp>
        <p:nvSpPr>
          <p:cNvPr id="5" name="TextBox 7">
            <a:extLst>
              <a:ext uri="{FF2B5EF4-FFF2-40B4-BE49-F238E27FC236}">
                <a16:creationId xmlns:a16="http://schemas.microsoft.com/office/drawing/2014/main" id="{DA921949-4B84-4AB7-8698-F380AABB692A}"/>
              </a:ext>
            </a:extLst>
          </p:cNvPr>
          <p:cNvSpPr>
            <a:spLocks noGrp="1"/>
          </p:cNvSpPr>
          <p:nvPr/>
        </p:nvSpPr>
        <p:spPr>
          <a:xfrm>
            <a:off x="9067573" y="901763"/>
            <a:ext cx="2539936" cy="533387"/>
          </a:xfrm>
          <a:prstGeom prst="rect">
            <a:avLst/>
          </a:prstGeom>
          <a:noFill/>
        </p:spPr>
        <p:txBody>
          <a:bodyPr wrap="square" lIns="0" tIns="0" rIns="0" bIns="0" anchor="t">
            <a:spAutoFit/>
          </a:bodyPr>
          <a:lstStyle/>
          <a:p>
            <a:pPr marL="0" indent="0" algn="l">
              <a:lnSpc>
                <a:spcPts val="1822"/>
              </a:lnSpc>
              <a:buNone/>
            </a:pPr>
            <a:r>
              <a:rPr sz="1350">
                <a:solidFill>
                  <a:srgbClr val="5E6D6C"/>
                </a:solidFill>
                <a:latin typeface="Arial"/>
                <a:ea typeface="Arial"/>
                <a:cs typeface="Arial"/>
              </a:rPr>
              <a:t>Middleware alone cannot</a:t>
            </a:r>
            <a:endParaRPr sz="1350"/>
          </a:p>
          <a:p>
            <a:pPr marL="0" indent="0" algn="l">
              <a:lnSpc>
                <a:spcPts val="1822"/>
              </a:lnSpc>
              <a:buNone/>
            </a:pPr>
            <a:r>
              <a:rPr sz="1350">
                <a:solidFill>
                  <a:srgbClr val="5E6D6C"/>
                </a:solidFill>
                <a:latin typeface="Arial"/>
                <a:ea typeface="Arial"/>
                <a:cs typeface="Arial"/>
              </a:rPr>
              <a:t>protect durable state.</a:t>
            </a:r>
            <a:endParaRPr sz="1350"/>
          </a:p>
        </p:txBody>
      </p:sp>
      <p:sp>
        <p:nvSpPr>
          <p:cNvPr id="6" name="Shape 9">
            <a:extLst>
              <a:ext uri="{FF2B5EF4-FFF2-40B4-BE49-F238E27FC236}">
                <a16:creationId xmlns:a16="http://schemas.microsoft.com/office/drawing/2014/main" id="{1B55790A-6BB2-4E18-AFF4-D7A5F5656AA2}"/>
              </a:ext>
            </a:extLst>
          </p:cNvPr>
          <p:cNvSpPr>
            <a:spLocks noGrp="1"/>
          </p:cNvSpPr>
          <p:nvPr/>
        </p:nvSpPr>
        <p:spPr>
          <a:xfrm>
            <a:off x="749281" y="2032035"/>
            <a:ext cx="9334267" cy="4127397"/>
          </a:xfrm>
          <a:prstGeom prst="roundRect">
            <a:avLst>
              <a:gd name="adj" fmla="val 8000"/>
            </a:avLst>
          </a:prstGeom>
          <a:noFill/>
          <a:ln w="19050">
            <a:solidFill>
              <a:srgbClr val="162A2D"/>
            </a:solidFill>
            <a:prstDash val="solid"/>
          </a:ln>
        </p:spPr>
        <p:txBody>
          <a:bodyPr/>
          <a:lstStyle/>
          <a:p>
            <a:endParaRPr lang="en-DE"/>
          </a:p>
        </p:txBody>
      </p:sp>
      <p:sp>
        <p:nvSpPr>
          <p:cNvPr id="7" name="TextBox 11">
            <a:extLst>
              <a:ext uri="{FF2B5EF4-FFF2-40B4-BE49-F238E27FC236}">
                <a16:creationId xmlns:a16="http://schemas.microsoft.com/office/drawing/2014/main" id="{2B0F3179-6C54-4E2C-9416-D76596A2F166}"/>
              </a:ext>
            </a:extLst>
          </p:cNvPr>
          <p:cNvSpPr>
            <a:spLocks noGrp="1"/>
          </p:cNvSpPr>
          <p:nvPr/>
        </p:nvSpPr>
        <p:spPr>
          <a:xfrm>
            <a:off x="996925" y="2279679"/>
            <a:ext cx="8838979" cy="152396"/>
          </a:xfrm>
          <a:prstGeom prst="rect">
            <a:avLst/>
          </a:prstGeom>
          <a:noFill/>
        </p:spPr>
        <p:txBody>
          <a:bodyPr wrap="square" lIns="0" tIns="0" rIns="0" bIns="0" anchor="t">
            <a:spAutoFit/>
          </a:bodyPr>
          <a:lstStyle/>
          <a:p>
            <a:pPr marL="0" indent="0" algn="l">
              <a:buNone/>
            </a:pPr>
            <a:r>
              <a:rPr sz="1050" b="1" spc="150">
                <a:solidFill>
                  <a:srgbClr val="5E6D6C"/>
                </a:solidFill>
                <a:latin typeface="Arial"/>
                <a:ea typeface="Arial"/>
                <a:cs typeface="Arial"/>
              </a:rPr>
              <a:t>01 · AUTHENTICATED REQUEST</a:t>
            </a:r>
            <a:endParaRPr sz="1050"/>
          </a:p>
        </p:txBody>
      </p:sp>
      <p:sp>
        <p:nvSpPr>
          <p:cNvPr id="8" name="Shape 13">
            <a:extLst>
              <a:ext uri="{FF2B5EF4-FFF2-40B4-BE49-F238E27FC236}">
                <a16:creationId xmlns:a16="http://schemas.microsoft.com/office/drawing/2014/main" id="{1FEB0D54-6921-4ECB-95ED-F8DA26F5A50D}"/>
              </a:ext>
            </a:extLst>
          </p:cNvPr>
          <p:cNvSpPr>
            <a:spLocks noGrp="1"/>
          </p:cNvSpPr>
          <p:nvPr/>
        </p:nvSpPr>
        <p:spPr>
          <a:xfrm>
            <a:off x="1276318" y="2635270"/>
            <a:ext cx="8127797" cy="3174921"/>
          </a:xfrm>
          <a:prstGeom prst="roundRect">
            <a:avLst>
              <a:gd name="adj" fmla="val 8800"/>
            </a:avLst>
          </a:prstGeom>
          <a:solidFill>
            <a:srgbClr val="FFFFFF">
              <a:alpha val="46000"/>
            </a:srgbClr>
          </a:solidFill>
          <a:ln w="19050">
            <a:solidFill>
              <a:srgbClr val="00A99D"/>
            </a:solidFill>
            <a:prstDash val="solid"/>
          </a:ln>
        </p:spPr>
        <p:txBody>
          <a:bodyPr/>
          <a:lstStyle/>
          <a:p>
            <a:endParaRPr lang="en-DE"/>
          </a:p>
        </p:txBody>
      </p:sp>
      <p:sp>
        <p:nvSpPr>
          <p:cNvPr id="9" name="TextBox 15">
            <a:extLst>
              <a:ext uri="{FF2B5EF4-FFF2-40B4-BE49-F238E27FC236}">
                <a16:creationId xmlns:a16="http://schemas.microsoft.com/office/drawing/2014/main" id="{5DE4797C-7DC5-40B9-A30A-FA771E9895F5}"/>
              </a:ext>
            </a:extLst>
          </p:cNvPr>
          <p:cNvSpPr>
            <a:spLocks noGrp="1"/>
          </p:cNvSpPr>
          <p:nvPr/>
        </p:nvSpPr>
        <p:spPr>
          <a:xfrm>
            <a:off x="1511262" y="2870214"/>
            <a:ext cx="7657909"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02 · PRINCIPAL + TENANT SCOPE</a:t>
            </a:r>
            <a:endParaRPr sz="1050"/>
          </a:p>
        </p:txBody>
      </p:sp>
      <p:sp>
        <p:nvSpPr>
          <p:cNvPr id="10" name="Shape 17">
            <a:extLst>
              <a:ext uri="{FF2B5EF4-FFF2-40B4-BE49-F238E27FC236}">
                <a16:creationId xmlns:a16="http://schemas.microsoft.com/office/drawing/2014/main" id="{41A788D0-208B-45B1-B383-AA0D13EC85A6}"/>
              </a:ext>
            </a:extLst>
          </p:cNvPr>
          <p:cNvSpPr>
            <a:spLocks noGrp="1"/>
          </p:cNvSpPr>
          <p:nvPr/>
        </p:nvSpPr>
        <p:spPr>
          <a:xfrm>
            <a:off x="1854154" y="3238505"/>
            <a:ext cx="6603835" cy="2184345"/>
          </a:xfrm>
          <a:prstGeom prst="roundRect">
            <a:avLst>
              <a:gd name="adj" fmla="val 10465"/>
            </a:avLst>
          </a:prstGeom>
          <a:solidFill>
            <a:srgbClr val="FFFFFF"/>
          </a:solidFill>
          <a:ln w="6350">
            <a:solidFill>
              <a:srgbClr val="C8D3D1"/>
            </a:solidFill>
            <a:prstDash val="solid"/>
          </a:ln>
        </p:spPr>
        <p:txBody>
          <a:bodyPr/>
          <a:lstStyle/>
          <a:p>
            <a:endParaRPr lang="en-DE"/>
          </a:p>
        </p:txBody>
      </p:sp>
      <p:sp>
        <p:nvSpPr>
          <p:cNvPr id="11" name="TextBox 19">
            <a:extLst>
              <a:ext uri="{FF2B5EF4-FFF2-40B4-BE49-F238E27FC236}">
                <a16:creationId xmlns:a16="http://schemas.microsoft.com/office/drawing/2014/main" id="{6D1DE48C-D83B-47A0-A115-5802C9CD50E6}"/>
              </a:ext>
            </a:extLst>
          </p:cNvPr>
          <p:cNvSpPr>
            <a:spLocks noGrp="1"/>
          </p:cNvSpPr>
          <p:nvPr/>
        </p:nvSpPr>
        <p:spPr>
          <a:xfrm>
            <a:off x="2063698" y="3448050"/>
            <a:ext cx="6184745" cy="152396"/>
          </a:xfrm>
          <a:prstGeom prst="rect">
            <a:avLst/>
          </a:prstGeom>
          <a:noFill/>
        </p:spPr>
        <p:txBody>
          <a:bodyPr wrap="square" lIns="0" tIns="0" rIns="0" bIns="0" anchor="t">
            <a:spAutoFit/>
          </a:bodyPr>
          <a:lstStyle/>
          <a:p>
            <a:pPr marL="0" indent="0" algn="l">
              <a:buNone/>
            </a:pPr>
            <a:r>
              <a:rPr sz="1050" b="1" spc="150">
                <a:solidFill>
                  <a:srgbClr val="5E6D6C"/>
                </a:solidFill>
                <a:latin typeface="Arial"/>
                <a:ea typeface="Arial"/>
                <a:cs typeface="Arial"/>
              </a:rPr>
              <a:t>03 · REPOSITORY FILTER</a:t>
            </a:r>
            <a:endParaRPr sz="1050"/>
          </a:p>
        </p:txBody>
      </p:sp>
      <p:sp>
        <p:nvSpPr>
          <p:cNvPr id="12" name="Shape 21">
            <a:extLst>
              <a:ext uri="{FF2B5EF4-FFF2-40B4-BE49-F238E27FC236}">
                <a16:creationId xmlns:a16="http://schemas.microsoft.com/office/drawing/2014/main" id="{AD2760B4-463D-4306-8406-665A3972774A}"/>
              </a:ext>
            </a:extLst>
          </p:cNvPr>
          <p:cNvSpPr>
            <a:spLocks noGrp="1"/>
          </p:cNvSpPr>
          <p:nvPr/>
        </p:nvSpPr>
        <p:spPr>
          <a:xfrm>
            <a:off x="2419290" y="3829040"/>
            <a:ext cx="5016375" cy="1181070"/>
          </a:xfrm>
          <a:prstGeom prst="roundRect">
            <a:avLst>
              <a:gd name="adj" fmla="val 15054"/>
            </a:avLst>
          </a:prstGeom>
          <a:solidFill>
            <a:srgbClr val="162A2D"/>
          </a:solidFill>
        </p:spPr>
        <p:txBody>
          <a:bodyPr/>
          <a:lstStyle/>
          <a:p>
            <a:endParaRPr lang="en-DE"/>
          </a:p>
        </p:txBody>
      </p:sp>
      <p:sp>
        <p:nvSpPr>
          <p:cNvPr id="13" name="TextBox 23">
            <a:extLst>
              <a:ext uri="{FF2B5EF4-FFF2-40B4-BE49-F238E27FC236}">
                <a16:creationId xmlns:a16="http://schemas.microsoft.com/office/drawing/2014/main" id="{6E2BB894-8571-491D-BDDD-F4F5C51D913E}"/>
              </a:ext>
            </a:extLst>
          </p:cNvPr>
          <p:cNvSpPr>
            <a:spLocks noGrp="1"/>
          </p:cNvSpPr>
          <p:nvPr/>
        </p:nvSpPr>
        <p:spPr>
          <a:xfrm>
            <a:off x="2685983" y="4321153"/>
            <a:ext cx="1289613" cy="196845"/>
          </a:xfrm>
          <a:prstGeom prst="rect">
            <a:avLst/>
          </a:prstGeom>
          <a:noFill/>
        </p:spPr>
        <p:txBody>
          <a:bodyPr wrap="square" lIns="0" tIns="0" rIns="0" bIns="0" anchor="t">
            <a:spAutoFit/>
          </a:bodyPr>
          <a:lstStyle/>
          <a:p>
            <a:pPr marL="0" indent="0" algn="l">
              <a:buNone/>
            </a:pPr>
            <a:r>
              <a:rPr sz="1300" b="1">
                <a:solidFill>
                  <a:srgbClr val="00A99D"/>
                </a:solidFill>
                <a:latin typeface="Arial"/>
                <a:ea typeface="Arial"/>
                <a:cs typeface="Arial"/>
              </a:rPr>
              <a:t>TENANT A</a:t>
            </a:r>
            <a:endParaRPr sz="1300"/>
          </a:p>
        </p:txBody>
      </p:sp>
      <p:sp>
        <p:nvSpPr>
          <p:cNvPr id="14" name="TextBox 25">
            <a:extLst>
              <a:ext uri="{FF2B5EF4-FFF2-40B4-BE49-F238E27FC236}">
                <a16:creationId xmlns:a16="http://schemas.microsoft.com/office/drawing/2014/main" id="{A04D9B9D-B69E-4027-9029-CFCC23F072B4}"/>
              </a:ext>
            </a:extLst>
          </p:cNvPr>
          <p:cNvSpPr>
            <a:spLocks noGrp="1"/>
          </p:cNvSpPr>
          <p:nvPr/>
        </p:nvSpPr>
        <p:spPr>
          <a:xfrm>
            <a:off x="3975596" y="4152882"/>
            <a:ext cx="2210836" cy="533387"/>
          </a:xfrm>
          <a:prstGeom prst="rect">
            <a:avLst/>
          </a:prstGeom>
          <a:noFill/>
        </p:spPr>
        <p:txBody>
          <a:bodyPr wrap="square" lIns="0" tIns="0" rIns="0" bIns="0" anchor="t">
            <a:spAutoFit/>
          </a:bodyPr>
          <a:lstStyle/>
          <a:p>
            <a:pPr marL="0" indent="0" algn="l">
              <a:buNone/>
            </a:pPr>
            <a:r>
              <a:rPr sz="1800" b="1">
                <a:solidFill>
                  <a:srgbClr val="FFFFFF"/>
                </a:solidFill>
                <a:latin typeface="Arial"/>
                <a:ea typeface="Arial"/>
                <a:cs typeface="Arial"/>
              </a:rPr>
              <a:t>session · run · events</a:t>
            </a:r>
            <a:endParaRPr sz="1800"/>
          </a:p>
        </p:txBody>
      </p:sp>
      <p:sp>
        <p:nvSpPr>
          <p:cNvPr id="15" name="TextBox 27">
            <a:extLst>
              <a:ext uri="{FF2B5EF4-FFF2-40B4-BE49-F238E27FC236}">
                <a16:creationId xmlns:a16="http://schemas.microsoft.com/office/drawing/2014/main" id="{943F092A-1842-4D54-AC13-2834BA1AB0AC}"/>
              </a:ext>
            </a:extLst>
          </p:cNvPr>
          <p:cNvSpPr>
            <a:spLocks noGrp="1"/>
          </p:cNvSpPr>
          <p:nvPr/>
        </p:nvSpPr>
        <p:spPr>
          <a:xfrm>
            <a:off x="6186432" y="4327503"/>
            <a:ext cx="982539" cy="184145"/>
          </a:xfrm>
          <a:prstGeom prst="rect">
            <a:avLst/>
          </a:prstGeom>
          <a:noFill/>
        </p:spPr>
        <p:txBody>
          <a:bodyPr wrap="square" lIns="0" tIns="0" rIns="0" bIns="0" anchor="t">
            <a:spAutoFit/>
          </a:bodyPr>
          <a:lstStyle/>
          <a:p>
            <a:pPr marL="0" indent="0" algn="r">
              <a:buNone/>
            </a:pPr>
            <a:r>
              <a:rPr sz="1250">
                <a:solidFill>
                  <a:srgbClr val="B8C3C1"/>
                </a:solidFill>
                <a:latin typeface="Arial"/>
                <a:ea typeface="Arial"/>
                <a:cs typeface="Arial"/>
              </a:rPr>
              <a:t>memory</a:t>
            </a:r>
            <a:endParaRPr sz="1250"/>
          </a:p>
        </p:txBody>
      </p:sp>
      <p:sp>
        <p:nvSpPr>
          <p:cNvPr id="16" name="Shape 33">
            <a:extLst>
              <a:ext uri="{FF2B5EF4-FFF2-40B4-BE49-F238E27FC236}">
                <a16:creationId xmlns:a16="http://schemas.microsoft.com/office/drawing/2014/main" id="{FD35BAE6-DC6F-436C-9FFE-594AD10F9084}"/>
              </a:ext>
            </a:extLst>
          </p:cNvPr>
          <p:cNvSpPr>
            <a:spLocks noGrp="1"/>
          </p:cNvSpPr>
          <p:nvPr/>
        </p:nvSpPr>
        <p:spPr>
          <a:xfrm>
            <a:off x="9893053" y="2603521"/>
            <a:ext cx="1714457" cy="1714457"/>
          </a:xfrm>
          <a:prstGeom prst="ellipse">
            <a:avLst/>
          </a:prstGeom>
          <a:solidFill>
            <a:srgbClr val="00A99D"/>
          </a:solidFill>
        </p:spPr>
        <p:txBody>
          <a:bodyPr/>
          <a:lstStyle/>
          <a:p>
            <a:endParaRPr lang="en-DE"/>
          </a:p>
        </p:txBody>
      </p:sp>
      <p:sp>
        <p:nvSpPr>
          <p:cNvPr id="17" name="TextBox 35">
            <a:extLst>
              <a:ext uri="{FF2B5EF4-FFF2-40B4-BE49-F238E27FC236}">
                <a16:creationId xmlns:a16="http://schemas.microsoft.com/office/drawing/2014/main" id="{B72F7E37-4626-44A0-9F24-5E38C3582248}"/>
              </a:ext>
            </a:extLst>
          </p:cNvPr>
          <p:cNvSpPr>
            <a:spLocks noGrp="1"/>
          </p:cNvSpPr>
          <p:nvPr/>
        </p:nvSpPr>
        <p:spPr>
          <a:xfrm>
            <a:off x="10232769" y="2809295"/>
            <a:ext cx="1035024" cy="1302809"/>
          </a:xfrm>
          <a:prstGeom prst="rect">
            <a:avLst/>
          </a:prstGeom>
          <a:noFill/>
        </p:spPr>
        <p:txBody>
          <a:bodyPr wrap="square" lIns="0" tIns="0" rIns="0" bIns="0" anchor="t">
            <a:spAutoFit/>
          </a:bodyPr>
          <a:lstStyle/>
          <a:p>
            <a:pPr marL="0" indent="0" algn="ctr">
              <a:lnSpc>
                <a:spcPts val="3420"/>
              </a:lnSpc>
              <a:buNone/>
            </a:pPr>
            <a:r>
              <a:rPr sz="3600" b="1">
                <a:solidFill>
                  <a:srgbClr val="162A2D"/>
                </a:solidFill>
                <a:latin typeface="Arial"/>
                <a:ea typeface="Arial"/>
                <a:cs typeface="Arial"/>
              </a:rPr>
              <a:t>404</a:t>
            </a:r>
            <a:endParaRPr sz="3600"/>
          </a:p>
          <a:p>
            <a:pPr marL="0" indent="0" algn="ctr">
              <a:lnSpc>
                <a:spcPts val="1282"/>
              </a:lnSpc>
              <a:buNone/>
            </a:pPr>
            <a:r>
              <a:rPr sz="1350" b="1" spc="50">
                <a:solidFill>
                  <a:srgbClr val="162A2D"/>
                </a:solidFill>
                <a:latin typeface="Arial"/>
                <a:ea typeface="Arial"/>
                <a:cs typeface="Arial"/>
              </a:rPr>
              <a:t>ACROSS</a:t>
            </a:r>
            <a:endParaRPr sz="3600"/>
          </a:p>
          <a:p>
            <a:pPr marL="0" indent="0" algn="ctr">
              <a:lnSpc>
                <a:spcPts val="1282"/>
              </a:lnSpc>
              <a:buNone/>
            </a:pPr>
            <a:r>
              <a:rPr sz="1350" b="1" spc="50">
                <a:solidFill>
                  <a:srgbClr val="162A2D"/>
                </a:solidFill>
                <a:latin typeface="Arial"/>
                <a:ea typeface="Arial"/>
                <a:cs typeface="Arial"/>
              </a:rPr>
              <a:t>BOUNDARY</a:t>
            </a:r>
            <a:endParaRPr sz="3600"/>
          </a:p>
        </p:txBody>
      </p:sp>
      <p:sp>
        <p:nvSpPr>
          <p:cNvPr id="18" name="Shape 38">
            <a:extLst>
              <a:ext uri="{FF2B5EF4-FFF2-40B4-BE49-F238E27FC236}">
                <a16:creationId xmlns:a16="http://schemas.microsoft.com/office/drawing/2014/main" id="{85236DBD-686C-4098-8F67-AE39EDDC889E}"/>
              </a:ext>
            </a:extLst>
          </p:cNvPr>
          <p:cNvSpPr>
            <a:spLocks noGrp="1"/>
          </p:cNvSpPr>
          <p:nvPr/>
        </p:nvSpPr>
        <p:spPr>
          <a:xfrm>
            <a:off x="9766056" y="4470374"/>
            <a:ext cx="1841454" cy="1206470"/>
          </a:xfrm>
          <a:prstGeom prst="rect">
            <a:avLst/>
          </a:prstGeom>
          <a:noFill/>
        </p:spPr>
        <p:txBody>
          <a:bodyPr/>
          <a:lstStyle/>
          <a:p>
            <a:endParaRPr lang="en-DE"/>
          </a:p>
        </p:txBody>
      </p:sp>
      <p:pic>
        <p:nvPicPr>
          <p:cNvPr id="42" name="Picture 3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66056" y="4470374"/>
            <a:ext cx="1841454" cy="1206470"/>
          </a:xfrm>
          <a:prstGeom prst="rect">
            <a:avLst/>
          </a:prstGeom>
        </p:spPr>
      </p:pic>
      <p:sp>
        <p:nvSpPr>
          <p:cNvPr id="20" name="TextBox 40">
            <a:extLst>
              <a:ext uri="{FF2B5EF4-FFF2-40B4-BE49-F238E27FC236}">
                <a16:creationId xmlns:a16="http://schemas.microsoft.com/office/drawing/2014/main" id="{98C387F3-2995-4336-9184-1CB692D84B1D}"/>
              </a:ext>
            </a:extLst>
          </p:cNvPr>
          <p:cNvSpPr>
            <a:spLocks noGrp="1"/>
          </p:cNvSpPr>
          <p:nvPr/>
        </p:nvSpPr>
        <p:spPr>
          <a:xfrm>
            <a:off x="9969251" y="4470374"/>
            <a:ext cx="1638259" cy="355591"/>
          </a:xfrm>
          <a:prstGeom prst="rect">
            <a:avLst/>
          </a:prstGeom>
          <a:noFill/>
        </p:spPr>
        <p:txBody>
          <a:bodyPr wrap="square" lIns="0" tIns="0" rIns="0" bIns="0" anchor="t">
            <a:spAutoFit/>
          </a:bodyPr>
          <a:lstStyle/>
          <a:p>
            <a:pPr marL="0" indent="0" algn="l">
              <a:buNone/>
            </a:pPr>
            <a:r>
              <a:rPr sz="1200" b="1">
                <a:solidFill>
                  <a:srgbClr val="162A2D"/>
                </a:solidFill>
                <a:latin typeface="Arial"/>
                <a:ea typeface="Arial"/>
                <a:cs typeface="Arial"/>
              </a:rPr>
              <a:t>The same scope protects:</a:t>
            </a:r>
            <a:endParaRPr sz="1200"/>
          </a:p>
        </p:txBody>
      </p:sp>
      <p:sp>
        <p:nvSpPr>
          <p:cNvPr id="21" name="TextBox 42">
            <a:extLst>
              <a:ext uri="{FF2B5EF4-FFF2-40B4-BE49-F238E27FC236}">
                <a16:creationId xmlns:a16="http://schemas.microsoft.com/office/drawing/2014/main" id="{D2B8CA71-06A7-43D9-A29F-A76135DDB19E}"/>
              </a:ext>
            </a:extLst>
          </p:cNvPr>
          <p:cNvSpPr>
            <a:spLocks noGrp="1"/>
          </p:cNvSpPr>
          <p:nvPr/>
        </p:nvSpPr>
        <p:spPr>
          <a:xfrm>
            <a:off x="9969251" y="4914863"/>
            <a:ext cx="1638259" cy="642921"/>
          </a:xfrm>
          <a:prstGeom prst="rect">
            <a:avLst/>
          </a:prstGeom>
          <a:noFill/>
        </p:spPr>
        <p:txBody>
          <a:bodyPr wrap="square" lIns="0" tIns="0" rIns="0" bIns="0" anchor="t">
            <a:spAutoFit/>
          </a:bodyPr>
          <a:lstStyle/>
          <a:p>
            <a:pPr marL="0" indent="0" algn="l">
              <a:lnSpc>
                <a:spcPts val="1687"/>
              </a:lnSpc>
              <a:buNone/>
            </a:pPr>
            <a:r>
              <a:rPr sz="1250">
                <a:solidFill>
                  <a:srgbClr val="5E6D6C"/>
                </a:solidFill>
                <a:latin typeface="Arial"/>
                <a:ea typeface="Arial"/>
                <a:cs typeface="Arial"/>
              </a:rPr>
              <a:t>status · SSE · cancel</a:t>
            </a:r>
            <a:endParaRPr sz="1250"/>
          </a:p>
          <a:p>
            <a:pPr marL="0" indent="0" algn="l">
              <a:lnSpc>
                <a:spcPts val="1687"/>
              </a:lnSpc>
              <a:buNone/>
            </a:pPr>
            <a:r>
              <a:rPr sz="1250">
                <a:solidFill>
                  <a:srgbClr val="5E6D6C"/>
                </a:solidFill>
                <a:latin typeface="Arial"/>
                <a:ea typeface="Arial"/>
                <a:cs typeface="Arial"/>
              </a:rPr>
              <a:t>results · memory · quota</a:t>
            </a:r>
            <a:endParaRPr sz="1250"/>
          </a:p>
        </p:txBody>
      </p:sp>
      <p:sp>
        <p:nvSpPr>
          <p:cNvPr id="22" name="TextBox 45">
            <a:extLst>
              <a:ext uri="{FF2B5EF4-FFF2-40B4-BE49-F238E27FC236}">
                <a16:creationId xmlns:a16="http://schemas.microsoft.com/office/drawing/2014/main" id="{E2A33EE9-FF7C-4621-AB46-04C2F06B6FAD}"/>
              </a:ext>
            </a:extLst>
          </p:cNvPr>
          <p:cNvSpPr>
            <a:spLocks noGrp="1"/>
          </p:cNvSpPr>
          <p:nvPr/>
        </p:nvSpPr>
        <p:spPr>
          <a:xfrm>
            <a:off x="584185" y="6311828"/>
            <a:ext cx="7048324" cy="2666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Opaque IDs do not replace authorization; every read carries scope.</a:t>
            </a:r>
            <a:endParaRPr sz="1200"/>
          </a:p>
        </p:txBody>
      </p:sp>
      <p:sp>
        <p:nvSpPr>
          <p:cNvPr id="23" name="TextBox 47">
            <a:extLst>
              <a:ext uri="{FF2B5EF4-FFF2-40B4-BE49-F238E27FC236}">
                <a16:creationId xmlns:a16="http://schemas.microsoft.com/office/drawing/2014/main" id="{34A667D1-94CE-4684-8393-F3BDBC5EF3C5}"/>
              </a:ext>
            </a:extLst>
          </p:cNvPr>
          <p:cNvSpPr>
            <a:spLocks noGrp="1"/>
          </p:cNvSpPr>
          <p:nvPr/>
        </p:nvSpPr>
        <p:spPr>
          <a:xfrm>
            <a:off x="11099523" y="63499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07</a:t>
            </a:r>
            <a:endParaRPr sz="1200"/>
          </a:p>
        </p:txBody>
      </p:sp>
    </p:spTree>
    <p:extLst>
      <p:ext uri="{BB962C8B-B14F-4D97-AF65-F5344CB8AC3E}">
        <p14:creationId xmlns:p14="http://schemas.microsoft.com/office/powerpoint/2010/main" val="8590094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B6523D31-ED40-4764-B858-51F36F997A5D}"/>
              </a:ext>
            </a:extLst>
          </p:cNvPr>
          <p:cNvSpPr>
            <a:spLocks noGrp="1"/>
          </p:cNvSpPr>
          <p:nvPr/>
        </p:nvSpPr>
        <p:spPr>
          <a:xfrm>
            <a:off x="0" y="86"/>
            <a:ext cx="12191695" cy="6857829"/>
          </a:xfrm>
          <a:prstGeom prst="rect">
            <a:avLst/>
          </a:prstGeom>
          <a:solidFill>
            <a:srgbClr val="FFFFFF"/>
          </a:solidFill>
        </p:spPr>
        <p:txBody>
          <a:bodyPr/>
          <a:lstStyle/>
          <a:p>
            <a:endParaRPr lang="en-DE"/>
          </a:p>
        </p:txBody>
      </p:sp>
      <p:sp>
        <p:nvSpPr>
          <p:cNvPr id="3" name="TextBox 3">
            <a:extLst>
              <a:ext uri="{FF2B5EF4-FFF2-40B4-BE49-F238E27FC236}">
                <a16:creationId xmlns:a16="http://schemas.microsoft.com/office/drawing/2014/main" id="{7CE63872-01A9-43D2-9763-435F6004779A}"/>
              </a:ext>
            </a:extLst>
          </p:cNvPr>
          <p:cNvSpPr>
            <a:spLocks noGrp="1"/>
          </p:cNvSpPr>
          <p:nvPr/>
        </p:nvSpPr>
        <p:spPr>
          <a:xfrm>
            <a:off x="584185" y="457274"/>
            <a:ext cx="2476438"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03 · SOFTWARE SUPPLY CHAIN</a:t>
            </a:r>
            <a:endParaRPr sz="1000"/>
          </a:p>
        </p:txBody>
      </p:sp>
      <p:sp>
        <p:nvSpPr>
          <p:cNvPr id="4" name="TextBox 5">
            <a:extLst>
              <a:ext uri="{FF2B5EF4-FFF2-40B4-BE49-F238E27FC236}">
                <a16:creationId xmlns:a16="http://schemas.microsoft.com/office/drawing/2014/main" id="{E55EFE47-820A-4F9F-AE19-E49750FC8ADF}"/>
              </a:ext>
            </a:extLst>
          </p:cNvPr>
          <p:cNvSpPr>
            <a:spLocks noGrp="1"/>
          </p:cNvSpPr>
          <p:nvPr/>
        </p:nvSpPr>
        <p:spPr>
          <a:xfrm>
            <a:off x="584185" y="812865"/>
            <a:ext cx="9842254" cy="698483"/>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Promote evidence, not image tags</a:t>
            </a:r>
            <a:endParaRPr sz="3400"/>
          </a:p>
        </p:txBody>
      </p:sp>
      <p:sp>
        <p:nvSpPr>
          <p:cNvPr id="5" name="TextBox 7">
            <a:extLst>
              <a:ext uri="{FF2B5EF4-FFF2-40B4-BE49-F238E27FC236}">
                <a16:creationId xmlns:a16="http://schemas.microsoft.com/office/drawing/2014/main" id="{92954631-C0F7-4101-A97A-7399318FFE19}"/>
              </a:ext>
            </a:extLst>
          </p:cNvPr>
          <p:cNvSpPr>
            <a:spLocks noGrp="1"/>
          </p:cNvSpPr>
          <p:nvPr/>
        </p:nvSpPr>
        <p:spPr>
          <a:xfrm>
            <a:off x="8940576" y="901763"/>
            <a:ext cx="2666933" cy="533387"/>
          </a:xfrm>
          <a:prstGeom prst="rect">
            <a:avLst/>
          </a:prstGeom>
          <a:noFill/>
        </p:spPr>
        <p:txBody>
          <a:bodyPr wrap="square" lIns="0" tIns="0" rIns="0" bIns="0" anchor="t">
            <a:spAutoFit/>
          </a:bodyPr>
          <a:lstStyle/>
          <a:p>
            <a:pPr marL="0" indent="0" algn="l">
              <a:lnSpc>
                <a:spcPts val="1822"/>
              </a:lnSpc>
              <a:buNone/>
            </a:pPr>
            <a:r>
              <a:rPr sz="1350">
                <a:solidFill>
                  <a:srgbClr val="5E6D6C"/>
                </a:solidFill>
                <a:latin typeface="Arial"/>
                <a:ea typeface="Arial"/>
                <a:cs typeface="Arial"/>
              </a:rPr>
              <a:t>The artifact that passed</a:t>
            </a:r>
            <a:endParaRPr sz="1350"/>
          </a:p>
          <a:p>
            <a:pPr marL="0" indent="0" algn="l">
              <a:lnSpc>
                <a:spcPts val="1822"/>
              </a:lnSpc>
              <a:buNone/>
            </a:pPr>
            <a:r>
              <a:rPr sz="1350">
                <a:solidFill>
                  <a:srgbClr val="5E6D6C"/>
                </a:solidFill>
                <a:latin typeface="Arial"/>
                <a:ea typeface="Arial"/>
                <a:cs typeface="Arial"/>
              </a:rPr>
              <a:t>is the artifact that ships.</a:t>
            </a:r>
            <a:endParaRPr sz="1350"/>
          </a:p>
        </p:txBody>
      </p:sp>
      <p:sp>
        <p:nvSpPr>
          <p:cNvPr id="6" name="Shape 9">
            <a:extLst>
              <a:ext uri="{FF2B5EF4-FFF2-40B4-BE49-F238E27FC236}">
                <a16:creationId xmlns:a16="http://schemas.microsoft.com/office/drawing/2014/main" id="{CE9148AD-EA1C-4708-B3AC-93E35FFE3419}"/>
              </a:ext>
            </a:extLst>
          </p:cNvPr>
          <p:cNvSpPr>
            <a:spLocks noGrp="1"/>
          </p:cNvSpPr>
          <p:nvPr/>
        </p:nvSpPr>
        <p:spPr>
          <a:xfrm>
            <a:off x="584185" y="2095533"/>
            <a:ext cx="11023324" cy="1333467"/>
          </a:xfrm>
          <a:prstGeom prst="roundRect">
            <a:avLst>
              <a:gd name="adj" fmla="val 19048"/>
            </a:avLst>
          </a:prstGeom>
          <a:solidFill>
            <a:srgbClr val="162A2D"/>
          </a:solidFill>
        </p:spPr>
        <p:txBody>
          <a:bodyPr/>
          <a:lstStyle/>
          <a:p>
            <a:endParaRPr lang="en-DE"/>
          </a:p>
        </p:txBody>
      </p:sp>
      <p:sp>
        <p:nvSpPr>
          <p:cNvPr id="7" name="TextBox 13">
            <a:extLst>
              <a:ext uri="{FF2B5EF4-FFF2-40B4-BE49-F238E27FC236}">
                <a16:creationId xmlns:a16="http://schemas.microsoft.com/office/drawing/2014/main" id="{4B97CB16-F765-4018-B38C-B3CB0C3D63F7}"/>
              </a:ext>
            </a:extLst>
          </p:cNvPr>
          <p:cNvSpPr>
            <a:spLocks noGrp="1"/>
          </p:cNvSpPr>
          <p:nvPr/>
        </p:nvSpPr>
        <p:spPr>
          <a:xfrm>
            <a:off x="952476" y="2349527"/>
            <a:ext cx="2476438"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IDENTITY</a:t>
            </a:r>
            <a:endParaRPr sz="1050"/>
          </a:p>
        </p:txBody>
      </p:sp>
      <p:sp>
        <p:nvSpPr>
          <p:cNvPr id="8" name="TextBox 15">
            <a:extLst>
              <a:ext uri="{FF2B5EF4-FFF2-40B4-BE49-F238E27FC236}">
                <a16:creationId xmlns:a16="http://schemas.microsoft.com/office/drawing/2014/main" id="{335BB445-8810-47EA-B318-99958888A118}"/>
              </a:ext>
            </a:extLst>
          </p:cNvPr>
          <p:cNvSpPr>
            <a:spLocks noGrp="1"/>
          </p:cNvSpPr>
          <p:nvPr/>
        </p:nvSpPr>
        <p:spPr>
          <a:xfrm>
            <a:off x="952476" y="2628920"/>
            <a:ext cx="2476438" cy="526243"/>
          </a:xfrm>
          <a:prstGeom prst="rect">
            <a:avLst/>
          </a:prstGeom>
          <a:noFill/>
        </p:spPr>
        <p:txBody>
          <a:bodyPr wrap="square" lIns="0" tIns="0" rIns="0" bIns="0" anchor="t">
            <a:spAutoFit/>
          </a:bodyPr>
          <a:lstStyle/>
          <a:p>
            <a:pPr marL="0" indent="0" algn="l">
              <a:lnSpc>
                <a:spcPts val="2072"/>
              </a:lnSpc>
              <a:buNone/>
            </a:pPr>
            <a:r>
              <a:rPr sz="1850" b="1">
                <a:solidFill>
                  <a:srgbClr val="FFFFFF"/>
                </a:solidFill>
                <a:latin typeface="Arial"/>
                <a:ea typeface="Arial"/>
                <a:cs typeface="Arial"/>
              </a:rPr>
              <a:t>OIDC → short-lived</a:t>
            </a:r>
            <a:endParaRPr sz="1850"/>
          </a:p>
          <a:p>
            <a:pPr marL="0" indent="0" algn="l">
              <a:lnSpc>
                <a:spcPts val="2072"/>
              </a:lnSpc>
              <a:buNone/>
            </a:pPr>
            <a:r>
              <a:rPr sz="1850" b="1">
                <a:solidFill>
                  <a:srgbClr val="FFFFFF"/>
                </a:solidFill>
                <a:latin typeface="Arial"/>
                <a:ea typeface="Arial"/>
                <a:cs typeface="Arial"/>
              </a:rPr>
              <a:t>deployer credential</a:t>
            </a:r>
            <a:endParaRPr sz="1850"/>
          </a:p>
        </p:txBody>
      </p:sp>
      <p:sp>
        <p:nvSpPr>
          <p:cNvPr id="9" name="TextBox 20">
            <a:extLst>
              <a:ext uri="{FF2B5EF4-FFF2-40B4-BE49-F238E27FC236}">
                <a16:creationId xmlns:a16="http://schemas.microsoft.com/office/drawing/2014/main" id="{59F3453E-4409-472F-B652-86B9A7D40784}"/>
              </a:ext>
            </a:extLst>
          </p:cNvPr>
          <p:cNvSpPr>
            <a:spLocks noGrp="1"/>
          </p:cNvSpPr>
          <p:nvPr/>
        </p:nvSpPr>
        <p:spPr>
          <a:xfrm>
            <a:off x="4609985" y="2670194"/>
            <a:ext cx="1714457" cy="196845"/>
          </a:xfrm>
          <a:prstGeom prst="rect">
            <a:avLst/>
          </a:prstGeom>
          <a:noFill/>
        </p:spPr>
        <p:txBody>
          <a:bodyPr wrap="square" lIns="0" tIns="0" rIns="0" bIns="0" anchor="t">
            <a:spAutoFit/>
          </a:bodyPr>
          <a:lstStyle/>
          <a:p>
            <a:pPr marL="0" indent="0" algn="l">
              <a:buNone/>
            </a:pPr>
            <a:r>
              <a:rPr sz="1350">
                <a:solidFill>
                  <a:srgbClr val="B8C3C1"/>
                </a:solidFill>
                <a:latin typeface="Arial"/>
                <a:ea typeface="Arial"/>
                <a:cs typeface="Arial"/>
              </a:rPr>
              <a:t>Repository ID</a:t>
            </a:r>
            <a:endParaRPr sz="1350"/>
          </a:p>
        </p:txBody>
      </p:sp>
      <p:sp>
        <p:nvSpPr>
          <p:cNvPr id="10" name="TextBox 22">
            <a:extLst>
              <a:ext uri="{FF2B5EF4-FFF2-40B4-BE49-F238E27FC236}">
                <a16:creationId xmlns:a16="http://schemas.microsoft.com/office/drawing/2014/main" id="{321C4C3D-413D-43E1-9DDC-C1A7F13B08D5}"/>
              </a:ext>
            </a:extLst>
          </p:cNvPr>
          <p:cNvSpPr>
            <a:spLocks noGrp="1"/>
          </p:cNvSpPr>
          <p:nvPr/>
        </p:nvSpPr>
        <p:spPr>
          <a:xfrm>
            <a:off x="7054674" y="2670194"/>
            <a:ext cx="1714457" cy="196845"/>
          </a:xfrm>
          <a:prstGeom prst="rect">
            <a:avLst/>
          </a:prstGeom>
          <a:noFill/>
        </p:spPr>
        <p:txBody>
          <a:bodyPr wrap="square" lIns="0" tIns="0" rIns="0" bIns="0" anchor="t">
            <a:spAutoFit/>
          </a:bodyPr>
          <a:lstStyle/>
          <a:p>
            <a:pPr marL="0" indent="0" algn="l">
              <a:buNone/>
            </a:pPr>
            <a:r>
              <a:rPr sz="1350">
                <a:solidFill>
                  <a:srgbClr val="B8C3C1"/>
                </a:solidFill>
                <a:latin typeface="Arial"/>
                <a:ea typeface="Arial"/>
                <a:cs typeface="Arial"/>
              </a:rPr>
              <a:t>protected branch</a:t>
            </a:r>
            <a:endParaRPr sz="1350"/>
          </a:p>
        </p:txBody>
      </p:sp>
      <p:sp>
        <p:nvSpPr>
          <p:cNvPr id="11" name="TextBox 24">
            <a:extLst>
              <a:ext uri="{FF2B5EF4-FFF2-40B4-BE49-F238E27FC236}">
                <a16:creationId xmlns:a16="http://schemas.microsoft.com/office/drawing/2014/main" id="{07659672-A535-433B-9841-6696A170D705}"/>
              </a:ext>
            </a:extLst>
          </p:cNvPr>
          <p:cNvSpPr>
            <a:spLocks noGrp="1"/>
          </p:cNvSpPr>
          <p:nvPr/>
        </p:nvSpPr>
        <p:spPr>
          <a:xfrm>
            <a:off x="9499363" y="2670194"/>
            <a:ext cx="1714457" cy="196845"/>
          </a:xfrm>
          <a:prstGeom prst="rect">
            <a:avLst/>
          </a:prstGeom>
          <a:noFill/>
        </p:spPr>
        <p:txBody>
          <a:bodyPr wrap="square" lIns="0" tIns="0" rIns="0" bIns="0" anchor="t">
            <a:spAutoFit/>
          </a:bodyPr>
          <a:lstStyle/>
          <a:p>
            <a:pPr marL="0" indent="0" algn="l">
              <a:buNone/>
            </a:pPr>
            <a:r>
              <a:rPr sz="1350">
                <a:solidFill>
                  <a:srgbClr val="B8C3C1"/>
                </a:solidFill>
                <a:latin typeface="Arial"/>
                <a:ea typeface="Arial"/>
                <a:cs typeface="Arial"/>
              </a:rPr>
              <a:t>gcp-dev environment</a:t>
            </a:r>
            <a:endParaRPr sz="1350"/>
          </a:p>
        </p:txBody>
      </p:sp>
      <p:sp>
        <p:nvSpPr>
          <p:cNvPr id="12" name="Shape 28">
            <a:extLst>
              <a:ext uri="{FF2B5EF4-FFF2-40B4-BE49-F238E27FC236}">
                <a16:creationId xmlns:a16="http://schemas.microsoft.com/office/drawing/2014/main" id="{7B7857C5-00F9-43C9-8A7C-AE4B400A60F2}"/>
              </a:ext>
            </a:extLst>
          </p:cNvPr>
          <p:cNvSpPr>
            <a:spLocks noGrp="1"/>
          </p:cNvSpPr>
          <p:nvPr/>
        </p:nvSpPr>
        <p:spPr>
          <a:xfrm>
            <a:off x="838179" y="4508473"/>
            <a:ext cx="10159746" cy="63498"/>
          </a:xfrm>
          <a:prstGeom prst="roundRect">
            <a:avLst>
              <a:gd name="adj" fmla="val 50000"/>
            </a:avLst>
          </a:prstGeom>
          <a:solidFill>
            <a:srgbClr val="C8D3D1"/>
          </a:solidFill>
        </p:spPr>
        <p:txBody>
          <a:bodyPr/>
          <a:lstStyle/>
          <a:p>
            <a:endParaRPr lang="en-DE"/>
          </a:p>
        </p:txBody>
      </p:sp>
      <p:sp>
        <p:nvSpPr>
          <p:cNvPr id="13" name="Shape 30">
            <a:extLst>
              <a:ext uri="{FF2B5EF4-FFF2-40B4-BE49-F238E27FC236}">
                <a16:creationId xmlns:a16="http://schemas.microsoft.com/office/drawing/2014/main" id="{A14D30FD-33B8-4AAA-B88A-80A799A28B36}"/>
              </a:ext>
            </a:extLst>
          </p:cNvPr>
          <p:cNvSpPr>
            <a:spLocks noGrp="1"/>
          </p:cNvSpPr>
          <p:nvPr/>
        </p:nvSpPr>
        <p:spPr>
          <a:xfrm>
            <a:off x="838179" y="4508473"/>
            <a:ext cx="8381790" cy="63498"/>
          </a:xfrm>
          <a:prstGeom prst="roundRect">
            <a:avLst>
              <a:gd name="adj" fmla="val 50000"/>
            </a:avLst>
          </a:prstGeom>
          <a:solidFill>
            <a:srgbClr val="00A99D"/>
          </a:solidFill>
        </p:spPr>
        <p:txBody>
          <a:bodyPr/>
          <a:lstStyle/>
          <a:p>
            <a:endParaRPr lang="en-DE"/>
          </a:p>
        </p:txBody>
      </p:sp>
      <p:sp>
        <p:nvSpPr>
          <p:cNvPr id="14" name="TextBox 34">
            <a:extLst>
              <a:ext uri="{FF2B5EF4-FFF2-40B4-BE49-F238E27FC236}">
                <a16:creationId xmlns:a16="http://schemas.microsoft.com/office/drawing/2014/main" id="{2D984D46-C5DA-4BC7-B893-9392E4E97972}"/>
              </a:ext>
            </a:extLst>
          </p:cNvPr>
          <p:cNvSpPr>
            <a:spLocks noGrp="1"/>
          </p:cNvSpPr>
          <p:nvPr/>
        </p:nvSpPr>
        <p:spPr>
          <a:xfrm>
            <a:off x="584185" y="3905238"/>
            <a:ext cx="1492213" cy="469888"/>
          </a:xfrm>
          <a:prstGeom prst="rect">
            <a:avLst/>
          </a:prstGeom>
          <a:noFill/>
        </p:spPr>
        <p:txBody>
          <a:bodyPr wrap="square" lIns="0" tIns="0" rIns="0" bIns="0" anchor="t">
            <a:spAutoFit/>
          </a:bodyPr>
          <a:lstStyle/>
          <a:p>
            <a:pPr marL="0" indent="0" algn="l">
              <a:buNone/>
            </a:pPr>
            <a:r>
              <a:rPr sz="3200" b="1">
                <a:solidFill>
                  <a:srgbClr val="00A99D"/>
                </a:solidFill>
                <a:latin typeface="Arial"/>
                <a:ea typeface="Arial"/>
                <a:cs typeface="Arial"/>
              </a:rPr>
              <a:t>01</a:t>
            </a:r>
            <a:endParaRPr sz="3200"/>
          </a:p>
        </p:txBody>
      </p:sp>
      <p:sp>
        <p:nvSpPr>
          <p:cNvPr id="15" name="TextBox 35">
            <a:extLst>
              <a:ext uri="{FF2B5EF4-FFF2-40B4-BE49-F238E27FC236}">
                <a16:creationId xmlns:a16="http://schemas.microsoft.com/office/drawing/2014/main" id="{7A5D0923-B3B9-4683-93B0-F1FF4170DA38}"/>
              </a:ext>
            </a:extLst>
          </p:cNvPr>
          <p:cNvSpPr>
            <a:spLocks noGrp="1"/>
          </p:cNvSpPr>
          <p:nvPr/>
        </p:nvSpPr>
        <p:spPr>
          <a:xfrm>
            <a:off x="584185" y="4375126"/>
            <a:ext cx="1492213" cy="438139"/>
          </a:xfrm>
          <a:prstGeom prst="rect">
            <a:avLst/>
          </a:prstGeom>
          <a:noFill/>
        </p:spPr>
        <p:txBody>
          <a:bodyPr wrap="square" lIns="0" tIns="0" rIns="0" bIns="0" anchor="t">
            <a:spAutoFit/>
          </a:bodyPr>
          <a:lstStyle/>
          <a:p>
            <a:pPr marL="0" indent="0" algn="l">
              <a:lnSpc>
                <a:spcPts val="1725"/>
              </a:lnSpc>
              <a:buNone/>
            </a:pPr>
            <a:r>
              <a:rPr sz="1500" b="1">
                <a:solidFill>
                  <a:srgbClr val="162A2D"/>
                </a:solidFill>
                <a:latin typeface="Arial"/>
                <a:ea typeface="Arial"/>
                <a:cs typeface="Arial"/>
              </a:rPr>
              <a:t>Commit</a:t>
            </a:r>
            <a:endParaRPr sz="1500"/>
          </a:p>
          <a:p>
            <a:pPr marL="0" indent="0" algn="l">
              <a:lnSpc>
                <a:spcPts val="1725"/>
              </a:lnSpc>
              <a:buNone/>
            </a:pPr>
            <a:r>
              <a:rPr sz="1500" b="1">
                <a:solidFill>
                  <a:srgbClr val="162A2D"/>
                </a:solidFill>
                <a:latin typeface="Arial"/>
                <a:ea typeface="Arial"/>
                <a:cs typeface="Arial"/>
              </a:rPr>
              <a:t>SHA</a:t>
            </a:r>
            <a:endParaRPr sz="1500"/>
          </a:p>
        </p:txBody>
      </p:sp>
      <p:sp>
        <p:nvSpPr>
          <p:cNvPr id="16" name="TextBox 40">
            <a:extLst>
              <a:ext uri="{FF2B5EF4-FFF2-40B4-BE49-F238E27FC236}">
                <a16:creationId xmlns:a16="http://schemas.microsoft.com/office/drawing/2014/main" id="{04C4B753-B038-4001-A67C-689F56E8BE63}"/>
              </a:ext>
            </a:extLst>
          </p:cNvPr>
          <p:cNvSpPr>
            <a:spLocks noGrp="1"/>
          </p:cNvSpPr>
          <p:nvPr/>
        </p:nvSpPr>
        <p:spPr>
          <a:xfrm>
            <a:off x="2489138" y="3905238"/>
            <a:ext cx="1492213" cy="469888"/>
          </a:xfrm>
          <a:prstGeom prst="rect">
            <a:avLst/>
          </a:prstGeom>
          <a:noFill/>
        </p:spPr>
        <p:txBody>
          <a:bodyPr wrap="square" lIns="0" tIns="0" rIns="0" bIns="0" anchor="t">
            <a:spAutoFit/>
          </a:bodyPr>
          <a:lstStyle/>
          <a:p>
            <a:pPr marL="0" indent="0" algn="l">
              <a:buNone/>
            </a:pPr>
            <a:r>
              <a:rPr sz="3200" b="1">
                <a:solidFill>
                  <a:srgbClr val="00A99D"/>
                </a:solidFill>
                <a:latin typeface="Arial"/>
                <a:ea typeface="Arial"/>
                <a:cs typeface="Arial"/>
              </a:rPr>
              <a:t>02</a:t>
            </a:r>
            <a:endParaRPr sz="3200"/>
          </a:p>
        </p:txBody>
      </p:sp>
      <p:sp>
        <p:nvSpPr>
          <p:cNvPr id="17" name="TextBox 41">
            <a:extLst>
              <a:ext uri="{FF2B5EF4-FFF2-40B4-BE49-F238E27FC236}">
                <a16:creationId xmlns:a16="http://schemas.microsoft.com/office/drawing/2014/main" id="{C55BB4B0-261D-48C0-94D7-BB79FF4CFF69}"/>
              </a:ext>
            </a:extLst>
          </p:cNvPr>
          <p:cNvSpPr>
            <a:spLocks noGrp="1"/>
          </p:cNvSpPr>
          <p:nvPr/>
        </p:nvSpPr>
        <p:spPr>
          <a:xfrm>
            <a:off x="2489138" y="4375126"/>
            <a:ext cx="1492213" cy="438139"/>
          </a:xfrm>
          <a:prstGeom prst="rect">
            <a:avLst/>
          </a:prstGeom>
          <a:noFill/>
        </p:spPr>
        <p:txBody>
          <a:bodyPr wrap="square" lIns="0" tIns="0" rIns="0" bIns="0" anchor="t">
            <a:spAutoFit/>
          </a:bodyPr>
          <a:lstStyle/>
          <a:p>
            <a:pPr marL="0" indent="0" algn="l">
              <a:lnSpc>
                <a:spcPts val="1725"/>
              </a:lnSpc>
              <a:buNone/>
            </a:pPr>
            <a:r>
              <a:rPr sz="1500" b="1">
                <a:solidFill>
                  <a:srgbClr val="162A2D"/>
                </a:solidFill>
                <a:latin typeface="Arial"/>
                <a:ea typeface="Arial"/>
                <a:cs typeface="Arial"/>
              </a:rPr>
              <a:t>Tests +</a:t>
            </a:r>
            <a:endParaRPr sz="1500"/>
          </a:p>
          <a:p>
            <a:pPr marL="0" indent="0" algn="l">
              <a:lnSpc>
                <a:spcPts val="1725"/>
              </a:lnSpc>
              <a:buNone/>
            </a:pPr>
            <a:r>
              <a:rPr sz="1500" b="1">
                <a:solidFill>
                  <a:srgbClr val="162A2D"/>
                </a:solidFill>
                <a:latin typeface="Arial"/>
                <a:ea typeface="Arial"/>
                <a:cs typeface="Arial"/>
              </a:rPr>
              <a:t>contracts</a:t>
            </a:r>
            <a:endParaRPr sz="1500"/>
          </a:p>
        </p:txBody>
      </p:sp>
      <p:sp>
        <p:nvSpPr>
          <p:cNvPr id="18" name="TextBox 46">
            <a:extLst>
              <a:ext uri="{FF2B5EF4-FFF2-40B4-BE49-F238E27FC236}">
                <a16:creationId xmlns:a16="http://schemas.microsoft.com/office/drawing/2014/main" id="{23614A39-9D85-4375-B8ED-DE8204163806}"/>
              </a:ext>
            </a:extLst>
          </p:cNvPr>
          <p:cNvSpPr>
            <a:spLocks noGrp="1"/>
          </p:cNvSpPr>
          <p:nvPr/>
        </p:nvSpPr>
        <p:spPr>
          <a:xfrm>
            <a:off x="4394090" y="3905238"/>
            <a:ext cx="1492213" cy="469888"/>
          </a:xfrm>
          <a:prstGeom prst="rect">
            <a:avLst/>
          </a:prstGeom>
          <a:noFill/>
        </p:spPr>
        <p:txBody>
          <a:bodyPr wrap="square" lIns="0" tIns="0" rIns="0" bIns="0" anchor="t">
            <a:spAutoFit/>
          </a:bodyPr>
          <a:lstStyle/>
          <a:p>
            <a:pPr marL="0" indent="0" algn="l">
              <a:buNone/>
            </a:pPr>
            <a:r>
              <a:rPr sz="3200" b="1">
                <a:solidFill>
                  <a:srgbClr val="00A99D"/>
                </a:solidFill>
                <a:latin typeface="Arial"/>
                <a:ea typeface="Arial"/>
                <a:cs typeface="Arial"/>
              </a:rPr>
              <a:t>03</a:t>
            </a:r>
            <a:endParaRPr sz="3200"/>
          </a:p>
        </p:txBody>
      </p:sp>
      <p:sp>
        <p:nvSpPr>
          <p:cNvPr id="19" name="TextBox 47">
            <a:extLst>
              <a:ext uri="{FF2B5EF4-FFF2-40B4-BE49-F238E27FC236}">
                <a16:creationId xmlns:a16="http://schemas.microsoft.com/office/drawing/2014/main" id="{BE07028E-5BDD-4778-ABAF-BE3451497811}"/>
              </a:ext>
            </a:extLst>
          </p:cNvPr>
          <p:cNvSpPr>
            <a:spLocks noGrp="1"/>
          </p:cNvSpPr>
          <p:nvPr/>
        </p:nvSpPr>
        <p:spPr>
          <a:xfrm>
            <a:off x="4394090" y="4375126"/>
            <a:ext cx="1492213" cy="438139"/>
          </a:xfrm>
          <a:prstGeom prst="rect">
            <a:avLst/>
          </a:prstGeom>
          <a:noFill/>
        </p:spPr>
        <p:txBody>
          <a:bodyPr wrap="square" lIns="0" tIns="0" rIns="0" bIns="0" anchor="t">
            <a:spAutoFit/>
          </a:bodyPr>
          <a:lstStyle/>
          <a:p>
            <a:pPr marL="0" indent="0" algn="l">
              <a:lnSpc>
                <a:spcPts val="1725"/>
              </a:lnSpc>
              <a:buNone/>
            </a:pPr>
            <a:r>
              <a:rPr sz="1500" b="1">
                <a:solidFill>
                  <a:srgbClr val="162A2D"/>
                </a:solidFill>
                <a:latin typeface="Arial"/>
                <a:ea typeface="Arial"/>
                <a:cs typeface="Arial"/>
              </a:rPr>
              <a:t>Trivy +</a:t>
            </a:r>
            <a:endParaRPr sz="1500"/>
          </a:p>
          <a:p>
            <a:pPr marL="0" indent="0" algn="l">
              <a:lnSpc>
                <a:spcPts val="1725"/>
              </a:lnSpc>
              <a:buNone/>
            </a:pPr>
            <a:r>
              <a:rPr sz="1500" b="1">
                <a:solidFill>
                  <a:srgbClr val="162A2D"/>
                </a:solidFill>
                <a:latin typeface="Arial"/>
                <a:ea typeface="Arial"/>
                <a:cs typeface="Arial"/>
              </a:rPr>
              <a:t>SBOM</a:t>
            </a:r>
            <a:endParaRPr sz="1500"/>
          </a:p>
        </p:txBody>
      </p:sp>
      <p:sp>
        <p:nvSpPr>
          <p:cNvPr id="20" name="Shape 50">
            <a:extLst>
              <a:ext uri="{FF2B5EF4-FFF2-40B4-BE49-F238E27FC236}">
                <a16:creationId xmlns:a16="http://schemas.microsoft.com/office/drawing/2014/main" id="{2664B44D-7645-4655-8898-63128E759436}"/>
              </a:ext>
            </a:extLst>
          </p:cNvPr>
          <p:cNvSpPr>
            <a:spLocks noGrp="1"/>
          </p:cNvSpPr>
          <p:nvPr/>
        </p:nvSpPr>
        <p:spPr>
          <a:xfrm>
            <a:off x="6299043" y="3714743"/>
            <a:ext cx="1809705" cy="1777956"/>
          </a:xfrm>
          <a:prstGeom prst="roundRect">
            <a:avLst>
              <a:gd name="adj" fmla="val 12143"/>
            </a:avLst>
          </a:prstGeom>
          <a:solidFill>
            <a:srgbClr val="00A99D"/>
          </a:solidFill>
        </p:spPr>
        <p:txBody>
          <a:bodyPr/>
          <a:lstStyle/>
          <a:p>
            <a:endParaRPr lang="en-DE"/>
          </a:p>
        </p:txBody>
      </p:sp>
      <p:sp>
        <p:nvSpPr>
          <p:cNvPr id="21" name="TextBox 52">
            <a:extLst>
              <a:ext uri="{FF2B5EF4-FFF2-40B4-BE49-F238E27FC236}">
                <a16:creationId xmlns:a16="http://schemas.microsoft.com/office/drawing/2014/main" id="{2FE2DFAC-BEF2-485A-9B9B-09388D3F8AA6}"/>
              </a:ext>
            </a:extLst>
          </p:cNvPr>
          <p:cNvSpPr>
            <a:spLocks noGrp="1"/>
          </p:cNvSpPr>
          <p:nvPr/>
        </p:nvSpPr>
        <p:spPr>
          <a:xfrm>
            <a:off x="6514937" y="3930637"/>
            <a:ext cx="1377916" cy="469888"/>
          </a:xfrm>
          <a:prstGeom prst="rect">
            <a:avLst/>
          </a:prstGeom>
          <a:noFill/>
        </p:spPr>
        <p:txBody>
          <a:bodyPr wrap="square" lIns="0" tIns="0" rIns="0" bIns="0" anchor="t">
            <a:spAutoFit/>
          </a:bodyPr>
          <a:lstStyle/>
          <a:p>
            <a:pPr marL="0" indent="0" algn="l">
              <a:buNone/>
            </a:pPr>
            <a:r>
              <a:rPr sz="3200" b="1">
                <a:solidFill>
                  <a:srgbClr val="162A2D"/>
                </a:solidFill>
                <a:latin typeface="Arial"/>
                <a:ea typeface="Arial"/>
                <a:cs typeface="Arial"/>
              </a:rPr>
              <a:t>04</a:t>
            </a:r>
            <a:endParaRPr sz="3200"/>
          </a:p>
        </p:txBody>
      </p:sp>
      <p:sp>
        <p:nvSpPr>
          <p:cNvPr id="22" name="TextBox 53">
            <a:extLst>
              <a:ext uri="{FF2B5EF4-FFF2-40B4-BE49-F238E27FC236}">
                <a16:creationId xmlns:a16="http://schemas.microsoft.com/office/drawing/2014/main" id="{916F2D41-48EA-4BE0-97B4-FA8BEC424964}"/>
              </a:ext>
            </a:extLst>
          </p:cNvPr>
          <p:cNvSpPr>
            <a:spLocks noGrp="1"/>
          </p:cNvSpPr>
          <p:nvPr/>
        </p:nvSpPr>
        <p:spPr>
          <a:xfrm>
            <a:off x="6514937" y="4400526"/>
            <a:ext cx="1377916" cy="474849"/>
          </a:xfrm>
          <a:prstGeom prst="rect">
            <a:avLst/>
          </a:prstGeom>
          <a:noFill/>
        </p:spPr>
        <p:txBody>
          <a:bodyPr wrap="square" lIns="0" tIns="0" rIns="0" bIns="0" anchor="t">
            <a:spAutoFit/>
          </a:bodyPr>
          <a:lstStyle/>
          <a:p>
            <a:pPr marL="0" indent="0" algn="l">
              <a:lnSpc>
                <a:spcPts val="1870"/>
              </a:lnSpc>
              <a:buNone/>
            </a:pPr>
            <a:r>
              <a:rPr sz="1700" b="1">
                <a:solidFill>
                  <a:srgbClr val="162A2D"/>
                </a:solidFill>
                <a:latin typeface="Arial"/>
                <a:ea typeface="Arial"/>
                <a:cs typeface="Arial"/>
              </a:rPr>
              <a:t>Immutable</a:t>
            </a:r>
            <a:endParaRPr sz="1700"/>
          </a:p>
          <a:p>
            <a:pPr marL="0" indent="0" algn="l">
              <a:lnSpc>
                <a:spcPts val="1870"/>
              </a:lnSpc>
              <a:buNone/>
            </a:pPr>
            <a:r>
              <a:rPr sz="1700" b="1">
                <a:solidFill>
                  <a:srgbClr val="162A2D"/>
                </a:solidFill>
                <a:latin typeface="Arial"/>
                <a:ea typeface="Arial"/>
                <a:cs typeface="Arial"/>
              </a:rPr>
              <a:t>digest</a:t>
            </a:r>
            <a:endParaRPr sz="1700"/>
          </a:p>
        </p:txBody>
      </p:sp>
      <p:sp>
        <p:nvSpPr>
          <p:cNvPr id="23" name="TextBox 54">
            <a:extLst>
              <a:ext uri="{FF2B5EF4-FFF2-40B4-BE49-F238E27FC236}">
                <a16:creationId xmlns:a16="http://schemas.microsoft.com/office/drawing/2014/main" id="{C0895C95-F689-4A54-9680-0CC21D9EDFCB}"/>
              </a:ext>
            </a:extLst>
          </p:cNvPr>
          <p:cNvSpPr>
            <a:spLocks noGrp="1"/>
          </p:cNvSpPr>
          <p:nvPr/>
        </p:nvSpPr>
        <p:spPr>
          <a:xfrm>
            <a:off x="6514937" y="5002372"/>
            <a:ext cx="1377916" cy="165096"/>
          </a:xfrm>
          <a:prstGeom prst="rect">
            <a:avLst/>
          </a:prstGeom>
          <a:noFill/>
        </p:spPr>
        <p:txBody>
          <a:bodyPr wrap="square" lIns="0" tIns="0" rIns="0" bIns="0" anchor="t">
            <a:spAutoFit/>
          </a:bodyPr>
          <a:lstStyle/>
          <a:p>
            <a:pPr marL="0" indent="0" algn="l">
              <a:buNone/>
            </a:pPr>
            <a:r>
              <a:rPr sz="1100">
                <a:solidFill>
                  <a:srgbClr val="162A2D"/>
                </a:solidFill>
                <a:latin typeface="Arial"/>
                <a:ea typeface="Arial"/>
                <a:cs typeface="Arial"/>
              </a:rPr>
              <a:t>Exact tested image</a:t>
            </a:r>
            <a:endParaRPr sz="1100"/>
          </a:p>
        </p:txBody>
      </p:sp>
      <p:sp>
        <p:nvSpPr>
          <p:cNvPr id="24" name="TextBox 59">
            <a:extLst>
              <a:ext uri="{FF2B5EF4-FFF2-40B4-BE49-F238E27FC236}">
                <a16:creationId xmlns:a16="http://schemas.microsoft.com/office/drawing/2014/main" id="{165ECB71-C810-43F9-8FDF-45E14781FAC2}"/>
              </a:ext>
            </a:extLst>
          </p:cNvPr>
          <p:cNvSpPr>
            <a:spLocks noGrp="1"/>
          </p:cNvSpPr>
          <p:nvPr/>
        </p:nvSpPr>
        <p:spPr>
          <a:xfrm>
            <a:off x="8521487" y="3905238"/>
            <a:ext cx="1492213" cy="469888"/>
          </a:xfrm>
          <a:prstGeom prst="rect">
            <a:avLst/>
          </a:prstGeom>
          <a:noFill/>
        </p:spPr>
        <p:txBody>
          <a:bodyPr wrap="square" lIns="0" tIns="0" rIns="0" bIns="0" anchor="t">
            <a:spAutoFit/>
          </a:bodyPr>
          <a:lstStyle/>
          <a:p>
            <a:pPr marL="0" indent="0" algn="l">
              <a:buNone/>
            </a:pPr>
            <a:r>
              <a:rPr sz="3200" b="1">
                <a:solidFill>
                  <a:srgbClr val="00A99D"/>
                </a:solidFill>
                <a:latin typeface="Arial"/>
                <a:ea typeface="Arial"/>
                <a:cs typeface="Arial"/>
              </a:rPr>
              <a:t>05</a:t>
            </a:r>
            <a:endParaRPr sz="3200"/>
          </a:p>
        </p:txBody>
      </p:sp>
      <p:sp>
        <p:nvSpPr>
          <p:cNvPr id="25" name="TextBox 60">
            <a:extLst>
              <a:ext uri="{FF2B5EF4-FFF2-40B4-BE49-F238E27FC236}">
                <a16:creationId xmlns:a16="http://schemas.microsoft.com/office/drawing/2014/main" id="{C060E226-4728-4577-805D-B7E626A8A867}"/>
              </a:ext>
            </a:extLst>
          </p:cNvPr>
          <p:cNvSpPr>
            <a:spLocks noGrp="1"/>
          </p:cNvSpPr>
          <p:nvPr/>
        </p:nvSpPr>
        <p:spPr>
          <a:xfrm>
            <a:off x="8521487" y="4375126"/>
            <a:ext cx="1492213" cy="438139"/>
          </a:xfrm>
          <a:prstGeom prst="rect">
            <a:avLst/>
          </a:prstGeom>
          <a:noFill/>
        </p:spPr>
        <p:txBody>
          <a:bodyPr wrap="square" lIns="0" tIns="0" rIns="0" bIns="0" anchor="t">
            <a:spAutoFit/>
          </a:bodyPr>
          <a:lstStyle/>
          <a:p>
            <a:pPr marL="0" indent="0" algn="l">
              <a:lnSpc>
                <a:spcPts val="1725"/>
              </a:lnSpc>
              <a:buNone/>
            </a:pPr>
            <a:r>
              <a:rPr sz="1500" b="1">
                <a:solidFill>
                  <a:srgbClr val="162A2D"/>
                </a:solidFill>
                <a:latin typeface="Arial"/>
                <a:ea typeface="Arial"/>
                <a:cs typeface="Arial"/>
              </a:rPr>
              <a:t>Binary</a:t>
            </a:r>
            <a:endParaRPr sz="1500"/>
          </a:p>
          <a:p>
            <a:pPr marL="0" indent="0" algn="l">
              <a:lnSpc>
                <a:spcPts val="1725"/>
              </a:lnSpc>
              <a:buNone/>
            </a:pPr>
            <a:r>
              <a:rPr sz="1500" b="1">
                <a:solidFill>
                  <a:srgbClr val="162A2D"/>
                </a:solidFill>
                <a:latin typeface="Arial"/>
                <a:ea typeface="Arial"/>
                <a:cs typeface="Arial"/>
              </a:rPr>
              <a:t>plan</a:t>
            </a:r>
            <a:endParaRPr sz="1500"/>
          </a:p>
        </p:txBody>
      </p:sp>
      <p:sp>
        <p:nvSpPr>
          <p:cNvPr id="26" name="TextBox 65">
            <a:extLst>
              <a:ext uri="{FF2B5EF4-FFF2-40B4-BE49-F238E27FC236}">
                <a16:creationId xmlns:a16="http://schemas.microsoft.com/office/drawing/2014/main" id="{4DE95D9F-A7C7-45EE-9DB8-D39DAD19A2F8}"/>
              </a:ext>
            </a:extLst>
          </p:cNvPr>
          <p:cNvSpPr>
            <a:spLocks noGrp="1"/>
          </p:cNvSpPr>
          <p:nvPr/>
        </p:nvSpPr>
        <p:spPr>
          <a:xfrm>
            <a:off x="10337542" y="3905238"/>
            <a:ext cx="1269968" cy="469888"/>
          </a:xfrm>
          <a:prstGeom prst="rect">
            <a:avLst/>
          </a:prstGeom>
          <a:noFill/>
        </p:spPr>
        <p:txBody>
          <a:bodyPr wrap="square" lIns="0" tIns="0" rIns="0" bIns="0" anchor="t">
            <a:spAutoFit/>
          </a:bodyPr>
          <a:lstStyle/>
          <a:p>
            <a:pPr marL="0" indent="0" algn="r">
              <a:buNone/>
            </a:pPr>
            <a:r>
              <a:rPr sz="3200" b="1">
                <a:solidFill>
                  <a:srgbClr val="00A99D"/>
                </a:solidFill>
                <a:latin typeface="Arial"/>
                <a:ea typeface="Arial"/>
                <a:cs typeface="Arial"/>
              </a:rPr>
              <a:t>06</a:t>
            </a:r>
            <a:endParaRPr sz="3200"/>
          </a:p>
        </p:txBody>
      </p:sp>
      <p:sp>
        <p:nvSpPr>
          <p:cNvPr id="27" name="TextBox 66">
            <a:extLst>
              <a:ext uri="{FF2B5EF4-FFF2-40B4-BE49-F238E27FC236}">
                <a16:creationId xmlns:a16="http://schemas.microsoft.com/office/drawing/2014/main" id="{9B3CA4A2-40E7-49E6-B2B9-EA21C241BD6D}"/>
              </a:ext>
            </a:extLst>
          </p:cNvPr>
          <p:cNvSpPr>
            <a:spLocks noGrp="1"/>
          </p:cNvSpPr>
          <p:nvPr/>
        </p:nvSpPr>
        <p:spPr>
          <a:xfrm>
            <a:off x="10337542" y="4375126"/>
            <a:ext cx="1269968" cy="438139"/>
          </a:xfrm>
          <a:prstGeom prst="rect">
            <a:avLst/>
          </a:prstGeom>
          <a:noFill/>
        </p:spPr>
        <p:txBody>
          <a:bodyPr wrap="square" lIns="0" tIns="0" rIns="0" bIns="0" anchor="t">
            <a:spAutoFit/>
          </a:bodyPr>
          <a:lstStyle/>
          <a:p>
            <a:pPr marL="0" indent="0" algn="r">
              <a:lnSpc>
                <a:spcPts val="1725"/>
              </a:lnSpc>
              <a:buNone/>
            </a:pPr>
            <a:r>
              <a:rPr sz="1500" b="1">
                <a:solidFill>
                  <a:srgbClr val="162A2D"/>
                </a:solidFill>
                <a:latin typeface="Arial"/>
                <a:ea typeface="Arial"/>
                <a:cs typeface="Arial"/>
              </a:rPr>
              <a:t>Apply +</a:t>
            </a:r>
            <a:endParaRPr sz="1500"/>
          </a:p>
          <a:p>
            <a:pPr marL="0" indent="0" algn="r">
              <a:lnSpc>
                <a:spcPts val="1725"/>
              </a:lnSpc>
              <a:buNone/>
            </a:pPr>
            <a:r>
              <a:rPr sz="1500" b="1">
                <a:solidFill>
                  <a:srgbClr val="162A2D"/>
                </a:solidFill>
                <a:latin typeface="Arial"/>
                <a:ea typeface="Arial"/>
                <a:cs typeface="Arial"/>
              </a:rPr>
              <a:t>verify</a:t>
            </a:r>
            <a:endParaRPr sz="1500"/>
          </a:p>
        </p:txBody>
      </p:sp>
      <p:sp>
        <p:nvSpPr>
          <p:cNvPr id="28" name="Shape 69">
            <a:extLst>
              <a:ext uri="{FF2B5EF4-FFF2-40B4-BE49-F238E27FC236}">
                <a16:creationId xmlns:a16="http://schemas.microsoft.com/office/drawing/2014/main" id="{D24C0EC9-5C73-40F1-9D11-ABC4ACBFDAC2}"/>
              </a:ext>
            </a:extLst>
          </p:cNvPr>
          <p:cNvSpPr>
            <a:spLocks noGrp="1"/>
          </p:cNvSpPr>
          <p:nvPr/>
        </p:nvSpPr>
        <p:spPr>
          <a:xfrm>
            <a:off x="584185" y="5803841"/>
            <a:ext cx="11023324" cy="660383"/>
          </a:xfrm>
          <a:prstGeom prst="roundRect">
            <a:avLst>
              <a:gd name="adj" fmla="val 25000"/>
            </a:avLst>
          </a:prstGeom>
          <a:solidFill>
            <a:srgbClr val="F4F1EA"/>
          </a:solidFill>
        </p:spPr>
        <p:txBody>
          <a:bodyPr/>
          <a:lstStyle/>
          <a:p>
            <a:endParaRPr lang="en-DE"/>
          </a:p>
        </p:txBody>
      </p:sp>
      <p:sp>
        <p:nvSpPr>
          <p:cNvPr id="29" name="TextBox 71">
            <a:extLst>
              <a:ext uri="{FF2B5EF4-FFF2-40B4-BE49-F238E27FC236}">
                <a16:creationId xmlns:a16="http://schemas.microsoft.com/office/drawing/2014/main" id="{067EC8D3-A87F-421B-B69F-BB79BC3EC242}"/>
              </a:ext>
            </a:extLst>
          </p:cNvPr>
          <p:cNvSpPr>
            <a:spLocks noGrp="1"/>
          </p:cNvSpPr>
          <p:nvPr/>
        </p:nvSpPr>
        <p:spPr>
          <a:xfrm>
            <a:off x="825479" y="6045135"/>
            <a:ext cx="2349441" cy="177796"/>
          </a:xfrm>
          <a:prstGeom prst="rect">
            <a:avLst/>
          </a:prstGeom>
          <a:noFill/>
        </p:spPr>
        <p:txBody>
          <a:bodyPr wrap="square" lIns="0" tIns="0" rIns="0" bIns="0" anchor="t">
            <a:spAutoFit/>
          </a:bodyPr>
          <a:lstStyle/>
          <a:p>
            <a:pPr marL="0" indent="0" algn="l">
              <a:buNone/>
            </a:pPr>
            <a:r>
              <a:rPr sz="1200" b="1">
                <a:solidFill>
                  <a:srgbClr val="00A99D"/>
                </a:solidFill>
                <a:latin typeface="Arial"/>
                <a:ea typeface="Arial"/>
                <a:cs typeface="Arial"/>
              </a:rPr>
              <a:t>NO STATIC CLOUD KEY</a:t>
            </a:r>
            <a:endParaRPr sz="1200"/>
          </a:p>
        </p:txBody>
      </p:sp>
      <p:sp>
        <p:nvSpPr>
          <p:cNvPr id="30" name="TextBox 73">
            <a:extLst>
              <a:ext uri="{FF2B5EF4-FFF2-40B4-BE49-F238E27FC236}">
                <a16:creationId xmlns:a16="http://schemas.microsoft.com/office/drawing/2014/main" id="{59A3D36A-5BD9-4448-BFF4-FBF7C5EA3F9B}"/>
              </a:ext>
            </a:extLst>
          </p:cNvPr>
          <p:cNvSpPr>
            <a:spLocks noGrp="1"/>
          </p:cNvSpPr>
          <p:nvPr/>
        </p:nvSpPr>
        <p:spPr>
          <a:xfrm>
            <a:off x="3174921" y="6035610"/>
            <a:ext cx="3174921" cy="196845"/>
          </a:xfrm>
          <a:prstGeom prst="rect">
            <a:avLst/>
          </a:prstGeom>
          <a:noFill/>
        </p:spPr>
        <p:txBody>
          <a:bodyPr wrap="square" lIns="0" tIns="0" rIns="0" bIns="0" anchor="t">
            <a:spAutoFit/>
          </a:bodyPr>
          <a:lstStyle/>
          <a:p>
            <a:pPr marL="0" indent="0" algn="l">
              <a:buNone/>
            </a:pPr>
            <a:r>
              <a:rPr sz="1350">
                <a:solidFill>
                  <a:srgbClr val="162A2D"/>
                </a:solidFill>
                <a:latin typeface="Arial"/>
                <a:ea typeface="Arial"/>
                <a:cs typeface="Arial"/>
              </a:rPr>
              <a:t>No floating image tag</a:t>
            </a:r>
            <a:endParaRPr sz="1350"/>
          </a:p>
        </p:txBody>
      </p:sp>
      <p:sp>
        <p:nvSpPr>
          <p:cNvPr id="31" name="TextBox 75">
            <a:extLst>
              <a:ext uri="{FF2B5EF4-FFF2-40B4-BE49-F238E27FC236}">
                <a16:creationId xmlns:a16="http://schemas.microsoft.com/office/drawing/2014/main" id="{D9CC4B42-D366-4AE6-BAC3-761F2FFF72FF}"/>
              </a:ext>
            </a:extLst>
          </p:cNvPr>
          <p:cNvSpPr>
            <a:spLocks noGrp="1"/>
          </p:cNvSpPr>
          <p:nvPr/>
        </p:nvSpPr>
        <p:spPr>
          <a:xfrm>
            <a:off x="6349841" y="6035610"/>
            <a:ext cx="3174921" cy="196845"/>
          </a:xfrm>
          <a:prstGeom prst="rect">
            <a:avLst/>
          </a:prstGeom>
          <a:noFill/>
        </p:spPr>
        <p:txBody>
          <a:bodyPr wrap="square" lIns="0" tIns="0" rIns="0" bIns="0" anchor="t">
            <a:spAutoFit/>
          </a:bodyPr>
          <a:lstStyle/>
          <a:p>
            <a:pPr marL="0" indent="0" algn="l">
              <a:buNone/>
            </a:pPr>
            <a:r>
              <a:rPr sz="1350">
                <a:solidFill>
                  <a:srgbClr val="162A2D"/>
                </a:solidFill>
                <a:latin typeface="Arial"/>
                <a:ea typeface="Arial"/>
                <a:cs typeface="Arial"/>
              </a:rPr>
              <a:t>No plan input drift</a:t>
            </a:r>
            <a:endParaRPr sz="1350"/>
          </a:p>
        </p:txBody>
      </p:sp>
      <p:sp>
        <p:nvSpPr>
          <p:cNvPr id="32" name="TextBox 77">
            <a:extLst>
              <a:ext uri="{FF2B5EF4-FFF2-40B4-BE49-F238E27FC236}">
                <a16:creationId xmlns:a16="http://schemas.microsoft.com/office/drawing/2014/main" id="{A35DE728-62F6-49D2-B6AC-36503A12E9EE}"/>
              </a:ext>
            </a:extLst>
          </p:cNvPr>
          <p:cNvSpPr>
            <a:spLocks noGrp="1"/>
          </p:cNvSpPr>
          <p:nvPr/>
        </p:nvSpPr>
        <p:spPr>
          <a:xfrm>
            <a:off x="9524762" y="6045135"/>
            <a:ext cx="1714457" cy="177796"/>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08</a:t>
            </a:r>
            <a:endParaRPr sz="1200"/>
          </a:p>
        </p:txBody>
      </p:sp>
    </p:spTree>
    <p:extLst>
      <p:ext uri="{BB962C8B-B14F-4D97-AF65-F5344CB8AC3E}">
        <p14:creationId xmlns:p14="http://schemas.microsoft.com/office/powerpoint/2010/main" val="476093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C87B1DA1-1853-4723-94F0-1E10EC492033}"/>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AD5B788C-620A-4795-B72A-42F5C2579DED}"/>
              </a:ext>
            </a:extLst>
          </p:cNvPr>
          <p:cNvSpPr>
            <a:spLocks noGrp="1"/>
          </p:cNvSpPr>
          <p:nvPr/>
        </p:nvSpPr>
        <p:spPr>
          <a:xfrm>
            <a:off x="584185" y="457274"/>
            <a:ext cx="2603435"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03 · COST-AWARE ARCHITECTURE</a:t>
            </a:r>
            <a:endParaRPr sz="1000"/>
          </a:p>
        </p:txBody>
      </p:sp>
      <p:sp>
        <p:nvSpPr>
          <p:cNvPr id="4" name="TextBox 5">
            <a:extLst>
              <a:ext uri="{FF2B5EF4-FFF2-40B4-BE49-F238E27FC236}">
                <a16:creationId xmlns:a16="http://schemas.microsoft.com/office/drawing/2014/main" id="{116E573D-4DD8-43DF-B74A-EAA8186BF6C2}"/>
              </a:ext>
            </a:extLst>
          </p:cNvPr>
          <p:cNvSpPr>
            <a:spLocks noGrp="1"/>
          </p:cNvSpPr>
          <p:nvPr/>
        </p:nvSpPr>
        <p:spPr>
          <a:xfrm>
            <a:off x="584185" y="812865"/>
            <a:ext cx="8762781" cy="698483"/>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A test should not bill like a platform</a:t>
            </a:r>
            <a:endParaRPr sz="3400"/>
          </a:p>
        </p:txBody>
      </p:sp>
      <p:sp>
        <p:nvSpPr>
          <p:cNvPr id="5" name="Shape 7">
            <a:extLst>
              <a:ext uri="{FF2B5EF4-FFF2-40B4-BE49-F238E27FC236}">
                <a16:creationId xmlns:a16="http://schemas.microsoft.com/office/drawing/2014/main" id="{7596ACB2-344B-4A05-98CC-B4CA6B6216E9}"/>
              </a:ext>
            </a:extLst>
          </p:cNvPr>
          <p:cNvSpPr>
            <a:spLocks noGrp="1"/>
          </p:cNvSpPr>
          <p:nvPr/>
        </p:nvSpPr>
        <p:spPr>
          <a:xfrm>
            <a:off x="584185" y="1943137"/>
            <a:ext cx="6794330" cy="4127397"/>
          </a:xfrm>
          <a:prstGeom prst="roundRect">
            <a:avLst>
              <a:gd name="adj" fmla="val 6769"/>
            </a:avLst>
          </a:prstGeom>
          <a:solidFill>
            <a:srgbClr val="FFFFFF"/>
          </a:solidFill>
          <a:ln w="6350">
            <a:solidFill>
              <a:srgbClr val="C8D3D1"/>
            </a:solidFill>
            <a:prstDash val="solid"/>
          </a:ln>
        </p:spPr>
        <p:txBody>
          <a:bodyPr/>
          <a:lstStyle/>
          <a:p>
            <a:endParaRPr lang="en-DE"/>
          </a:p>
        </p:txBody>
      </p:sp>
      <p:sp>
        <p:nvSpPr>
          <p:cNvPr id="6" name="TextBox 9">
            <a:extLst>
              <a:ext uri="{FF2B5EF4-FFF2-40B4-BE49-F238E27FC236}">
                <a16:creationId xmlns:a16="http://schemas.microsoft.com/office/drawing/2014/main" id="{2DA37020-CC9E-4FF4-91D9-5EC3654FD61D}"/>
              </a:ext>
            </a:extLst>
          </p:cNvPr>
          <p:cNvSpPr>
            <a:spLocks noGrp="1"/>
          </p:cNvSpPr>
          <p:nvPr/>
        </p:nvSpPr>
        <p:spPr>
          <a:xfrm>
            <a:off x="869928" y="2228880"/>
            <a:ext cx="6222844"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ASSESSMENT PLANE · EXECUTABLE</a:t>
            </a:r>
            <a:endParaRPr sz="1050"/>
          </a:p>
        </p:txBody>
      </p:sp>
      <p:sp>
        <p:nvSpPr>
          <p:cNvPr id="7" name="Shape 11">
            <a:extLst>
              <a:ext uri="{FF2B5EF4-FFF2-40B4-BE49-F238E27FC236}">
                <a16:creationId xmlns:a16="http://schemas.microsoft.com/office/drawing/2014/main" id="{31904A65-580D-4F09-8624-D55CE018374A}"/>
              </a:ext>
            </a:extLst>
          </p:cNvPr>
          <p:cNvSpPr>
            <a:spLocks noGrp="1"/>
          </p:cNvSpPr>
          <p:nvPr/>
        </p:nvSpPr>
        <p:spPr>
          <a:xfrm>
            <a:off x="869928" y="2622570"/>
            <a:ext cx="2889178" cy="1587460"/>
          </a:xfrm>
          <a:prstGeom prst="roundRect">
            <a:avLst>
              <a:gd name="adj" fmla="val 12800"/>
            </a:avLst>
          </a:prstGeom>
          <a:solidFill>
            <a:srgbClr val="162A2D"/>
          </a:solidFill>
        </p:spPr>
        <p:txBody>
          <a:bodyPr/>
          <a:lstStyle/>
          <a:p>
            <a:endParaRPr lang="en-DE"/>
          </a:p>
        </p:txBody>
      </p:sp>
      <p:sp>
        <p:nvSpPr>
          <p:cNvPr id="8" name="TextBox 13">
            <a:extLst>
              <a:ext uri="{FF2B5EF4-FFF2-40B4-BE49-F238E27FC236}">
                <a16:creationId xmlns:a16="http://schemas.microsoft.com/office/drawing/2014/main" id="{7C85EB23-0355-4063-87C9-45903223C662}"/>
              </a:ext>
            </a:extLst>
          </p:cNvPr>
          <p:cNvSpPr>
            <a:spLocks noGrp="1"/>
          </p:cNvSpPr>
          <p:nvPr/>
        </p:nvSpPr>
        <p:spPr>
          <a:xfrm>
            <a:off x="1085823" y="2838465"/>
            <a:ext cx="2457389" cy="247644"/>
          </a:xfrm>
          <a:prstGeom prst="rect">
            <a:avLst/>
          </a:prstGeom>
          <a:noFill/>
        </p:spPr>
        <p:txBody>
          <a:bodyPr wrap="square" lIns="0" tIns="0" rIns="0" bIns="0" anchor="t">
            <a:spAutoFit/>
          </a:bodyPr>
          <a:lstStyle/>
          <a:p>
            <a:pPr marL="0" indent="0" algn="l">
              <a:buNone/>
            </a:pPr>
            <a:r>
              <a:rPr sz="1700" b="1">
                <a:solidFill>
                  <a:srgbClr val="FFFFFF"/>
                </a:solidFill>
                <a:latin typeface="Arial"/>
                <a:ea typeface="Arial"/>
                <a:cs typeface="Arial"/>
              </a:rPr>
              <a:t>Cloud Run API</a:t>
            </a:r>
            <a:endParaRPr sz="1700"/>
          </a:p>
        </p:txBody>
      </p:sp>
      <p:sp>
        <p:nvSpPr>
          <p:cNvPr id="9" name="TextBox 14">
            <a:extLst>
              <a:ext uri="{FF2B5EF4-FFF2-40B4-BE49-F238E27FC236}">
                <a16:creationId xmlns:a16="http://schemas.microsoft.com/office/drawing/2014/main" id="{221F1A3F-450B-4994-ACAE-78F5F18DC446}"/>
              </a:ext>
            </a:extLst>
          </p:cNvPr>
          <p:cNvSpPr>
            <a:spLocks noGrp="1"/>
          </p:cNvSpPr>
          <p:nvPr/>
        </p:nvSpPr>
        <p:spPr>
          <a:xfrm>
            <a:off x="1085823" y="3213105"/>
            <a:ext cx="2457389" cy="196845"/>
          </a:xfrm>
          <a:prstGeom prst="rect">
            <a:avLst/>
          </a:prstGeom>
          <a:noFill/>
        </p:spPr>
        <p:txBody>
          <a:bodyPr wrap="square" lIns="0" tIns="0" rIns="0" bIns="0" anchor="t">
            <a:spAutoFit/>
          </a:bodyPr>
          <a:lstStyle/>
          <a:p>
            <a:pPr marL="0" indent="0" algn="l">
              <a:buNone/>
            </a:pPr>
            <a:r>
              <a:rPr sz="1300">
                <a:solidFill>
                  <a:srgbClr val="B8C3C1"/>
                </a:solidFill>
                <a:latin typeface="Arial"/>
                <a:ea typeface="Arial"/>
                <a:cs typeface="Arial"/>
              </a:rPr>
              <a:t>min 0 · max 1</a:t>
            </a:r>
            <a:endParaRPr sz="1300"/>
          </a:p>
        </p:txBody>
      </p:sp>
      <p:sp>
        <p:nvSpPr>
          <p:cNvPr id="10" name="TextBox 15">
            <a:extLst>
              <a:ext uri="{FF2B5EF4-FFF2-40B4-BE49-F238E27FC236}">
                <a16:creationId xmlns:a16="http://schemas.microsoft.com/office/drawing/2014/main" id="{097B482F-39D2-4641-8A1B-AC2B5E6710D5}"/>
              </a:ext>
            </a:extLst>
          </p:cNvPr>
          <p:cNvSpPr>
            <a:spLocks noGrp="1"/>
          </p:cNvSpPr>
          <p:nvPr/>
        </p:nvSpPr>
        <p:spPr>
          <a:xfrm>
            <a:off x="1085823" y="3651244"/>
            <a:ext cx="2457389" cy="177796"/>
          </a:xfrm>
          <a:prstGeom prst="rect">
            <a:avLst/>
          </a:prstGeom>
          <a:noFill/>
        </p:spPr>
        <p:txBody>
          <a:bodyPr wrap="square" lIns="0" tIns="0" rIns="0" bIns="0" anchor="t">
            <a:spAutoFit/>
          </a:bodyPr>
          <a:lstStyle/>
          <a:p>
            <a:pPr marL="0" indent="0" algn="l">
              <a:buNone/>
            </a:pPr>
            <a:r>
              <a:rPr sz="1200">
                <a:solidFill>
                  <a:srgbClr val="00A99D"/>
                </a:solidFill>
                <a:latin typeface="Arial"/>
                <a:ea typeface="Arial"/>
                <a:cs typeface="Arial"/>
              </a:rPr>
              <a:t>Authenticated public edge</a:t>
            </a:r>
            <a:endParaRPr sz="1200"/>
          </a:p>
        </p:txBody>
      </p:sp>
      <p:sp>
        <p:nvSpPr>
          <p:cNvPr id="11" name="Shape 18">
            <a:extLst>
              <a:ext uri="{FF2B5EF4-FFF2-40B4-BE49-F238E27FC236}">
                <a16:creationId xmlns:a16="http://schemas.microsoft.com/office/drawing/2014/main" id="{E86AD356-197F-4F83-9E5F-27B43BE051D8}"/>
              </a:ext>
            </a:extLst>
          </p:cNvPr>
          <p:cNvSpPr>
            <a:spLocks noGrp="1"/>
          </p:cNvSpPr>
          <p:nvPr/>
        </p:nvSpPr>
        <p:spPr>
          <a:xfrm>
            <a:off x="4203595" y="2622570"/>
            <a:ext cx="2889178" cy="1587460"/>
          </a:xfrm>
          <a:prstGeom prst="roundRect">
            <a:avLst>
              <a:gd name="adj" fmla="val 12800"/>
            </a:avLst>
          </a:prstGeom>
          <a:solidFill>
            <a:srgbClr val="162A2D"/>
          </a:solidFill>
        </p:spPr>
        <p:txBody>
          <a:bodyPr/>
          <a:lstStyle/>
          <a:p>
            <a:endParaRPr lang="en-DE"/>
          </a:p>
        </p:txBody>
      </p:sp>
      <p:sp>
        <p:nvSpPr>
          <p:cNvPr id="12" name="TextBox 20">
            <a:extLst>
              <a:ext uri="{FF2B5EF4-FFF2-40B4-BE49-F238E27FC236}">
                <a16:creationId xmlns:a16="http://schemas.microsoft.com/office/drawing/2014/main" id="{2C5D64A1-F565-481D-BE24-E5B5FB9ACF8A}"/>
              </a:ext>
            </a:extLst>
          </p:cNvPr>
          <p:cNvSpPr>
            <a:spLocks noGrp="1"/>
          </p:cNvSpPr>
          <p:nvPr/>
        </p:nvSpPr>
        <p:spPr>
          <a:xfrm>
            <a:off x="4419490" y="2838465"/>
            <a:ext cx="2457389" cy="247644"/>
          </a:xfrm>
          <a:prstGeom prst="rect">
            <a:avLst/>
          </a:prstGeom>
          <a:noFill/>
        </p:spPr>
        <p:txBody>
          <a:bodyPr wrap="square" lIns="0" tIns="0" rIns="0" bIns="0" anchor="t">
            <a:spAutoFit/>
          </a:bodyPr>
          <a:lstStyle/>
          <a:p>
            <a:pPr marL="0" indent="0" algn="l">
              <a:buNone/>
            </a:pPr>
            <a:r>
              <a:rPr sz="1700" b="1">
                <a:solidFill>
                  <a:srgbClr val="FFFFFF"/>
                </a:solidFill>
                <a:latin typeface="Arial"/>
                <a:ea typeface="Arial"/>
                <a:cs typeface="Arial"/>
              </a:rPr>
              <a:t>Cloud Run worker</a:t>
            </a:r>
            <a:endParaRPr sz="1700"/>
          </a:p>
        </p:txBody>
      </p:sp>
      <p:sp>
        <p:nvSpPr>
          <p:cNvPr id="13" name="TextBox 21">
            <a:extLst>
              <a:ext uri="{FF2B5EF4-FFF2-40B4-BE49-F238E27FC236}">
                <a16:creationId xmlns:a16="http://schemas.microsoft.com/office/drawing/2014/main" id="{60D03329-4FB2-412B-80E0-438FF5D049A8}"/>
              </a:ext>
            </a:extLst>
          </p:cNvPr>
          <p:cNvSpPr>
            <a:spLocks noGrp="1"/>
          </p:cNvSpPr>
          <p:nvPr/>
        </p:nvSpPr>
        <p:spPr>
          <a:xfrm>
            <a:off x="4419490" y="3213105"/>
            <a:ext cx="2457389" cy="196845"/>
          </a:xfrm>
          <a:prstGeom prst="rect">
            <a:avLst/>
          </a:prstGeom>
          <a:noFill/>
        </p:spPr>
        <p:txBody>
          <a:bodyPr wrap="square" lIns="0" tIns="0" rIns="0" bIns="0" anchor="t">
            <a:spAutoFit/>
          </a:bodyPr>
          <a:lstStyle/>
          <a:p>
            <a:pPr marL="0" indent="0" algn="l">
              <a:buNone/>
            </a:pPr>
            <a:r>
              <a:rPr sz="1300">
                <a:solidFill>
                  <a:srgbClr val="B8C3C1"/>
                </a:solidFill>
                <a:latin typeface="Arial"/>
                <a:ea typeface="Arial"/>
                <a:cs typeface="Arial"/>
              </a:rPr>
              <a:t>min 0 · max 1</a:t>
            </a:r>
            <a:endParaRPr sz="1300"/>
          </a:p>
        </p:txBody>
      </p:sp>
      <p:sp>
        <p:nvSpPr>
          <p:cNvPr id="14" name="TextBox 22">
            <a:extLst>
              <a:ext uri="{FF2B5EF4-FFF2-40B4-BE49-F238E27FC236}">
                <a16:creationId xmlns:a16="http://schemas.microsoft.com/office/drawing/2014/main" id="{BBF0ED94-9B1C-45B4-AF6F-CF76DBFA3A24}"/>
              </a:ext>
            </a:extLst>
          </p:cNvPr>
          <p:cNvSpPr>
            <a:spLocks noGrp="1"/>
          </p:cNvSpPr>
          <p:nvPr/>
        </p:nvSpPr>
        <p:spPr>
          <a:xfrm>
            <a:off x="4419490" y="3651244"/>
            <a:ext cx="2457389" cy="177796"/>
          </a:xfrm>
          <a:prstGeom prst="rect">
            <a:avLst/>
          </a:prstGeom>
          <a:noFill/>
        </p:spPr>
        <p:txBody>
          <a:bodyPr wrap="square" lIns="0" tIns="0" rIns="0" bIns="0" anchor="t">
            <a:spAutoFit/>
          </a:bodyPr>
          <a:lstStyle/>
          <a:p>
            <a:pPr marL="0" indent="0" algn="l">
              <a:buNone/>
            </a:pPr>
            <a:r>
              <a:rPr sz="1200">
                <a:solidFill>
                  <a:srgbClr val="00A99D"/>
                </a:solidFill>
                <a:latin typeface="Arial"/>
                <a:ea typeface="Arial"/>
                <a:cs typeface="Arial"/>
              </a:rPr>
              <a:t>Task-only ingress</a:t>
            </a:r>
            <a:endParaRPr sz="1200"/>
          </a:p>
        </p:txBody>
      </p:sp>
      <p:sp>
        <p:nvSpPr>
          <p:cNvPr id="15" name="Shape 25">
            <a:extLst>
              <a:ext uri="{FF2B5EF4-FFF2-40B4-BE49-F238E27FC236}">
                <a16:creationId xmlns:a16="http://schemas.microsoft.com/office/drawing/2014/main" id="{C2C64B7F-DAA5-47A6-A071-5A870E1AB6BA}"/>
              </a:ext>
            </a:extLst>
          </p:cNvPr>
          <p:cNvSpPr>
            <a:spLocks noGrp="1"/>
          </p:cNvSpPr>
          <p:nvPr/>
        </p:nvSpPr>
        <p:spPr>
          <a:xfrm>
            <a:off x="869928" y="4514823"/>
            <a:ext cx="6235544" cy="1206470"/>
          </a:xfrm>
          <a:prstGeom prst="rect">
            <a:avLst/>
          </a:prstGeom>
          <a:noFill/>
        </p:spPr>
        <p:txBody>
          <a:bodyPr/>
          <a:lstStyle/>
          <a:p>
            <a:endParaRPr lang="en-DE"/>
          </a:p>
        </p:txBody>
      </p:sp>
      <p:pic>
        <p:nvPicPr>
          <p:cNvPr id="46" name="Picture 25"/>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9928" y="4514823"/>
            <a:ext cx="6235544" cy="1206470"/>
          </a:xfrm>
          <a:prstGeom prst="rect">
            <a:avLst/>
          </a:prstGeom>
        </p:spPr>
      </p:pic>
      <p:sp>
        <p:nvSpPr>
          <p:cNvPr id="17" name="TextBox 27">
            <a:extLst>
              <a:ext uri="{FF2B5EF4-FFF2-40B4-BE49-F238E27FC236}">
                <a16:creationId xmlns:a16="http://schemas.microsoft.com/office/drawing/2014/main" id="{290D0955-8BD1-4C59-9257-DF53CA4839B1}"/>
              </a:ext>
            </a:extLst>
          </p:cNvPr>
          <p:cNvSpPr>
            <a:spLocks noGrp="1"/>
          </p:cNvSpPr>
          <p:nvPr/>
        </p:nvSpPr>
        <p:spPr>
          <a:xfrm>
            <a:off x="869928" y="4892638"/>
            <a:ext cx="2031949" cy="457189"/>
          </a:xfrm>
          <a:prstGeom prst="rect">
            <a:avLst/>
          </a:prstGeom>
          <a:noFill/>
        </p:spPr>
        <p:txBody>
          <a:bodyPr wrap="square" lIns="0" tIns="0" rIns="0" bIns="0" anchor="t">
            <a:spAutoFit/>
          </a:bodyPr>
          <a:lstStyle/>
          <a:p>
            <a:pPr marL="0" indent="0" algn="l">
              <a:buNone/>
            </a:pPr>
            <a:r>
              <a:rPr sz="1550" b="1">
                <a:solidFill>
                  <a:srgbClr val="162A2D"/>
                </a:solidFill>
                <a:latin typeface="Arial"/>
                <a:ea typeface="Arial"/>
                <a:cs typeface="Arial"/>
              </a:rPr>
              <a:t>Cloud Tasks</a:t>
            </a:r>
            <a:endParaRPr sz="1550"/>
          </a:p>
          <a:p>
            <a:pPr marL="0" indent="0" algn="l">
              <a:buNone/>
            </a:pPr>
            <a:r>
              <a:rPr sz="1200">
                <a:solidFill>
                  <a:srgbClr val="5E6D6C"/>
                </a:solidFill>
                <a:latin typeface="Arial"/>
                <a:ea typeface="Arial"/>
                <a:cs typeface="Arial"/>
              </a:rPr>
              <a:t>concurrency 1</a:t>
            </a:r>
            <a:endParaRPr sz="1550"/>
          </a:p>
        </p:txBody>
      </p:sp>
      <p:sp>
        <p:nvSpPr>
          <p:cNvPr id="18" name="TextBox 29">
            <a:extLst>
              <a:ext uri="{FF2B5EF4-FFF2-40B4-BE49-F238E27FC236}">
                <a16:creationId xmlns:a16="http://schemas.microsoft.com/office/drawing/2014/main" id="{AADF1358-A09A-4ABD-9FEC-044CF8DF11CF}"/>
              </a:ext>
            </a:extLst>
          </p:cNvPr>
          <p:cNvSpPr>
            <a:spLocks noGrp="1"/>
          </p:cNvSpPr>
          <p:nvPr/>
        </p:nvSpPr>
        <p:spPr>
          <a:xfrm>
            <a:off x="2901877" y="4892638"/>
            <a:ext cx="2031949" cy="457189"/>
          </a:xfrm>
          <a:prstGeom prst="rect">
            <a:avLst/>
          </a:prstGeom>
          <a:noFill/>
        </p:spPr>
        <p:txBody>
          <a:bodyPr wrap="square" lIns="0" tIns="0" rIns="0" bIns="0" anchor="t">
            <a:spAutoFit/>
          </a:bodyPr>
          <a:lstStyle/>
          <a:p>
            <a:pPr marL="0" indent="0" algn="l">
              <a:buNone/>
            </a:pPr>
            <a:r>
              <a:rPr sz="1550" b="1">
                <a:solidFill>
                  <a:srgbClr val="162A2D"/>
                </a:solidFill>
                <a:latin typeface="Arial"/>
                <a:ea typeface="Arial"/>
                <a:cs typeface="Arial"/>
              </a:rPr>
              <a:t>Firestore</a:t>
            </a:r>
            <a:endParaRPr sz="1550"/>
          </a:p>
          <a:p>
            <a:pPr marL="0" indent="0" algn="l">
              <a:buNone/>
            </a:pPr>
            <a:r>
              <a:rPr sz="1200">
                <a:solidFill>
                  <a:srgbClr val="5E6D6C"/>
                </a:solidFill>
                <a:latin typeface="Arial"/>
                <a:ea typeface="Arial"/>
                <a:cs typeface="Arial"/>
              </a:rPr>
              <a:t>named database</a:t>
            </a:r>
            <a:endParaRPr sz="1550"/>
          </a:p>
        </p:txBody>
      </p:sp>
      <p:sp>
        <p:nvSpPr>
          <p:cNvPr id="19" name="TextBox 31">
            <a:extLst>
              <a:ext uri="{FF2B5EF4-FFF2-40B4-BE49-F238E27FC236}">
                <a16:creationId xmlns:a16="http://schemas.microsoft.com/office/drawing/2014/main" id="{32C49D5B-DC01-4D15-8774-CB8E8B0E63DC}"/>
              </a:ext>
            </a:extLst>
          </p:cNvPr>
          <p:cNvSpPr>
            <a:spLocks noGrp="1"/>
          </p:cNvSpPr>
          <p:nvPr/>
        </p:nvSpPr>
        <p:spPr>
          <a:xfrm>
            <a:off x="4933827" y="4892638"/>
            <a:ext cx="2095448" cy="457189"/>
          </a:xfrm>
          <a:prstGeom prst="rect">
            <a:avLst/>
          </a:prstGeom>
          <a:noFill/>
        </p:spPr>
        <p:txBody>
          <a:bodyPr wrap="square" lIns="0" tIns="0" rIns="0" bIns="0" anchor="t">
            <a:spAutoFit/>
          </a:bodyPr>
          <a:lstStyle/>
          <a:p>
            <a:pPr marL="0" indent="0" algn="l">
              <a:buNone/>
            </a:pPr>
            <a:r>
              <a:rPr sz="1550" b="1">
                <a:solidFill>
                  <a:srgbClr val="162A2D"/>
                </a:solidFill>
                <a:latin typeface="Arial"/>
                <a:ea typeface="Arial"/>
                <a:cs typeface="Arial"/>
              </a:rPr>
              <a:t>Secrets + logs</a:t>
            </a:r>
            <a:endParaRPr sz="1550"/>
          </a:p>
          <a:p>
            <a:pPr marL="0" indent="0" algn="l">
              <a:buNone/>
            </a:pPr>
            <a:r>
              <a:rPr sz="1200">
                <a:solidFill>
                  <a:srgbClr val="5E6D6C"/>
                </a:solidFill>
                <a:latin typeface="Arial"/>
                <a:ea typeface="Arial"/>
                <a:cs typeface="Arial"/>
              </a:rPr>
              <a:t>identity-bound</a:t>
            </a:r>
            <a:endParaRPr sz="1550"/>
          </a:p>
        </p:txBody>
      </p:sp>
      <p:sp>
        <p:nvSpPr>
          <p:cNvPr id="20" name="Shape 35">
            <a:extLst>
              <a:ext uri="{FF2B5EF4-FFF2-40B4-BE49-F238E27FC236}">
                <a16:creationId xmlns:a16="http://schemas.microsoft.com/office/drawing/2014/main" id="{1CFAD148-6F5D-4951-A2B4-45AD73B55431}"/>
              </a:ext>
            </a:extLst>
          </p:cNvPr>
          <p:cNvSpPr>
            <a:spLocks noGrp="1"/>
          </p:cNvSpPr>
          <p:nvPr/>
        </p:nvSpPr>
        <p:spPr>
          <a:xfrm>
            <a:off x="7784905" y="1943137"/>
            <a:ext cx="3822604" cy="4127397"/>
          </a:xfrm>
          <a:prstGeom prst="roundRect">
            <a:avLst>
              <a:gd name="adj" fmla="val 7309"/>
            </a:avLst>
          </a:prstGeom>
          <a:solidFill>
            <a:srgbClr val="162A2D"/>
          </a:solidFill>
        </p:spPr>
        <p:txBody>
          <a:bodyPr/>
          <a:lstStyle/>
          <a:p>
            <a:endParaRPr lang="en-DE"/>
          </a:p>
        </p:txBody>
      </p:sp>
      <p:sp>
        <p:nvSpPr>
          <p:cNvPr id="21" name="TextBox 37">
            <a:extLst>
              <a:ext uri="{FF2B5EF4-FFF2-40B4-BE49-F238E27FC236}">
                <a16:creationId xmlns:a16="http://schemas.microsoft.com/office/drawing/2014/main" id="{394718E1-25E2-406A-A3B0-A8D066FF3252}"/>
              </a:ext>
            </a:extLst>
          </p:cNvPr>
          <p:cNvSpPr>
            <a:spLocks noGrp="1"/>
          </p:cNvSpPr>
          <p:nvPr/>
        </p:nvSpPr>
        <p:spPr>
          <a:xfrm>
            <a:off x="8064298" y="2222530"/>
            <a:ext cx="3263818"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PRODUCTION MODEL PLANE · GATED</a:t>
            </a:r>
            <a:endParaRPr sz="1050"/>
          </a:p>
        </p:txBody>
      </p:sp>
      <p:sp>
        <p:nvSpPr>
          <p:cNvPr id="22" name="TextBox 39">
            <a:extLst>
              <a:ext uri="{FF2B5EF4-FFF2-40B4-BE49-F238E27FC236}">
                <a16:creationId xmlns:a16="http://schemas.microsoft.com/office/drawing/2014/main" id="{F73E0432-CC24-4D7B-8083-9E6B8B9E30A5}"/>
              </a:ext>
            </a:extLst>
          </p:cNvPr>
          <p:cNvSpPr>
            <a:spLocks noGrp="1"/>
          </p:cNvSpPr>
          <p:nvPr/>
        </p:nvSpPr>
        <p:spPr>
          <a:xfrm>
            <a:off x="8064298" y="2679719"/>
            <a:ext cx="3263818" cy="713232"/>
          </a:xfrm>
          <a:prstGeom prst="rect">
            <a:avLst/>
          </a:prstGeom>
          <a:noFill/>
        </p:spPr>
        <p:txBody>
          <a:bodyPr wrap="square" lIns="0" tIns="0" rIns="0" bIns="0" anchor="t">
            <a:spAutoFit/>
          </a:bodyPr>
          <a:lstStyle/>
          <a:p>
            <a:pPr marL="0" indent="0" algn="l">
              <a:lnSpc>
                <a:spcPts val="2808"/>
              </a:lnSpc>
              <a:buNone/>
            </a:pPr>
            <a:r>
              <a:rPr sz="2600">
                <a:solidFill>
                  <a:srgbClr val="FFFFFF"/>
                </a:solidFill>
                <a:latin typeface="Arial"/>
                <a:ea typeface="Arial"/>
                <a:cs typeface="Arial"/>
              </a:rPr>
              <a:t>Cell capacity follows</a:t>
            </a:r>
            <a:endParaRPr sz="2600"/>
          </a:p>
          <a:p>
            <a:pPr marL="0" indent="0" algn="l">
              <a:lnSpc>
                <a:spcPts val="2808"/>
              </a:lnSpc>
              <a:buNone/>
            </a:pPr>
            <a:r>
              <a:rPr sz="2600">
                <a:solidFill>
                  <a:srgbClr val="FFFFFF"/>
                </a:solidFill>
                <a:latin typeface="Arial"/>
                <a:ea typeface="Arial"/>
                <a:cs typeface="Arial"/>
              </a:rPr>
              <a:t>measured demand.</a:t>
            </a:r>
            <a:endParaRPr sz="2600"/>
          </a:p>
        </p:txBody>
      </p:sp>
      <p:sp>
        <p:nvSpPr>
          <p:cNvPr id="23" name="Shape 41">
            <a:extLst>
              <a:ext uri="{FF2B5EF4-FFF2-40B4-BE49-F238E27FC236}">
                <a16:creationId xmlns:a16="http://schemas.microsoft.com/office/drawing/2014/main" id="{2CDEA777-F585-4AF3-90EE-0276CE89B023}"/>
              </a:ext>
            </a:extLst>
          </p:cNvPr>
          <p:cNvSpPr>
            <a:spLocks noGrp="1"/>
          </p:cNvSpPr>
          <p:nvPr/>
        </p:nvSpPr>
        <p:spPr>
          <a:xfrm>
            <a:off x="8064298" y="3761176"/>
            <a:ext cx="3238419" cy="1231869"/>
          </a:xfrm>
          <a:prstGeom prst="roundRect">
            <a:avLst>
              <a:gd name="adj" fmla="val 50000"/>
            </a:avLst>
          </a:prstGeom>
          <a:noFill/>
          <a:ln w="12700">
            <a:solidFill>
              <a:srgbClr val="00A99D"/>
            </a:solidFill>
            <a:prstDash val="solid"/>
          </a:ln>
        </p:spPr>
        <p:txBody>
          <a:bodyPr/>
          <a:lstStyle/>
          <a:p>
            <a:endParaRPr lang="en-DE"/>
          </a:p>
        </p:txBody>
      </p:sp>
      <p:sp>
        <p:nvSpPr>
          <p:cNvPr id="24" name="TextBox 43">
            <a:extLst>
              <a:ext uri="{FF2B5EF4-FFF2-40B4-BE49-F238E27FC236}">
                <a16:creationId xmlns:a16="http://schemas.microsoft.com/office/drawing/2014/main" id="{A15D130F-E3F2-4137-98AC-9B84F01ACE98}"/>
              </a:ext>
            </a:extLst>
          </p:cNvPr>
          <p:cNvSpPr>
            <a:spLocks noGrp="1"/>
          </p:cNvSpPr>
          <p:nvPr/>
        </p:nvSpPr>
        <p:spPr>
          <a:xfrm>
            <a:off x="8400840" y="4021520"/>
            <a:ext cx="1269968" cy="711182"/>
          </a:xfrm>
          <a:prstGeom prst="rect">
            <a:avLst/>
          </a:prstGeom>
          <a:noFill/>
        </p:spPr>
        <p:txBody>
          <a:bodyPr wrap="none" lIns="0" tIns="0" rIns="0" bIns="0" anchor="t">
            <a:spAutoFit/>
          </a:bodyPr>
          <a:lstStyle/>
          <a:p>
            <a:pPr marL="0" indent="0" algn="l">
              <a:lnSpc>
                <a:spcPts val="4100"/>
              </a:lnSpc>
              <a:buNone/>
            </a:pPr>
            <a:r>
              <a:rPr sz="4100" b="1">
                <a:solidFill>
                  <a:srgbClr val="00A99D"/>
                </a:solidFill>
                <a:latin typeface="Arial"/>
                <a:ea typeface="Arial"/>
                <a:cs typeface="Arial"/>
              </a:rPr>
              <a:t>SLO</a:t>
            </a:r>
            <a:endParaRPr sz="4100"/>
          </a:p>
        </p:txBody>
      </p:sp>
      <p:sp>
        <p:nvSpPr>
          <p:cNvPr id="25" name="TextBox 45">
            <a:extLst>
              <a:ext uri="{FF2B5EF4-FFF2-40B4-BE49-F238E27FC236}">
                <a16:creationId xmlns:a16="http://schemas.microsoft.com/office/drawing/2014/main" id="{E5CB9B7E-3576-4BFD-AD9F-A37F01443FFA}"/>
              </a:ext>
            </a:extLst>
          </p:cNvPr>
          <p:cNvSpPr>
            <a:spLocks noGrp="1"/>
          </p:cNvSpPr>
          <p:nvPr/>
        </p:nvSpPr>
        <p:spPr>
          <a:xfrm>
            <a:off x="9823204" y="4194553"/>
            <a:ext cx="1142971" cy="547497"/>
          </a:xfrm>
          <a:prstGeom prst="rect">
            <a:avLst/>
          </a:prstGeom>
          <a:noFill/>
        </p:spPr>
        <p:txBody>
          <a:bodyPr wrap="square" lIns="0" tIns="0" rIns="0" bIns="0" anchor="t">
            <a:spAutoFit/>
          </a:bodyPr>
          <a:lstStyle/>
          <a:p>
            <a:pPr marL="0" indent="0" algn="l">
              <a:lnSpc>
                <a:spcPts val="1437"/>
              </a:lnSpc>
              <a:buNone/>
            </a:pPr>
            <a:r>
              <a:rPr sz="1250">
                <a:solidFill>
                  <a:srgbClr val="B8C3C1"/>
                </a:solidFill>
                <a:latin typeface="Arial"/>
                <a:ea typeface="Arial"/>
                <a:cs typeface="Arial"/>
              </a:rPr>
              <a:t>load · quota</a:t>
            </a:r>
            <a:endParaRPr sz="1250"/>
          </a:p>
          <a:p>
            <a:pPr marL="0" indent="0" algn="l">
              <a:lnSpc>
                <a:spcPts val="1437"/>
              </a:lnSpc>
              <a:buNone/>
            </a:pPr>
            <a:r>
              <a:rPr sz="1250">
                <a:solidFill>
                  <a:srgbClr val="B8C3C1"/>
                </a:solidFill>
                <a:latin typeface="Arial"/>
                <a:ea typeface="Arial"/>
                <a:cs typeface="Arial"/>
              </a:rPr>
              <a:t>FinOps approval</a:t>
            </a:r>
            <a:endParaRPr sz="1250"/>
          </a:p>
        </p:txBody>
      </p:sp>
      <p:pic>
        <p:nvPicPr>
          <p:cNvPr id="56" name="Picture 48"/>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64298" y="4825965"/>
            <a:ext cx="3238419" cy="952476"/>
          </a:xfrm>
          <a:prstGeom prst="rect">
            <a:avLst/>
          </a:prstGeom>
        </p:spPr>
      </p:pic>
      <p:sp>
        <p:nvSpPr>
          <p:cNvPr id="27" name="TextBox 48">
            <a:extLst>
              <a:ext uri="{FF2B5EF4-FFF2-40B4-BE49-F238E27FC236}">
                <a16:creationId xmlns:a16="http://schemas.microsoft.com/office/drawing/2014/main" id="{CE7F6759-7B7D-481F-91C2-32DC994E2BC4}"/>
              </a:ext>
            </a:extLst>
          </p:cNvPr>
          <p:cNvSpPr>
            <a:spLocks noGrp="1"/>
          </p:cNvSpPr>
          <p:nvPr/>
        </p:nvSpPr>
        <p:spPr>
          <a:xfrm>
            <a:off x="8064298" y="4825965"/>
            <a:ext cx="3238419" cy="952476"/>
          </a:xfrm>
          <a:prstGeom prst="rect">
            <a:avLst/>
          </a:prstGeom>
          <a:noFill/>
        </p:spPr>
        <p:txBody>
          <a:bodyPr wrap="square" lIns="0" tIns="152396" rIns="0" bIns="0" anchor="t">
            <a:spAutoFit/>
          </a:bodyPr>
          <a:lstStyle/>
          <a:p>
            <a:pPr marL="0" indent="0" algn="l">
              <a:lnSpc>
                <a:spcPts val="1750"/>
              </a:lnSpc>
              <a:buNone/>
            </a:pPr>
            <a:r>
              <a:rPr sz="1250">
                <a:solidFill>
                  <a:srgbClr val="B8C3C1"/>
                </a:solidFill>
                <a:latin typeface="Arial"/>
                <a:ea typeface="Arial"/>
                <a:cs typeface="Arial"/>
              </a:rPr>
              <a:t>Each regional cell sets warm floor, ceiling and concurrency from load tests, availability targets and quota.</a:t>
            </a:r>
            <a:endParaRPr sz="1250"/>
          </a:p>
        </p:txBody>
      </p:sp>
      <p:sp>
        <p:nvSpPr>
          <p:cNvPr id="28" name="TextBox 51">
            <a:extLst>
              <a:ext uri="{FF2B5EF4-FFF2-40B4-BE49-F238E27FC236}">
                <a16:creationId xmlns:a16="http://schemas.microsoft.com/office/drawing/2014/main" id="{03590C49-C95D-42D3-A0F8-40DC367F109B}"/>
              </a:ext>
            </a:extLst>
          </p:cNvPr>
          <p:cNvSpPr>
            <a:spLocks noGrp="1"/>
          </p:cNvSpPr>
          <p:nvPr/>
        </p:nvSpPr>
        <p:spPr>
          <a:xfrm>
            <a:off x="584185" y="6324528"/>
            <a:ext cx="6857829" cy="365760"/>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Assessment: operator-selected alert budget. Production capacity follows an approved plan.</a:t>
            </a:r>
            <a:endParaRPr sz="1200"/>
          </a:p>
        </p:txBody>
      </p:sp>
      <p:sp>
        <p:nvSpPr>
          <p:cNvPr id="29" name="TextBox 53">
            <a:extLst>
              <a:ext uri="{FF2B5EF4-FFF2-40B4-BE49-F238E27FC236}">
                <a16:creationId xmlns:a16="http://schemas.microsoft.com/office/drawing/2014/main" id="{6ED16376-6708-4765-A457-DD739CF18673}"/>
              </a:ext>
            </a:extLst>
          </p:cNvPr>
          <p:cNvSpPr>
            <a:spLocks noGrp="1"/>
          </p:cNvSpPr>
          <p:nvPr/>
        </p:nvSpPr>
        <p:spPr>
          <a:xfrm>
            <a:off x="11099523" y="63499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09</a:t>
            </a:r>
            <a:endParaRPr sz="1200"/>
          </a:p>
        </p:txBody>
      </p:sp>
    </p:spTree>
    <p:extLst>
      <p:ext uri="{BB962C8B-B14F-4D97-AF65-F5344CB8AC3E}">
        <p14:creationId xmlns:p14="http://schemas.microsoft.com/office/powerpoint/2010/main" val="1729868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B58ECA9A-ADB1-45DC-B1D7-A86887AC48DB}"/>
              </a:ext>
            </a:extLst>
          </p:cNvPr>
          <p:cNvSpPr>
            <a:spLocks noGrp="1"/>
          </p:cNvSpPr>
          <p:nvPr/>
        </p:nvSpPr>
        <p:spPr>
          <a:xfrm>
            <a:off x="0" y="86"/>
            <a:ext cx="12191695" cy="6857829"/>
          </a:xfrm>
          <a:prstGeom prst="rect">
            <a:avLst/>
          </a:prstGeom>
          <a:solidFill>
            <a:srgbClr val="162A2D"/>
          </a:solidFill>
        </p:spPr>
        <p:txBody>
          <a:bodyPr/>
          <a:lstStyle/>
          <a:p>
            <a:endParaRPr lang="en-DE"/>
          </a:p>
        </p:txBody>
      </p:sp>
      <p:sp>
        <p:nvSpPr>
          <p:cNvPr id="3" name="TextBox 3">
            <a:extLst>
              <a:ext uri="{FF2B5EF4-FFF2-40B4-BE49-F238E27FC236}">
                <a16:creationId xmlns:a16="http://schemas.microsoft.com/office/drawing/2014/main" id="{4A005EBE-7D5C-490E-9707-DDB69A0DDCE5}"/>
              </a:ext>
            </a:extLst>
          </p:cNvPr>
          <p:cNvSpPr>
            <a:spLocks noGrp="1"/>
          </p:cNvSpPr>
          <p:nvPr/>
        </p:nvSpPr>
        <p:spPr>
          <a:xfrm>
            <a:off x="584185" y="457274"/>
            <a:ext cx="2476438"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TASKS 04—06 · APPLIED ML</a:t>
            </a:r>
            <a:endParaRPr sz="1000"/>
          </a:p>
        </p:txBody>
      </p:sp>
      <p:sp>
        <p:nvSpPr>
          <p:cNvPr id="4" name="TextBox 5">
            <a:extLst>
              <a:ext uri="{FF2B5EF4-FFF2-40B4-BE49-F238E27FC236}">
                <a16:creationId xmlns:a16="http://schemas.microsoft.com/office/drawing/2014/main" id="{7D50CF1D-0C57-428A-B41C-0365457817E8}"/>
              </a:ext>
            </a:extLst>
          </p:cNvPr>
          <p:cNvSpPr>
            <a:spLocks noGrp="1"/>
          </p:cNvSpPr>
          <p:nvPr/>
        </p:nvSpPr>
        <p:spPr>
          <a:xfrm>
            <a:off x="584185" y="812865"/>
            <a:ext cx="9524762" cy="736582"/>
          </a:xfrm>
          <a:prstGeom prst="rect">
            <a:avLst/>
          </a:prstGeom>
          <a:noFill/>
        </p:spPr>
        <p:txBody>
          <a:bodyPr wrap="square" lIns="0" tIns="0" rIns="0" bIns="0" anchor="t">
            <a:spAutoFit/>
          </a:bodyPr>
          <a:lstStyle/>
          <a:p>
            <a:pPr marL="0" indent="0" algn="l">
              <a:lnSpc>
                <a:spcPts val="3672"/>
              </a:lnSpc>
              <a:buNone/>
            </a:pPr>
            <a:r>
              <a:rPr sz="3400" spc="-150">
                <a:solidFill>
                  <a:srgbClr val="FFFFFF"/>
                </a:solidFill>
                <a:latin typeface="Arial"/>
                <a:ea typeface="Arial"/>
                <a:cs typeface="Arial"/>
              </a:rPr>
              <a:t>Three tasks. Three decisions I would defend.</a:t>
            </a:r>
            <a:endParaRPr sz="3400"/>
          </a:p>
        </p:txBody>
      </p:sp>
      <p:sp>
        <p:nvSpPr>
          <p:cNvPr id="5" name="Shape 7">
            <a:extLst>
              <a:ext uri="{FF2B5EF4-FFF2-40B4-BE49-F238E27FC236}">
                <a16:creationId xmlns:a16="http://schemas.microsoft.com/office/drawing/2014/main" id="{B262F7DC-C49A-46D4-B6D3-EA979584D459}"/>
              </a:ext>
            </a:extLst>
          </p:cNvPr>
          <p:cNvSpPr>
            <a:spLocks noGrp="1"/>
          </p:cNvSpPr>
          <p:nvPr/>
        </p:nvSpPr>
        <p:spPr>
          <a:xfrm>
            <a:off x="584185" y="2019335"/>
            <a:ext cx="3365416" cy="4127397"/>
          </a:xfrm>
          <a:prstGeom prst="rect">
            <a:avLst/>
          </a:prstGeom>
          <a:solidFill>
            <a:srgbClr val="FFFFFF">
              <a:alpha val="6000"/>
            </a:srgbClr>
          </a:solidFill>
        </p:spPr>
        <p:txBody>
          <a:bodyPr/>
          <a:lstStyle/>
          <a:p>
            <a:endParaRPr lang="en-DE"/>
          </a:p>
        </p:txBody>
      </p:sp>
      <p:pic>
        <p:nvPicPr>
          <p:cNvPr id="35" name="Picture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185" y="2019335"/>
            <a:ext cx="3365416" cy="4127397"/>
          </a:xfrm>
          <a:prstGeom prst="rect">
            <a:avLst/>
          </a:prstGeom>
        </p:spPr>
      </p:pic>
      <p:sp>
        <p:nvSpPr>
          <p:cNvPr id="7" name="TextBox 9">
            <a:extLst>
              <a:ext uri="{FF2B5EF4-FFF2-40B4-BE49-F238E27FC236}">
                <a16:creationId xmlns:a16="http://schemas.microsoft.com/office/drawing/2014/main" id="{C0F70A3B-E013-472B-B9DF-C1B12111244D}"/>
              </a:ext>
            </a:extLst>
          </p:cNvPr>
          <p:cNvSpPr>
            <a:spLocks noGrp="1"/>
          </p:cNvSpPr>
          <p:nvPr/>
        </p:nvSpPr>
        <p:spPr>
          <a:xfrm>
            <a:off x="825479" y="2298728"/>
            <a:ext cx="2882828" cy="857229"/>
          </a:xfrm>
          <a:prstGeom prst="rect">
            <a:avLst/>
          </a:prstGeom>
          <a:noFill/>
        </p:spPr>
        <p:txBody>
          <a:bodyPr wrap="square" lIns="0" tIns="0" rIns="0" bIns="0" anchor="t">
            <a:spAutoFit/>
          </a:bodyPr>
          <a:lstStyle/>
          <a:p>
            <a:pPr marL="0" indent="0" algn="l">
              <a:lnSpc>
                <a:spcPts val="6750"/>
              </a:lnSpc>
              <a:buNone/>
            </a:pPr>
            <a:r>
              <a:rPr sz="7500" b="1" spc="-450">
                <a:solidFill>
                  <a:srgbClr val="FFFFFF">
                    <a:alpha val="18000"/>
                  </a:srgbClr>
                </a:solidFill>
                <a:latin typeface="Arial"/>
                <a:ea typeface="Arial"/>
                <a:cs typeface="Arial"/>
              </a:rPr>
              <a:t>04</a:t>
            </a:r>
            <a:endParaRPr sz="7500"/>
          </a:p>
        </p:txBody>
      </p:sp>
      <p:sp>
        <p:nvSpPr>
          <p:cNvPr id="8" name="TextBox 11">
            <a:extLst>
              <a:ext uri="{FF2B5EF4-FFF2-40B4-BE49-F238E27FC236}">
                <a16:creationId xmlns:a16="http://schemas.microsoft.com/office/drawing/2014/main" id="{6DC588E3-A543-453D-91B8-054D925EA097}"/>
              </a:ext>
            </a:extLst>
          </p:cNvPr>
          <p:cNvSpPr>
            <a:spLocks noGrp="1"/>
          </p:cNvSpPr>
          <p:nvPr/>
        </p:nvSpPr>
        <p:spPr>
          <a:xfrm>
            <a:off x="825479" y="3232155"/>
            <a:ext cx="2882828" cy="534776"/>
          </a:xfrm>
          <a:prstGeom prst="rect">
            <a:avLst/>
          </a:prstGeom>
          <a:noFill/>
        </p:spPr>
        <p:txBody>
          <a:bodyPr wrap="square" lIns="0" tIns="0" rIns="0" bIns="0" anchor="t">
            <a:spAutoFit/>
          </a:bodyPr>
          <a:lstStyle/>
          <a:p>
            <a:pPr marL="0" indent="0" algn="l">
              <a:lnSpc>
                <a:spcPts val="2106"/>
              </a:lnSpc>
              <a:buNone/>
            </a:pPr>
            <a:r>
              <a:rPr sz="1950" b="1">
                <a:solidFill>
                  <a:srgbClr val="FFFFFF"/>
                </a:solidFill>
                <a:latin typeface="Arial"/>
                <a:ea typeface="Arial"/>
                <a:cs typeface="Arial"/>
              </a:rPr>
              <a:t>Failure</a:t>
            </a:r>
            <a:endParaRPr sz="1950"/>
          </a:p>
          <a:p>
            <a:pPr marL="0" indent="0" algn="l">
              <a:lnSpc>
                <a:spcPts val="2106"/>
              </a:lnSpc>
              <a:buNone/>
            </a:pPr>
            <a:r>
              <a:rPr sz="1950" b="1">
                <a:solidFill>
                  <a:srgbClr val="FFFFFF"/>
                </a:solidFill>
                <a:latin typeface="Arial"/>
                <a:ea typeface="Arial"/>
                <a:cs typeface="Arial"/>
              </a:rPr>
              <a:t>prediction</a:t>
            </a:r>
            <a:endParaRPr sz="1950"/>
          </a:p>
        </p:txBody>
      </p:sp>
      <p:sp>
        <p:nvSpPr>
          <p:cNvPr id="9" name="TextBox 13">
            <a:extLst>
              <a:ext uri="{FF2B5EF4-FFF2-40B4-BE49-F238E27FC236}">
                <a16:creationId xmlns:a16="http://schemas.microsoft.com/office/drawing/2014/main" id="{F6EDCFC5-2E1A-4B30-A46D-2E4F39E45106}"/>
              </a:ext>
            </a:extLst>
          </p:cNvPr>
          <p:cNvSpPr>
            <a:spLocks noGrp="1"/>
          </p:cNvSpPr>
          <p:nvPr/>
        </p:nvSpPr>
        <p:spPr>
          <a:xfrm>
            <a:off x="825479" y="4084423"/>
            <a:ext cx="2882828" cy="473063"/>
          </a:xfrm>
          <a:prstGeom prst="rect">
            <a:avLst/>
          </a:prstGeom>
          <a:noFill/>
        </p:spPr>
        <p:txBody>
          <a:bodyPr wrap="square" lIns="0" tIns="0" rIns="0" bIns="0" anchor="t">
            <a:spAutoFit/>
          </a:bodyPr>
          <a:lstStyle/>
          <a:p>
            <a:pPr marL="0" indent="0" algn="l">
              <a:lnSpc>
                <a:spcPts val="1863"/>
              </a:lnSpc>
              <a:buNone/>
            </a:pPr>
            <a:r>
              <a:rPr sz="1350">
                <a:solidFill>
                  <a:srgbClr val="B8C3C1"/>
                </a:solidFill>
                <a:latin typeface="Arial"/>
                <a:ea typeface="Arial"/>
                <a:cs typeface="Arial"/>
              </a:rPr>
              <a:t>Group identical feature vectors before CV and holdout.</a:t>
            </a:r>
            <a:endParaRPr sz="1350"/>
          </a:p>
        </p:txBody>
      </p:sp>
      <p:pic>
        <p:nvPicPr>
          <p:cNvPr id="39" name="Picture 15"/>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5479" y="5245055"/>
            <a:ext cx="2793930" cy="634984"/>
          </a:xfrm>
          <a:prstGeom prst="rect">
            <a:avLst/>
          </a:prstGeom>
        </p:spPr>
      </p:pic>
      <p:sp>
        <p:nvSpPr>
          <p:cNvPr id="11" name="TextBox 15">
            <a:extLst>
              <a:ext uri="{FF2B5EF4-FFF2-40B4-BE49-F238E27FC236}">
                <a16:creationId xmlns:a16="http://schemas.microsoft.com/office/drawing/2014/main" id="{9A3DF54E-3FA6-4540-86CF-8F6F69DDBA93}"/>
              </a:ext>
            </a:extLst>
          </p:cNvPr>
          <p:cNvSpPr>
            <a:spLocks noGrp="1"/>
          </p:cNvSpPr>
          <p:nvPr/>
        </p:nvSpPr>
        <p:spPr>
          <a:xfrm>
            <a:off x="825479" y="5245055"/>
            <a:ext cx="2793930" cy="634984"/>
          </a:xfrm>
          <a:prstGeom prst="rect">
            <a:avLst/>
          </a:prstGeom>
          <a:noFill/>
        </p:spPr>
        <p:txBody>
          <a:bodyPr wrap="square" lIns="0" tIns="139697" rIns="0" bIns="0" anchor="t">
            <a:spAutoFit/>
          </a:bodyPr>
          <a:lstStyle/>
          <a:p>
            <a:pPr marL="0" indent="0" algn="l">
              <a:buNone/>
            </a:pPr>
            <a:r>
              <a:rPr sz="1250">
                <a:solidFill>
                  <a:srgbClr val="00A99D"/>
                </a:solidFill>
                <a:latin typeface="Arial"/>
                <a:ea typeface="Arial"/>
                <a:cs typeface="Arial"/>
              </a:rPr>
              <a:t>Leakage risk shaped the pipeline.</a:t>
            </a:r>
            <a:endParaRPr sz="1250"/>
          </a:p>
        </p:txBody>
      </p:sp>
      <p:sp>
        <p:nvSpPr>
          <p:cNvPr id="12" name="Shape 18">
            <a:extLst>
              <a:ext uri="{FF2B5EF4-FFF2-40B4-BE49-F238E27FC236}">
                <a16:creationId xmlns:a16="http://schemas.microsoft.com/office/drawing/2014/main" id="{D6C6D2E1-AF62-4369-BB19-25FD12818559}"/>
              </a:ext>
            </a:extLst>
          </p:cNvPr>
          <p:cNvSpPr>
            <a:spLocks noGrp="1"/>
          </p:cNvSpPr>
          <p:nvPr/>
        </p:nvSpPr>
        <p:spPr>
          <a:xfrm>
            <a:off x="4413140" y="2019335"/>
            <a:ext cx="3365416" cy="4127397"/>
          </a:xfrm>
          <a:prstGeom prst="rect">
            <a:avLst/>
          </a:prstGeom>
          <a:solidFill>
            <a:srgbClr val="F4F1EA"/>
          </a:solidFill>
        </p:spPr>
        <p:txBody>
          <a:bodyPr/>
          <a:lstStyle/>
          <a:p>
            <a:endParaRPr lang="en-DE"/>
          </a:p>
        </p:txBody>
      </p:sp>
      <p:sp>
        <p:nvSpPr>
          <p:cNvPr id="13" name="TextBox 20">
            <a:extLst>
              <a:ext uri="{FF2B5EF4-FFF2-40B4-BE49-F238E27FC236}">
                <a16:creationId xmlns:a16="http://schemas.microsoft.com/office/drawing/2014/main" id="{8DBD7607-BB2F-4362-A894-ECF8701A09AB}"/>
              </a:ext>
            </a:extLst>
          </p:cNvPr>
          <p:cNvSpPr>
            <a:spLocks noGrp="1"/>
          </p:cNvSpPr>
          <p:nvPr/>
        </p:nvSpPr>
        <p:spPr>
          <a:xfrm>
            <a:off x="4654434" y="2260629"/>
            <a:ext cx="2882828" cy="857229"/>
          </a:xfrm>
          <a:prstGeom prst="rect">
            <a:avLst/>
          </a:prstGeom>
          <a:noFill/>
        </p:spPr>
        <p:txBody>
          <a:bodyPr wrap="square" lIns="0" tIns="0" rIns="0" bIns="0" anchor="t">
            <a:spAutoFit/>
          </a:bodyPr>
          <a:lstStyle/>
          <a:p>
            <a:pPr marL="0" indent="0" algn="l">
              <a:lnSpc>
                <a:spcPts val="6750"/>
              </a:lnSpc>
              <a:buNone/>
            </a:pPr>
            <a:r>
              <a:rPr sz="7500" b="1" spc="-450">
                <a:solidFill>
                  <a:srgbClr val="162A2D">
                    <a:alpha val="13000"/>
                  </a:srgbClr>
                </a:solidFill>
                <a:latin typeface="Arial"/>
                <a:ea typeface="Arial"/>
                <a:cs typeface="Arial"/>
              </a:rPr>
              <a:t>05</a:t>
            </a:r>
            <a:endParaRPr sz="7500"/>
          </a:p>
        </p:txBody>
      </p:sp>
      <p:sp>
        <p:nvSpPr>
          <p:cNvPr id="14" name="TextBox 22">
            <a:extLst>
              <a:ext uri="{FF2B5EF4-FFF2-40B4-BE49-F238E27FC236}">
                <a16:creationId xmlns:a16="http://schemas.microsoft.com/office/drawing/2014/main" id="{779D6199-D7AA-41F6-82CF-8F44F50F103D}"/>
              </a:ext>
            </a:extLst>
          </p:cNvPr>
          <p:cNvSpPr>
            <a:spLocks noGrp="1"/>
          </p:cNvSpPr>
          <p:nvPr/>
        </p:nvSpPr>
        <p:spPr>
          <a:xfrm>
            <a:off x="4654434" y="3194056"/>
            <a:ext cx="2882828" cy="534776"/>
          </a:xfrm>
          <a:prstGeom prst="rect">
            <a:avLst/>
          </a:prstGeom>
          <a:noFill/>
        </p:spPr>
        <p:txBody>
          <a:bodyPr wrap="square" lIns="0" tIns="0" rIns="0" bIns="0" anchor="t">
            <a:spAutoFit/>
          </a:bodyPr>
          <a:lstStyle/>
          <a:p>
            <a:pPr marL="0" indent="0" algn="l">
              <a:lnSpc>
                <a:spcPts val="2106"/>
              </a:lnSpc>
              <a:buNone/>
            </a:pPr>
            <a:r>
              <a:rPr sz="1950" b="1">
                <a:solidFill>
                  <a:srgbClr val="162A2D"/>
                </a:solidFill>
                <a:latin typeface="Arial"/>
                <a:ea typeface="Arial"/>
                <a:cs typeface="Arial"/>
              </a:rPr>
              <a:t>Material</a:t>
            </a:r>
            <a:endParaRPr sz="1950"/>
          </a:p>
          <a:p>
            <a:pPr marL="0" indent="0" algn="l">
              <a:lnSpc>
                <a:spcPts val="2106"/>
              </a:lnSpc>
              <a:buNone/>
            </a:pPr>
            <a:r>
              <a:rPr sz="1950" b="1">
                <a:solidFill>
                  <a:srgbClr val="162A2D"/>
                </a:solidFill>
                <a:latin typeface="Arial"/>
                <a:ea typeface="Arial"/>
                <a:cs typeface="Arial"/>
              </a:rPr>
              <a:t>similarity</a:t>
            </a:r>
            <a:endParaRPr sz="1950"/>
          </a:p>
        </p:txBody>
      </p:sp>
      <p:sp>
        <p:nvSpPr>
          <p:cNvPr id="15" name="TextBox 24">
            <a:extLst>
              <a:ext uri="{FF2B5EF4-FFF2-40B4-BE49-F238E27FC236}">
                <a16:creationId xmlns:a16="http://schemas.microsoft.com/office/drawing/2014/main" id="{5C89F711-A260-4B18-9630-C77D5DAEE8CC}"/>
              </a:ext>
            </a:extLst>
          </p:cNvPr>
          <p:cNvSpPr>
            <a:spLocks noGrp="1"/>
          </p:cNvSpPr>
          <p:nvPr/>
        </p:nvSpPr>
        <p:spPr>
          <a:xfrm>
            <a:off x="4654434" y="4046324"/>
            <a:ext cx="2882828" cy="473063"/>
          </a:xfrm>
          <a:prstGeom prst="rect">
            <a:avLst/>
          </a:prstGeom>
          <a:noFill/>
        </p:spPr>
        <p:txBody>
          <a:bodyPr wrap="square" lIns="0" tIns="0" rIns="0" bIns="0" anchor="t">
            <a:spAutoFit/>
          </a:bodyPr>
          <a:lstStyle/>
          <a:p>
            <a:pPr marL="0" indent="0" algn="l">
              <a:lnSpc>
                <a:spcPts val="1863"/>
              </a:lnSpc>
              <a:buNone/>
            </a:pPr>
            <a:r>
              <a:rPr sz="1350">
                <a:solidFill>
                  <a:srgbClr val="5E6D6C"/>
                </a:solidFill>
                <a:latin typeface="Arial"/>
                <a:ea typeface="Arial"/>
                <a:cs typeface="Arial"/>
              </a:rPr>
              <a:t>Use lexical evidence before embeddings or ANN complexity.</a:t>
            </a:r>
            <a:endParaRPr sz="1350"/>
          </a:p>
        </p:txBody>
      </p:sp>
      <p:pic>
        <p:nvPicPr>
          <p:cNvPr id="45" name="Picture 2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54434" y="5245055"/>
            <a:ext cx="2793930" cy="634984"/>
          </a:xfrm>
          <a:prstGeom prst="rect">
            <a:avLst/>
          </a:prstGeom>
        </p:spPr>
      </p:pic>
      <p:sp>
        <p:nvSpPr>
          <p:cNvPr id="17" name="TextBox 26">
            <a:extLst>
              <a:ext uri="{FF2B5EF4-FFF2-40B4-BE49-F238E27FC236}">
                <a16:creationId xmlns:a16="http://schemas.microsoft.com/office/drawing/2014/main" id="{4F48C13D-13B8-45D3-8913-5A72FD278FB4}"/>
              </a:ext>
            </a:extLst>
          </p:cNvPr>
          <p:cNvSpPr>
            <a:spLocks noGrp="1"/>
          </p:cNvSpPr>
          <p:nvPr/>
        </p:nvSpPr>
        <p:spPr>
          <a:xfrm>
            <a:off x="4654434" y="5245055"/>
            <a:ext cx="2793930" cy="634984"/>
          </a:xfrm>
          <a:prstGeom prst="rect">
            <a:avLst/>
          </a:prstGeom>
          <a:noFill/>
        </p:spPr>
        <p:txBody>
          <a:bodyPr wrap="square" lIns="0" tIns="139697" rIns="0" bIns="0" anchor="t">
            <a:spAutoFit/>
          </a:bodyPr>
          <a:lstStyle/>
          <a:p>
            <a:pPr marL="0" indent="0" algn="l">
              <a:buNone/>
            </a:pPr>
            <a:r>
              <a:rPr sz="1250">
                <a:solidFill>
                  <a:srgbClr val="00A99D"/>
                </a:solidFill>
                <a:latin typeface="Arial"/>
                <a:ea typeface="Arial"/>
                <a:cs typeface="Arial"/>
              </a:rPr>
              <a:t>Blank descriptions must abstain.</a:t>
            </a:r>
            <a:endParaRPr sz="1250"/>
          </a:p>
        </p:txBody>
      </p:sp>
      <p:sp>
        <p:nvSpPr>
          <p:cNvPr id="18" name="Shape 29">
            <a:extLst>
              <a:ext uri="{FF2B5EF4-FFF2-40B4-BE49-F238E27FC236}">
                <a16:creationId xmlns:a16="http://schemas.microsoft.com/office/drawing/2014/main" id="{AB308C41-A8B6-4386-AFDB-C64AD9D817A4}"/>
              </a:ext>
            </a:extLst>
          </p:cNvPr>
          <p:cNvSpPr>
            <a:spLocks noGrp="1"/>
          </p:cNvSpPr>
          <p:nvPr/>
        </p:nvSpPr>
        <p:spPr>
          <a:xfrm>
            <a:off x="8242094" y="2019335"/>
            <a:ext cx="3365416" cy="4127397"/>
          </a:xfrm>
          <a:prstGeom prst="rect">
            <a:avLst/>
          </a:prstGeom>
          <a:solidFill>
            <a:srgbClr val="FFFFFF">
              <a:alpha val="6000"/>
            </a:srgbClr>
          </a:solidFill>
        </p:spPr>
        <p:txBody>
          <a:bodyPr/>
          <a:lstStyle/>
          <a:p>
            <a:endParaRPr lang="en-DE"/>
          </a:p>
        </p:txBody>
      </p:sp>
      <p:pic>
        <p:nvPicPr>
          <p:cNvPr id="48" name="Picture 29"/>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42094" y="2019335"/>
            <a:ext cx="3365416" cy="4127397"/>
          </a:xfrm>
          <a:prstGeom prst="rect">
            <a:avLst/>
          </a:prstGeom>
        </p:spPr>
      </p:pic>
      <p:sp>
        <p:nvSpPr>
          <p:cNvPr id="20" name="TextBox 31">
            <a:extLst>
              <a:ext uri="{FF2B5EF4-FFF2-40B4-BE49-F238E27FC236}">
                <a16:creationId xmlns:a16="http://schemas.microsoft.com/office/drawing/2014/main" id="{18C04098-7C4E-4F12-92C9-E1220DDE4CBC}"/>
              </a:ext>
            </a:extLst>
          </p:cNvPr>
          <p:cNvSpPr>
            <a:spLocks noGrp="1"/>
          </p:cNvSpPr>
          <p:nvPr/>
        </p:nvSpPr>
        <p:spPr>
          <a:xfrm>
            <a:off x="8483388" y="2260629"/>
            <a:ext cx="2882828" cy="857229"/>
          </a:xfrm>
          <a:prstGeom prst="rect">
            <a:avLst/>
          </a:prstGeom>
          <a:noFill/>
        </p:spPr>
        <p:txBody>
          <a:bodyPr wrap="square" lIns="0" tIns="0" rIns="0" bIns="0" anchor="t">
            <a:spAutoFit/>
          </a:bodyPr>
          <a:lstStyle/>
          <a:p>
            <a:pPr marL="0" indent="0" algn="l">
              <a:lnSpc>
                <a:spcPts val="6750"/>
              </a:lnSpc>
              <a:buNone/>
            </a:pPr>
            <a:r>
              <a:rPr sz="7500" b="1" spc="-450">
                <a:solidFill>
                  <a:srgbClr val="FFFFFF">
                    <a:alpha val="18000"/>
                  </a:srgbClr>
                </a:solidFill>
                <a:latin typeface="Arial"/>
                <a:ea typeface="Arial"/>
                <a:cs typeface="Arial"/>
              </a:rPr>
              <a:t>06</a:t>
            </a:r>
            <a:endParaRPr sz="7500"/>
          </a:p>
        </p:txBody>
      </p:sp>
      <p:sp>
        <p:nvSpPr>
          <p:cNvPr id="21" name="TextBox 33">
            <a:extLst>
              <a:ext uri="{FF2B5EF4-FFF2-40B4-BE49-F238E27FC236}">
                <a16:creationId xmlns:a16="http://schemas.microsoft.com/office/drawing/2014/main" id="{E3BCE825-FE80-46BE-946C-734C38A3D201}"/>
              </a:ext>
            </a:extLst>
          </p:cNvPr>
          <p:cNvSpPr>
            <a:spLocks noGrp="1"/>
          </p:cNvSpPr>
          <p:nvPr/>
        </p:nvSpPr>
        <p:spPr>
          <a:xfrm>
            <a:off x="8483388" y="3194056"/>
            <a:ext cx="2882828" cy="534776"/>
          </a:xfrm>
          <a:prstGeom prst="rect">
            <a:avLst/>
          </a:prstGeom>
          <a:noFill/>
        </p:spPr>
        <p:txBody>
          <a:bodyPr wrap="square" lIns="0" tIns="0" rIns="0" bIns="0" anchor="t">
            <a:spAutoFit/>
          </a:bodyPr>
          <a:lstStyle/>
          <a:p>
            <a:pPr marL="0" indent="0" algn="l">
              <a:lnSpc>
                <a:spcPts val="2106"/>
              </a:lnSpc>
              <a:buNone/>
            </a:pPr>
            <a:r>
              <a:rPr sz="1950" b="1">
                <a:solidFill>
                  <a:srgbClr val="FFFFFF"/>
                </a:solidFill>
                <a:latin typeface="Arial"/>
                <a:ea typeface="Arial"/>
                <a:cs typeface="Arial"/>
              </a:rPr>
              <a:t>Category</a:t>
            </a:r>
            <a:endParaRPr sz="1950"/>
          </a:p>
          <a:p>
            <a:pPr marL="0" indent="0" algn="l">
              <a:lnSpc>
                <a:spcPts val="2106"/>
              </a:lnSpc>
              <a:buNone/>
            </a:pPr>
            <a:r>
              <a:rPr sz="1950" b="1">
                <a:solidFill>
                  <a:srgbClr val="FFFFFF"/>
                </a:solidFill>
                <a:latin typeface="Arial"/>
                <a:ea typeface="Arial"/>
                <a:cs typeface="Arial"/>
              </a:rPr>
              <a:t>consolidation</a:t>
            </a:r>
            <a:endParaRPr sz="1950"/>
          </a:p>
        </p:txBody>
      </p:sp>
      <p:sp>
        <p:nvSpPr>
          <p:cNvPr id="22" name="TextBox 35">
            <a:extLst>
              <a:ext uri="{FF2B5EF4-FFF2-40B4-BE49-F238E27FC236}">
                <a16:creationId xmlns:a16="http://schemas.microsoft.com/office/drawing/2014/main" id="{FE50975B-8B44-4594-9D0E-5F6871ED5CA6}"/>
              </a:ext>
            </a:extLst>
          </p:cNvPr>
          <p:cNvSpPr>
            <a:spLocks noGrp="1"/>
          </p:cNvSpPr>
          <p:nvPr/>
        </p:nvSpPr>
        <p:spPr>
          <a:xfrm>
            <a:off x="8483388" y="4046324"/>
            <a:ext cx="2882828" cy="473063"/>
          </a:xfrm>
          <a:prstGeom prst="rect">
            <a:avLst/>
          </a:prstGeom>
          <a:noFill/>
        </p:spPr>
        <p:txBody>
          <a:bodyPr wrap="square" lIns="0" tIns="0" rIns="0" bIns="0" anchor="t">
            <a:spAutoFit/>
          </a:bodyPr>
          <a:lstStyle/>
          <a:p>
            <a:pPr marL="0" indent="0" algn="l">
              <a:lnSpc>
                <a:spcPts val="1863"/>
              </a:lnSpc>
              <a:buNone/>
            </a:pPr>
            <a:r>
              <a:rPr sz="1350">
                <a:solidFill>
                  <a:srgbClr val="B8C3C1"/>
                </a:solidFill>
                <a:latin typeface="Arial"/>
                <a:ea typeface="Arial"/>
                <a:cs typeface="Arial"/>
              </a:rPr>
              <a:t>Fit vocabulary once; map unseen values predictably.</a:t>
            </a:r>
            <a:endParaRPr sz="1350"/>
          </a:p>
        </p:txBody>
      </p:sp>
      <p:pic>
        <p:nvPicPr>
          <p:cNvPr id="52" name="Picture 37"/>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83388" y="5206956"/>
            <a:ext cx="2793930" cy="634984"/>
          </a:xfrm>
          <a:prstGeom prst="rect">
            <a:avLst/>
          </a:prstGeom>
        </p:spPr>
      </p:pic>
      <p:sp>
        <p:nvSpPr>
          <p:cNvPr id="24" name="TextBox 37">
            <a:extLst>
              <a:ext uri="{FF2B5EF4-FFF2-40B4-BE49-F238E27FC236}">
                <a16:creationId xmlns:a16="http://schemas.microsoft.com/office/drawing/2014/main" id="{3A0F57B1-F330-4781-87E2-BF7F13973A41}"/>
              </a:ext>
            </a:extLst>
          </p:cNvPr>
          <p:cNvSpPr>
            <a:spLocks noGrp="1"/>
          </p:cNvSpPr>
          <p:nvPr/>
        </p:nvSpPr>
        <p:spPr>
          <a:xfrm>
            <a:off x="8483388" y="5206956"/>
            <a:ext cx="2793930" cy="634984"/>
          </a:xfrm>
          <a:prstGeom prst="rect">
            <a:avLst/>
          </a:prstGeom>
          <a:noFill/>
        </p:spPr>
        <p:txBody>
          <a:bodyPr wrap="square" lIns="0" tIns="139697" rIns="0" bIns="0" anchor="t">
            <a:spAutoFit/>
          </a:bodyPr>
          <a:lstStyle/>
          <a:p>
            <a:pPr marL="0" indent="0" algn="l">
              <a:buNone/>
            </a:pPr>
            <a:r>
              <a:rPr sz="1250">
                <a:solidFill>
                  <a:srgbClr val="00A99D"/>
                </a:solidFill>
                <a:latin typeface="Arial"/>
                <a:ea typeface="Arial"/>
                <a:cs typeface="Arial"/>
              </a:rPr>
              <a:t>Training state stays frozen.</a:t>
            </a:r>
            <a:endParaRPr sz="1250"/>
          </a:p>
        </p:txBody>
      </p:sp>
      <p:sp>
        <p:nvSpPr>
          <p:cNvPr id="25" name="TextBox 40">
            <a:extLst>
              <a:ext uri="{FF2B5EF4-FFF2-40B4-BE49-F238E27FC236}">
                <a16:creationId xmlns:a16="http://schemas.microsoft.com/office/drawing/2014/main" id="{A639B74C-A991-4603-9B61-E6BAC37BAAAB}"/>
              </a:ext>
            </a:extLst>
          </p:cNvPr>
          <p:cNvSpPr>
            <a:spLocks noGrp="1"/>
          </p:cNvSpPr>
          <p:nvPr/>
        </p:nvSpPr>
        <p:spPr>
          <a:xfrm>
            <a:off x="11099523" y="63626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10</a:t>
            </a:r>
            <a:endParaRPr sz="1200"/>
          </a:p>
        </p:txBody>
      </p:sp>
    </p:spTree>
    <p:extLst>
      <p:ext uri="{BB962C8B-B14F-4D97-AF65-F5344CB8AC3E}">
        <p14:creationId xmlns:p14="http://schemas.microsoft.com/office/powerpoint/2010/main" val="1558156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11330DD9-918E-46FF-86A5-3E7999827765}"/>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F4BF1720-C98F-48FA-B0BB-12E09C61C58C}"/>
              </a:ext>
            </a:extLst>
          </p:cNvPr>
          <p:cNvSpPr>
            <a:spLocks noGrp="1"/>
          </p:cNvSpPr>
          <p:nvPr/>
        </p:nvSpPr>
        <p:spPr>
          <a:xfrm>
            <a:off x="584185" y="457274"/>
            <a:ext cx="2730432"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04 · FAILURE PREDICTION</a:t>
            </a:r>
            <a:endParaRPr sz="1000"/>
          </a:p>
        </p:txBody>
      </p:sp>
      <p:sp>
        <p:nvSpPr>
          <p:cNvPr id="4" name="TextBox 5">
            <a:extLst>
              <a:ext uri="{FF2B5EF4-FFF2-40B4-BE49-F238E27FC236}">
                <a16:creationId xmlns:a16="http://schemas.microsoft.com/office/drawing/2014/main" id="{28016578-C758-4261-82C4-3CDFC2DD9A54}"/>
              </a:ext>
            </a:extLst>
          </p:cNvPr>
          <p:cNvSpPr>
            <a:spLocks noGrp="1"/>
          </p:cNvSpPr>
          <p:nvPr/>
        </p:nvSpPr>
        <p:spPr>
          <a:xfrm>
            <a:off x="584185" y="812865"/>
            <a:ext cx="9588260" cy="736582"/>
          </a:xfrm>
          <a:prstGeom prst="rect">
            <a:avLst/>
          </a:prstGeom>
          <a:noFill/>
        </p:spPr>
        <p:txBody>
          <a:bodyPr wrap="square" lIns="0" tIns="0" rIns="0" bIns="0" anchor="t">
            <a:spAutoFit/>
          </a:bodyPr>
          <a:lstStyle/>
          <a:p>
            <a:pPr marL="0" indent="0" algn="l">
              <a:lnSpc>
                <a:spcPts val="3564"/>
              </a:lnSpc>
              <a:buNone/>
            </a:pPr>
            <a:r>
              <a:rPr sz="3300" spc="-150">
                <a:solidFill>
                  <a:srgbClr val="162A2D"/>
                </a:solidFill>
                <a:latin typeface="Arial"/>
                <a:ea typeface="Arial"/>
                <a:cs typeface="Arial"/>
              </a:rPr>
              <a:t>Useful as a screen — not a crystal ball</a:t>
            </a:r>
            <a:endParaRPr sz="3300"/>
          </a:p>
        </p:txBody>
      </p:sp>
      <p:sp>
        <p:nvSpPr>
          <p:cNvPr id="5" name="Shape 7">
            <a:extLst>
              <a:ext uri="{FF2B5EF4-FFF2-40B4-BE49-F238E27FC236}">
                <a16:creationId xmlns:a16="http://schemas.microsoft.com/office/drawing/2014/main" id="{8E5B8355-F906-4DFE-A6E6-F9B065DCB0CA}"/>
              </a:ext>
            </a:extLst>
          </p:cNvPr>
          <p:cNvSpPr>
            <a:spLocks noGrp="1"/>
          </p:cNvSpPr>
          <p:nvPr/>
        </p:nvSpPr>
        <p:spPr>
          <a:xfrm>
            <a:off x="584185" y="2032035"/>
            <a:ext cx="4825879" cy="4127397"/>
          </a:xfrm>
          <a:prstGeom prst="roundRect">
            <a:avLst>
              <a:gd name="adj" fmla="val 6462"/>
            </a:avLst>
          </a:prstGeom>
          <a:solidFill>
            <a:srgbClr val="FFFFFF"/>
          </a:solidFill>
          <a:ln w="6350">
            <a:solidFill>
              <a:srgbClr val="C8D3D1"/>
            </a:solidFill>
            <a:prstDash val="solid"/>
          </a:ln>
        </p:spPr>
        <p:txBody>
          <a:bodyPr/>
          <a:lstStyle/>
          <a:p>
            <a:endParaRPr lang="en-DE"/>
          </a:p>
        </p:txBody>
      </p:sp>
      <p:sp>
        <p:nvSpPr>
          <p:cNvPr id="6" name="TextBox 9">
            <a:extLst>
              <a:ext uri="{FF2B5EF4-FFF2-40B4-BE49-F238E27FC236}">
                <a16:creationId xmlns:a16="http://schemas.microsoft.com/office/drawing/2014/main" id="{C025F873-0199-4CE3-BEBB-2391EA5DA779}"/>
              </a:ext>
            </a:extLst>
          </p:cNvPr>
          <p:cNvSpPr>
            <a:spLocks noGrp="1"/>
          </p:cNvSpPr>
          <p:nvPr/>
        </p:nvSpPr>
        <p:spPr>
          <a:xfrm>
            <a:off x="857229" y="2305078"/>
            <a:ext cx="4279793"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GROUPED CV · MEAN PR-AUC</a:t>
            </a:r>
            <a:endParaRPr sz="1050"/>
          </a:p>
        </p:txBody>
      </p:sp>
      <p:sp>
        <p:nvSpPr>
          <p:cNvPr id="7" name="Shape 11">
            <a:extLst>
              <a:ext uri="{FF2B5EF4-FFF2-40B4-BE49-F238E27FC236}">
                <a16:creationId xmlns:a16="http://schemas.microsoft.com/office/drawing/2014/main" id="{5F25F2E3-D961-4DAD-B7C0-3FF31A4A20EE}"/>
              </a:ext>
            </a:extLst>
          </p:cNvPr>
          <p:cNvSpPr>
            <a:spLocks noGrp="1"/>
          </p:cNvSpPr>
          <p:nvPr/>
        </p:nvSpPr>
        <p:spPr>
          <a:xfrm>
            <a:off x="857229" y="2990861"/>
            <a:ext cx="4190895" cy="495288"/>
          </a:xfrm>
          <a:prstGeom prst="roundRect">
            <a:avLst>
              <a:gd name="adj" fmla="val 23077"/>
            </a:avLst>
          </a:prstGeom>
          <a:solidFill>
            <a:srgbClr val="DFE6E4"/>
          </a:solidFill>
        </p:spPr>
        <p:txBody>
          <a:bodyPr/>
          <a:lstStyle/>
          <a:p>
            <a:endParaRPr lang="en-DE"/>
          </a:p>
        </p:txBody>
      </p:sp>
      <p:sp>
        <p:nvSpPr>
          <p:cNvPr id="8" name="Shape 13">
            <a:extLst>
              <a:ext uri="{FF2B5EF4-FFF2-40B4-BE49-F238E27FC236}">
                <a16:creationId xmlns:a16="http://schemas.microsoft.com/office/drawing/2014/main" id="{8354C5AE-87BC-49D1-81D6-1156BC269D0C}"/>
              </a:ext>
            </a:extLst>
          </p:cNvPr>
          <p:cNvSpPr>
            <a:spLocks noGrp="1"/>
          </p:cNvSpPr>
          <p:nvPr/>
        </p:nvSpPr>
        <p:spPr>
          <a:xfrm>
            <a:off x="857229" y="2990861"/>
            <a:ext cx="584185" cy="495288"/>
          </a:xfrm>
          <a:prstGeom prst="roundRect">
            <a:avLst>
              <a:gd name="adj" fmla="val 23077"/>
            </a:avLst>
          </a:prstGeom>
          <a:solidFill>
            <a:srgbClr val="5E6D6C"/>
          </a:solidFill>
        </p:spPr>
        <p:txBody>
          <a:bodyPr/>
          <a:lstStyle/>
          <a:p>
            <a:endParaRPr lang="en-DE"/>
          </a:p>
        </p:txBody>
      </p:sp>
      <p:sp>
        <p:nvSpPr>
          <p:cNvPr id="9" name="TextBox 15">
            <a:extLst>
              <a:ext uri="{FF2B5EF4-FFF2-40B4-BE49-F238E27FC236}">
                <a16:creationId xmlns:a16="http://schemas.microsoft.com/office/drawing/2014/main" id="{BB44823E-7252-45BD-9019-219122C5B6D6}"/>
              </a:ext>
            </a:extLst>
          </p:cNvPr>
          <p:cNvSpPr>
            <a:spLocks noGrp="1"/>
          </p:cNvSpPr>
          <p:nvPr/>
        </p:nvSpPr>
        <p:spPr>
          <a:xfrm>
            <a:off x="1568411" y="3117858"/>
            <a:ext cx="2984425" cy="241294"/>
          </a:xfrm>
          <a:prstGeom prst="rect">
            <a:avLst/>
          </a:prstGeom>
          <a:noFill/>
        </p:spPr>
        <p:txBody>
          <a:bodyPr wrap="square" lIns="0" tIns="0" rIns="0" bIns="0" anchor="t">
            <a:spAutoFit/>
          </a:bodyPr>
          <a:lstStyle/>
          <a:p>
            <a:pPr marL="0" indent="0" algn="l">
              <a:buNone/>
            </a:pPr>
            <a:r>
              <a:rPr sz="1400">
                <a:solidFill>
                  <a:srgbClr val="162A2D"/>
                </a:solidFill>
                <a:latin typeface="Arial"/>
                <a:ea typeface="Arial"/>
                <a:cs typeface="Arial"/>
              </a:rPr>
              <a:t>Dummy · 0.077</a:t>
            </a:r>
            <a:endParaRPr sz="1400"/>
          </a:p>
        </p:txBody>
      </p:sp>
      <p:sp>
        <p:nvSpPr>
          <p:cNvPr id="10" name="Shape 18">
            <a:extLst>
              <a:ext uri="{FF2B5EF4-FFF2-40B4-BE49-F238E27FC236}">
                <a16:creationId xmlns:a16="http://schemas.microsoft.com/office/drawing/2014/main" id="{2B5BE897-91FC-415F-A256-44837E6D1BFF}"/>
              </a:ext>
            </a:extLst>
          </p:cNvPr>
          <p:cNvSpPr>
            <a:spLocks noGrp="1"/>
          </p:cNvSpPr>
          <p:nvPr/>
        </p:nvSpPr>
        <p:spPr>
          <a:xfrm>
            <a:off x="857229" y="3740142"/>
            <a:ext cx="4190895" cy="609585"/>
          </a:xfrm>
          <a:prstGeom prst="roundRect">
            <a:avLst>
              <a:gd name="adj" fmla="val 20833"/>
            </a:avLst>
          </a:prstGeom>
          <a:solidFill>
            <a:srgbClr val="DFE6E4"/>
          </a:solidFill>
        </p:spPr>
        <p:txBody>
          <a:bodyPr/>
          <a:lstStyle/>
          <a:p>
            <a:endParaRPr lang="en-DE"/>
          </a:p>
        </p:txBody>
      </p:sp>
      <p:sp>
        <p:nvSpPr>
          <p:cNvPr id="11" name="Shape 20">
            <a:extLst>
              <a:ext uri="{FF2B5EF4-FFF2-40B4-BE49-F238E27FC236}">
                <a16:creationId xmlns:a16="http://schemas.microsoft.com/office/drawing/2014/main" id="{ED0067EC-0C88-4B27-8D3E-9F93636E72F2}"/>
              </a:ext>
            </a:extLst>
          </p:cNvPr>
          <p:cNvSpPr>
            <a:spLocks noGrp="1"/>
          </p:cNvSpPr>
          <p:nvPr/>
        </p:nvSpPr>
        <p:spPr>
          <a:xfrm>
            <a:off x="857229" y="3740142"/>
            <a:ext cx="2355791" cy="609585"/>
          </a:xfrm>
          <a:prstGeom prst="roundRect">
            <a:avLst>
              <a:gd name="adj" fmla="val 20833"/>
            </a:avLst>
          </a:prstGeom>
          <a:solidFill>
            <a:srgbClr val="00A99D"/>
          </a:solidFill>
        </p:spPr>
        <p:txBody>
          <a:bodyPr/>
          <a:lstStyle/>
          <a:p>
            <a:endParaRPr lang="en-DE"/>
          </a:p>
        </p:txBody>
      </p:sp>
      <p:sp>
        <p:nvSpPr>
          <p:cNvPr id="12" name="TextBox 22">
            <a:extLst>
              <a:ext uri="{FF2B5EF4-FFF2-40B4-BE49-F238E27FC236}">
                <a16:creationId xmlns:a16="http://schemas.microsoft.com/office/drawing/2014/main" id="{3D637854-785F-4CAF-85C1-3150D0BB5E4D}"/>
              </a:ext>
            </a:extLst>
          </p:cNvPr>
          <p:cNvSpPr>
            <a:spLocks noGrp="1"/>
          </p:cNvSpPr>
          <p:nvPr/>
        </p:nvSpPr>
        <p:spPr>
          <a:xfrm>
            <a:off x="3346366" y="3905238"/>
            <a:ext cx="1549361" cy="266693"/>
          </a:xfrm>
          <a:prstGeom prst="rect">
            <a:avLst/>
          </a:prstGeom>
          <a:noFill/>
        </p:spPr>
        <p:txBody>
          <a:bodyPr wrap="square" lIns="0" tIns="0" rIns="0" bIns="0" anchor="t">
            <a:spAutoFit/>
          </a:bodyPr>
          <a:lstStyle/>
          <a:p>
            <a:pPr marL="0" indent="0" algn="l">
              <a:buNone/>
            </a:pPr>
            <a:r>
              <a:rPr sz="1500" b="1">
                <a:solidFill>
                  <a:srgbClr val="162A2D"/>
                </a:solidFill>
                <a:latin typeface="Arial"/>
                <a:ea typeface="Arial"/>
                <a:cs typeface="Arial"/>
              </a:rPr>
              <a:t>0.563</a:t>
            </a:r>
            <a:endParaRPr sz="1500"/>
          </a:p>
        </p:txBody>
      </p:sp>
      <p:sp>
        <p:nvSpPr>
          <p:cNvPr id="13" name="TextBox 25">
            <a:extLst>
              <a:ext uri="{FF2B5EF4-FFF2-40B4-BE49-F238E27FC236}">
                <a16:creationId xmlns:a16="http://schemas.microsoft.com/office/drawing/2014/main" id="{CA8C15C6-E91D-4E8B-90B8-A9CEAD92CC64}"/>
              </a:ext>
            </a:extLst>
          </p:cNvPr>
          <p:cNvSpPr>
            <a:spLocks noGrp="1"/>
          </p:cNvSpPr>
          <p:nvPr/>
        </p:nvSpPr>
        <p:spPr>
          <a:xfrm>
            <a:off x="857229" y="4489423"/>
            <a:ext cx="4190895" cy="279393"/>
          </a:xfrm>
          <a:prstGeom prst="rect">
            <a:avLst/>
          </a:prstGeom>
          <a:noFill/>
        </p:spPr>
        <p:txBody>
          <a:bodyPr wrap="square" lIns="0" tIns="0" rIns="0" bIns="0" anchor="t">
            <a:spAutoFit/>
          </a:bodyPr>
          <a:lstStyle/>
          <a:p>
            <a:pPr marL="0" indent="0" algn="l">
              <a:buNone/>
            </a:pPr>
            <a:r>
              <a:rPr sz="1450" b="1">
                <a:solidFill>
                  <a:srgbClr val="162A2D"/>
                </a:solidFill>
                <a:latin typeface="Arial"/>
                <a:ea typeface="Arial"/>
                <a:cs typeface="Arial"/>
              </a:rPr>
              <a:t>Weighted logistic</a:t>
            </a:r>
            <a:endParaRPr sz="1450"/>
          </a:p>
        </p:txBody>
      </p:sp>
      <p:pic>
        <p:nvPicPr>
          <p:cNvPr id="50" name="Picture 2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7229" y="5086309"/>
            <a:ext cx="4190895" cy="800080"/>
          </a:xfrm>
          <a:prstGeom prst="rect">
            <a:avLst/>
          </a:prstGeom>
        </p:spPr>
      </p:pic>
      <p:sp>
        <p:nvSpPr>
          <p:cNvPr id="15" name="TextBox 27">
            <a:extLst>
              <a:ext uri="{FF2B5EF4-FFF2-40B4-BE49-F238E27FC236}">
                <a16:creationId xmlns:a16="http://schemas.microsoft.com/office/drawing/2014/main" id="{9FD85993-71F9-4C13-907B-66D9A1E7C503}"/>
              </a:ext>
            </a:extLst>
          </p:cNvPr>
          <p:cNvSpPr>
            <a:spLocks noGrp="1"/>
          </p:cNvSpPr>
          <p:nvPr/>
        </p:nvSpPr>
        <p:spPr>
          <a:xfrm>
            <a:off x="857229" y="5086309"/>
            <a:ext cx="4190895" cy="800080"/>
          </a:xfrm>
          <a:prstGeom prst="rect">
            <a:avLst/>
          </a:prstGeom>
          <a:noFill/>
        </p:spPr>
        <p:txBody>
          <a:bodyPr wrap="square" lIns="0" tIns="152396" rIns="0" bIns="0" anchor="t">
            <a:spAutoFit/>
          </a:bodyPr>
          <a:lstStyle/>
          <a:p>
            <a:pPr marL="0" indent="0" algn="l">
              <a:lnSpc>
                <a:spcPts val="1822"/>
              </a:lnSpc>
              <a:buNone/>
            </a:pPr>
            <a:r>
              <a:rPr sz="1350">
                <a:solidFill>
                  <a:srgbClr val="5E6D6C"/>
                </a:solidFill>
                <a:latin typeface="Arial"/>
                <a:ea typeface="Arial"/>
                <a:cs typeface="Arial"/>
              </a:rPr>
              <a:t>3,700 entities · identical feature groups never cross split boundaries.</a:t>
            </a:r>
            <a:endParaRPr sz="1350"/>
          </a:p>
        </p:txBody>
      </p:sp>
      <p:sp>
        <p:nvSpPr>
          <p:cNvPr id="16" name="Shape 30">
            <a:extLst>
              <a:ext uri="{FF2B5EF4-FFF2-40B4-BE49-F238E27FC236}">
                <a16:creationId xmlns:a16="http://schemas.microsoft.com/office/drawing/2014/main" id="{0B4D285B-EC1F-4304-8C17-12C020436BBE}"/>
              </a:ext>
            </a:extLst>
          </p:cNvPr>
          <p:cNvSpPr>
            <a:spLocks noGrp="1"/>
          </p:cNvSpPr>
          <p:nvPr/>
        </p:nvSpPr>
        <p:spPr>
          <a:xfrm>
            <a:off x="5879953" y="2032035"/>
            <a:ext cx="5727557" cy="4127397"/>
          </a:xfrm>
          <a:prstGeom prst="roundRect">
            <a:avLst>
              <a:gd name="adj" fmla="val 6462"/>
            </a:avLst>
          </a:prstGeom>
          <a:solidFill>
            <a:srgbClr val="162A2D"/>
          </a:solidFill>
        </p:spPr>
        <p:txBody>
          <a:bodyPr/>
          <a:lstStyle/>
          <a:p>
            <a:endParaRPr lang="en-DE"/>
          </a:p>
        </p:txBody>
      </p:sp>
      <p:sp>
        <p:nvSpPr>
          <p:cNvPr id="17" name="TextBox 32">
            <a:extLst>
              <a:ext uri="{FF2B5EF4-FFF2-40B4-BE49-F238E27FC236}">
                <a16:creationId xmlns:a16="http://schemas.microsoft.com/office/drawing/2014/main" id="{2C87AC69-EC60-483E-B7D8-98FB072DDC9D}"/>
              </a:ext>
            </a:extLst>
          </p:cNvPr>
          <p:cNvSpPr>
            <a:spLocks noGrp="1"/>
          </p:cNvSpPr>
          <p:nvPr/>
        </p:nvSpPr>
        <p:spPr>
          <a:xfrm>
            <a:off x="6146646" y="2298728"/>
            <a:ext cx="5194170"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LOCKED HOLDOUT · THRESHOLD 0.6713</a:t>
            </a:r>
            <a:endParaRPr sz="1050"/>
          </a:p>
        </p:txBody>
      </p:sp>
      <p:sp>
        <p:nvSpPr>
          <p:cNvPr id="18" name="Shape 34">
            <a:extLst>
              <a:ext uri="{FF2B5EF4-FFF2-40B4-BE49-F238E27FC236}">
                <a16:creationId xmlns:a16="http://schemas.microsoft.com/office/drawing/2014/main" id="{8926D4E1-E335-429E-8ABA-3175D07FC48A}"/>
              </a:ext>
            </a:extLst>
          </p:cNvPr>
          <p:cNvSpPr>
            <a:spLocks noGrp="1"/>
          </p:cNvSpPr>
          <p:nvPr/>
        </p:nvSpPr>
        <p:spPr>
          <a:xfrm>
            <a:off x="6146646" y="2984511"/>
            <a:ext cx="2463738" cy="1460463"/>
          </a:xfrm>
          <a:prstGeom prst="rect">
            <a:avLst/>
          </a:prstGeom>
          <a:noFill/>
        </p:spPr>
        <p:txBody>
          <a:bodyPr/>
          <a:lstStyle/>
          <a:p>
            <a:endParaRPr lang="en-DE"/>
          </a:p>
        </p:txBody>
      </p:sp>
      <p:pic>
        <p:nvPicPr>
          <p:cNvPr id="55" name="Picture 34"/>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46646" y="2984511"/>
            <a:ext cx="2463738" cy="1460463"/>
          </a:xfrm>
          <a:prstGeom prst="rect">
            <a:avLst/>
          </a:prstGeom>
        </p:spPr>
      </p:pic>
      <p:sp>
        <p:nvSpPr>
          <p:cNvPr id="20" name="TextBox 36">
            <a:extLst>
              <a:ext uri="{FF2B5EF4-FFF2-40B4-BE49-F238E27FC236}">
                <a16:creationId xmlns:a16="http://schemas.microsoft.com/office/drawing/2014/main" id="{BC6C9AB3-5DB8-42E3-AC6D-BE91C0F20709}"/>
              </a:ext>
            </a:extLst>
          </p:cNvPr>
          <p:cNvSpPr>
            <a:spLocks noGrp="1"/>
          </p:cNvSpPr>
          <p:nvPr/>
        </p:nvSpPr>
        <p:spPr>
          <a:xfrm>
            <a:off x="6146646" y="2984511"/>
            <a:ext cx="2457389" cy="675564"/>
          </a:xfrm>
          <a:prstGeom prst="rect">
            <a:avLst/>
          </a:prstGeom>
          <a:noFill/>
        </p:spPr>
        <p:txBody>
          <a:bodyPr wrap="square" lIns="0" tIns="0" rIns="0" bIns="0" anchor="t">
            <a:spAutoFit/>
          </a:bodyPr>
          <a:lstStyle/>
          <a:p>
            <a:pPr marL="0" indent="0" algn="l">
              <a:lnSpc>
                <a:spcPts val="5320"/>
              </a:lnSpc>
              <a:buNone/>
            </a:pPr>
            <a:r>
              <a:rPr sz="5600" b="1">
                <a:solidFill>
                  <a:srgbClr val="00A99D"/>
                </a:solidFill>
                <a:latin typeface="Arial"/>
                <a:ea typeface="Arial"/>
                <a:cs typeface="Arial"/>
              </a:rPr>
              <a:t>.855</a:t>
            </a:r>
            <a:endParaRPr sz="5600"/>
          </a:p>
        </p:txBody>
      </p:sp>
      <p:sp>
        <p:nvSpPr>
          <p:cNvPr id="21" name="TextBox 38">
            <a:extLst>
              <a:ext uri="{FF2B5EF4-FFF2-40B4-BE49-F238E27FC236}">
                <a16:creationId xmlns:a16="http://schemas.microsoft.com/office/drawing/2014/main" id="{671AEC74-1C1B-47A2-9F92-CDFB07C54E7B}"/>
              </a:ext>
            </a:extLst>
          </p:cNvPr>
          <p:cNvSpPr>
            <a:spLocks noGrp="1"/>
          </p:cNvSpPr>
          <p:nvPr/>
        </p:nvSpPr>
        <p:spPr>
          <a:xfrm>
            <a:off x="6146646" y="3774372"/>
            <a:ext cx="2457389" cy="215895"/>
          </a:xfrm>
          <a:prstGeom prst="rect">
            <a:avLst/>
          </a:prstGeom>
          <a:noFill/>
        </p:spPr>
        <p:txBody>
          <a:bodyPr wrap="square" lIns="0" tIns="0" rIns="0" bIns="0" anchor="t">
            <a:spAutoFit/>
          </a:bodyPr>
          <a:lstStyle/>
          <a:p>
            <a:pPr marL="0" indent="0" algn="l">
              <a:buNone/>
            </a:pPr>
            <a:r>
              <a:rPr sz="1500">
                <a:solidFill>
                  <a:srgbClr val="FFFFFF"/>
                </a:solidFill>
                <a:latin typeface="Arial"/>
                <a:ea typeface="Arial"/>
                <a:cs typeface="Arial"/>
              </a:rPr>
              <a:t>Recall</a:t>
            </a:r>
            <a:endParaRPr sz="1500"/>
          </a:p>
        </p:txBody>
      </p:sp>
      <p:sp>
        <p:nvSpPr>
          <p:cNvPr id="22" name="TextBox 40">
            <a:extLst>
              <a:ext uri="{FF2B5EF4-FFF2-40B4-BE49-F238E27FC236}">
                <a16:creationId xmlns:a16="http://schemas.microsoft.com/office/drawing/2014/main" id="{4F52220A-F69E-4159-A0E5-B9AA9CC3FCA9}"/>
              </a:ext>
            </a:extLst>
          </p:cNvPr>
          <p:cNvSpPr>
            <a:spLocks noGrp="1"/>
          </p:cNvSpPr>
          <p:nvPr/>
        </p:nvSpPr>
        <p:spPr>
          <a:xfrm>
            <a:off x="6146646" y="4053765"/>
            <a:ext cx="2457389" cy="177796"/>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47 TP · 8 FN</a:t>
            </a:r>
            <a:endParaRPr sz="1200"/>
          </a:p>
        </p:txBody>
      </p:sp>
      <p:sp>
        <p:nvSpPr>
          <p:cNvPr id="23" name="TextBox 45">
            <a:extLst>
              <a:ext uri="{FF2B5EF4-FFF2-40B4-BE49-F238E27FC236}">
                <a16:creationId xmlns:a16="http://schemas.microsoft.com/office/drawing/2014/main" id="{66FA265D-6BBE-418D-91C9-E619524B0F72}"/>
              </a:ext>
            </a:extLst>
          </p:cNvPr>
          <p:cNvSpPr>
            <a:spLocks noGrp="1"/>
          </p:cNvSpPr>
          <p:nvPr/>
        </p:nvSpPr>
        <p:spPr>
          <a:xfrm>
            <a:off x="9054874" y="2984511"/>
            <a:ext cx="2285943" cy="675564"/>
          </a:xfrm>
          <a:prstGeom prst="rect">
            <a:avLst/>
          </a:prstGeom>
          <a:noFill/>
        </p:spPr>
        <p:txBody>
          <a:bodyPr wrap="square" lIns="0" tIns="0" rIns="0" bIns="0" anchor="t">
            <a:spAutoFit/>
          </a:bodyPr>
          <a:lstStyle/>
          <a:p>
            <a:pPr marL="0" indent="0" algn="l">
              <a:lnSpc>
                <a:spcPts val="5320"/>
              </a:lnSpc>
              <a:buNone/>
            </a:pPr>
            <a:r>
              <a:rPr sz="5600" b="1">
                <a:solidFill>
                  <a:srgbClr val="FFFFFF"/>
                </a:solidFill>
                <a:latin typeface="Arial"/>
                <a:ea typeface="Arial"/>
                <a:cs typeface="Arial"/>
              </a:rPr>
              <a:t>.423</a:t>
            </a:r>
            <a:endParaRPr sz="5600"/>
          </a:p>
        </p:txBody>
      </p:sp>
      <p:sp>
        <p:nvSpPr>
          <p:cNvPr id="24" name="TextBox 47">
            <a:extLst>
              <a:ext uri="{FF2B5EF4-FFF2-40B4-BE49-F238E27FC236}">
                <a16:creationId xmlns:a16="http://schemas.microsoft.com/office/drawing/2014/main" id="{A9F2B534-09EA-45E2-9555-A5FEB935D52B}"/>
              </a:ext>
            </a:extLst>
          </p:cNvPr>
          <p:cNvSpPr>
            <a:spLocks noGrp="1"/>
          </p:cNvSpPr>
          <p:nvPr/>
        </p:nvSpPr>
        <p:spPr>
          <a:xfrm>
            <a:off x="9054874" y="3774372"/>
            <a:ext cx="2285943" cy="215895"/>
          </a:xfrm>
          <a:prstGeom prst="rect">
            <a:avLst/>
          </a:prstGeom>
          <a:noFill/>
        </p:spPr>
        <p:txBody>
          <a:bodyPr wrap="square" lIns="0" tIns="0" rIns="0" bIns="0" anchor="t">
            <a:spAutoFit/>
          </a:bodyPr>
          <a:lstStyle/>
          <a:p>
            <a:pPr marL="0" indent="0" algn="l">
              <a:buNone/>
            </a:pPr>
            <a:r>
              <a:rPr sz="1500">
                <a:solidFill>
                  <a:srgbClr val="FFFFFF"/>
                </a:solidFill>
                <a:latin typeface="Arial"/>
                <a:ea typeface="Arial"/>
                <a:cs typeface="Arial"/>
              </a:rPr>
              <a:t>Precision</a:t>
            </a:r>
            <a:endParaRPr sz="1500"/>
          </a:p>
        </p:txBody>
      </p:sp>
      <p:sp>
        <p:nvSpPr>
          <p:cNvPr id="25" name="TextBox 49">
            <a:extLst>
              <a:ext uri="{FF2B5EF4-FFF2-40B4-BE49-F238E27FC236}">
                <a16:creationId xmlns:a16="http://schemas.microsoft.com/office/drawing/2014/main" id="{54B2D52C-5F33-4EEE-905B-C7C47D5A9B28}"/>
              </a:ext>
            </a:extLst>
          </p:cNvPr>
          <p:cNvSpPr>
            <a:spLocks noGrp="1"/>
          </p:cNvSpPr>
          <p:nvPr/>
        </p:nvSpPr>
        <p:spPr>
          <a:xfrm>
            <a:off x="9054874" y="4053765"/>
            <a:ext cx="2285943" cy="177796"/>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64 false positives</a:t>
            </a:r>
            <a:endParaRPr sz="1200"/>
          </a:p>
        </p:txBody>
      </p:sp>
      <p:sp>
        <p:nvSpPr>
          <p:cNvPr id="26" name="Shape 52">
            <a:extLst>
              <a:ext uri="{FF2B5EF4-FFF2-40B4-BE49-F238E27FC236}">
                <a16:creationId xmlns:a16="http://schemas.microsoft.com/office/drawing/2014/main" id="{FA3492F0-D050-4273-B62F-37A13028E7BE}"/>
              </a:ext>
            </a:extLst>
          </p:cNvPr>
          <p:cNvSpPr>
            <a:spLocks noGrp="1"/>
          </p:cNvSpPr>
          <p:nvPr/>
        </p:nvSpPr>
        <p:spPr>
          <a:xfrm>
            <a:off x="6146646" y="4775166"/>
            <a:ext cx="5194170" cy="1117572"/>
          </a:xfrm>
          <a:prstGeom prst="rect">
            <a:avLst/>
          </a:prstGeom>
          <a:noFill/>
        </p:spPr>
        <p:txBody>
          <a:bodyPr/>
          <a:lstStyle/>
          <a:p>
            <a:endParaRPr lang="en-DE"/>
          </a:p>
        </p:txBody>
      </p:sp>
      <p:pic>
        <p:nvPicPr>
          <p:cNvPr id="63" name="Picture 5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6646" y="4775166"/>
            <a:ext cx="5194170" cy="1117572"/>
          </a:xfrm>
          <a:prstGeom prst="rect">
            <a:avLst/>
          </a:prstGeom>
        </p:spPr>
      </p:pic>
      <p:sp>
        <p:nvSpPr>
          <p:cNvPr id="28" name="TextBox 55">
            <a:extLst>
              <a:ext uri="{FF2B5EF4-FFF2-40B4-BE49-F238E27FC236}">
                <a16:creationId xmlns:a16="http://schemas.microsoft.com/office/drawing/2014/main" id="{C015137C-5DB4-44D4-9419-4784079C1F8B}"/>
              </a:ext>
            </a:extLst>
          </p:cNvPr>
          <p:cNvSpPr>
            <a:spLocks noGrp="1"/>
          </p:cNvSpPr>
          <p:nvPr/>
        </p:nvSpPr>
        <p:spPr>
          <a:xfrm>
            <a:off x="6146646" y="4959312"/>
            <a:ext cx="1714457" cy="311142"/>
          </a:xfrm>
          <a:prstGeom prst="rect">
            <a:avLst/>
          </a:prstGeom>
          <a:noFill/>
        </p:spPr>
        <p:txBody>
          <a:bodyPr wrap="square" lIns="0" tIns="0" rIns="0" bIns="0" anchor="t">
            <a:spAutoFit/>
          </a:bodyPr>
          <a:lstStyle/>
          <a:p>
            <a:pPr marL="0" indent="0" algn="l">
              <a:buNone/>
            </a:pPr>
            <a:r>
              <a:rPr sz="2150" b="1">
                <a:solidFill>
                  <a:srgbClr val="FFFFFF"/>
                </a:solidFill>
                <a:latin typeface="Arial"/>
                <a:ea typeface="Arial"/>
                <a:cs typeface="Arial"/>
              </a:rPr>
              <a:t>.423</a:t>
            </a:r>
            <a:endParaRPr sz="2150"/>
          </a:p>
        </p:txBody>
      </p:sp>
      <p:sp>
        <p:nvSpPr>
          <p:cNvPr id="29" name="TextBox 56">
            <a:extLst>
              <a:ext uri="{FF2B5EF4-FFF2-40B4-BE49-F238E27FC236}">
                <a16:creationId xmlns:a16="http://schemas.microsoft.com/office/drawing/2014/main" id="{758B33C4-D045-4380-8924-7CAC31A51F89}"/>
              </a:ext>
            </a:extLst>
          </p:cNvPr>
          <p:cNvSpPr>
            <a:spLocks noGrp="1"/>
          </p:cNvSpPr>
          <p:nvPr/>
        </p:nvSpPr>
        <p:spPr>
          <a:xfrm>
            <a:off x="6146646" y="5270454"/>
            <a:ext cx="1714457" cy="177796"/>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PR-AUC</a:t>
            </a:r>
            <a:endParaRPr sz="1200"/>
          </a:p>
        </p:txBody>
      </p:sp>
      <p:sp>
        <p:nvSpPr>
          <p:cNvPr id="30" name="TextBox 59">
            <a:extLst>
              <a:ext uri="{FF2B5EF4-FFF2-40B4-BE49-F238E27FC236}">
                <a16:creationId xmlns:a16="http://schemas.microsoft.com/office/drawing/2014/main" id="{CCCAA094-E6C0-40CA-BB62-E90D41E517EC}"/>
              </a:ext>
            </a:extLst>
          </p:cNvPr>
          <p:cNvSpPr>
            <a:spLocks noGrp="1"/>
          </p:cNvSpPr>
          <p:nvPr/>
        </p:nvSpPr>
        <p:spPr>
          <a:xfrm>
            <a:off x="7861103" y="4959312"/>
            <a:ext cx="1714457" cy="311142"/>
          </a:xfrm>
          <a:prstGeom prst="rect">
            <a:avLst/>
          </a:prstGeom>
          <a:noFill/>
        </p:spPr>
        <p:txBody>
          <a:bodyPr wrap="square" lIns="0" tIns="0" rIns="0" bIns="0" anchor="t">
            <a:spAutoFit/>
          </a:bodyPr>
          <a:lstStyle/>
          <a:p>
            <a:pPr marL="0" indent="0" algn="l">
              <a:buNone/>
            </a:pPr>
            <a:r>
              <a:rPr sz="2150" b="1">
                <a:solidFill>
                  <a:srgbClr val="FFFFFF"/>
                </a:solidFill>
                <a:latin typeface="Arial"/>
                <a:ea typeface="Arial"/>
                <a:cs typeface="Arial"/>
              </a:rPr>
              <a:t>.566</a:t>
            </a:r>
            <a:endParaRPr sz="2150"/>
          </a:p>
        </p:txBody>
      </p:sp>
      <p:sp>
        <p:nvSpPr>
          <p:cNvPr id="31" name="TextBox 60">
            <a:extLst>
              <a:ext uri="{FF2B5EF4-FFF2-40B4-BE49-F238E27FC236}">
                <a16:creationId xmlns:a16="http://schemas.microsoft.com/office/drawing/2014/main" id="{C9F59D55-EAB4-4458-960B-C0C6FDA069DC}"/>
              </a:ext>
            </a:extLst>
          </p:cNvPr>
          <p:cNvSpPr>
            <a:spLocks noGrp="1"/>
          </p:cNvSpPr>
          <p:nvPr/>
        </p:nvSpPr>
        <p:spPr>
          <a:xfrm>
            <a:off x="7861103" y="5270454"/>
            <a:ext cx="1714457" cy="177796"/>
          </a:xfrm>
          <a:prstGeom prst="rect">
            <a:avLst/>
          </a:prstGeom>
          <a:noFill/>
        </p:spPr>
        <p:txBody>
          <a:bodyPr wrap="square" lIns="0" tIns="0" rIns="0" bIns="0" anchor="t">
            <a:spAutoFit/>
          </a:bodyPr>
          <a:lstStyle/>
          <a:p>
            <a:pPr marL="0" indent="0" algn="l">
              <a:buNone/>
            </a:pPr>
            <a:r>
              <a:rPr sz="1200">
                <a:solidFill>
                  <a:srgbClr val="B8C3C1"/>
                </a:solidFill>
                <a:latin typeface="Arial"/>
                <a:ea typeface="Arial"/>
                <a:cs typeface="Arial"/>
              </a:rPr>
              <a:t>F1</a:t>
            </a:r>
            <a:endParaRPr sz="1200"/>
          </a:p>
        </p:txBody>
      </p:sp>
      <p:sp>
        <p:nvSpPr>
          <p:cNvPr id="32" name="TextBox 63">
            <a:extLst>
              <a:ext uri="{FF2B5EF4-FFF2-40B4-BE49-F238E27FC236}">
                <a16:creationId xmlns:a16="http://schemas.microsoft.com/office/drawing/2014/main" id="{B2C74051-C5F0-426D-A478-CD6E16AA0AB7}"/>
              </a:ext>
            </a:extLst>
          </p:cNvPr>
          <p:cNvSpPr>
            <a:spLocks noGrp="1"/>
          </p:cNvSpPr>
          <p:nvPr/>
        </p:nvSpPr>
        <p:spPr>
          <a:xfrm>
            <a:off x="9575561" y="4959312"/>
            <a:ext cx="1765256" cy="438139"/>
          </a:xfrm>
          <a:prstGeom prst="rect">
            <a:avLst/>
          </a:prstGeom>
          <a:noFill/>
        </p:spPr>
        <p:txBody>
          <a:bodyPr wrap="square" lIns="0" tIns="0" rIns="0" bIns="0" anchor="t">
            <a:spAutoFit/>
          </a:bodyPr>
          <a:lstStyle/>
          <a:p>
            <a:pPr marL="0" indent="0" algn="l">
              <a:lnSpc>
                <a:spcPts val="1725"/>
              </a:lnSpc>
              <a:buNone/>
            </a:pPr>
            <a:r>
              <a:rPr sz="1500" b="1">
                <a:solidFill>
                  <a:srgbClr val="00A99D"/>
                </a:solidFill>
                <a:latin typeface="Arial"/>
                <a:ea typeface="Arial"/>
                <a:cs typeface="Arial"/>
              </a:rPr>
              <a:t>Calibration</a:t>
            </a:r>
            <a:endParaRPr sz="1500"/>
          </a:p>
          <a:p>
            <a:pPr marL="0" indent="0" algn="l">
              <a:lnSpc>
                <a:spcPts val="1725"/>
              </a:lnSpc>
              <a:buNone/>
            </a:pPr>
            <a:r>
              <a:rPr sz="1500" b="1">
                <a:solidFill>
                  <a:srgbClr val="00A99D"/>
                </a:solidFill>
                <a:latin typeface="Arial"/>
                <a:ea typeface="Arial"/>
                <a:cs typeface="Arial"/>
              </a:rPr>
              <a:t>still required</a:t>
            </a:r>
            <a:endParaRPr sz="1500"/>
          </a:p>
        </p:txBody>
      </p:sp>
      <p:sp>
        <p:nvSpPr>
          <p:cNvPr id="33" name="TextBox 67">
            <a:extLst>
              <a:ext uri="{FF2B5EF4-FFF2-40B4-BE49-F238E27FC236}">
                <a16:creationId xmlns:a16="http://schemas.microsoft.com/office/drawing/2014/main" id="{C2D8E54E-9E1A-45B1-8A45-8EC635DB57F0}"/>
              </a:ext>
            </a:extLst>
          </p:cNvPr>
          <p:cNvSpPr>
            <a:spLocks noGrp="1"/>
          </p:cNvSpPr>
          <p:nvPr/>
        </p:nvSpPr>
        <p:spPr>
          <a:xfrm>
            <a:off x="584185" y="6324528"/>
            <a:ext cx="8254794" cy="2666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Accuracy is context; minority errors drive the decision.</a:t>
            </a:r>
            <a:endParaRPr sz="1200"/>
          </a:p>
        </p:txBody>
      </p:sp>
      <p:sp>
        <p:nvSpPr>
          <p:cNvPr id="34" name="TextBox 69">
            <a:extLst>
              <a:ext uri="{FF2B5EF4-FFF2-40B4-BE49-F238E27FC236}">
                <a16:creationId xmlns:a16="http://schemas.microsoft.com/office/drawing/2014/main" id="{263EC03A-96B7-4B20-B2D7-C710BA1E0E4B}"/>
              </a:ext>
            </a:extLst>
          </p:cNvPr>
          <p:cNvSpPr>
            <a:spLocks noGrp="1"/>
          </p:cNvSpPr>
          <p:nvPr/>
        </p:nvSpPr>
        <p:spPr>
          <a:xfrm>
            <a:off x="11099523" y="63626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11</a:t>
            </a:r>
            <a:endParaRPr sz="1200"/>
          </a:p>
        </p:txBody>
      </p:sp>
    </p:spTree>
    <p:extLst>
      <p:ext uri="{BB962C8B-B14F-4D97-AF65-F5344CB8AC3E}">
        <p14:creationId xmlns:p14="http://schemas.microsoft.com/office/powerpoint/2010/main" val="10174251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06D956A9-62CD-4A8D-BDA2-565B25791BCE}"/>
              </a:ext>
            </a:extLst>
          </p:cNvPr>
          <p:cNvSpPr>
            <a:spLocks noGrp="1"/>
          </p:cNvSpPr>
          <p:nvPr/>
        </p:nvSpPr>
        <p:spPr>
          <a:xfrm>
            <a:off x="0" y="86"/>
            <a:ext cx="12191695" cy="6857829"/>
          </a:xfrm>
          <a:prstGeom prst="rect">
            <a:avLst/>
          </a:prstGeom>
          <a:solidFill>
            <a:srgbClr val="FFFFFF"/>
          </a:solidFill>
        </p:spPr>
        <p:txBody>
          <a:bodyPr/>
          <a:lstStyle/>
          <a:p>
            <a:endParaRPr lang="en-DE"/>
          </a:p>
        </p:txBody>
      </p:sp>
      <p:sp>
        <p:nvSpPr>
          <p:cNvPr id="3" name="TextBox 3">
            <a:extLst>
              <a:ext uri="{FF2B5EF4-FFF2-40B4-BE49-F238E27FC236}">
                <a16:creationId xmlns:a16="http://schemas.microsoft.com/office/drawing/2014/main" id="{79C46854-1103-4E33-B51D-B6AA4EEA6C3E}"/>
              </a:ext>
            </a:extLst>
          </p:cNvPr>
          <p:cNvSpPr>
            <a:spLocks noGrp="1"/>
          </p:cNvSpPr>
          <p:nvPr/>
        </p:nvSpPr>
        <p:spPr>
          <a:xfrm>
            <a:off x="584185" y="457274"/>
            <a:ext cx="2730432"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05 · MATERIAL RETRIEVAL</a:t>
            </a:r>
            <a:endParaRPr sz="1000"/>
          </a:p>
        </p:txBody>
      </p:sp>
      <p:sp>
        <p:nvSpPr>
          <p:cNvPr id="4" name="TextBox 5">
            <a:extLst>
              <a:ext uri="{FF2B5EF4-FFF2-40B4-BE49-F238E27FC236}">
                <a16:creationId xmlns:a16="http://schemas.microsoft.com/office/drawing/2014/main" id="{EB31CD4A-A2D1-42FE-AF08-2DDC9B683665}"/>
              </a:ext>
            </a:extLst>
          </p:cNvPr>
          <p:cNvSpPr>
            <a:spLocks noGrp="1"/>
          </p:cNvSpPr>
          <p:nvPr/>
        </p:nvSpPr>
        <p:spPr>
          <a:xfrm>
            <a:off x="584185" y="812865"/>
            <a:ext cx="9143771" cy="1079473"/>
          </a:xfrm>
          <a:prstGeom prst="rect">
            <a:avLst/>
          </a:prstGeom>
          <a:noFill/>
        </p:spPr>
        <p:txBody>
          <a:bodyPr wrap="square" lIns="0" tIns="0" rIns="0" bIns="0" anchor="t">
            <a:spAutoFit/>
          </a:bodyPr>
          <a:lstStyle/>
          <a:p>
            <a:pPr marL="0" indent="0" algn="l">
              <a:lnSpc>
                <a:spcPts val="3564"/>
              </a:lnSpc>
              <a:buNone/>
            </a:pPr>
            <a:r>
              <a:rPr sz="3300" spc="-150">
                <a:solidFill>
                  <a:srgbClr val="162A2D"/>
                </a:solidFill>
                <a:latin typeface="Arial"/>
                <a:ea typeface="Arial"/>
                <a:cs typeface="Arial"/>
              </a:rPr>
              <a:t>Better ranking did not fix</a:t>
            </a:r>
            <a:endParaRPr sz="3300"/>
          </a:p>
          <a:p>
            <a:pPr marL="0" indent="0" algn="l">
              <a:lnSpc>
                <a:spcPts val="3564"/>
              </a:lnSpc>
              <a:buNone/>
            </a:pPr>
            <a:r>
              <a:rPr sz="3300" spc="-150">
                <a:solidFill>
                  <a:srgbClr val="162A2D"/>
                </a:solidFill>
                <a:latin typeface="Arial"/>
                <a:ea typeface="Arial"/>
                <a:cs typeface="Arial"/>
              </a:rPr>
              <a:t>missing evidence</a:t>
            </a:r>
            <a:endParaRPr sz="3300"/>
          </a:p>
        </p:txBody>
      </p:sp>
      <p:sp>
        <p:nvSpPr>
          <p:cNvPr id="5" name="Shape 7">
            <a:extLst>
              <a:ext uri="{FF2B5EF4-FFF2-40B4-BE49-F238E27FC236}">
                <a16:creationId xmlns:a16="http://schemas.microsoft.com/office/drawing/2014/main" id="{71C18E8B-082B-4814-9217-F8205C8A1058}"/>
              </a:ext>
            </a:extLst>
          </p:cNvPr>
          <p:cNvSpPr>
            <a:spLocks noGrp="1"/>
          </p:cNvSpPr>
          <p:nvPr/>
        </p:nvSpPr>
        <p:spPr>
          <a:xfrm>
            <a:off x="584185" y="2349527"/>
            <a:ext cx="6667333" cy="3479713"/>
          </a:xfrm>
          <a:prstGeom prst="roundRect">
            <a:avLst>
              <a:gd name="adj" fmla="val 7664"/>
            </a:avLst>
          </a:prstGeom>
          <a:solidFill>
            <a:srgbClr val="F4F1EA"/>
          </a:solidFill>
        </p:spPr>
        <p:txBody>
          <a:bodyPr/>
          <a:lstStyle/>
          <a:p>
            <a:endParaRPr lang="en-DE"/>
          </a:p>
        </p:txBody>
      </p:sp>
      <p:sp>
        <p:nvSpPr>
          <p:cNvPr id="6" name="TextBox 9">
            <a:extLst>
              <a:ext uri="{FF2B5EF4-FFF2-40B4-BE49-F238E27FC236}">
                <a16:creationId xmlns:a16="http://schemas.microsoft.com/office/drawing/2014/main" id="{CF36B40B-9AC7-4A88-AD2A-2CFEC50698BB}"/>
              </a:ext>
            </a:extLst>
          </p:cNvPr>
          <p:cNvSpPr>
            <a:spLocks noGrp="1"/>
          </p:cNvSpPr>
          <p:nvPr/>
        </p:nvSpPr>
        <p:spPr>
          <a:xfrm>
            <a:off x="850879" y="2616220"/>
            <a:ext cx="6133947"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REVIEWED GRID · nDCG@5</a:t>
            </a:r>
            <a:endParaRPr sz="1050"/>
          </a:p>
        </p:txBody>
      </p:sp>
      <p:sp>
        <p:nvSpPr>
          <p:cNvPr id="7" name="Shape 11">
            <a:extLst>
              <a:ext uri="{FF2B5EF4-FFF2-40B4-BE49-F238E27FC236}">
                <a16:creationId xmlns:a16="http://schemas.microsoft.com/office/drawing/2014/main" id="{D991B69A-1317-409E-8E94-90583A7FEA3E}"/>
              </a:ext>
            </a:extLst>
          </p:cNvPr>
          <p:cNvSpPr>
            <a:spLocks noGrp="1"/>
          </p:cNvSpPr>
          <p:nvPr/>
        </p:nvSpPr>
        <p:spPr>
          <a:xfrm>
            <a:off x="977876" y="3238505"/>
            <a:ext cx="5714857" cy="2031949"/>
          </a:xfrm>
          <a:prstGeom prst="rect">
            <a:avLst/>
          </a:prstGeom>
          <a:noFill/>
        </p:spPr>
        <p:txBody>
          <a:bodyPr/>
          <a:lstStyle/>
          <a:p>
            <a:endParaRPr lang="en-DE"/>
          </a:p>
        </p:txBody>
      </p:sp>
      <p:pic>
        <p:nvPicPr>
          <p:cNvPr id="63" name="Picture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7876" y="3238505"/>
            <a:ext cx="5714857" cy="2031949"/>
          </a:xfrm>
          <a:prstGeom prst="rect">
            <a:avLst/>
          </a:prstGeom>
        </p:spPr>
      </p:pic>
      <p:pic>
        <p:nvPicPr>
          <p:cNvPr id="64" name="Picture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5064" y="3638545"/>
            <a:ext cx="634984" cy="1619210"/>
          </a:xfrm>
          <a:prstGeom prst="rect">
            <a:avLst/>
          </a:prstGeom>
        </p:spPr>
      </p:pic>
      <p:pic>
        <p:nvPicPr>
          <p:cNvPr id="65" name="Picture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5064" y="3638545"/>
            <a:ext cx="634984" cy="1619210"/>
          </a:xfrm>
          <a:prstGeom prst="rect">
            <a:avLst/>
          </a:prstGeom>
        </p:spPr>
      </p:pic>
      <p:pic>
        <p:nvPicPr>
          <p:cNvPr id="66" name="Picture 13"/>
          <p:cNvPicPr>
            <a:picLocks noChangeAspect="1"/>
          </p:cNvPicPr>
          <p:nvPr/>
        </p:nvPicPr>
        <p:blipFill>
          <a:blip r:embed="rId5"/>
          <a:stretch>
            <a:fillRect/>
          </a:stretch>
        </p:blipFill>
        <p:spPr>
          <a:xfrm>
            <a:off x="1435064" y="3638545"/>
            <a:ext cx="634984" cy="1619210"/>
          </a:xfrm>
          <a:prstGeom prst="rect">
            <a:avLst/>
          </a:prstGeom>
        </p:spPr>
      </p:pic>
      <p:pic>
        <p:nvPicPr>
          <p:cNvPr id="67" name="Picture 15"/>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82788" y="3543297"/>
            <a:ext cx="634984" cy="1714457"/>
          </a:xfrm>
          <a:prstGeom prst="rect">
            <a:avLst/>
          </a:prstGeom>
        </p:spPr>
      </p:pic>
      <p:pic>
        <p:nvPicPr>
          <p:cNvPr id="68" name="Picture 15"/>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482788" y="3543297"/>
            <a:ext cx="634984" cy="1714457"/>
          </a:xfrm>
          <a:prstGeom prst="rect">
            <a:avLst/>
          </a:prstGeom>
        </p:spPr>
      </p:pic>
      <p:pic>
        <p:nvPicPr>
          <p:cNvPr id="69" name="Picture 15"/>
          <p:cNvPicPr>
            <a:picLocks noChangeAspect="1"/>
          </p:cNvPicPr>
          <p:nvPr/>
        </p:nvPicPr>
        <p:blipFill>
          <a:blip r:embed="rId7"/>
          <a:stretch>
            <a:fillRect/>
          </a:stretch>
        </p:blipFill>
        <p:spPr>
          <a:xfrm>
            <a:off x="2482788" y="3543297"/>
            <a:ext cx="634984" cy="1714457"/>
          </a:xfrm>
          <a:prstGeom prst="rect">
            <a:avLst/>
          </a:prstGeom>
        </p:spPr>
      </p:pic>
      <p:pic>
        <p:nvPicPr>
          <p:cNvPr id="70" name="Picture 1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30512" y="3568697"/>
            <a:ext cx="634984" cy="1689058"/>
          </a:xfrm>
          <a:prstGeom prst="rect">
            <a:avLst/>
          </a:prstGeom>
        </p:spPr>
      </p:pic>
      <p:pic>
        <p:nvPicPr>
          <p:cNvPr id="71" name="Picture 1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30512" y="3568697"/>
            <a:ext cx="634984" cy="1689058"/>
          </a:xfrm>
          <a:prstGeom prst="rect">
            <a:avLst/>
          </a:prstGeom>
        </p:spPr>
      </p:pic>
      <p:pic>
        <p:nvPicPr>
          <p:cNvPr id="72" name="Picture 17"/>
          <p:cNvPicPr>
            <a:picLocks noChangeAspect="1"/>
          </p:cNvPicPr>
          <p:nvPr/>
        </p:nvPicPr>
        <p:blipFill>
          <a:blip r:embed="rId9"/>
          <a:stretch>
            <a:fillRect/>
          </a:stretch>
        </p:blipFill>
        <p:spPr>
          <a:xfrm>
            <a:off x="3530512" y="3568697"/>
            <a:ext cx="634984" cy="1689058"/>
          </a:xfrm>
          <a:prstGeom prst="rect">
            <a:avLst/>
          </a:prstGeom>
        </p:spPr>
      </p:pic>
      <p:pic>
        <p:nvPicPr>
          <p:cNvPr id="73" name="Picture 19"/>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8236" y="3708393"/>
            <a:ext cx="634984" cy="1549361"/>
          </a:xfrm>
          <a:prstGeom prst="rect">
            <a:avLst/>
          </a:prstGeom>
        </p:spPr>
      </p:pic>
      <p:pic>
        <p:nvPicPr>
          <p:cNvPr id="74" name="Picture 19"/>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8236" y="3708393"/>
            <a:ext cx="634984" cy="1549361"/>
          </a:xfrm>
          <a:prstGeom prst="rect">
            <a:avLst/>
          </a:prstGeom>
        </p:spPr>
      </p:pic>
      <p:pic>
        <p:nvPicPr>
          <p:cNvPr id="75" name="Picture 19"/>
          <p:cNvPicPr>
            <a:picLocks noChangeAspect="1"/>
          </p:cNvPicPr>
          <p:nvPr/>
        </p:nvPicPr>
        <p:blipFill>
          <a:blip r:embed="rId11"/>
          <a:stretch>
            <a:fillRect/>
          </a:stretch>
        </p:blipFill>
        <p:spPr>
          <a:xfrm>
            <a:off x="4578236" y="3708393"/>
            <a:ext cx="634984" cy="1549361"/>
          </a:xfrm>
          <a:prstGeom prst="rect">
            <a:avLst/>
          </a:prstGeom>
        </p:spPr>
      </p:pic>
      <p:pic>
        <p:nvPicPr>
          <p:cNvPr id="76" name="Picture 21"/>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625959" y="3892538"/>
            <a:ext cx="634984" cy="1365216"/>
          </a:xfrm>
          <a:prstGeom prst="rect">
            <a:avLst/>
          </a:prstGeom>
        </p:spPr>
      </p:pic>
      <p:pic>
        <p:nvPicPr>
          <p:cNvPr id="77" name="Picture 21"/>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625959" y="3892538"/>
            <a:ext cx="634984" cy="1365216"/>
          </a:xfrm>
          <a:prstGeom prst="rect">
            <a:avLst/>
          </a:prstGeom>
        </p:spPr>
      </p:pic>
      <p:pic>
        <p:nvPicPr>
          <p:cNvPr id="78" name="Picture 21"/>
          <p:cNvPicPr>
            <a:picLocks noChangeAspect="1"/>
          </p:cNvPicPr>
          <p:nvPr/>
        </p:nvPicPr>
        <p:blipFill>
          <a:blip r:embed="rId13"/>
          <a:stretch>
            <a:fillRect/>
          </a:stretch>
        </p:blipFill>
        <p:spPr>
          <a:xfrm>
            <a:off x="5625959" y="3892538"/>
            <a:ext cx="634984" cy="1365216"/>
          </a:xfrm>
          <a:prstGeom prst="rect">
            <a:avLst/>
          </a:prstGeom>
        </p:spPr>
      </p:pic>
      <p:sp>
        <p:nvSpPr>
          <p:cNvPr id="24" name="TextBox 23">
            <a:extLst>
              <a:ext uri="{FF2B5EF4-FFF2-40B4-BE49-F238E27FC236}">
                <a16:creationId xmlns:a16="http://schemas.microsoft.com/office/drawing/2014/main" id="{E51FA325-4AD6-433D-90FB-397C9A22533F}"/>
              </a:ext>
            </a:extLst>
          </p:cNvPr>
          <p:cNvSpPr>
            <a:spLocks noGrp="1"/>
          </p:cNvSpPr>
          <p:nvPr/>
        </p:nvSpPr>
        <p:spPr>
          <a:xfrm>
            <a:off x="1333467" y="3378201"/>
            <a:ext cx="825479" cy="215895"/>
          </a:xfrm>
          <a:prstGeom prst="rect">
            <a:avLst/>
          </a:prstGeom>
          <a:noFill/>
        </p:spPr>
        <p:txBody>
          <a:bodyPr wrap="square" lIns="0" tIns="0" rIns="0" bIns="0" anchor="t">
            <a:spAutoFit/>
          </a:bodyPr>
          <a:lstStyle/>
          <a:p>
            <a:pPr marL="0" indent="0" algn="ctr">
              <a:buNone/>
            </a:pPr>
            <a:r>
              <a:rPr sz="1100">
                <a:solidFill>
                  <a:srgbClr val="162A2D"/>
                </a:solidFill>
                <a:latin typeface="Arial"/>
                <a:ea typeface="Arial"/>
                <a:cs typeface="Arial"/>
              </a:rPr>
              <a:t>.802</a:t>
            </a:r>
            <a:endParaRPr sz="1100"/>
          </a:p>
        </p:txBody>
      </p:sp>
      <p:sp>
        <p:nvSpPr>
          <p:cNvPr id="25" name="TextBox 25">
            <a:extLst>
              <a:ext uri="{FF2B5EF4-FFF2-40B4-BE49-F238E27FC236}">
                <a16:creationId xmlns:a16="http://schemas.microsoft.com/office/drawing/2014/main" id="{FC98E5A9-7E75-4136-888B-36097E1092B7}"/>
              </a:ext>
            </a:extLst>
          </p:cNvPr>
          <p:cNvSpPr>
            <a:spLocks noGrp="1"/>
          </p:cNvSpPr>
          <p:nvPr/>
        </p:nvSpPr>
        <p:spPr>
          <a:xfrm>
            <a:off x="2381190" y="3282954"/>
            <a:ext cx="825479" cy="215895"/>
          </a:xfrm>
          <a:prstGeom prst="rect">
            <a:avLst/>
          </a:prstGeom>
          <a:noFill/>
        </p:spPr>
        <p:txBody>
          <a:bodyPr wrap="square" lIns="0" tIns="0" rIns="0" bIns="0" anchor="t">
            <a:spAutoFit/>
          </a:bodyPr>
          <a:lstStyle/>
          <a:p>
            <a:pPr marL="0" indent="0" algn="ctr">
              <a:buNone/>
            </a:pPr>
            <a:r>
              <a:rPr sz="1200" b="1">
                <a:solidFill>
                  <a:srgbClr val="00A99D"/>
                </a:solidFill>
                <a:latin typeface="Arial"/>
                <a:ea typeface="Arial"/>
                <a:cs typeface="Arial"/>
              </a:rPr>
              <a:t>.847</a:t>
            </a:r>
            <a:endParaRPr sz="1200"/>
          </a:p>
        </p:txBody>
      </p:sp>
      <p:sp>
        <p:nvSpPr>
          <p:cNvPr id="26" name="TextBox 27">
            <a:extLst>
              <a:ext uri="{FF2B5EF4-FFF2-40B4-BE49-F238E27FC236}">
                <a16:creationId xmlns:a16="http://schemas.microsoft.com/office/drawing/2014/main" id="{B6761A13-5BA5-4B51-84F1-1B0B8683161E}"/>
              </a:ext>
            </a:extLst>
          </p:cNvPr>
          <p:cNvSpPr>
            <a:spLocks noGrp="1"/>
          </p:cNvSpPr>
          <p:nvPr/>
        </p:nvSpPr>
        <p:spPr>
          <a:xfrm>
            <a:off x="3428914" y="3308353"/>
            <a:ext cx="825479" cy="215895"/>
          </a:xfrm>
          <a:prstGeom prst="rect">
            <a:avLst/>
          </a:prstGeom>
          <a:noFill/>
        </p:spPr>
        <p:txBody>
          <a:bodyPr wrap="square" lIns="0" tIns="0" rIns="0" bIns="0" anchor="t">
            <a:spAutoFit/>
          </a:bodyPr>
          <a:lstStyle/>
          <a:p>
            <a:pPr marL="0" indent="0" algn="ctr">
              <a:buNone/>
            </a:pPr>
            <a:r>
              <a:rPr sz="1100">
                <a:solidFill>
                  <a:srgbClr val="162A2D"/>
                </a:solidFill>
                <a:latin typeface="Arial"/>
                <a:ea typeface="Arial"/>
                <a:cs typeface="Arial"/>
              </a:rPr>
              <a:t>.833</a:t>
            </a:r>
            <a:endParaRPr sz="1100"/>
          </a:p>
        </p:txBody>
      </p:sp>
      <p:sp>
        <p:nvSpPr>
          <p:cNvPr id="27" name="TextBox 29">
            <a:extLst>
              <a:ext uri="{FF2B5EF4-FFF2-40B4-BE49-F238E27FC236}">
                <a16:creationId xmlns:a16="http://schemas.microsoft.com/office/drawing/2014/main" id="{B8F5CC63-50CB-44AE-914D-D2360342D035}"/>
              </a:ext>
            </a:extLst>
          </p:cNvPr>
          <p:cNvSpPr>
            <a:spLocks noGrp="1"/>
          </p:cNvSpPr>
          <p:nvPr/>
        </p:nvSpPr>
        <p:spPr>
          <a:xfrm>
            <a:off x="4476638" y="3448050"/>
            <a:ext cx="825479" cy="215895"/>
          </a:xfrm>
          <a:prstGeom prst="rect">
            <a:avLst/>
          </a:prstGeom>
          <a:noFill/>
        </p:spPr>
        <p:txBody>
          <a:bodyPr wrap="square" lIns="0" tIns="0" rIns="0" bIns="0" anchor="t">
            <a:spAutoFit/>
          </a:bodyPr>
          <a:lstStyle/>
          <a:p>
            <a:pPr marL="0" indent="0" algn="ctr">
              <a:buNone/>
            </a:pPr>
            <a:r>
              <a:rPr sz="1100">
                <a:solidFill>
                  <a:srgbClr val="162A2D"/>
                </a:solidFill>
                <a:latin typeface="Arial"/>
                <a:ea typeface="Arial"/>
                <a:cs typeface="Arial"/>
              </a:rPr>
              <a:t>.762</a:t>
            </a:r>
            <a:endParaRPr sz="1100"/>
          </a:p>
        </p:txBody>
      </p:sp>
      <p:sp>
        <p:nvSpPr>
          <p:cNvPr id="28" name="TextBox 31">
            <a:extLst>
              <a:ext uri="{FF2B5EF4-FFF2-40B4-BE49-F238E27FC236}">
                <a16:creationId xmlns:a16="http://schemas.microsoft.com/office/drawing/2014/main" id="{4418F7A1-AA2E-4314-B20E-78636ACEACE4}"/>
              </a:ext>
            </a:extLst>
          </p:cNvPr>
          <p:cNvSpPr>
            <a:spLocks noGrp="1"/>
          </p:cNvSpPr>
          <p:nvPr/>
        </p:nvSpPr>
        <p:spPr>
          <a:xfrm>
            <a:off x="5524362" y="3632195"/>
            <a:ext cx="825479" cy="215895"/>
          </a:xfrm>
          <a:prstGeom prst="rect">
            <a:avLst/>
          </a:prstGeom>
          <a:noFill/>
        </p:spPr>
        <p:txBody>
          <a:bodyPr wrap="square" lIns="0" tIns="0" rIns="0" bIns="0" anchor="t">
            <a:spAutoFit/>
          </a:bodyPr>
          <a:lstStyle/>
          <a:p>
            <a:pPr marL="0" indent="0" algn="ctr">
              <a:buNone/>
            </a:pPr>
            <a:r>
              <a:rPr sz="1100">
                <a:solidFill>
                  <a:srgbClr val="162A2D"/>
                </a:solidFill>
                <a:latin typeface="Arial"/>
                <a:ea typeface="Arial"/>
                <a:cs typeface="Arial"/>
              </a:rPr>
              <a:t>.672</a:t>
            </a:r>
            <a:endParaRPr sz="1100"/>
          </a:p>
        </p:txBody>
      </p:sp>
      <p:sp>
        <p:nvSpPr>
          <p:cNvPr id="29" name="TextBox 34">
            <a:extLst>
              <a:ext uri="{FF2B5EF4-FFF2-40B4-BE49-F238E27FC236}">
                <a16:creationId xmlns:a16="http://schemas.microsoft.com/office/drawing/2014/main" id="{3FF99301-B9EB-45EF-8E31-8D5D09B516E5}"/>
              </a:ext>
            </a:extLst>
          </p:cNvPr>
          <p:cNvSpPr>
            <a:spLocks noGrp="1"/>
          </p:cNvSpPr>
          <p:nvPr/>
        </p:nvSpPr>
        <p:spPr>
          <a:xfrm>
            <a:off x="1168371" y="5346652"/>
            <a:ext cx="5143371" cy="279393"/>
          </a:xfrm>
          <a:prstGeom prst="rect">
            <a:avLst/>
          </a:prstGeom>
          <a:noFill/>
        </p:spPr>
        <p:txBody>
          <a:bodyPr wrap="square" lIns="0" tIns="0" rIns="0" bIns="0" anchor="t">
            <a:spAutoFit/>
          </a:bodyPr>
          <a:lstStyle/>
          <a:p>
            <a:pPr marL="0" indent="0" algn="l">
              <a:buNone/>
            </a:pPr>
            <a:r>
              <a:rPr sz="1150">
                <a:solidFill>
                  <a:srgbClr val="5E6D6C"/>
                </a:solidFill>
                <a:latin typeface="Arial"/>
                <a:ea typeface="Arial"/>
                <a:cs typeface="Arial"/>
              </a:rPr>
              <a:t>Character weight → 1.00 · </a:t>
            </a:r>
            <a:r>
              <a:rPr sz="1150" b="1">
                <a:solidFill>
                  <a:srgbClr val="5E6D6C"/>
                </a:solidFill>
                <a:latin typeface="Arial"/>
                <a:ea typeface="Arial"/>
                <a:cs typeface="Arial"/>
              </a:rPr>
              <a:t>0.75</a:t>
            </a:r>
            <a:r>
              <a:rPr sz="1150">
                <a:solidFill>
                  <a:srgbClr val="5E6D6C"/>
                </a:solidFill>
                <a:latin typeface="Arial"/>
                <a:ea typeface="Arial"/>
                <a:cs typeface="Arial"/>
              </a:rPr>
              <a:t> · 0.50 · 0.25 · 0.00</a:t>
            </a:r>
            <a:endParaRPr sz="1150"/>
          </a:p>
        </p:txBody>
      </p:sp>
      <p:sp>
        <p:nvSpPr>
          <p:cNvPr id="30" name="Shape 37">
            <a:extLst>
              <a:ext uri="{FF2B5EF4-FFF2-40B4-BE49-F238E27FC236}">
                <a16:creationId xmlns:a16="http://schemas.microsoft.com/office/drawing/2014/main" id="{0D2635F5-CA87-4E82-B1A9-9C78A7517B01}"/>
              </a:ext>
            </a:extLst>
          </p:cNvPr>
          <p:cNvSpPr>
            <a:spLocks noGrp="1"/>
          </p:cNvSpPr>
          <p:nvPr/>
        </p:nvSpPr>
        <p:spPr>
          <a:xfrm>
            <a:off x="7670608" y="2349527"/>
            <a:ext cx="3936902" cy="3479713"/>
          </a:xfrm>
          <a:prstGeom prst="roundRect">
            <a:avLst>
              <a:gd name="adj" fmla="val 7664"/>
            </a:avLst>
          </a:prstGeom>
          <a:solidFill>
            <a:srgbClr val="162A2D"/>
          </a:solidFill>
        </p:spPr>
        <p:txBody>
          <a:bodyPr/>
          <a:lstStyle/>
          <a:p>
            <a:endParaRPr lang="en-DE"/>
          </a:p>
        </p:txBody>
      </p:sp>
      <p:sp>
        <p:nvSpPr>
          <p:cNvPr id="31" name="TextBox 39">
            <a:extLst>
              <a:ext uri="{FF2B5EF4-FFF2-40B4-BE49-F238E27FC236}">
                <a16:creationId xmlns:a16="http://schemas.microsoft.com/office/drawing/2014/main" id="{88C37E7F-F0A3-4726-929C-6A7A4DBC9083}"/>
              </a:ext>
            </a:extLst>
          </p:cNvPr>
          <p:cNvSpPr>
            <a:spLocks noGrp="1"/>
          </p:cNvSpPr>
          <p:nvPr/>
        </p:nvSpPr>
        <p:spPr>
          <a:xfrm>
            <a:off x="7937302" y="2616220"/>
            <a:ext cx="3403515"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THE DATA CEILING</a:t>
            </a:r>
            <a:endParaRPr sz="1050"/>
          </a:p>
        </p:txBody>
      </p:sp>
      <p:sp>
        <p:nvSpPr>
          <p:cNvPr id="32" name="TextBox 41">
            <a:extLst>
              <a:ext uri="{FF2B5EF4-FFF2-40B4-BE49-F238E27FC236}">
                <a16:creationId xmlns:a16="http://schemas.microsoft.com/office/drawing/2014/main" id="{736C54E5-AE51-4660-B619-498ED980C0B4}"/>
              </a:ext>
            </a:extLst>
          </p:cNvPr>
          <p:cNvSpPr>
            <a:spLocks noGrp="1"/>
          </p:cNvSpPr>
          <p:nvPr/>
        </p:nvSpPr>
        <p:spPr>
          <a:xfrm>
            <a:off x="7937302" y="3111508"/>
            <a:ext cx="3403515" cy="675564"/>
          </a:xfrm>
          <a:prstGeom prst="rect">
            <a:avLst/>
          </a:prstGeom>
          <a:noFill/>
        </p:spPr>
        <p:txBody>
          <a:bodyPr wrap="square" lIns="0" tIns="0" rIns="0" bIns="0" anchor="t">
            <a:spAutoFit/>
          </a:bodyPr>
          <a:lstStyle/>
          <a:p>
            <a:pPr marL="0" indent="0" algn="l">
              <a:lnSpc>
                <a:spcPts val="5320"/>
              </a:lnSpc>
              <a:buNone/>
            </a:pPr>
            <a:r>
              <a:rPr sz="5600" b="1">
                <a:solidFill>
                  <a:srgbClr val="FFFFFF"/>
                </a:solidFill>
                <a:latin typeface="Arial"/>
                <a:ea typeface="Arial"/>
                <a:cs typeface="Arial"/>
              </a:rPr>
              <a:t>66.43%</a:t>
            </a:r>
            <a:endParaRPr sz="5600"/>
          </a:p>
        </p:txBody>
      </p:sp>
      <p:sp>
        <p:nvSpPr>
          <p:cNvPr id="33" name="TextBox 43">
            <a:extLst>
              <a:ext uri="{FF2B5EF4-FFF2-40B4-BE49-F238E27FC236}">
                <a16:creationId xmlns:a16="http://schemas.microsoft.com/office/drawing/2014/main" id="{F5D3B199-24AE-40CA-AEC2-072DD2245DA5}"/>
              </a:ext>
            </a:extLst>
          </p:cNvPr>
          <p:cNvSpPr>
            <a:spLocks noGrp="1"/>
          </p:cNvSpPr>
          <p:nvPr/>
        </p:nvSpPr>
        <p:spPr>
          <a:xfrm>
            <a:off x="7937302" y="3914068"/>
            <a:ext cx="3403515" cy="476238"/>
          </a:xfrm>
          <a:prstGeom prst="rect">
            <a:avLst/>
          </a:prstGeom>
          <a:noFill/>
        </p:spPr>
        <p:txBody>
          <a:bodyPr wrap="square" lIns="0" tIns="0" rIns="0" bIns="0" anchor="t">
            <a:spAutoFit/>
          </a:bodyPr>
          <a:lstStyle/>
          <a:p>
            <a:pPr marL="0" indent="0" algn="l">
              <a:lnSpc>
                <a:spcPts val="1875"/>
              </a:lnSpc>
              <a:buNone/>
            </a:pPr>
            <a:r>
              <a:rPr sz="1500">
                <a:solidFill>
                  <a:srgbClr val="B8C3C1"/>
                </a:solidFill>
                <a:latin typeface="Arial"/>
                <a:ea typeface="Arial"/>
                <a:cs typeface="Arial"/>
              </a:rPr>
              <a:t>text-backed catalog coverage</a:t>
            </a:r>
            <a:endParaRPr sz="1500"/>
          </a:p>
          <a:p>
            <a:pPr marL="0" indent="0" algn="l">
              <a:lnSpc>
                <a:spcPts val="1875"/>
              </a:lnSpc>
              <a:buNone/>
            </a:pPr>
            <a:r>
              <a:rPr sz="1500">
                <a:solidFill>
                  <a:srgbClr val="B8C3C1"/>
                </a:solidFill>
                <a:latin typeface="Arial"/>
                <a:ea typeface="Arial"/>
                <a:cs typeface="Arial"/>
              </a:rPr>
              <a:t>663 of 998 materials</a:t>
            </a:r>
            <a:endParaRPr sz="1500"/>
          </a:p>
        </p:txBody>
      </p:sp>
      <p:sp>
        <p:nvSpPr>
          <p:cNvPr id="34" name="Shape 45">
            <a:extLst>
              <a:ext uri="{FF2B5EF4-FFF2-40B4-BE49-F238E27FC236}">
                <a16:creationId xmlns:a16="http://schemas.microsoft.com/office/drawing/2014/main" id="{D7F4D12E-9237-41B3-BAD9-1E4B44BC9227}"/>
              </a:ext>
            </a:extLst>
          </p:cNvPr>
          <p:cNvSpPr>
            <a:spLocks noGrp="1"/>
          </p:cNvSpPr>
          <p:nvPr/>
        </p:nvSpPr>
        <p:spPr>
          <a:xfrm>
            <a:off x="7937302" y="4707798"/>
            <a:ext cx="3403515" cy="88898"/>
          </a:xfrm>
          <a:prstGeom prst="roundRect">
            <a:avLst>
              <a:gd name="adj" fmla="val 50000"/>
            </a:avLst>
          </a:prstGeom>
          <a:solidFill>
            <a:srgbClr val="FFFFFF">
              <a:alpha val="18000"/>
            </a:srgbClr>
          </a:solidFill>
        </p:spPr>
        <p:txBody>
          <a:bodyPr/>
          <a:lstStyle/>
          <a:p>
            <a:endParaRPr lang="en-DE"/>
          </a:p>
        </p:txBody>
      </p:sp>
      <p:sp>
        <p:nvSpPr>
          <p:cNvPr id="35" name="Shape 47">
            <a:extLst>
              <a:ext uri="{FF2B5EF4-FFF2-40B4-BE49-F238E27FC236}">
                <a16:creationId xmlns:a16="http://schemas.microsoft.com/office/drawing/2014/main" id="{1FCC2194-51EF-487B-BF29-6274308E4071}"/>
              </a:ext>
            </a:extLst>
          </p:cNvPr>
          <p:cNvSpPr>
            <a:spLocks noGrp="1"/>
          </p:cNvSpPr>
          <p:nvPr/>
        </p:nvSpPr>
        <p:spPr>
          <a:xfrm>
            <a:off x="7937302" y="4707798"/>
            <a:ext cx="2260543" cy="88898"/>
          </a:xfrm>
          <a:prstGeom prst="roundRect">
            <a:avLst>
              <a:gd name="adj" fmla="val 50000"/>
            </a:avLst>
          </a:prstGeom>
          <a:solidFill>
            <a:srgbClr val="00A99D"/>
          </a:solidFill>
        </p:spPr>
        <p:txBody>
          <a:bodyPr/>
          <a:lstStyle/>
          <a:p>
            <a:endParaRPr lang="en-DE"/>
          </a:p>
        </p:txBody>
      </p:sp>
      <p:pic>
        <p:nvPicPr>
          <p:cNvPr id="91" name="Picture 50"/>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937302" y="4762467"/>
            <a:ext cx="3403515" cy="800080"/>
          </a:xfrm>
          <a:prstGeom prst="rect">
            <a:avLst/>
          </a:prstGeom>
        </p:spPr>
      </p:pic>
      <p:sp>
        <p:nvSpPr>
          <p:cNvPr id="37" name="TextBox 50">
            <a:extLst>
              <a:ext uri="{FF2B5EF4-FFF2-40B4-BE49-F238E27FC236}">
                <a16:creationId xmlns:a16="http://schemas.microsoft.com/office/drawing/2014/main" id="{3E1E3289-362B-41A3-8106-49F6B2172720}"/>
              </a:ext>
            </a:extLst>
          </p:cNvPr>
          <p:cNvSpPr>
            <a:spLocks noGrp="1"/>
          </p:cNvSpPr>
          <p:nvPr/>
        </p:nvSpPr>
        <p:spPr>
          <a:xfrm>
            <a:off x="7937302" y="4762467"/>
            <a:ext cx="3403515" cy="800080"/>
          </a:xfrm>
          <a:prstGeom prst="rect">
            <a:avLst/>
          </a:prstGeom>
          <a:noFill/>
        </p:spPr>
        <p:txBody>
          <a:bodyPr wrap="square" lIns="0" tIns="152396" rIns="0" bIns="0" anchor="t">
            <a:spAutoFit/>
          </a:bodyPr>
          <a:lstStyle/>
          <a:p>
            <a:pPr marL="0" indent="0" algn="l">
              <a:lnSpc>
                <a:spcPts val="1890"/>
              </a:lnSpc>
              <a:buNone/>
            </a:pPr>
            <a:r>
              <a:rPr sz="1400">
                <a:solidFill>
                  <a:srgbClr val="FFFFFF"/>
                </a:solidFill>
                <a:latin typeface="Arial"/>
                <a:ea typeface="Arial"/>
                <a:cs typeface="Arial"/>
              </a:rPr>
              <a:t>335 blank descriptions → </a:t>
            </a:r>
            <a:r>
              <a:rPr sz="1400" b="1">
                <a:solidFill>
                  <a:srgbClr val="00A99D"/>
                </a:solidFill>
                <a:latin typeface="Arial"/>
                <a:ea typeface="Arial"/>
                <a:cs typeface="Arial"/>
              </a:rPr>
              <a:t>explicit abstention</a:t>
            </a:r>
            <a:endParaRPr sz="1400"/>
          </a:p>
        </p:txBody>
      </p:sp>
      <p:sp>
        <p:nvSpPr>
          <p:cNvPr id="38" name="TextBox 53">
            <a:extLst>
              <a:ext uri="{FF2B5EF4-FFF2-40B4-BE49-F238E27FC236}">
                <a16:creationId xmlns:a16="http://schemas.microsoft.com/office/drawing/2014/main" id="{E9514738-1E0E-4A39-AB69-5EE0167CAB57}"/>
              </a:ext>
            </a:extLst>
          </p:cNvPr>
          <p:cNvSpPr>
            <a:spLocks noGrp="1"/>
          </p:cNvSpPr>
          <p:nvPr/>
        </p:nvSpPr>
        <p:spPr>
          <a:xfrm>
            <a:off x="584185" y="6286429"/>
            <a:ext cx="8889778" cy="2666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A larger model cannot manufacture technical fitment data that is not present.</a:t>
            </a:r>
            <a:endParaRPr sz="1200"/>
          </a:p>
        </p:txBody>
      </p:sp>
      <p:sp>
        <p:nvSpPr>
          <p:cNvPr id="39" name="TextBox 55">
            <a:extLst>
              <a:ext uri="{FF2B5EF4-FFF2-40B4-BE49-F238E27FC236}">
                <a16:creationId xmlns:a16="http://schemas.microsoft.com/office/drawing/2014/main" id="{E9ECE3FF-E485-47B4-BCE8-CE4F5283872E}"/>
              </a:ext>
            </a:extLst>
          </p:cNvPr>
          <p:cNvSpPr>
            <a:spLocks noGrp="1"/>
          </p:cNvSpPr>
          <p:nvPr/>
        </p:nvSpPr>
        <p:spPr>
          <a:xfrm>
            <a:off x="11099523" y="6324528"/>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12</a:t>
            </a:r>
            <a:endParaRPr sz="1200"/>
          </a:p>
        </p:txBody>
      </p:sp>
    </p:spTree>
    <p:extLst>
      <p:ext uri="{BB962C8B-B14F-4D97-AF65-F5344CB8AC3E}">
        <p14:creationId xmlns:p14="http://schemas.microsoft.com/office/powerpoint/2010/main" val="5331824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75787F45-F935-4B48-8473-093F41013D96}"/>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4B7D4C73-046C-48CC-B070-57677BE148AF}"/>
              </a:ext>
            </a:extLst>
          </p:cNvPr>
          <p:cNvSpPr>
            <a:spLocks noGrp="1"/>
          </p:cNvSpPr>
          <p:nvPr/>
        </p:nvSpPr>
        <p:spPr>
          <a:xfrm>
            <a:off x="584185" y="457274"/>
            <a:ext cx="2984425"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TASK 06 · CATEGORY CONSOLIDATION</a:t>
            </a:r>
            <a:endParaRPr sz="1000"/>
          </a:p>
        </p:txBody>
      </p:sp>
      <p:sp>
        <p:nvSpPr>
          <p:cNvPr id="4" name="TextBox 5">
            <a:extLst>
              <a:ext uri="{FF2B5EF4-FFF2-40B4-BE49-F238E27FC236}">
                <a16:creationId xmlns:a16="http://schemas.microsoft.com/office/drawing/2014/main" id="{3922787E-F17B-4644-A474-6B34AE80DC69}"/>
              </a:ext>
            </a:extLst>
          </p:cNvPr>
          <p:cNvSpPr>
            <a:spLocks noGrp="1"/>
          </p:cNvSpPr>
          <p:nvPr/>
        </p:nvSpPr>
        <p:spPr>
          <a:xfrm>
            <a:off x="584185" y="812865"/>
            <a:ext cx="9842254" cy="698483"/>
          </a:xfrm>
          <a:prstGeom prst="rect">
            <a:avLst/>
          </a:prstGeom>
          <a:noFill/>
        </p:spPr>
        <p:txBody>
          <a:bodyPr wrap="square" lIns="0" tIns="0" rIns="0" bIns="0" anchor="t">
            <a:spAutoFit/>
          </a:bodyPr>
          <a:lstStyle/>
          <a:p>
            <a:pPr marL="0" indent="0" algn="l">
              <a:lnSpc>
                <a:spcPts val="3564"/>
              </a:lnSpc>
              <a:buNone/>
            </a:pPr>
            <a:r>
              <a:rPr sz="3300" spc="-150">
                <a:solidFill>
                  <a:srgbClr val="162A2D"/>
                </a:solidFill>
                <a:latin typeface="Arial"/>
                <a:ea typeface="Arial"/>
                <a:cs typeface="Arial"/>
              </a:rPr>
              <a:t>Learn on train. Freeze for inference.</a:t>
            </a:r>
            <a:endParaRPr sz="3300"/>
          </a:p>
        </p:txBody>
      </p:sp>
      <p:sp>
        <p:nvSpPr>
          <p:cNvPr id="5" name="Shape 7">
            <a:extLst>
              <a:ext uri="{FF2B5EF4-FFF2-40B4-BE49-F238E27FC236}">
                <a16:creationId xmlns:a16="http://schemas.microsoft.com/office/drawing/2014/main" id="{239585C2-A441-4A1B-B0A8-9C233857474F}"/>
              </a:ext>
            </a:extLst>
          </p:cNvPr>
          <p:cNvSpPr>
            <a:spLocks noGrp="1"/>
          </p:cNvSpPr>
          <p:nvPr/>
        </p:nvSpPr>
        <p:spPr>
          <a:xfrm>
            <a:off x="584185" y="2032035"/>
            <a:ext cx="4635384" cy="3873403"/>
          </a:xfrm>
          <a:prstGeom prst="roundRect">
            <a:avLst>
              <a:gd name="adj" fmla="val 6885"/>
            </a:avLst>
          </a:prstGeom>
          <a:solidFill>
            <a:srgbClr val="FFFFFF"/>
          </a:solidFill>
          <a:ln w="6350">
            <a:solidFill>
              <a:srgbClr val="C8D3D1"/>
            </a:solidFill>
            <a:prstDash val="solid"/>
          </a:ln>
        </p:spPr>
        <p:txBody>
          <a:bodyPr/>
          <a:lstStyle/>
          <a:p>
            <a:endParaRPr lang="en-DE"/>
          </a:p>
        </p:txBody>
      </p:sp>
      <p:sp>
        <p:nvSpPr>
          <p:cNvPr id="6" name="TextBox 9">
            <a:extLst>
              <a:ext uri="{FF2B5EF4-FFF2-40B4-BE49-F238E27FC236}">
                <a16:creationId xmlns:a16="http://schemas.microsoft.com/office/drawing/2014/main" id="{604AD0B4-A318-40E3-86F9-3C86095FF559}"/>
              </a:ext>
            </a:extLst>
          </p:cNvPr>
          <p:cNvSpPr>
            <a:spLocks noGrp="1"/>
          </p:cNvSpPr>
          <p:nvPr/>
        </p:nvSpPr>
        <p:spPr>
          <a:xfrm>
            <a:off x="857229" y="2305078"/>
            <a:ext cx="4089298"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FIT · OBSERVED LONG TAIL</a:t>
            </a:r>
            <a:endParaRPr sz="1050"/>
          </a:p>
        </p:txBody>
      </p:sp>
      <p:sp>
        <p:nvSpPr>
          <p:cNvPr id="7" name="Shape 11">
            <a:extLst>
              <a:ext uri="{FF2B5EF4-FFF2-40B4-BE49-F238E27FC236}">
                <a16:creationId xmlns:a16="http://schemas.microsoft.com/office/drawing/2014/main" id="{7BF5720E-E7E3-4143-B1E1-A851096638A2}"/>
              </a:ext>
            </a:extLst>
          </p:cNvPr>
          <p:cNvSpPr>
            <a:spLocks noGrp="1"/>
          </p:cNvSpPr>
          <p:nvPr/>
        </p:nvSpPr>
        <p:spPr>
          <a:xfrm>
            <a:off x="996925" y="2901963"/>
            <a:ext cx="3809905" cy="2285943"/>
          </a:xfrm>
          <a:prstGeom prst="rect">
            <a:avLst/>
          </a:prstGeom>
          <a:noFill/>
        </p:spPr>
        <p:txBody>
          <a:bodyPr/>
          <a:lstStyle/>
          <a:p>
            <a:endParaRPr lang="en-DE"/>
          </a:p>
        </p:txBody>
      </p:sp>
      <p:pic>
        <p:nvPicPr>
          <p:cNvPr id="73" name="Picture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6925" y="2901963"/>
            <a:ext cx="3809905" cy="2285943"/>
          </a:xfrm>
          <a:prstGeom prst="rect">
            <a:avLst/>
          </a:prstGeom>
        </p:spPr>
      </p:pic>
      <p:pic>
        <p:nvPicPr>
          <p:cNvPr id="74" name="Picture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3618" y="3175006"/>
            <a:ext cx="431789" cy="2000200"/>
          </a:xfrm>
          <a:prstGeom prst="rect">
            <a:avLst/>
          </a:prstGeom>
        </p:spPr>
      </p:pic>
      <p:pic>
        <p:nvPicPr>
          <p:cNvPr id="75" name="Picture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3618" y="3175006"/>
            <a:ext cx="431789" cy="2000200"/>
          </a:xfrm>
          <a:prstGeom prst="rect">
            <a:avLst/>
          </a:prstGeom>
        </p:spPr>
      </p:pic>
      <p:pic>
        <p:nvPicPr>
          <p:cNvPr id="76" name="Picture 13"/>
          <p:cNvPicPr>
            <a:picLocks noChangeAspect="1"/>
          </p:cNvPicPr>
          <p:nvPr/>
        </p:nvPicPr>
        <p:blipFill>
          <a:blip r:embed="rId5"/>
          <a:stretch>
            <a:fillRect/>
          </a:stretch>
        </p:blipFill>
        <p:spPr>
          <a:xfrm>
            <a:off x="1263618" y="3175006"/>
            <a:ext cx="431789" cy="2000200"/>
          </a:xfrm>
          <a:prstGeom prst="rect">
            <a:avLst/>
          </a:prstGeom>
        </p:spPr>
      </p:pic>
      <p:pic>
        <p:nvPicPr>
          <p:cNvPr id="77" name="Picture 15"/>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803355" y="3651244"/>
            <a:ext cx="431789" cy="1523962"/>
          </a:xfrm>
          <a:prstGeom prst="rect">
            <a:avLst/>
          </a:prstGeom>
        </p:spPr>
      </p:pic>
      <p:pic>
        <p:nvPicPr>
          <p:cNvPr id="78" name="Picture 15"/>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803355" y="3651244"/>
            <a:ext cx="431789" cy="1523962"/>
          </a:xfrm>
          <a:prstGeom prst="rect">
            <a:avLst/>
          </a:prstGeom>
        </p:spPr>
      </p:pic>
      <p:pic>
        <p:nvPicPr>
          <p:cNvPr id="79" name="Picture 15"/>
          <p:cNvPicPr>
            <a:picLocks noChangeAspect="1"/>
          </p:cNvPicPr>
          <p:nvPr/>
        </p:nvPicPr>
        <p:blipFill>
          <a:blip r:embed="rId7"/>
          <a:stretch>
            <a:fillRect/>
          </a:stretch>
        </p:blipFill>
        <p:spPr>
          <a:xfrm>
            <a:off x="1803355" y="3651244"/>
            <a:ext cx="431789" cy="1523962"/>
          </a:xfrm>
          <a:prstGeom prst="rect">
            <a:avLst/>
          </a:prstGeom>
        </p:spPr>
      </p:pic>
      <p:pic>
        <p:nvPicPr>
          <p:cNvPr id="80" name="Picture 1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343091" y="4190981"/>
            <a:ext cx="431789" cy="984225"/>
          </a:xfrm>
          <a:prstGeom prst="rect">
            <a:avLst/>
          </a:prstGeom>
        </p:spPr>
      </p:pic>
      <p:pic>
        <p:nvPicPr>
          <p:cNvPr id="81" name="Picture 1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343091" y="4190981"/>
            <a:ext cx="431789" cy="984225"/>
          </a:xfrm>
          <a:prstGeom prst="rect">
            <a:avLst/>
          </a:prstGeom>
        </p:spPr>
      </p:pic>
      <p:pic>
        <p:nvPicPr>
          <p:cNvPr id="82" name="Picture 17"/>
          <p:cNvPicPr>
            <a:picLocks noChangeAspect="1"/>
          </p:cNvPicPr>
          <p:nvPr/>
        </p:nvPicPr>
        <p:blipFill>
          <a:blip r:embed="rId9"/>
          <a:stretch>
            <a:fillRect/>
          </a:stretch>
        </p:blipFill>
        <p:spPr>
          <a:xfrm>
            <a:off x="2343091" y="4190981"/>
            <a:ext cx="431789" cy="984225"/>
          </a:xfrm>
          <a:prstGeom prst="rect">
            <a:avLst/>
          </a:prstGeom>
        </p:spPr>
      </p:pic>
      <p:pic>
        <p:nvPicPr>
          <p:cNvPr id="83" name="Picture 19"/>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82828" y="4591021"/>
            <a:ext cx="431789" cy="584185"/>
          </a:xfrm>
          <a:prstGeom prst="rect">
            <a:avLst/>
          </a:prstGeom>
        </p:spPr>
      </p:pic>
      <p:pic>
        <p:nvPicPr>
          <p:cNvPr id="84" name="Picture 19"/>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82828" y="4591021"/>
            <a:ext cx="431789" cy="584185"/>
          </a:xfrm>
          <a:prstGeom prst="rect">
            <a:avLst/>
          </a:prstGeom>
        </p:spPr>
      </p:pic>
      <p:pic>
        <p:nvPicPr>
          <p:cNvPr id="85" name="Picture 19"/>
          <p:cNvPicPr>
            <a:picLocks noChangeAspect="1"/>
          </p:cNvPicPr>
          <p:nvPr/>
        </p:nvPicPr>
        <p:blipFill>
          <a:blip r:embed="rId11"/>
          <a:stretch>
            <a:fillRect/>
          </a:stretch>
        </p:blipFill>
        <p:spPr>
          <a:xfrm>
            <a:off x="2882828" y="4591021"/>
            <a:ext cx="431789" cy="584185"/>
          </a:xfrm>
          <a:prstGeom prst="rect">
            <a:avLst/>
          </a:prstGeom>
        </p:spPr>
      </p:pic>
      <p:pic>
        <p:nvPicPr>
          <p:cNvPr id="86" name="Picture 21"/>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422564" y="4832315"/>
            <a:ext cx="431789" cy="342891"/>
          </a:xfrm>
          <a:prstGeom prst="rect">
            <a:avLst/>
          </a:prstGeom>
        </p:spPr>
      </p:pic>
      <p:pic>
        <p:nvPicPr>
          <p:cNvPr id="87" name="Picture 21"/>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422564" y="4832315"/>
            <a:ext cx="431789" cy="342891"/>
          </a:xfrm>
          <a:prstGeom prst="rect">
            <a:avLst/>
          </a:prstGeom>
        </p:spPr>
      </p:pic>
      <p:pic>
        <p:nvPicPr>
          <p:cNvPr id="88" name="Picture 21"/>
          <p:cNvPicPr>
            <a:picLocks noChangeAspect="1"/>
          </p:cNvPicPr>
          <p:nvPr/>
        </p:nvPicPr>
        <p:blipFill>
          <a:blip r:embed="rId13"/>
          <a:stretch>
            <a:fillRect/>
          </a:stretch>
        </p:blipFill>
        <p:spPr>
          <a:xfrm>
            <a:off x="3422564" y="4832315"/>
            <a:ext cx="431789" cy="342891"/>
          </a:xfrm>
          <a:prstGeom prst="rect">
            <a:avLst/>
          </a:prstGeom>
        </p:spPr>
      </p:pic>
      <p:pic>
        <p:nvPicPr>
          <p:cNvPr id="89" name="Picture 23"/>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962301" y="4984711"/>
            <a:ext cx="431789" cy="190495"/>
          </a:xfrm>
          <a:prstGeom prst="rect">
            <a:avLst/>
          </a:prstGeom>
        </p:spPr>
      </p:pic>
      <p:pic>
        <p:nvPicPr>
          <p:cNvPr id="90" name="Picture 23"/>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962301" y="4984711"/>
            <a:ext cx="431789" cy="190495"/>
          </a:xfrm>
          <a:prstGeom prst="rect">
            <a:avLst/>
          </a:prstGeom>
        </p:spPr>
      </p:pic>
      <p:pic>
        <p:nvPicPr>
          <p:cNvPr id="91" name="Picture 23"/>
          <p:cNvPicPr>
            <a:picLocks noChangeAspect="1"/>
          </p:cNvPicPr>
          <p:nvPr/>
        </p:nvPicPr>
        <p:blipFill>
          <a:blip r:embed="rId15"/>
          <a:stretch>
            <a:fillRect/>
          </a:stretch>
        </p:blipFill>
        <p:spPr>
          <a:xfrm>
            <a:off x="3962301" y="4984711"/>
            <a:ext cx="431789" cy="190495"/>
          </a:xfrm>
          <a:prstGeom prst="rect">
            <a:avLst/>
          </a:prstGeom>
        </p:spPr>
      </p:pic>
      <p:pic>
        <p:nvPicPr>
          <p:cNvPr id="92" name="Picture 25"/>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254194" y="3765542"/>
            <a:ext cx="1396965" cy="292093"/>
          </a:xfrm>
          <a:prstGeom prst="rect">
            <a:avLst/>
          </a:prstGeom>
        </p:spPr>
      </p:pic>
      <p:sp>
        <p:nvSpPr>
          <p:cNvPr id="28" name="TextBox 25">
            <a:extLst>
              <a:ext uri="{FF2B5EF4-FFF2-40B4-BE49-F238E27FC236}">
                <a16:creationId xmlns:a16="http://schemas.microsoft.com/office/drawing/2014/main" id="{0E446A18-078B-4FBF-AB18-5FBB5F0B3C6D}"/>
              </a:ext>
            </a:extLst>
          </p:cNvPr>
          <p:cNvSpPr>
            <a:spLocks noGrp="1"/>
          </p:cNvSpPr>
          <p:nvPr/>
        </p:nvSpPr>
        <p:spPr>
          <a:xfrm>
            <a:off x="2254194" y="3765542"/>
            <a:ext cx="1396965" cy="292093"/>
          </a:xfrm>
          <a:prstGeom prst="rect">
            <a:avLst/>
          </a:prstGeom>
          <a:noFill/>
        </p:spPr>
        <p:txBody>
          <a:bodyPr wrap="square" lIns="0" tIns="50799" rIns="0" bIns="0" anchor="t">
            <a:spAutoFit/>
          </a:bodyPr>
          <a:lstStyle/>
          <a:p>
            <a:pPr marL="0" indent="0" algn="l">
              <a:buNone/>
            </a:pPr>
            <a:r>
              <a:rPr sz="1050">
                <a:solidFill>
                  <a:srgbClr val="00A99D"/>
                </a:solidFill>
                <a:latin typeface="Arial"/>
                <a:ea typeface="Arial"/>
                <a:cs typeface="Arial"/>
              </a:rPr>
              <a:t>strictly below threshold</a:t>
            </a:r>
            <a:endParaRPr sz="1050"/>
          </a:p>
        </p:txBody>
      </p:sp>
      <p:sp>
        <p:nvSpPr>
          <p:cNvPr id="29" name="TextBox 28">
            <a:extLst>
              <a:ext uri="{FF2B5EF4-FFF2-40B4-BE49-F238E27FC236}">
                <a16:creationId xmlns:a16="http://schemas.microsoft.com/office/drawing/2014/main" id="{1E79E627-0734-4A03-A8B9-D5C0C37CE89E}"/>
              </a:ext>
            </a:extLst>
          </p:cNvPr>
          <p:cNvSpPr>
            <a:spLocks noGrp="1"/>
          </p:cNvSpPr>
          <p:nvPr/>
        </p:nvSpPr>
        <p:spPr>
          <a:xfrm>
            <a:off x="996925" y="5340302"/>
            <a:ext cx="3809905" cy="2920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Counts include validated missing sentinels.</a:t>
            </a:r>
            <a:endParaRPr sz="1200"/>
          </a:p>
        </p:txBody>
      </p:sp>
      <p:sp>
        <p:nvSpPr>
          <p:cNvPr id="30" name="Shape 31">
            <a:extLst>
              <a:ext uri="{FF2B5EF4-FFF2-40B4-BE49-F238E27FC236}">
                <a16:creationId xmlns:a16="http://schemas.microsoft.com/office/drawing/2014/main" id="{A84C151D-F57B-47BC-80EC-F78C07BB4EE0}"/>
              </a:ext>
            </a:extLst>
          </p:cNvPr>
          <p:cNvSpPr>
            <a:spLocks noGrp="1"/>
          </p:cNvSpPr>
          <p:nvPr/>
        </p:nvSpPr>
        <p:spPr>
          <a:xfrm>
            <a:off x="5651359" y="2794016"/>
            <a:ext cx="1396965" cy="1396965"/>
          </a:xfrm>
          <a:prstGeom prst="ellipse">
            <a:avLst/>
          </a:prstGeom>
          <a:solidFill>
            <a:srgbClr val="00A99D"/>
          </a:solidFill>
        </p:spPr>
        <p:txBody>
          <a:bodyPr/>
          <a:lstStyle/>
          <a:p>
            <a:endParaRPr lang="en-DE"/>
          </a:p>
        </p:txBody>
      </p:sp>
      <p:sp>
        <p:nvSpPr>
          <p:cNvPr id="31" name="TextBox 32">
            <a:extLst>
              <a:ext uri="{FF2B5EF4-FFF2-40B4-BE49-F238E27FC236}">
                <a16:creationId xmlns:a16="http://schemas.microsoft.com/office/drawing/2014/main" id="{BA0F2EBC-6555-4321-B219-A0A90B46A11A}"/>
              </a:ext>
            </a:extLst>
          </p:cNvPr>
          <p:cNvSpPr>
            <a:spLocks noGrp="1"/>
          </p:cNvSpPr>
          <p:nvPr/>
        </p:nvSpPr>
        <p:spPr>
          <a:xfrm>
            <a:off x="5961509" y="3273131"/>
            <a:ext cx="776566" cy="222244"/>
          </a:xfrm>
          <a:prstGeom prst="rect">
            <a:avLst/>
          </a:prstGeom>
          <a:noFill/>
        </p:spPr>
        <p:txBody>
          <a:bodyPr wrap="square" lIns="0" tIns="0" rIns="0" bIns="0" anchor="ctr">
            <a:spAutoFit/>
          </a:bodyPr>
          <a:lstStyle/>
          <a:p>
            <a:pPr marL="0" indent="0">
              <a:lnSpc>
                <a:spcPts val="1627"/>
              </a:lnSpc>
              <a:buNone/>
            </a:pPr>
            <a:r>
              <a:rPr sz="1550" b="1">
                <a:solidFill>
                  <a:srgbClr val="162A2D"/>
                </a:solidFill>
                <a:highlight>
                  <a:srgbClr val="00A99D"/>
                </a:highlight>
                <a:latin typeface="Arial"/>
                <a:ea typeface="Arial"/>
                <a:cs typeface="Arial"/>
              </a:rPr>
              <a:t>FREEZE</a:t>
            </a:r>
            <a:endParaRPr sz="1550"/>
          </a:p>
        </p:txBody>
      </p:sp>
      <p:sp>
        <p:nvSpPr>
          <p:cNvPr id="32" name="TextBox 34">
            <a:extLst>
              <a:ext uri="{FF2B5EF4-FFF2-40B4-BE49-F238E27FC236}">
                <a16:creationId xmlns:a16="http://schemas.microsoft.com/office/drawing/2014/main" id="{3D6B04D4-99CA-4955-96B1-BBC5623768F6}"/>
              </a:ext>
            </a:extLst>
          </p:cNvPr>
          <p:cNvSpPr>
            <a:spLocks noGrp="1"/>
          </p:cNvSpPr>
          <p:nvPr/>
        </p:nvSpPr>
        <p:spPr>
          <a:xfrm>
            <a:off x="6041775" y="3479799"/>
            <a:ext cx="616034" cy="222244"/>
          </a:xfrm>
          <a:prstGeom prst="rect">
            <a:avLst/>
          </a:prstGeom>
          <a:noFill/>
        </p:spPr>
        <p:txBody>
          <a:bodyPr wrap="square" lIns="0" tIns="0" rIns="0" bIns="0" anchor="ctr">
            <a:spAutoFit/>
          </a:bodyPr>
          <a:lstStyle/>
          <a:p>
            <a:pPr marL="0" indent="0">
              <a:lnSpc>
                <a:spcPts val="1627"/>
              </a:lnSpc>
              <a:buNone/>
            </a:pPr>
            <a:r>
              <a:rPr sz="1550" b="1">
                <a:solidFill>
                  <a:srgbClr val="162A2D"/>
                </a:solidFill>
                <a:highlight>
                  <a:srgbClr val="00A99D"/>
                </a:highlight>
                <a:latin typeface="Arial"/>
                <a:ea typeface="Arial"/>
                <a:cs typeface="Arial"/>
              </a:rPr>
              <a:t>STATE</a:t>
            </a:r>
            <a:endParaRPr sz="1550"/>
          </a:p>
        </p:txBody>
      </p:sp>
      <p:sp>
        <p:nvSpPr>
          <p:cNvPr id="33" name="TextBox 36">
            <a:extLst>
              <a:ext uri="{FF2B5EF4-FFF2-40B4-BE49-F238E27FC236}">
                <a16:creationId xmlns:a16="http://schemas.microsoft.com/office/drawing/2014/main" id="{7ED51581-153B-4925-9C10-A9CDD4FAF5A8}"/>
              </a:ext>
            </a:extLst>
          </p:cNvPr>
          <p:cNvSpPr>
            <a:spLocks noGrp="1"/>
          </p:cNvSpPr>
          <p:nvPr/>
        </p:nvSpPr>
        <p:spPr>
          <a:xfrm>
            <a:off x="5854554" y="4406876"/>
            <a:ext cx="1079473" cy="634984"/>
          </a:xfrm>
          <a:prstGeom prst="rect">
            <a:avLst/>
          </a:prstGeom>
          <a:noFill/>
        </p:spPr>
        <p:txBody>
          <a:bodyPr wrap="square" lIns="0" tIns="0" rIns="0" bIns="0" anchor="t">
            <a:spAutoFit/>
          </a:bodyPr>
          <a:lstStyle/>
          <a:p>
            <a:pPr marL="0" indent="0" algn="ctr">
              <a:lnSpc>
                <a:spcPts val="1500"/>
              </a:lnSpc>
              <a:buNone/>
            </a:pPr>
            <a:r>
              <a:rPr sz="1200">
                <a:solidFill>
                  <a:srgbClr val="5E6D6C"/>
                </a:solidFill>
                <a:latin typeface="Arial"/>
                <a:ea typeface="Arial"/>
                <a:cs typeface="Arial"/>
              </a:rPr>
              <a:t>vocabulary</a:t>
            </a:r>
            <a:endParaRPr sz="1200"/>
          </a:p>
          <a:p>
            <a:pPr marL="0" indent="0" algn="ctr">
              <a:lnSpc>
                <a:spcPts val="1500"/>
              </a:lnSpc>
              <a:buNone/>
            </a:pPr>
            <a:r>
              <a:rPr sz="1200">
                <a:solidFill>
                  <a:srgbClr val="5E6D6C"/>
                </a:solidFill>
                <a:latin typeface="Arial"/>
                <a:ea typeface="Arial"/>
                <a:cs typeface="Arial"/>
              </a:rPr>
              <a:t>+ diagnostics</a:t>
            </a:r>
            <a:endParaRPr sz="1200"/>
          </a:p>
        </p:txBody>
      </p:sp>
      <p:sp>
        <p:nvSpPr>
          <p:cNvPr id="34" name="Shape 38">
            <a:extLst>
              <a:ext uri="{FF2B5EF4-FFF2-40B4-BE49-F238E27FC236}">
                <a16:creationId xmlns:a16="http://schemas.microsoft.com/office/drawing/2014/main" id="{6471ED56-71A9-4312-A34D-E55C5CED513F}"/>
              </a:ext>
            </a:extLst>
          </p:cNvPr>
          <p:cNvSpPr>
            <a:spLocks noGrp="1"/>
          </p:cNvSpPr>
          <p:nvPr/>
        </p:nvSpPr>
        <p:spPr>
          <a:xfrm>
            <a:off x="6972126" y="2032035"/>
            <a:ext cx="4635384" cy="3873403"/>
          </a:xfrm>
          <a:prstGeom prst="roundRect">
            <a:avLst>
              <a:gd name="adj" fmla="val 6885"/>
            </a:avLst>
          </a:prstGeom>
          <a:solidFill>
            <a:srgbClr val="162A2D"/>
          </a:solidFill>
        </p:spPr>
        <p:txBody>
          <a:bodyPr/>
          <a:lstStyle/>
          <a:p>
            <a:endParaRPr lang="en-DE"/>
          </a:p>
        </p:txBody>
      </p:sp>
      <p:sp>
        <p:nvSpPr>
          <p:cNvPr id="35" name="TextBox 40">
            <a:extLst>
              <a:ext uri="{FF2B5EF4-FFF2-40B4-BE49-F238E27FC236}">
                <a16:creationId xmlns:a16="http://schemas.microsoft.com/office/drawing/2014/main" id="{FF8EAEFD-F99A-4BE0-85E3-E3AB2233C0D7}"/>
              </a:ext>
            </a:extLst>
          </p:cNvPr>
          <p:cNvSpPr>
            <a:spLocks noGrp="1"/>
          </p:cNvSpPr>
          <p:nvPr/>
        </p:nvSpPr>
        <p:spPr>
          <a:xfrm>
            <a:off x="7238819" y="2298728"/>
            <a:ext cx="4101997"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TRANSFORM · STABLE OUTPUT</a:t>
            </a:r>
            <a:endParaRPr sz="1050"/>
          </a:p>
        </p:txBody>
      </p:sp>
      <p:sp>
        <p:nvSpPr>
          <p:cNvPr id="36" name="TextBox 44">
            <a:extLst>
              <a:ext uri="{FF2B5EF4-FFF2-40B4-BE49-F238E27FC236}">
                <a16:creationId xmlns:a16="http://schemas.microsoft.com/office/drawing/2014/main" id="{A140C77D-7168-461A-A24B-8C10B99D1498}"/>
              </a:ext>
            </a:extLst>
          </p:cNvPr>
          <p:cNvSpPr>
            <a:spLocks noGrp="1"/>
          </p:cNvSpPr>
          <p:nvPr/>
        </p:nvSpPr>
        <p:spPr>
          <a:xfrm>
            <a:off x="7238819" y="2946412"/>
            <a:ext cx="1142971" cy="634984"/>
          </a:xfrm>
          <a:prstGeom prst="roundRect">
            <a:avLst>
              <a:gd name="adj" fmla="val 24000"/>
            </a:avLst>
          </a:prstGeom>
          <a:solidFill>
            <a:srgbClr val="FFFFFF"/>
          </a:solidFill>
        </p:spPr>
        <p:txBody>
          <a:bodyPr wrap="square" lIns="0" tIns="0" rIns="0" bIns="0" anchor="ctr">
            <a:spAutoFit/>
          </a:bodyPr>
          <a:lstStyle/>
          <a:p>
            <a:pPr marL="0" indent="0" algn="ctr">
              <a:buNone/>
            </a:pPr>
            <a:r>
              <a:rPr sz="1700" b="1">
                <a:solidFill>
                  <a:srgbClr val="162A2D"/>
                </a:solidFill>
                <a:latin typeface="Arial"/>
                <a:ea typeface="Arial"/>
                <a:cs typeface="Arial"/>
              </a:rPr>
              <a:t>A</a:t>
            </a:r>
            <a:endParaRPr sz="1700"/>
          </a:p>
        </p:txBody>
      </p:sp>
      <p:sp>
        <p:nvSpPr>
          <p:cNvPr id="37" name="TextBox 46">
            <a:extLst>
              <a:ext uri="{FF2B5EF4-FFF2-40B4-BE49-F238E27FC236}">
                <a16:creationId xmlns:a16="http://schemas.microsoft.com/office/drawing/2014/main" id="{76DEA682-6F46-42DB-8244-190C8AEE49B6}"/>
              </a:ext>
            </a:extLst>
          </p:cNvPr>
          <p:cNvSpPr>
            <a:spLocks noGrp="1"/>
          </p:cNvSpPr>
          <p:nvPr/>
        </p:nvSpPr>
        <p:spPr>
          <a:xfrm>
            <a:off x="8559586" y="2946412"/>
            <a:ext cx="1142971" cy="634984"/>
          </a:xfrm>
          <a:prstGeom prst="roundRect">
            <a:avLst>
              <a:gd name="adj" fmla="val 24000"/>
            </a:avLst>
          </a:prstGeom>
          <a:solidFill>
            <a:srgbClr val="FFFFFF"/>
          </a:solidFill>
        </p:spPr>
        <p:txBody>
          <a:bodyPr wrap="square" lIns="0" tIns="0" rIns="0" bIns="0" anchor="ctr">
            <a:spAutoFit/>
          </a:bodyPr>
          <a:lstStyle/>
          <a:p>
            <a:pPr marL="0" indent="0" algn="ctr">
              <a:buNone/>
            </a:pPr>
            <a:r>
              <a:rPr sz="1700" b="1">
                <a:solidFill>
                  <a:srgbClr val="162A2D"/>
                </a:solidFill>
                <a:latin typeface="Arial"/>
                <a:ea typeface="Arial"/>
                <a:cs typeface="Arial"/>
              </a:rPr>
              <a:t>B</a:t>
            </a:r>
            <a:endParaRPr sz="1700"/>
          </a:p>
        </p:txBody>
      </p:sp>
      <p:sp>
        <p:nvSpPr>
          <p:cNvPr id="38" name="TextBox 48">
            <a:extLst>
              <a:ext uri="{FF2B5EF4-FFF2-40B4-BE49-F238E27FC236}">
                <a16:creationId xmlns:a16="http://schemas.microsoft.com/office/drawing/2014/main" id="{E3D2AEE2-C18D-45B8-AB3D-C6916CEC9F4B}"/>
              </a:ext>
            </a:extLst>
          </p:cNvPr>
          <p:cNvSpPr>
            <a:spLocks noGrp="1"/>
          </p:cNvSpPr>
          <p:nvPr/>
        </p:nvSpPr>
        <p:spPr>
          <a:xfrm>
            <a:off x="9880353" y="2946412"/>
            <a:ext cx="1460463" cy="634984"/>
          </a:xfrm>
          <a:prstGeom prst="roundRect">
            <a:avLst>
              <a:gd name="adj" fmla="val 24000"/>
            </a:avLst>
          </a:prstGeom>
          <a:noFill/>
          <a:ln w="12700">
            <a:solidFill>
              <a:srgbClr val="00A99D"/>
            </a:solidFill>
            <a:prstDash val="solid"/>
          </a:ln>
        </p:spPr>
        <p:txBody>
          <a:bodyPr wrap="square" lIns="0" tIns="0" rIns="0" bIns="0" anchor="ctr">
            <a:spAutoFit/>
          </a:bodyPr>
          <a:lstStyle/>
          <a:p>
            <a:pPr marL="0" indent="0" algn="ctr">
              <a:buNone/>
            </a:pPr>
            <a:r>
              <a:rPr sz="1500" b="1">
                <a:solidFill>
                  <a:srgbClr val="00A99D"/>
                </a:solidFill>
                <a:latin typeface="Arial"/>
                <a:ea typeface="Arial"/>
                <a:cs typeface="Arial"/>
              </a:rPr>
              <a:t>__RARE__</a:t>
            </a:r>
            <a:endParaRPr sz="1500"/>
          </a:p>
        </p:txBody>
      </p:sp>
      <p:sp>
        <p:nvSpPr>
          <p:cNvPr id="39" name="Shape 51">
            <a:extLst>
              <a:ext uri="{FF2B5EF4-FFF2-40B4-BE49-F238E27FC236}">
                <a16:creationId xmlns:a16="http://schemas.microsoft.com/office/drawing/2014/main" id="{AC86DD18-79FC-434C-B9A5-A4850F0C0078}"/>
              </a:ext>
            </a:extLst>
          </p:cNvPr>
          <p:cNvSpPr>
            <a:spLocks noGrp="1"/>
          </p:cNvSpPr>
          <p:nvPr/>
        </p:nvSpPr>
        <p:spPr>
          <a:xfrm>
            <a:off x="7238819" y="3962387"/>
            <a:ext cx="4101997" cy="863578"/>
          </a:xfrm>
          <a:prstGeom prst="rect">
            <a:avLst/>
          </a:prstGeom>
          <a:noFill/>
        </p:spPr>
        <p:txBody>
          <a:bodyPr/>
          <a:lstStyle/>
          <a:p>
            <a:endParaRPr lang="en-DE"/>
          </a:p>
        </p:txBody>
      </p:sp>
      <p:pic>
        <p:nvPicPr>
          <p:cNvPr id="105" name="Picture 51"/>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7238819" y="3962387"/>
            <a:ext cx="4101997" cy="863578"/>
          </a:xfrm>
          <a:prstGeom prst="rect">
            <a:avLst/>
          </a:prstGeom>
        </p:spPr>
      </p:pic>
      <p:sp>
        <p:nvSpPr>
          <p:cNvPr id="41" name="TextBox 53">
            <a:extLst>
              <a:ext uri="{FF2B5EF4-FFF2-40B4-BE49-F238E27FC236}">
                <a16:creationId xmlns:a16="http://schemas.microsoft.com/office/drawing/2014/main" id="{5194BCCF-FEC5-47F3-A948-FFDEC1C92A4F}"/>
              </a:ext>
            </a:extLst>
          </p:cNvPr>
          <p:cNvSpPr>
            <a:spLocks noGrp="1"/>
          </p:cNvSpPr>
          <p:nvPr/>
        </p:nvSpPr>
        <p:spPr>
          <a:xfrm>
            <a:off x="7238819" y="4159232"/>
            <a:ext cx="2031949" cy="666733"/>
          </a:xfrm>
          <a:prstGeom prst="rect">
            <a:avLst/>
          </a:prstGeom>
          <a:noFill/>
        </p:spPr>
        <p:txBody>
          <a:bodyPr wrap="square" lIns="0" tIns="0" rIns="0" bIns="0" anchor="t">
            <a:spAutoFit/>
          </a:bodyPr>
          <a:lstStyle/>
          <a:p>
            <a:pPr marL="0" indent="0" algn="l">
              <a:lnSpc>
                <a:spcPts val="1820"/>
              </a:lnSpc>
              <a:buNone/>
            </a:pPr>
            <a:r>
              <a:rPr sz="1400">
                <a:solidFill>
                  <a:srgbClr val="FFFFFF"/>
                </a:solidFill>
                <a:latin typeface="Arial"/>
                <a:ea typeface="Arial"/>
                <a:cs typeface="Arial"/>
              </a:rPr>
              <a:t>Seen rare values</a:t>
            </a:r>
            <a:endParaRPr sz="1400"/>
          </a:p>
          <a:p>
            <a:pPr marL="0" indent="0" algn="l">
              <a:lnSpc>
                <a:spcPts val="1820"/>
              </a:lnSpc>
              <a:buNone/>
            </a:pPr>
            <a:r>
              <a:rPr sz="1400">
                <a:solidFill>
                  <a:srgbClr val="FFFFFF"/>
                </a:solidFill>
                <a:latin typeface="Arial"/>
                <a:ea typeface="Arial"/>
                <a:cs typeface="Arial"/>
              </a:rPr>
              <a:t>map to fallback.</a:t>
            </a:r>
            <a:endParaRPr sz="1400"/>
          </a:p>
        </p:txBody>
      </p:sp>
      <p:sp>
        <p:nvSpPr>
          <p:cNvPr id="42" name="TextBox 55">
            <a:extLst>
              <a:ext uri="{FF2B5EF4-FFF2-40B4-BE49-F238E27FC236}">
                <a16:creationId xmlns:a16="http://schemas.microsoft.com/office/drawing/2014/main" id="{72F21FA5-D6A2-492A-989A-67D7D8FBB1E1}"/>
              </a:ext>
            </a:extLst>
          </p:cNvPr>
          <p:cNvSpPr>
            <a:spLocks noGrp="1"/>
          </p:cNvSpPr>
          <p:nvPr/>
        </p:nvSpPr>
        <p:spPr>
          <a:xfrm>
            <a:off x="9270768" y="4159232"/>
            <a:ext cx="2070048" cy="666733"/>
          </a:xfrm>
          <a:prstGeom prst="rect">
            <a:avLst/>
          </a:prstGeom>
          <a:noFill/>
        </p:spPr>
        <p:txBody>
          <a:bodyPr wrap="square" lIns="0" tIns="0" rIns="0" bIns="0" anchor="t">
            <a:spAutoFit/>
          </a:bodyPr>
          <a:lstStyle/>
          <a:p>
            <a:pPr marL="0" indent="0" algn="l">
              <a:lnSpc>
                <a:spcPts val="1820"/>
              </a:lnSpc>
              <a:buNone/>
            </a:pPr>
            <a:r>
              <a:rPr sz="1400">
                <a:solidFill>
                  <a:srgbClr val="FFFFFF"/>
                </a:solidFill>
                <a:latin typeface="Arial"/>
                <a:ea typeface="Arial"/>
                <a:cs typeface="Arial"/>
              </a:rPr>
              <a:t>Unseen values</a:t>
            </a:r>
            <a:endParaRPr sz="1400"/>
          </a:p>
          <a:p>
            <a:pPr marL="0" indent="0" algn="l">
              <a:lnSpc>
                <a:spcPts val="1820"/>
              </a:lnSpc>
              <a:buNone/>
            </a:pPr>
            <a:r>
              <a:rPr sz="1400">
                <a:solidFill>
                  <a:srgbClr val="FFFFFF"/>
                </a:solidFill>
                <a:latin typeface="Arial"/>
                <a:ea typeface="Arial"/>
                <a:cs typeface="Arial"/>
              </a:rPr>
              <a:t>map the same way.</a:t>
            </a:r>
            <a:endParaRPr sz="1400"/>
          </a:p>
        </p:txBody>
      </p:sp>
      <p:sp>
        <p:nvSpPr>
          <p:cNvPr id="43" name="TextBox 58">
            <a:extLst>
              <a:ext uri="{FF2B5EF4-FFF2-40B4-BE49-F238E27FC236}">
                <a16:creationId xmlns:a16="http://schemas.microsoft.com/office/drawing/2014/main" id="{96B2D5AE-A208-4FD6-9BF9-79C075A1F2DC}"/>
              </a:ext>
            </a:extLst>
          </p:cNvPr>
          <p:cNvSpPr>
            <a:spLocks noGrp="1"/>
          </p:cNvSpPr>
          <p:nvPr/>
        </p:nvSpPr>
        <p:spPr>
          <a:xfrm>
            <a:off x="7238819" y="5029160"/>
            <a:ext cx="4101997" cy="609585"/>
          </a:xfrm>
          <a:prstGeom prst="roundRect">
            <a:avLst>
              <a:gd name="adj" fmla="val 25000"/>
            </a:avLst>
          </a:prstGeom>
          <a:solidFill>
            <a:srgbClr val="FFFFFF">
              <a:alpha val="8000"/>
            </a:srgbClr>
          </a:solidFill>
        </p:spPr>
        <p:txBody>
          <a:bodyPr wrap="square" lIns="177796" tIns="0" rIns="177796" bIns="0" anchor="ctr">
            <a:spAutoFit/>
          </a:bodyPr>
          <a:lstStyle/>
          <a:p>
            <a:pPr marL="0" indent="0" algn="l">
              <a:buNone/>
            </a:pPr>
            <a:r>
              <a:rPr sz="1300">
                <a:solidFill>
                  <a:srgbClr val="B8C3C1"/>
                </a:solidFill>
                <a:latin typeface="Arial"/>
                <a:ea typeface="Arial"/>
                <a:cs typeface="Arial"/>
              </a:rPr>
              <a:t>Fallback collisions produce a unique label at fit time.</a:t>
            </a:r>
            <a:endParaRPr sz="1300"/>
          </a:p>
        </p:txBody>
      </p:sp>
      <p:sp>
        <p:nvSpPr>
          <p:cNvPr id="44" name="TextBox 61">
            <a:extLst>
              <a:ext uri="{FF2B5EF4-FFF2-40B4-BE49-F238E27FC236}">
                <a16:creationId xmlns:a16="http://schemas.microsoft.com/office/drawing/2014/main" id="{A7ACEC50-FBFD-4953-8BFD-4B64EEE53FBA}"/>
              </a:ext>
            </a:extLst>
          </p:cNvPr>
          <p:cNvSpPr>
            <a:spLocks noGrp="1"/>
          </p:cNvSpPr>
          <p:nvPr/>
        </p:nvSpPr>
        <p:spPr>
          <a:xfrm>
            <a:off x="584185" y="6311828"/>
            <a:ext cx="7683308" cy="2666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Simple preprocessing, explicit invariants, identical train/inference semantics.</a:t>
            </a:r>
            <a:endParaRPr sz="1200"/>
          </a:p>
        </p:txBody>
      </p:sp>
      <p:sp>
        <p:nvSpPr>
          <p:cNvPr id="45" name="TextBox 63">
            <a:extLst>
              <a:ext uri="{FF2B5EF4-FFF2-40B4-BE49-F238E27FC236}">
                <a16:creationId xmlns:a16="http://schemas.microsoft.com/office/drawing/2014/main" id="{FB45AAAA-8788-4791-A44E-070693098D48}"/>
              </a:ext>
            </a:extLst>
          </p:cNvPr>
          <p:cNvSpPr>
            <a:spLocks noGrp="1"/>
          </p:cNvSpPr>
          <p:nvPr/>
        </p:nvSpPr>
        <p:spPr>
          <a:xfrm>
            <a:off x="11099523" y="63499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13</a:t>
            </a:r>
            <a:endParaRPr sz="1200"/>
          </a:p>
        </p:txBody>
      </p:sp>
    </p:spTree>
    <p:extLst>
      <p:ext uri="{BB962C8B-B14F-4D97-AF65-F5344CB8AC3E}">
        <p14:creationId xmlns:p14="http://schemas.microsoft.com/office/powerpoint/2010/main" val="13887339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7996892D-1F9A-456B-B11A-ED543485699E}"/>
              </a:ext>
            </a:extLst>
          </p:cNvPr>
          <p:cNvSpPr>
            <a:spLocks noGrp="1"/>
          </p:cNvSpPr>
          <p:nvPr/>
        </p:nvSpPr>
        <p:spPr>
          <a:xfrm>
            <a:off x="0" y="86"/>
            <a:ext cx="12191695" cy="6857829"/>
          </a:xfrm>
          <a:prstGeom prst="rect">
            <a:avLst/>
          </a:prstGeom>
          <a:solidFill>
            <a:srgbClr val="FFFFFF"/>
          </a:solidFill>
        </p:spPr>
        <p:txBody>
          <a:bodyPr/>
          <a:lstStyle/>
          <a:p>
            <a:endParaRPr lang="en-DE"/>
          </a:p>
        </p:txBody>
      </p:sp>
      <p:sp>
        <p:nvSpPr>
          <p:cNvPr id="3" name="TextBox 3">
            <a:extLst>
              <a:ext uri="{FF2B5EF4-FFF2-40B4-BE49-F238E27FC236}">
                <a16:creationId xmlns:a16="http://schemas.microsoft.com/office/drawing/2014/main" id="{71716D90-6F33-4607-9348-EED77A2D1906}"/>
              </a:ext>
            </a:extLst>
          </p:cNvPr>
          <p:cNvSpPr>
            <a:spLocks noGrp="1"/>
          </p:cNvSpPr>
          <p:nvPr/>
        </p:nvSpPr>
        <p:spPr>
          <a:xfrm>
            <a:off x="584185" y="457274"/>
            <a:ext cx="2730432"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REPRODUCIBILITY · REVIEW UX</a:t>
            </a:r>
            <a:endParaRPr sz="1000"/>
          </a:p>
        </p:txBody>
      </p:sp>
      <p:sp>
        <p:nvSpPr>
          <p:cNvPr id="4" name="TextBox 5">
            <a:extLst>
              <a:ext uri="{FF2B5EF4-FFF2-40B4-BE49-F238E27FC236}">
                <a16:creationId xmlns:a16="http://schemas.microsoft.com/office/drawing/2014/main" id="{977E0792-D2BF-46DE-B479-7B2F6F646EDC}"/>
              </a:ext>
            </a:extLst>
          </p:cNvPr>
          <p:cNvSpPr>
            <a:spLocks noGrp="1"/>
          </p:cNvSpPr>
          <p:nvPr/>
        </p:nvSpPr>
        <p:spPr>
          <a:xfrm>
            <a:off x="584185" y="812865"/>
            <a:ext cx="8762781" cy="698483"/>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Reviewability is a feature</a:t>
            </a:r>
            <a:endParaRPr sz="3400"/>
          </a:p>
        </p:txBody>
      </p:sp>
      <p:sp>
        <p:nvSpPr>
          <p:cNvPr id="5" name="TextBox 7">
            <a:extLst>
              <a:ext uri="{FF2B5EF4-FFF2-40B4-BE49-F238E27FC236}">
                <a16:creationId xmlns:a16="http://schemas.microsoft.com/office/drawing/2014/main" id="{B71B3DBA-D66A-48A7-A7CF-95BB3038B7FB}"/>
              </a:ext>
            </a:extLst>
          </p:cNvPr>
          <p:cNvSpPr>
            <a:spLocks noGrp="1"/>
          </p:cNvSpPr>
          <p:nvPr/>
        </p:nvSpPr>
        <p:spPr>
          <a:xfrm>
            <a:off x="8877078" y="901763"/>
            <a:ext cx="2730432" cy="533387"/>
          </a:xfrm>
          <a:prstGeom prst="rect">
            <a:avLst/>
          </a:prstGeom>
          <a:noFill/>
        </p:spPr>
        <p:txBody>
          <a:bodyPr wrap="square" lIns="0" tIns="0" rIns="0" bIns="0" anchor="t">
            <a:spAutoFit/>
          </a:bodyPr>
          <a:lstStyle/>
          <a:p>
            <a:pPr marL="0" indent="0" algn="l">
              <a:lnSpc>
                <a:spcPts val="1822"/>
              </a:lnSpc>
              <a:buNone/>
            </a:pPr>
            <a:r>
              <a:rPr sz="1350">
                <a:solidFill>
                  <a:srgbClr val="5E6D6C"/>
                </a:solidFill>
                <a:latin typeface="Arial"/>
                <a:ea typeface="Arial"/>
                <a:cs typeface="Arial"/>
              </a:rPr>
              <a:t>The shortest path should also</a:t>
            </a:r>
            <a:endParaRPr sz="1350"/>
          </a:p>
          <a:p>
            <a:pPr marL="0" indent="0" algn="l">
              <a:lnSpc>
                <a:spcPts val="1822"/>
              </a:lnSpc>
              <a:buNone/>
            </a:pPr>
            <a:r>
              <a:rPr sz="1350">
                <a:solidFill>
                  <a:srgbClr val="5E6D6C"/>
                </a:solidFill>
                <a:latin typeface="Arial"/>
                <a:ea typeface="Arial"/>
                <a:cs typeface="Arial"/>
              </a:rPr>
              <a:t>be the most trustworthy.</a:t>
            </a:r>
            <a:endParaRPr sz="1350"/>
          </a:p>
        </p:txBody>
      </p:sp>
      <p:sp>
        <p:nvSpPr>
          <p:cNvPr id="6" name="Shape 9">
            <a:extLst>
              <a:ext uri="{FF2B5EF4-FFF2-40B4-BE49-F238E27FC236}">
                <a16:creationId xmlns:a16="http://schemas.microsoft.com/office/drawing/2014/main" id="{AD1B37F2-E7AB-46DB-BDE4-12124E986E8E}"/>
              </a:ext>
            </a:extLst>
          </p:cNvPr>
          <p:cNvSpPr>
            <a:spLocks noGrp="1"/>
          </p:cNvSpPr>
          <p:nvPr/>
        </p:nvSpPr>
        <p:spPr>
          <a:xfrm>
            <a:off x="584185" y="2032035"/>
            <a:ext cx="7048324" cy="4127397"/>
          </a:xfrm>
          <a:prstGeom prst="roundRect">
            <a:avLst>
              <a:gd name="adj" fmla="val 6462"/>
            </a:avLst>
          </a:prstGeom>
          <a:solidFill>
            <a:srgbClr val="162A2D"/>
          </a:solidFill>
        </p:spPr>
        <p:txBody>
          <a:bodyPr/>
          <a:lstStyle/>
          <a:p>
            <a:endParaRPr lang="en-DE"/>
          </a:p>
        </p:txBody>
      </p:sp>
      <p:sp>
        <p:nvSpPr>
          <p:cNvPr id="7" name="TextBox 11">
            <a:extLst>
              <a:ext uri="{FF2B5EF4-FFF2-40B4-BE49-F238E27FC236}">
                <a16:creationId xmlns:a16="http://schemas.microsoft.com/office/drawing/2014/main" id="{C02DC5C7-F5F1-4AB3-879B-CFFBED8F9657}"/>
              </a:ext>
            </a:extLst>
          </p:cNvPr>
          <p:cNvSpPr>
            <a:spLocks noGrp="1"/>
          </p:cNvSpPr>
          <p:nvPr/>
        </p:nvSpPr>
        <p:spPr>
          <a:xfrm>
            <a:off x="850879" y="2298728"/>
            <a:ext cx="6514937" cy="146046"/>
          </a:xfrm>
          <a:prstGeom prst="rect">
            <a:avLst/>
          </a:prstGeom>
          <a:noFill/>
        </p:spPr>
        <p:txBody>
          <a:bodyPr wrap="square" lIns="0" tIns="0" rIns="0" bIns="0" anchor="t">
            <a:spAutoFit/>
          </a:bodyPr>
          <a:lstStyle/>
          <a:p>
            <a:pPr marL="0" indent="0" algn="l">
              <a:buNone/>
            </a:pPr>
            <a:r>
              <a:rPr sz="1000" b="1" spc="150">
                <a:solidFill>
                  <a:srgbClr val="00A99D"/>
                </a:solidFill>
                <a:latin typeface="Arial"/>
                <a:ea typeface="Arial"/>
                <a:cs typeface="Arial"/>
              </a:rPr>
              <a:t>CLEAN CLONE</a:t>
            </a:r>
            <a:endParaRPr sz="1000"/>
          </a:p>
        </p:txBody>
      </p:sp>
      <p:sp>
        <p:nvSpPr>
          <p:cNvPr id="8" name="TextBox 13">
            <a:extLst>
              <a:ext uri="{FF2B5EF4-FFF2-40B4-BE49-F238E27FC236}">
                <a16:creationId xmlns:a16="http://schemas.microsoft.com/office/drawing/2014/main" id="{F6C23A61-50D1-418C-9132-504CA499550C}"/>
              </a:ext>
            </a:extLst>
          </p:cNvPr>
          <p:cNvSpPr>
            <a:spLocks noGrp="1"/>
          </p:cNvSpPr>
          <p:nvPr/>
        </p:nvSpPr>
        <p:spPr>
          <a:xfrm>
            <a:off x="850879" y="2736867"/>
            <a:ext cx="6514937" cy="317492"/>
          </a:xfrm>
          <a:prstGeom prst="rect">
            <a:avLst/>
          </a:prstGeom>
          <a:noFill/>
        </p:spPr>
        <p:txBody>
          <a:bodyPr wrap="square" lIns="0" tIns="0" rIns="0" bIns="0" anchor="t">
            <a:spAutoFit/>
          </a:bodyPr>
          <a:lstStyle/>
          <a:p>
            <a:pPr marL="0" indent="0" algn="l">
              <a:lnSpc>
                <a:spcPts val="2500"/>
              </a:lnSpc>
              <a:buNone/>
            </a:pPr>
            <a:r>
              <a:rPr sz="2000">
                <a:solidFill>
                  <a:srgbClr val="FFFFFF"/>
                </a:solidFill>
                <a:latin typeface="Courier New"/>
                <a:ea typeface="Courier New"/>
                <a:cs typeface="Courier New"/>
              </a:rPr>
              <a:t>$ make local-submission</a:t>
            </a:r>
            <a:endParaRPr sz="2000"/>
          </a:p>
        </p:txBody>
      </p:sp>
      <p:sp>
        <p:nvSpPr>
          <p:cNvPr id="9" name="TextBox 15">
            <a:extLst>
              <a:ext uri="{FF2B5EF4-FFF2-40B4-BE49-F238E27FC236}">
                <a16:creationId xmlns:a16="http://schemas.microsoft.com/office/drawing/2014/main" id="{FEE24878-4C74-48EB-9638-80987B63788E}"/>
              </a:ext>
            </a:extLst>
          </p:cNvPr>
          <p:cNvSpPr>
            <a:spLocks noGrp="1"/>
          </p:cNvSpPr>
          <p:nvPr/>
        </p:nvSpPr>
        <p:spPr>
          <a:xfrm>
            <a:off x="850879" y="3333752"/>
            <a:ext cx="6514937" cy="1419785"/>
          </a:xfrm>
          <a:prstGeom prst="rect">
            <a:avLst/>
          </a:prstGeom>
          <a:noFill/>
        </p:spPr>
        <p:txBody>
          <a:bodyPr wrap="square" lIns="0" tIns="0" rIns="0" bIns="0" anchor="t">
            <a:spAutoFit/>
          </a:bodyPr>
          <a:lstStyle/>
          <a:p>
            <a:pPr marL="0" indent="0" algn="l">
              <a:lnSpc>
                <a:spcPts val="2236"/>
              </a:lnSpc>
              <a:buNone/>
            </a:pPr>
            <a:r>
              <a:rPr sz="1300">
                <a:solidFill>
                  <a:srgbClr val="B8C3C1"/>
                </a:solidFill>
                <a:latin typeface="Courier New"/>
                <a:ea typeface="Courier New"/>
                <a:cs typeface="Courier New"/>
              </a:rPr>
              <a:t>✓ locked dependency graph</a:t>
            </a:r>
            <a:endParaRPr sz="1300"/>
          </a:p>
          <a:p>
            <a:pPr marL="0" indent="0" algn="l">
              <a:lnSpc>
                <a:spcPts val="2236"/>
              </a:lnSpc>
              <a:buNone/>
            </a:pPr>
            <a:r>
              <a:rPr sz="1300">
                <a:solidFill>
                  <a:srgbClr val="B8C3C1"/>
                </a:solidFill>
                <a:latin typeface="Courier New"/>
                <a:ea typeface="Courier New"/>
                <a:cs typeface="Courier New"/>
              </a:rPr>
              <a:t>✓ format · lint · strict typing</a:t>
            </a:r>
            <a:endParaRPr sz="1300"/>
          </a:p>
          <a:p>
            <a:pPr marL="0" indent="0" algn="l">
              <a:lnSpc>
                <a:spcPts val="2236"/>
              </a:lnSpc>
              <a:buNone/>
            </a:pPr>
            <a:r>
              <a:rPr sz="1300">
                <a:solidFill>
                  <a:srgbClr val="B8C3C1"/>
                </a:solidFill>
                <a:latin typeface="Courier New"/>
                <a:ea typeface="Courier New"/>
                <a:cs typeface="Courier New"/>
              </a:rPr>
              <a:t>✓ tests across all six packages</a:t>
            </a:r>
            <a:endParaRPr sz="1300"/>
          </a:p>
          <a:p>
            <a:pPr marL="0" indent="0" algn="l">
              <a:lnSpc>
                <a:spcPts val="2236"/>
              </a:lnSpc>
              <a:buNone/>
            </a:pPr>
            <a:r>
              <a:rPr sz="1300">
                <a:solidFill>
                  <a:srgbClr val="B8C3C1"/>
                </a:solidFill>
                <a:latin typeface="Courier New"/>
                <a:ea typeface="Courier New"/>
                <a:cs typeface="Courier New"/>
              </a:rPr>
              <a:t>✓ submission boundary audit</a:t>
            </a:r>
            <a:endParaRPr sz="1300"/>
          </a:p>
          <a:p>
            <a:pPr marL="0" indent="0" algn="l">
              <a:lnSpc>
                <a:spcPts val="2236"/>
              </a:lnSpc>
              <a:buNone/>
            </a:pPr>
            <a:r>
              <a:rPr sz="1300">
                <a:solidFill>
                  <a:srgbClr val="B8C3C1"/>
                </a:solidFill>
                <a:latin typeface="Courier New"/>
                <a:ea typeface="Courier New"/>
                <a:cs typeface="Courier New"/>
              </a:rPr>
              <a:t>✓ two-tenant HTTP acceptance</a:t>
            </a:r>
            <a:endParaRPr sz="1300"/>
          </a:p>
        </p:txBody>
      </p:sp>
      <p:sp>
        <p:nvSpPr>
          <p:cNvPr id="10" name="TextBox 17">
            <a:extLst>
              <a:ext uri="{FF2B5EF4-FFF2-40B4-BE49-F238E27FC236}">
                <a16:creationId xmlns:a16="http://schemas.microsoft.com/office/drawing/2014/main" id="{14922D6E-084D-4B35-BC5D-6A83C38964A5}"/>
              </a:ext>
            </a:extLst>
          </p:cNvPr>
          <p:cNvSpPr>
            <a:spLocks noGrp="1"/>
          </p:cNvSpPr>
          <p:nvPr/>
        </p:nvSpPr>
        <p:spPr>
          <a:xfrm>
            <a:off x="850879" y="5295853"/>
            <a:ext cx="6514937" cy="596885"/>
          </a:xfrm>
          <a:prstGeom prst="roundRect">
            <a:avLst>
              <a:gd name="adj" fmla="val 25532"/>
            </a:avLst>
          </a:prstGeom>
          <a:solidFill>
            <a:srgbClr val="00A99D">
              <a:alpha val="13000"/>
            </a:srgbClr>
          </a:solidFill>
          <a:ln w="6350">
            <a:solidFill>
              <a:srgbClr val="00A99D"/>
            </a:solidFill>
            <a:prstDash val="solid"/>
          </a:ln>
        </p:spPr>
        <p:txBody>
          <a:bodyPr wrap="square" lIns="190495" tIns="0" rIns="190495" bIns="0" anchor="ctr">
            <a:spAutoFit/>
          </a:bodyPr>
          <a:lstStyle/>
          <a:p>
            <a:pPr marL="0" indent="0" algn="l">
              <a:buNone/>
            </a:pPr>
            <a:r>
              <a:rPr sz="1400">
                <a:solidFill>
                  <a:srgbClr val="FFFFFF"/>
                </a:solidFill>
                <a:latin typeface="Arial"/>
                <a:ea typeface="Arial"/>
                <a:cs typeface="Arial"/>
              </a:rPr>
              <a:t>No cloud account · no external LLM · deterministic fixtures</a:t>
            </a:r>
            <a:endParaRPr sz="1400"/>
          </a:p>
        </p:txBody>
      </p:sp>
      <p:sp>
        <p:nvSpPr>
          <p:cNvPr id="11" name="Shape 20">
            <a:extLst>
              <a:ext uri="{FF2B5EF4-FFF2-40B4-BE49-F238E27FC236}">
                <a16:creationId xmlns:a16="http://schemas.microsoft.com/office/drawing/2014/main" id="{FE079833-5573-498A-AE65-A8A81352F346}"/>
              </a:ext>
            </a:extLst>
          </p:cNvPr>
          <p:cNvSpPr>
            <a:spLocks noGrp="1"/>
          </p:cNvSpPr>
          <p:nvPr/>
        </p:nvSpPr>
        <p:spPr>
          <a:xfrm>
            <a:off x="8102397" y="2032035"/>
            <a:ext cx="3505112" cy="4127397"/>
          </a:xfrm>
          <a:prstGeom prst="roundRect">
            <a:avLst>
              <a:gd name="adj" fmla="val 7609"/>
            </a:avLst>
          </a:prstGeom>
          <a:solidFill>
            <a:srgbClr val="F4F1EA"/>
          </a:solidFill>
          <a:ln w="6350">
            <a:solidFill>
              <a:srgbClr val="C8D3D1"/>
            </a:solidFill>
            <a:prstDash val="solid"/>
          </a:ln>
        </p:spPr>
        <p:txBody>
          <a:bodyPr/>
          <a:lstStyle/>
          <a:p>
            <a:endParaRPr lang="en-DE"/>
          </a:p>
        </p:txBody>
      </p:sp>
      <p:sp>
        <p:nvSpPr>
          <p:cNvPr id="12" name="TextBox 22">
            <a:extLst>
              <a:ext uri="{FF2B5EF4-FFF2-40B4-BE49-F238E27FC236}">
                <a16:creationId xmlns:a16="http://schemas.microsoft.com/office/drawing/2014/main" id="{815493AB-59D1-4F71-A57A-BB9558DB0BD0}"/>
              </a:ext>
            </a:extLst>
          </p:cNvPr>
          <p:cNvSpPr>
            <a:spLocks noGrp="1"/>
          </p:cNvSpPr>
          <p:nvPr/>
        </p:nvSpPr>
        <p:spPr>
          <a:xfrm>
            <a:off x="8375441" y="2305078"/>
            <a:ext cx="2959026" cy="152396"/>
          </a:xfrm>
          <a:prstGeom prst="rect">
            <a:avLst/>
          </a:prstGeom>
          <a:noFill/>
        </p:spPr>
        <p:txBody>
          <a:bodyPr wrap="square" lIns="0" tIns="0" rIns="0" bIns="0" anchor="t">
            <a:spAutoFit/>
          </a:bodyPr>
          <a:lstStyle/>
          <a:p>
            <a:pPr marL="0" indent="0" algn="l">
              <a:buNone/>
            </a:pPr>
            <a:r>
              <a:rPr sz="1050" b="1" spc="150">
                <a:solidFill>
                  <a:srgbClr val="00A99D"/>
                </a:solidFill>
                <a:latin typeface="Arial"/>
                <a:ea typeface="Arial"/>
                <a:cs typeface="Arial"/>
              </a:rPr>
              <a:t>REVIEWER EVIDENCE MAP</a:t>
            </a:r>
            <a:endParaRPr sz="1050"/>
          </a:p>
        </p:txBody>
      </p:sp>
      <p:sp>
        <p:nvSpPr>
          <p:cNvPr id="13" name="TextBox 24">
            <a:extLst>
              <a:ext uri="{FF2B5EF4-FFF2-40B4-BE49-F238E27FC236}">
                <a16:creationId xmlns:a16="http://schemas.microsoft.com/office/drawing/2014/main" id="{5034E41D-E1C8-49D2-9A53-863EBB56E433}"/>
              </a:ext>
            </a:extLst>
          </p:cNvPr>
          <p:cNvSpPr>
            <a:spLocks noGrp="1"/>
          </p:cNvSpPr>
          <p:nvPr/>
        </p:nvSpPr>
        <p:spPr>
          <a:xfrm>
            <a:off x="8375441" y="2762267"/>
            <a:ext cx="2959026" cy="232265"/>
          </a:xfrm>
          <a:prstGeom prst="rect">
            <a:avLst/>
          </a:prstGeom>
          <a:noFill/>
        </p:spPr>
        <p:txBody>
          <a:bodyPr wrap="square" lIns="0" tIns="0" rIns="0" bIns="0" anchor="t">
            <a:spAutoFit/>
          </a:bodyPr>
          <a:lstStyle/>
          <a:p>
            <a:pPr marL="0" indent="0" algn="l">
              <a:lnSpc>
                <a:spcPts val="1829"/>
              </a:lnSpc>
              <a:buNone/>
            </a:pPr>
            <a:r>
              <a:rPr sz="1550" b="1">
                <a:solidFill>
                  <a:srgbClr val="162A2D"/>
                </a:solidFill>
                <a:latin typeface="Arial"/>
                <a:ea typeface="Arial"/>
                <a:cs typeface="Arial"/>
              </a:rPr>
              <a:t>Claim</a:t>
            </a:r>
            <a:endParaRPr sz="1550"/>
          </a:p>
        </p:txBody>
      </p:sp>
      <p:sp>
        <p:nvSpPr>
          <p:cNvPr id="14" name="TextBox 26">
            <a:extLst>
              <a:ext uri="{FF2B5EF4-FFF2-40B4-BE49-F238E27FC236}">
                <a16:creationId xmlns:a16="http://schemas.microsoft.com/office/drawing/2014/main" id="{EFAA0E3E-CAB1-462B-90D9-E5703A4324FA}"/>
              </a:ext>
            </a:extLst>
          </p:cNvPr>
          <p:cNvSpPr>
            <a:spLocks noGrp="1"/>
          </p:cNvSpPr>
          <p:nvPr/>
        </p:nvSpPr>
        <p:spPr>
          <a:xfrm>
            <a:off x="8375441" y="3045331"/>
            <a:ext cx="2959026" cy="184145"/>
          </a:xfrm>
          <a:prstGeom prst="rect">
            <a:avLst/>
          </a:prstGeom>
          <a:noFill/>
        </p:spPr>
        <p:txBody>
          <a:bodyPr wrap="square" lIns="0" tIns="0" rIns="0" bIns="0" anchor="t">
            <a:spAutoFit/>
          </a:bodyPr>
          <a:lstStyle/>
          <a:p>
            <a:pPr marL="0" indent="0" algn="l">
              <a:buNone/>
            </a:pPr>
            <a:r>
              <a:rPr sz="1250">
                <a:solidFill>
                  <a:srgbClr val="5E6D6C"/>
                </a:solidFill>
                <a:latin typeface="Arial"/>
                <a:ea typeface="Arial"/>
                <a:cs typeface="Arial"/>
              </a:rPr>
              <a:t>“Answers are grounded.”</a:t>
            </a:r>
            <a:endParaRPr sz="1250"/>
          </a:p>
        </p:txBody>
      </p:sp>
      <p:sp>
        <p:nvSpPr>
          <p:cNvPr id="15" name="TextBox 28">
            <a:extLst>
              <a:ext uri="{FF2B5EF4-FFF2-40B4-BE49-F238E27FC236}">
                <a16:creationId xmlns:a16="http://schemas.microsoft.com/office/drawing/2014/main" id="{89AF6E0B-EFB6-4860-B0FF-2FE5A4E4B189}"/>
              </a:ext>
            </a:extLst>
          </p:cNvPr>
          <p:cNvSpPr>
            <a:spLocks noGrp="1"/>
          </p:cNvSpPr>
          <p:nvPr/>
        </p:nvSpPr>
        <p:spPr>
          <a:xfrm>
            <a:off x="8375441" y="3470770"/>
            <a:ext cx="2959026" cy="232265"/>
          </a:xfrm>
          <a:prstGeom prst="rect">
            <a:avLst/>
          </a:prstGeom>
          <a:noFill/>
        </p:spPr>
        <p:txBody>
          <a:bodyPr wrap="square" lIns="0" tIns="0" rIns="0" bIns="0" anchor="t">
            <a:spAutoFit/>
          </a:bodyPr>
          <a:lstStyle/>
          <a:p>
            <a:pPr marL="0" indent="0" algn="l">
              <a:lnSpc>
                <a:spcPts val="1829"/>
              </a:lnSpc>
              <a:buNone/>
            </a:pPr>
            <a:r>
              <a:rPr sz="1550" b="1">
                <a:solidFill>
                  <a:srgbClr val="162A2D"/>
                </a:solidFill>
                <a:latin typeface="Arial"/>
                <a:ea typeface="Arial"/>
                <a:cs typeface="Arial"/>
              </a:rPr>
              <a:t>Implementation</a:t>
            </a:r>
            <a:endParaRPr sz="1550"/>
          </a:p>
        </p:txBody>
      </p:sp>
      <p:sp>
        <p:nvSpPr>
          <p:cNvPr id="16" name="TextBox 30">
            <a:extLst>
              <a:ext uri="{FF2B5EF4-FFF2-40B4-BE49-F238E27FC236}">
                <a16:creationId xmlns:a16="http://schemas.microsoft.com/office/drawing/2014/main" id="{CB6CF010-82D0-4C45-801C-0799EC3F9413}"/>
              </a:ext>
            </a:extLst>
          </p:cNvPr>
          <p:cNvSpPr>
            <a:spLocks noGrp="1"/>
          </p:cNvSpPr>
          <p:nvPr/>
        </p:nvSpPr>
        <p:spPr>
          <a:xfrm>
            <a:off x="8375441" y="3753834"/>
            <a:ext cx="2959026" cy="198433"/>
          </a:xfrm>
          <a:prstGeom prst="rect">
            <a:avLst/>
          </a:prstGeom>
          <a:noFill/>
        </p:spPr>
        <p:txBody>
          <a:bodyPr wrap="square" lIns="0" tIns="0" rIns="0" bIns="0" anchor="t">
            <a:spAutoFit/>
          </a:bodyPr>
          <a:lstStyle/>
          <a:p>
            <a:pPr marL="0" indent="0" algn="l">
              <a:lnSpc>
                <a:spcPts val="1562"/>
              </a:lnSpc>
              <a:buNone/>
            </a:pPr>
            <a:r>
              <a:rPr sz="1250">
                <a:solidFill>
                  <a:srgbClr val="5E6D6C"/>
                </a:solidFill>
                <a:latin typeface="Arial"/>
                <a:ea typeface="Arial"/>
                <a:cs typeface="Arial"/>
              </a:rPr>
              <a:t>evidence.py · answering.py</a:t>
            </a:r>
            <a:endParaRPr sz="1250"/>
          </a:p>
        </p:txBody>
      </p:sp>
      <p:sp>
        <p:nvSpPr>
          <p:cNvPr id="17" name="TextBox 32">
            <a:extLst>
              <a:ext uri="{FF2B5EF4-FFF2-40B4-BE49-F238E27FC236}">
                <a16:creationId xmlns:a16="http://schemas.microsoft.com/office/drawing/2014/main" id="{05709EB3-19D5-436B-A289-1AA13994C890}"/>
              </a:ext>
            </a:extLst>
          </p:cNvPr>
          <p:cNvSpPr>
            <a:spLocks noGrp="1"/>
          </p:cNvSpPr>
          <p:nvPr/>
        </p:nvSpPr>
        <p:spPr>
          <a:xfrm>
            <a:off x="8375441" y="4193561"/>
            <a:ext cx="2959026" cy="232265"/>
          </a:xfrm>
          <a:prstGeom prst="rect">
            <a:avLst/>
          </a:prstGeom>
          <a:noFill/>
        </p:spPr>
        <p:txBody>
          <a:bodyPr wrap="square" lIns="0" tIns="0" rIns="0" bIns="0" anchor="t">
            <a:spAutoFit/>
          </a:bodyPr>
          <a:lstStyle/>
          <a:p>
            <a:pPr marL="0" indent="0" algn="l">
              <a:lnSpc>
                <a:spcPts val="1829"/>
              </a:lnSpc>
              <a:buNone/>
            </a:pPr>
            <a:r>
              <a:rPr sz="1550" b="1">
                <a:solidFill>
                  <a:srgbClr val="162A2D"/>
                </a:solidFill>
                <a:latin typeface="Arial"/>
                <a:ea typeface="Arial"/>
                <a:cs typeface="Arial"/>
              </a:rPr>
              <a:t>Executable proof</a:t>
            </a:r>
            <a:endParaRPr sz="1550"/>
          </a:p>
        </p:txBody>
      </p:sp>
      <p:sp>
        <p:nvSpPr>
          <p:cNvPr id="18" name="TextBox 34">
            <a:extLst>
              <a:ext uri="{FF2B5EF4-FFF2-40B4-BE49-F238E27FC236}">
                <a16:creationId xmlns:a16="http://schemas.microsoft.com/office/drawing/2014/main" id="{216CC40E-8A7D-4874-A970-1045F49F8627}"/>
              </a:ext>
            </a:extLst>
          </p:cNvPr>
          <p:cNvSpPr>
            <a:spLocks noGrp="1"/>
          </p:cNvSpPr>
          <p:nvPr/>
        </p:nvSpPr>
        <p:spPr>
          <a:xfrm>
            <a:off x="8375441" y="4476625"/>
            <a:ext cx="2959026" cy="396865"/>
          </a:xfrm>
          <a:prstGeom prst="rect">
            <a:avLst/>
          </a:prstGeom>
          <a:noFill/>
        </p:spPr>
        <p:txBody>
          <a:bodyPr wrap="square" lIns="0" tIns="0" rIns="0" bIns="0" anchor="t">
            <a:spAutoFit/>
          </a:bodyPr>
          <a:lstStyle/>
          <a:p>
            <a:pPr marL="0" indent="0" algn="l">
              <a:lnSpc>
                <a:spcPts val="1562"/>
              </a:lnSpc>
              <a:buNone/>
            </a:pPr>
            <a:r>
              <a:rPr sz="1250">
                <a:solidFill>
                  <a:srgbClr val="5E6D6C"/>
                </a:solidFill>
                <a:latin typeface="Arial"/>
                <a:ea typeface="Arial"/>
                <a:cs typeface="Arial"/>
              </a:rPr>
              <a:t>test_evidence.py</a:t>
            </a:r>
            <a:endParaRPr sz="1250"/>
          </a:p>
          <a:p>
            <a:pPr marL="0" indent="0" algn="l">
              <a:lnSpc>
                <a:spcPts val="1562"/>
              </a:lnSpc>
              <a:buNone/>
            </a:pPr>
            <a:r>
              <a:rPr sz="1250">
                <a:solidFill>
                  <a:srgbClr val="5E6D6C"/>
                </a:solidFill>
                <a:latin typeface="Arial"/>
                <a:ea typeface="Arial"/>
                <a:cs typeface="Arial"/>
              </a:rPr>
              <a:t>test_answering.py</a:t>
            </a:r>
            <a:endParaRPr sz="1250"/>
          </a:p>
        </p:txBody>
      </p:sp>
      <p:pic>
        <p:nvPicPr>
          <p:cNvPr id="40" name="Picture 3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75441" y="5302203"/>
            <a:ext cx="2971726" cy="584185"/>
          </a:xfrm>
          <a:prstGeom prst="rect">
            <a:avLst/>
          </a:prstGeom>
        </p:spPr>
      </p:pic>
      <p:sp>
        <p:nvSpPr>
          <p:cNvPr id="20" name="TextBox 36">
            <a:extLst>
              <a:ext uri="{FF2B5EF4-FFF2-40B4-BE49-F238E27FC236}">
                <a16:creationId xmlns:a16="http://schemas.microsoft.com/office/drawing/2014/main" id="{55592CE0-BC03-45E3-8F8A-B329E22EC369}"/>
              </a:ext>
            </a:extLst>
          </p:cNvPr>
          <p:cNvSpPr>
            <a:spLocks noGrp="1"/>
          </p:cNvSpPr>
          <p:nvPr/>
        </p:nvSpPr>
        <p:spPr>
          <a:xfrm>
            <a:off x="8375441" y="5302203"/>
            <a:ext cx="2971726" cy="584185"/>
          </a:xfrm>
          <a:prstGeom prst="rect">
            <a:avLst/>
          </a:prstGeom>
          <a:noFill/>
        </p:spPr>
        <p:txBody>
          <a:bodyPr wrap="square" lIns="0" tIns="152396" rIns="0" bIns="0" anchor="t">
            <a:spAutoFit/>
          </a:bodyPr>
          <a:lstStyle/>
          <a:p>
            <a:pPr marL="0" indent="0" algn="l">
              <a:lnSpc>
                <a:spcPts val="1500"/>
              </a:lnSpc>
              <a:buNone/>
            </a:pPr>
            <a:r>
              <a:rPr sz="1200">
                <a:solidFill>
                  <a:srgbClr val="00A99D"/>
                </a:solidFill>
                <a:latin typeface="Arial"/>
                <a:ea typeface="Arial"/>
                <a:cs typeface="Arial"/>
              </a:rPr>
              <a:t>Every major claim has the same three-part trail.</a:t>
            </a:r>
            <a:endParaRPr sz="1200"/>
          </a:p>
        </p:txBody>
      </p:sp>
      <p:sp>
        <p:nvSpPr>
          <p:cNvPr id="21" name="TextBox 39">
            <a:extLst>
              <a:ext uri="{FF2B5EF4-FFF2-40B4-BE49-F238E27FC236}">
                <a16:creationId xmlns:a16="http://schemas.microsoft.com/office/drawing/2014/main" id="{3AB766FF-CE62-4D91-B957-C6A0978A1912}"/>
              </a:ext>
            </a:extLst>
          </p:cNvPr>
          <p:cNvSpPr>
            <a:spLocks noGrp="1"/>
          </p:cNvSpPr>
          <p:nvPr/>
        </p:nvSpPr>
        <p:spPr>
          <a:xfrm>
            <a:off x="11099523" y="63626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14</a:t>
            </a:r>
            <a:endParaRPr sz="1200"/>
          </a:p>
        </p:txBody>
      </p:sp>
    </p:spTree>
    <p:extLst>
      <p:ext uri="{BB962C8B-B14F-4D97-AF65-F5344CB8AC3E}">
        <p14:creationId xmlns:p14="http://schemas.microsoft.com/office/powerpoint/2010/main" val="12821332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45ED79E2-A4CF-4EC2-9277-7C3B4939E6B3}"/>
              </a:ext>
            </a:extLst>
          </p:cNvPr>
          <p:cNvSpPr>
            <a:spLocks noGrp="1"/>
          </p:cNvSpPr>
          <p:nvPr/>
        </p:nvSpPr>
        <p:spPr>
          <a:xfrm>
            <a:off x="0" y="86"/>
            <a:ext cx="12191695" cy="6857829"/>
          </a:xfrm>
          <a:prstGeom prst="rect">
            <a:avLst/>
          </a:prstGeom>
          <a:solidFill>
            <a:srgbClr val="F4F1EA"/>
          </a:solidFill>
        </p:spPr>
        <p:txBody>
          <a:bodyPr/>
          <a:lstStyle/>
          <a:p>
            <a:endParaRPr lang="en-DE"/>
          </a:p>
        </p:txBody>
      </p:sp>
      <p:sp>
        <p:nvSpPr>
          <p:cNvPr id="3" name="TextBox 3">
            <a:extLst>
              <a:ext uri="{FF2B5EF4-FFF2-40B4-BE49-F238E27FC236}">
                <a16:creationId xmlns:a16="http://schemas.microsoft.com/office/drawing/2014/main" id="{1C05B9DD-2F16-4283-9410-4984D9BD9D08}"/>
              </a:ext>
            </a:extLst>
          </p:cNvPr>
          <p:cNvSpPr>
            <a:spLocks noGrp="1"/>
          </p:cNvSpPr>
          <p:nvPr/>
        </p:nvSpPr>
        <p:spPr>
          <a:xfrm>
            <a:off x="584185" y="457274"/>
            <a:ext cx="2666933"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PRODUCTION JUDGMENT</a:t>
            </a:r>
            <a:endParaRPr sz="1000"/>
          </a:p>
        </p:txBody>
      </p:sp>
      <p:sp>
        <p:nvSpPr>
          <p:cNvPr id="4" name="TextBox 5">
            <a:extLst>
              <a:ext uri="{FF2B5EF4-FFF2-40B4-BE49-F238E27FC236}">
                <a16:creationId xmlns:a16="http://schemas.microsoft.com/office/drawing/2014/main" id="{FDBDEB30-423F-4BCC-8A61-94D4C19F9103}"/>
              </a:ext>
            </a:extLst>
          </p:cNvPr>
          <p:cNvSpPr>
            <a:spLocks noGrp="1"/>
          </p:cNvSpPr>
          <p:nvPr/>
        </p:nvSpPr>
        <p:spPr>
          <a:xfrm>
            <a:off x="584185" y="812865"/>
            <a:ext cx="9588260" cy="698483"/>
          </a:xfrm>
          <a:prstGeom prst="rect">
            <a:avLst/>
          </a:prstGeom>
          <a:noFill/>
        </p:spPr>
        <p:txBody>
          <a:bodyPr wrap="square" lIns="0" tIns="0" rIns="0" bIns="0" anchor="t">
            <a:spAutoFit/>
          </a:bodyPr>
          <a:lstStyle/>
          <a:p>
            <a:pPr marL="0" indent="0" algn="l">
              <a:lnSpc>
                <a:spcPts val="3672"/>
              </a:lnSpc>
              <a:buNone/>
            </a:pPr>
            <a:r>
              <a:rPr sz="3400" spc="-150">
                <a:solidFill>
                  <a:srgbClr val="162A2D"/>
                </a:solidFill>
                <a:latin typeface="Arial"/>
                <a:ea typeface="Arial"/>
                <a:cs typeface="Arial"/>
              </a:rPr>
              <a:t>Production-minded ≠ production-pretend</a:t>
            </a:r>
            <a:endParaRPr sz="3400"/>
          </a:p>
        </p:txBody>
      </p:sp>
      <p:sp>
        <p:nvSpPr>
          <p:cNvPr id="5" name="Shape 7">
            <a:extLst>
              <a:ext uri="{FF2B5EF4-FFF2-40B4-BE49-F238E27FC236}">
                <a16:creationId xmlns:a16="http://schemas.microsoft.com/office/drawing/2014/main" id="{5EC8A37C-11B1-4CE1-ABA2-7075C5ECA952}"/>
              </a:ext>
            </a:extLst>
          </p:cNvPr>
          <p:cNvSpPr>
            <a:spLocks noGrp="1"/>
          </p:cNvSpPr>
          <p:nvPr/>
        </p:nvSpPr>
        <p:spPr>
          <a:xfrm>
            <a:off x="584185" y="2032035"/>
            <a:ext cx="11023324" cy="4127397"/>
          </a:xfrm>
          <a:prstGeom prst="rect">
            <a:avLst/>
          </a:prstGeom>
          <a:noFill/>
        </p:spPr>
        <p:txBody>
          <a:bodyPr/>
          <a:lstStyle/>
          <a:p>
            <a:endParaRPr lang="en-DE"/>
          </a:p>
        </p:txBody>
      </p:sp>
      <p:pic>
        <p:nvPicPr>
          <p:cNvPr id="22" name="Picture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185" y="2032035"/>
            <a:ext cx="11023324" cy="4127397"/>
          </a:xfrm>
          <a:prstGeom prst="rect">
            <a:avLst/>
          </a:prstGeom>
        </p:spPr>
      </p:pic>
      <p:sp>
        <p:nvSpPr>
          <p:cNvPr id="7" name="Shape 9">
            <a:extLst>
              <a:ext uri="{FF2B5EF4-FFF2-40B4-BE49-F238E27FC236}">
                <a16:creationId xmlns:a16="http://schemas.microsoft.com/office/drawing/2014/main" id="{5E364B1D-5E7C-4538-AE1C-21BD821F75CA}"/>
              </a:ext>
            </a:extLst>
          </p:cNvPr>
          <p:cNvSpPr>
            <a:spLocks noGrp="1"/>
          </p:cNvSpPr>
          <p:nvPr/>
        </p:nvSpPr>
        <p:spPr>
          <a:xfrm>
            <a:off x="584185" y="2044735"/>
            <a:ext cx="11023324" cy="1365216"/>
          </a:xfrm>
          <a:prstGeom prst="rect">
            <a:avLst/>
          </a:prstGeom>
          <a:solidFill>
            <a:srgbClr val="FFFFFF"/>
          </a:solidFill>
        </p:spPr>
        <p:txBody>
          <a:bodyPr/>
          <a:lstStyle/>
          <a:p>
            <a:endParaRPr lang="en-DE"/>
          </a:p>
        </p:txBody>
      </p:sp>
      <p:sp>
        <p:nvSpPr>
          <p:cNvPr id="8" name="TextBox 11">
            <a:extLst>
              <a:ext uri="{FF2B5EF4-FFF2-40B4-BE49-F238E27FC236}">
                <a16:creationId xmlns:a16="http://schemas.microsoft.com/office/drawing/2014/main" id="{D8DB44B4-018C-47CC-A13C-1368B6C071EC}"/>
              </a:ext>
            </a:extLst>
          </p:cNvPr>
          <p:cNvSpPr>
            <a:spLocks noGrp="1"/>
          </p:cNvSpPr>
          <p:nvPr/>
        </p:nvSpPr>
        <p:spPr>
          <a:xfrm>
            <a:off x="584185" y="2524148"/>
            <a:ext cx="2285943" cy="406390"/>
          </a:xfrm>
          <a:prstGeom prst="rect">
            <a:avLst/>
          </a:prstGeom>
          <a:noFill/>
        </p:spPr>
        <p:txBody>
          <a:bodyPr wrap="square" lIns="241294" tIns="0" rIns="0" bIns="0" anchor="t">
            <a:spAutoFit/>
          </a:bodyPr>
          <a:lstStyle/>
          <a:p>
            <a:pPr marL="0" indent="0" algn="l">
              <a:buNone/>
            </a:pPr>
            <a:r>
              <a:rPr sz="1400" b="1" spc="150">
                <a:solidFill>
                  <a:srgbClr val="00A99D"/>
                </a:solidFill>
                <a:latin typeface="Arial"/>
                <a:ea typeface="Arial"/>
                <a:cs typeface="Arial"/>
              </a:rPr>
              <a:t>IMPLEMENTED NOW</a:t>
            </a:r>
            <a:endParaRPr sz="1400"/>
          </a:p>
        </p:txBody>
      </p:sp>
      <p:sp>
        <p:nvSpPr>
          <p:cNvPr id="9" name="TextBox 13">
            <a:extLst>
              <a:ext uri="{FF2B5EF4-FFF2-40B4-BE49-F238E27FC236}">
                <a16:creationId xmlns:a16="http://schemas.microsoft.com/office/drawing/2014/main" id="{4B9428F5-1ACB-4307-A0C0-A9326C46E2C0}"/>
              </a:ext>
            </a:extLst>
          </p:cNvPr>
          <p:cNvSpPr>
            <a:spLocks noGrp="1"/>
          </p:cNvSpPr>
          <p:nvPr/>
        </p:nvSpPr>
        <p:spPr>
          <a:xfrm>
            <a:off x="2870128" y="2444477"/>
            <a:ext cx="8191295" cy="565731"/>
          </a:xfrm>
          <a:prstGeom prst="rect">
            <a:avLst/>
          </a:prstGeom>
          <a:noFill/>
        </p:spPr>
        <p:txBody>
          <a:bodyPr wrap="square" lIns="0" tIns="0" rIns="0" bIns="0" anchor="t">
            <a:spAutoFit/>
          </a:bodyPr>
          <a:lstStyle/>
          <a:p>
            <a:pPr marL="0" indent="0" algn="l">
              <a:lnSpc>
                <a:spcPts val="2227"/>
              </a:lnSpc>
              <a:buNone/>
            </a:pPr>
            <a:r>
              <a:rPr sz="1650">
                <a:solidFill>
                  <a:srgbClr val="162A2D"/>
                </a:solidFill>
                <a:latin typeface="Arial"/>
                <a:ea typeface="Arial"/>
                <a:cs typeface="Arial"/>
              </a:rPr>
              <a:t>Bounded evidence agent · durable tenant API · managed queue/state · Terraform · keyless delivery · reproducible ML packages</a:t>
            </a:r>
            <a:endParaRPr sz="1650"/>
          </a:p>
        </p:txBody>
      </p:sp>
      <p:sp>
        <p:nvSpPr>
          <p:cNvPr id="10" name="TextBox 18">
            <a:extLst>
              <a:ext uri="{FF2B5EF4-FFF2-40B4-BE49-F238E27FC236}">
                <a16:creationId xmlns:a16="http://schemas.microsoft.com/office/drawing/2014/main" id="{329C86DA-9657-4325-B576-55C19B7FBCBF}"/>
              </a:ext>
            </a:extLst>
          </p:cNvPr>
          <p:cNvSpPr>
            <a:spLocks noGrp="1"/>
          </p:cNvSpPr>
          <p:nvPr/>
        </p:nvSpPr>
        <p:spPr>
          <a:xfrm>
            <a:off x="584185" y="3990961"/>
            <a:ext cx="2285943" cy="203195"/>
          </a:xfrm>
          <a:prstGeom prst="rect">
            <a:avLst/>
          </a:prstGeom>
          <a:noFill/>
        </p:spPr>
        <p:txBody>
          <a:bodyPr wrap="square" lIns="241294" tIns="0" rIns="0" bIns="0" anchor="t">
            <a:spAutoFit/>
          </a:bodyPr>
          <a:lstStyle/>
          <a:p>
            <a:pPr marL="0" indent="0" algn="l">
              <a:buNone/>
            </a:pPr>
            <a:r>
              <a:rPr sz="1400" b="1" spc="150">
                <a:solidFill>
                  <a:srgbClr val="00A99D"/>
                </a:solidFill>
                <a:latin typeface="Arial"/>
                <a:ea typeface="Arial"/>
                <a:cs typeface="Arial"/>
              </a:rPr>
              <a:t>GATED NEXT</a:t>
            </a:r>
            <a:endParaRPr sz="1400"/>
          </a:p>
        </p:txBody>
      </p:sp>
      <p:sp>
        <p:nvSpPr>
          <p:cNvPr id="11" name="TextBox 20">
            <a:extLst>
              <a:ext uri="{FF2B5EF4-FFF2-40B4-BE49-F238E27FC236}">
                <a16:creationId xmlns:a16="http://schemas.microsoft.com/office/drawing/2014/main" id="{EE83D353-745D-4568-A587-2B40F40A8781}"/>
              </a:ext>
            </a:extLst>
          </p:cNvPr>
          <p:cNvSpPr>
            <a:spLocks noGrp="1"/>
          </p:cNvSpPr>
          <p:nvPr/>
        </p:nvSpPr>
        <p:spPr>
          <a:xfrm>
            <a:off x="2870128" y="3809693"/>
            <a:ext cx="8191295" cy="565731"/>
          </a:xfrm>
          <a:prstGeom prst="rect">
            <a:avLst/>
          </a:prstGeom>
          <a:noFill/>
        </p:spPr>
        <p:txBody>
          <a:bodyPr wrap="square" lIns="0" tIns="0" rIns="0" bIns="0" anchor="t">
            <a:spAutoFit/>
          </a:bodyPr>
          <a:lstStyle/>
          <a:p>
            <a:pPr marL="0" indent="0" algn="l">
              <a:lnSpc>
                <a:spcPts val="2227"/>
              </a:lnSpc>
              <a:buNone/>
            </a:pPr>
            <a:r>
              <a:rPr sz="1650">
                <a:solidFill>
                  <a:srgbClr val="162A2D"/>
                </a:solidFill>
                <a:latin typeface="Arial"/>
                <a:ea typeface="Arial"/>
                <a:cs typeface="Arial"/>
              </a:rPr>
              <a:t>Approved model plane · business loss function · calibrated probabilities · structured fitment · SLOs · drift and quality monitoring</a:t>
            </a:r>
            <a:endParaRPr sz="1650"/>
          </a:p>
        </p:txBody>
      </p:sp>
      <p:sp>
        <p:nvSpPr>
          <p:cNvPr id="12" name="Shape 23">
            <a:extLst>
              <a:ext uri="{FF2B5EF4-FFF2-40B4-BE49-F238E27FC236}">
                <a16:creationId xmlns:a16="http://schemas.microsoft.com/office/drawing/2014/main" id="{DD56CFA5-65F4-4A97-A2CA-80B5938F348D}"/>
              </a:ext>
            </a:extLst>
          </p:cNvPr>
          <p:cNvSpPr>
            <a:spLocks noGrp="1"/>
          </p:cNvSpPr>
          <p:nvPr/>
        </p:nvSpPr>
        <p:spPr>
          <a:xfrm>
            <a:off x="584185" y="4775166"/>
            <a:ext cx="11023324" cy="1396965"/>
          </a:xfrm>
          <a:prstGeom prst="rect">
            <a:avLst/>
          </a:prstGeom>
          <a:solidFill>
            <a:srgbClr val="162A2D"/>
          </a:solidFill>
        </p:spPr>
        <p:txBody>
          <a:bodyPr/>
          <a:lstStyle/>
          <a:p>
            <a:endParaRPr lang="en-DE"/>
          </a:p>
        </p:txBody>
      </p:sp>
      <p:sp>
        <p:nvSpPr>
          <p:cNvPr id="13" name="TextBox 25">
            <a:extLst>
              <a:ext uri="{FF2B5EF4-FFF2-40B4-BE49-F238E27FC236}">
                <a16:creationId xmlns:a16="http://schemas.microsoft.com/office/drawing/2014/main" id="{6C56B4AC-F6F7-4D29-9FF4-CB57397DBDDE}"/>
              </a:ext>
            </a:extLst>
          </p:cNvPr>
          <p:cNvSpPr>
            <a:spLocks noGrp="1"/>
          </p:cNvSpPr>
          <p:nvPr/>
        </p:nvSpPr>
        <p:spPr>
          <a:xfrm>
            <a:off x="584185" y="5372051"/>
            <a:ext cx="2285943" cy="203195"/>
          </a:xfrm>
          <a:prstGeom prst="rect">
            <a:avLst/>
          </a:prstGeom>
          <a:noFill/>
        </p:spPr>
        <p:txBody>
          <a:bodyPr wrap="square" lIns="241294" tIns="0" rIns="0" bIns="0" anchor="t">
            <a:spAutoFit/>
          </a:bodyPr>
          <a:lstStyle/>
          <a:p>
            <a:pPr marL="0" indent="0" algn="l">
              <a:buNone/>
            </a:pPr>
            <a:r>
              <a:rPr sz="1400" b="1" spc="150">
                <a:solidFill>
                  <a:srgbClr val="00A99D"/>
                </a:solidFill>
                <a:latin typeface="Arial"/>
                <a:ea typeface="Arial"/>
                <a:cs typeface="Arial"/>
              </a:rPr>
              <a:t>NOT CLAIMED</a:t>
            </a:r>
            <a:endParaRPr sz="1400"/>
          </a:p>
        </p:txBody>
      </p:sp>
      <p:sp>
        <p:nvSpPr>
          <p:cNvPr id="14" name="TextBox 27">
            <a:extLst>
              <a:ext uri="{FF2B5EF4-FFF2-40B4-BE49-F238E27FC236}">
                <a16:creationId xmlns:a16="http://schemas.microsoft.com/office/drawing/2014/main" id="{127B45D4-8507-4E80-88B5-00E68994D5C6}"/>
              </a:ext>
            </a:extLst>
          </p:cNvPr>
          <p:cNvSpPr>
            <a:spLocks noGrp="1"/>
          </p:cNvSpPr>
          <p:nvPr/>
        </p:nvSpPr>
        <p:spPr>
          <a:xfrm>
            <a:off x="2870128" y="5190783"/>
            <a:ext cx="8191295" cy="565731"/>
          </a:xfrm>
          <a:prstGeom prst="rect">
            <a:avLst/>
          </a:prstGeom>
          <a:noFill/>
        </p:spPr>
        <p:txBody>
          <a:bodyPr wrap="square" lIns="0" tIns="0" rIns="0" bIns="0" anchor="t">
            <a:spAutoFit/>
          </a:bodyPr>
          <a:lstStyle/>
          <a:p>
            <a:pPr marL="0" indent="0" algn="l">
              <a:lnSpc>
                <a:spcPts val="2227"/>
              </a:lnSpc>
              <a:buNone/>
            </a:pPr>
            <a:r>
              <a:rPr sz="1650">
                <a:solidFill>
                  <a:srgbClr val="FFFFFF"/>
                </a:solidFill>
                <a:latin typeface="Arial"/>
                <a:ea typeface="Arial"/>
                <a:cs typeface="Arial"/>
              </a:rPr>
              <a:t>Enterprise load proof · production model approval · global HA · causal failure drivers · electrical compatibility from text alone</a:t>
            </a:r>
            <a:endParaRPr sz="1650"/>
          </a:p>
        </p:txBody>
      </p:sp>
      <p:sp>
        <p:nvSpPr>
          <p:cNvPr id="15" name="TextBox 31">
            <a:extLst>
              <a:ext uri="{FF2B5EF4-FFF2-40B4-BE49-F238E27FC236}">
                <a16:creationId xmlns:a16="http://schemas.microsoft.com/office/drawing/2014/main" id="{0BB9B2E2-0374-4BF9-BE2E-C7729051163B}"/>
              </a:ext>
            </a:extLst>
          </p:cNvPr>
          <p:cNvSpPr>
            <a:spLocks noGrp="1"/>
          </p:cNvSpPr>
          <p:nvPr/>
        </p:nvSpPr>
        <p:spPr>
          <a:xfrm>
            <a:off x="584185" y="6311828"/>
            <a:ext cx="8953276" cy="266693"/>
          </a:xfrm>
          <a:prstGeom prst="rect">
            <a:avLst/>
          </a:prstGeom>
          <a:noFill/>
        </p:spPr>
        <p:txBody>
          <a:bodyPr wrap="square" lIns="0" tIns="0" rIns="0" bIns="0" anchor="t">
            <a:spAutoFit/>
          </a:bodyPr>
          <a:lstStyle/>
          <a:p>
            <a:pPr marL="0" indent="0" algn="l">
              <a:buNone/>
            </a:pPr>
            <a:r>
              <a:rPr sz="1200">
                <a:solidFill>
                  <a:srgbClr val="5E6D6C"/>
                </a:solidFill>
                <a:latin typeface="Arial"/>
                <a:ea typeface="Arial"/>
                <a:cs typeface="Arial"/>
              </a:rPr>
              <a:t>A senior engineer protects the roadmap from claims the evidence cannot support.</a:t>
            </a:r>
            <a:endParaRPr sz="1200"/>
          </a:p>
        </p:txBody>
      </p:sp>
      <p:sp>
        <p:nvSpPr>
          <p:cNvPr id="16" name="TextBox 33">
            <a:extLst>
              <a:ext uri="{FF2B5EF4-FFF2-40B4-BE49-F238E27FC236}">
                <a16:creationId xmlns:a16="http://schemas.microsoft.com/office/drawing/2014/main" id="{45BAF27C-C37A-4F8F-A6BF-16CCC5F116F3}"/>
              </a:ext>
            </a:extLst>
          </p:cNvPr>
          <p:cNvSpPr>
            <a:spLocks noGrp="1"/>
          </p:cNvSpPr>
          <p:nvPr/>
        </p:nvSpPr>
        <p:spPr>
          <a:xfrm>
            <a:off x="11099523" y="6349927"/>
            <a:ext cx="507987" cy="253994"/>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15</a:t>
            </a:r>
            <a:endParaRPr sz="1200"/>
          </a:p>
        </p:txBody>
      </p:sp>
    </p:spTree>
    <p:extLst>
      <p:ext uri="{BB962C8B-B14F-4D97-AF65-F5344CB8AC3E}">
        <p14:creationId xmlns:p14="http://schemas.microsoft.com/office/powerpoint/2010/main" val="219955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061EEE66-F9F2-4EA5-92A2-D87C92B8B32A}"/>
              </a:ext>
            </a:extLst>
          </p:cNvPr>
          <p:cNvSpPr>
            <a:spLocks noGrp="1"/>
          </p:cNvSpPr>
          <p:nvPr/>
        </p:nvSpPr>
        <p:spPr>
          <a:xfrm>
            <a:off x="0" y="86"/>
            <a:ext cx="12191695" cy="6857829"/>
          </a:xfrm>
          <a:prstGeom prst="rect">
            <a:avLst/>
          </a:prstGeom>
          <a:solidFill>
            <a:srgbClr val="162A2D"/>
          </a:solidFill>
        </p:spPr>
        <p:txBody>
          <a:bodyPr/>
          <a:lstStyle/>
          <a:p>
            <a:endParaRPr lang="en-DE"/>
          </a:p>
        </p:txBody>
      </p:sp>
      <p:sp>
        <p:nvSpPr>
          <p:cNvPr id="3" name="TextBox 3">
            <a:extLst>
              <a:ext uri="{FF2B5EF4-FFF2-40B4-BE49-F238E27FC236}">
                <a16:creationId xmlns:a16="http://schemas.microsoft.com/office/drawing/2014/main" id="{796EA15B-E41D-443A-B20A-7A68B2F256DB}"/>
              </a:ext>
            </a:extLst>
          </p:cNvPr>
          <p:cNvSpPr>
            <a:spLocks noGrp="1"/>
          </p:cNvSpPr>
          <p:nvPr/>
        </p:nvSpPr>
        <p:spPr>
          <a:xfrm>
            <a:off x="584185" y="457274"/>
            <a:ext cx="2603435" cy="215895"/>
          </a:xfrm>
          <a:prstGeom prst="rect">
            <a:avLst/>
          </a:prstGeom>
          <a:noFill/>
        </p:spPr>
        <p:txBody>
          <a:bodyPr wrap="square" lIns="0" tIns="0" rIns="0" bIns="0" anchor="t">
            <a:spAutoFit/>
          </a:bodyPr>
          <a:lstStyle/>
          <a:p>
            <a:pPr marL="0" indent="0" algn="l">
              <a:buNone/>
            </a:pPr>
            <a:r>
              <a:rPr sz="1000" b="1" spc="200">
                <a:solidFill>
                  <a:srgbClr val="00A99D"/>
                </a:solidFill>
                <a:latin typeface="Arial"/>
                <a:ea typeface="Arial"/>
                <a:cs typeface="Arial"/>
              </a:rPr>
              <a:t>WHY I WOULD HIRE THIS ENGINEER</a:t>
            </a:r>
            <a:endParaRPr sz="1000"/>
          </a:p>
        </p:txBody>
      </p:sp>
      <p:sp>
        <p:nvSpPr>
          <p:cNvPr id="4" name="TextBox 7">
            <a:extLst>
              <a:ext uri="{FF2B5EF4-FFF2-40B4-BE49-F238E27FC236}">
                <a16:creationId xmlns:a16="http://schemas.microsoft.com/office/drawing/2014/main" id="{E728F154-08C0-481C-90AA-C6E5E3CBBD46}"/>
              </a:ext>
            </a:extLst>
          </p:cNvPr>
          <p:cNvSpPr>
            <a:spLocks noGrp="1"/>
          </p:cNvSpPr>
          <p:nvPr/>
        </p:nvSpPr>
        <p:spPr>
          <a:xfrm>
            <a:off x="584185" y="1079559"/>
            <a:ext cx="9016775" cy="1217582"/>
          </a:xfrm>
          <a:prstGeom prst="rect">
            <a:avLst/>
          </a:prstGeom>
          <a:noFill/>
        </p:spPr>
        <p:txBody>
          <a:bodyPr wrap="square" lIns="0" tIns="0" rIns="0" bIns="0" anchor="t">
            <a:spAutoFit/>
          </a:bodyPr>
          <a:lstStyle/>
          <a:p>
            <a:pPr marL="0" indent="0" algn="l">
              <a:lnSpc>
                <a:spcPts val="4794"/>
              </a:lnSpc>
              <a:buNone/>
            </a:pPr>
            <a:r>
              <a:rPr sz="4700" spc="-250">
                <a:solidFill>
                  <a:srgbClr val="FFFFFF"/>
                </a:solidFill>
                <a:latin typeface="Arial"/>
                <a:ea typeface="Arial"/>
                <a:cs typeface="Arial"/>
              </a:rPr>
              <a:t>I build AI systems that earn trust before they ask for scale.</a:t>
            </a:r>
            <a:endParaRPr sz="4700"/>
          </a:p>
        </p:txBody>
      </p:sp>
      <p:sp>
        <p:nvSpPr>
          <p:cNvPr id="5" name="Shape 10">
            <a:extLst>
              <a:ext uri="{FF2B5EF4-FFF2-40B4-BE49-F238E27FC236}">
                <a16:creationId xmlns:a16="http://schemas.microsoft.com/office/drawing/2014/main" id="{19E36659-707E-46F2-9C74-251611F9FD3C}"/>
              </a:ext>
            </a:extLst>
          </p:cNvPr>
          <p:cNvSpPr>
            <a:spLocks noGrp="1"/>
          </p:cNvSpPr>
          <p:nvPr/>
        </p:nvSpPr>
        <p:spPr>
          <a:xfrm>
            <a:off x="584185" y="4190981"/>
            <a:ext cx="11023324" cy="1904952"/>
          </a:xfrm>
          <a:prstGeom prst="rect">
            <a:avLst/>
          </a:prstGeom>
          <a:noFill/>
        </p:spPr>
        <p:txBody>
          <a:bodyPr/>
          <a:lstStyle/>
          <a:p>
            <a:endParaRPr lang="en-DE"/>
          </a:p>
        </p:txBody>
      </p:sp>
      <p:pic>
        <p:nvPicPr>
          <p:cNvPr id="31" name="Picture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185" y="4190981"/>
            <a:ext cx="11023324" cy="1904952"/>
          </a:xfrm>
          <a:prstGeom prst="rect">
            <a:avLst/>
          </a:prstGeom>
        </p:spPr>
      </p:pic>
      <p:sp>
        <p:nvSpPr>
          <p:cNvPr id="7" name="Shape 12">
            <a:extLst>
              <a:ext uri="{FF2B5EF4-FFF2-40B4-BE49-F238E27FC236}">
                <a16:creationId xmlns:a16="http://schemas.microsoft.com/office/drawing/2014/main" id="{2F2818E7-A1F0-466F-98C3-5FEE8C650EB2}"/>
              </a:ext>
            </a:extLst>
          </p:cNvPr>
          <p:cNvSpPr>
            <a:spLocks noGrp="1"/>
          </p:cNvSpPr>
          <p:nvPr/>
        </p:nvSpPr>
        <p:spPr>
          <a:xfrm>
            <a:off x="584185" y="4203681"/>
            <a:ext cx="2755831" cy="1892253"/>
          </a:xfrm>
          <a:prstGeom prst="rect">
            <a:avLst/>
          </a:prstGeom>
          <a:noFill/>
        </p:spPr>
        <p:txBody>
          <a:bodyPr/>
          <a:lstStyle/>
          <a:p>
            <a:endParaRPr lang="en-DE"/>
          </a:p>
        </p:txBody>
      </p:sp>
      <p:pic>
        <p:nvPicPr>
          <p:cNvPr id="33" name="Picture 12"/>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4185" y="4203681"/>
            <a:ext cx="2755831" cy="1892253"/>
          </a:xfrm>
          <a:prstGeom prst="rect">
            <a:avLst/>
          </a:prstGeom>
        </p:spPr>
      </p:pic>
      <p:sp>
        <p:nvSpPr>
          <p:cNvPr id="9" name="TextBox 13">
            <a:extLst>
              <a:ext uri="{FF2B5EF4-FFF2-40B4-BE49-F238E27FC236}">
                <a16:creationId xmlns:a16="http://schemas.microsoft.com/office/drawing/2014/main" id="{7A37E8D0-C7DD-4D3E-AE62-18A34FB970B1}"/>
              </a:ext>
            </a:extLst>
          </p:cNvPr>
          <p:cNvSpPr>
            <a:spLocks noGrp="1"/>
          </p:cNvSpPr>
          <p:nvPr/>
        </p:nvSpPr>
        <p:spPr>
          <a:xfrm>
            <a:off x="584185" y="4470374"/>
            <a:ext cx="2558986" cy="165096"/>
          </a:xfrm>
          <a:prstGeom prst="rect">
            <a:avLst/>
          </a:prstGeom>
          <a:noFill/>
        </p:spPr>
        <p:txBody>
          <a:bodyPr wrap="square" lIns="0" tIns="0" rIns="0" bIns="0" anchor="t">
            <a:spAutoFit/>
          </a:bodyPr>
          <a:lstStyle/>
          <a:p>
            <a:pPr marL="0" indent="0" algn="l">
              <a:buNone/>
            </a:pPr>
            <a:r>
              <a:rPr sz="1100" b="1" spc="100">
                <a:solidFill>
                  <a:srgbClr val="00A99D"/>
                </a:solidFill>
                <a:latin typeface="Arial"/>
                <a:ea typeface="Arial"/>
                <a:cs typeface="Arial"/>
              </a:rPr>
              <a:t>01 · AMBIGUITY</a:t>
            </a:r>
            <a:endParaRPr sz="1100"/>
          </a:p>
        </p:txBody>
      </p:sp>
      <p:sp>
        <p:nvSpPr>
          <p:cNvPr id="10" name="TextBox 14">
            <a:extLst>
              <a:ext uri="{FF2B5EF4-FFF2-40B4-BE49-F238E27FC236}">
                <a16:creationId xmlns:a16="http://schemas.microsoft.com/office/drawing/2014/main" id="{34357CF7-0157-42EF-AC17-C11AB452FC36}"/>
              </a:ext>
            </a:extLst>
          </p:cNvPr>
          <p:cNvSpPr>
            <a:spLocks noGrp="1"/>
          </p:cNvSpPr>
          <p:nvPr/>
        </p:nvSpPr>
        <p:spPr>
          <a:xfrm>
            <a:off x="584185" y="4787866"/>
            <a:ext cx="2558986" cy="487549"/>
          </a:xfrm>
          <a:prstGeom prst="rect">
            <a:avLst/>
          </a:prstGeom>
          <a:noFill/>
        </p:spPr>
        <p:txBody>
          <a:bodyPr wrap="square" lIns="0" tIns="0" rIns="0" bIns="0" anchor="t">
            <a:spAutoFit/>
          </a:bodyPr>
          <a:lstStyle/>
          <a:p>
            <a:pPr marL="0" indent="0" algn="l">
              <a:lnSpc>
                <a:spcPts val="1920"/>
              </a:lnSpc>
              <a:buNone/>
            </a:pPr>
            <a:r>
              <a:rPr sz="1600">
                <a:solidFill>
                  <a:srgbClr val="FFFFFF"/>
                </a:solidFill>
                <a:latin typeface="Arial"/>
                <a:ea typeface="Arial"/>
                <a:cs typeface="Arial"/>
              </a:rPr>
              <a:t>Turn it into explicit contracts.</a:t>
            </a:r>
            <a:endParaRPr sz="1600"/>
          </a:p>
        </p:txBody>
      </p:sp>
      <p:sp>
        <p:nvSpPr>
          <p:cNvPr id="11" name="Shape 16">
            <a:extLst>
              <a:ext uri="{FF2B5EF4-FFF2-40B4-BE49-F238E27FC236}">
                <a16:creationId xmlns:a16="http://schemas.microsoft.com/office/drawing/2014/main" id="{422CDE5D-D154-4280-8156-B5B0FCAD3339}"/>
              </a:ext>
            </a:extLst>
          </p:cNvPr>
          <p:cNvSpPr>
            <a:spLocks noGrp="1"/>
          </p:cNvSpPr>
          <p:nvPr/>
        </p:nvSpPr>
        <p:spPr>
          <a:xfrm>
            <a:off x="3340016" y="4203681"/>
            <a:ext cx="2755831" cy="1892253"/>
          </a:xfrm>
          <a:prstGeom prst="rect">
            <a:avLst/>
          </a:prstGeom>
          <a:noFill/>
        </p:spPr>
        <p:txBody>
          <a:bodyPr/>
          <a:lstStyle/>
          <a:p>
            <a:endParaRPr lang="en-DE"/>
          </a:p>
        </p:txBody>
      </p:sp>
      <p:pic>
        <p:nvPicPr>
          <p:cNvPr id="37" name="Picture 1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40016" y="4203681"/>
            <a:ext cx="2755831" cy="1892253"/>
          </a:xfrm>
          <a:prstGeom prst="rect">
            <a:avLst/>
          </a:prstGeom>
        </p:spPr>
      </p:pic>
      <p:sp>
        <p:nvSpPr>
          <p:cNvPr id="13" name="TextBox 17">
            <a:extLst>
              <a:ext uri="{FF2B5EF4-FFF2-40B4-BE49-F238E27FC236}">
                <a16:creationId xmlns:a16="http://schemas.microsoft.com/office/drawing/2014/main" id="{060AA5CE-487E-4939-A1F1-FB29F1024B25}"/>
              </a:ext>
            </a:extLst>
          </p:cNvPr>
          <p:cNvSpPr>
            <a:spLocks noGrp="1"/>
          </p:cNvSpPr>
          <p:nvPr/>
        </p:nvSpPr>
        <p:spPr>
          <a:xfrm>
            <a:off x="3555911" y="4470374"/>
            <a:ext cx="2343091" cy="165096"/>
          </a:xfrm>
          <a:prstGeom prst="rect">
            <a:avLst/>
          </a:prstGeom>
          <a:noFill/>
        </p:spPr>
        <p:txBody>
          <a:bodyPr wrap="square" lIns="0" tIns="0" rIns="0" bIns="0" anchor="t">
            <a:spAutoFit/>
          </a:bodyPr>
          <a:lstStyle/>
          <a:p>
            <a:pPr marL="0" indent="0" algn="l">
              <a:buNone/>
            </a:pPr>
            <a:r>
              <a:rPr sz="1100" b="1" spc="100">
                <a:solidFill>
                  <a:srgbClr val="00A99D"/>
                </a:solidFill>
                <a:latin typeface="Arial"/>
                <a:ea typeface="Arial"/>
                <a:cs typeface="Arial"/>
              </a:rPr>
              <a:t>02 · AI</a:t>
            </a:r>
            <a:endParaRPr sz="1100"/>
          </a:p>
        </p:txBody>
      </p:sp>
      <p:sp>
        <p:nvSpPr>
          <p:cNvPr id="14" name="TextBox 18">
            <a:extLst>
              <a:ext uri="{FF2B5EF4-FFF2-40B4-BE49-F238E27FC236}">
                <a16:creationId xmlns:a16="http://schemas.microsoft.com/office/drawing/2014/main" id="{B3B1E6A7-8A00-4D41-BB3F-DEC54586341E}"/>
              </a:ext>
            </a:extLst>
          </p:cNvPr>
          <p:cNvSpPr>
            <a:spLocks noGrp="1"/>
          </p:cNvSpPr>
          <p:nvPr/>
        </p:nvSpPr>
        <p:spPr>
          <a:xfrm>
            <a:off x="3555911" y="4787866"/>
            <a:ext cx="2343091" cy="487549"/>
          </a:xfrm>
          <a:prstGeom prst="rect">
            <a:avLst/>
          </a:prstGeom>
          <a:noFill/>
        </p:spPr>
        <p:txBody>
          <a:bodyPr wrap="square" lIns="0" tIns="0" rIns="0" bIns="0" anchor="t">
            <a:spAutoFit/>
          </a:bodyPr>
          <a:lstStyle/>
          <a:p>
            <a:pPr marL="0" indent="0" algn="l">
              <a:lnSpc>
                <a:spcPts val="1920"/>
              </a:lnSpc>
              <a:buNone/>
            </a:pPr>
            <a:r>
              <a:rPr sz="1600">
                <a:solidFill>
                  <a:srgbClr val="FFFFFF"/>
                </a:solidFill>
                <a:latin typeface="Arial"/>
                <a:ea typeface="Arial"/>
                <a:cs typeface="Arial"/>
              </a:rPr>
              <a:t>Bound it with deterministic policy.</a:t>
            </a:r>
            <a:endParaRPr sz="1600"/>
          </a:p>
        </p:txBody>
      </p:sp>
      <p:sp>
        <p:nvSpPr>
          <p:cNvPr id="15" name="Shape 20">
            <a:extLst>
              <a:ext uri="{FF2B5EF4-FFF2-40B4-BE49-F238E27FC236}">
                <a16:creationId xmlns:a16="http://schemas.microsoft.com/office/drawing/2014/main" id="{001E94DE-194C-40CA-980F-53EC1657FCA3}"/>
              </a:ext>
            </a:extLst>
          </p:cNvPr>
          <p:cNvSpPr>
            <a:spLocks noGrp="1"/>
          </p:cNvSpPr>
          <p:nvPr/>
        </p:nvSpPr>
        <p:spPr>
          <a:xfrm>
            <a:off x="6095848" y="4203681"/>
            <a:ext cx="2755831" cy="1892253"/>
          </a:xfrm>
          <a:prstGeom prst="rect">
            <a:avLst/>
          </a:prstGeom>
          <a:noFill/>
        </p:spPr>
        <p:txBody>
          <a:bodyPr/>
          <a:lstStyle/>
          <a:p>
            <a:endParaRPr lang="en-DE"/>
          </a:p>
        </p:txBody>
      </p:sp>
      <p:pic>
        <p:nvPicPr>
          <p:cNvPr id="41" name="Picture 20"/>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5848" y="4203681"/>
            <a:ext cx="2755831" cy="1892253"/>
          </a:xfrm>
          <a:prstGeom prst="rect">
            <a:avLst/>
          </a:prstGeom>
        </p:spPr>
      </p:pic>
      <p:sp>
        <p:nvSpPr>
          <p:cNvPr id="17" name="TextBox 21">
            <a:extLst>
              <a:ext uri="{FF2B5EF4-FFF2-40B4-BE49-F238E27FC236}">
                <a16:creationId xmlns:a16="http://schemas.microsoft.com/office/drawing/2014/main" id="{1F26A9A8-6FBD-4C15-B3FC-F1ECDE730465}"/>
              </a:ext>
            </a:extLst>
          </p:cNvPr>
          <p:cNvSpPr>
            <a:spLocks noGrp="1"/>
          </p:cNvSpPr>
          <p:nvPr/>
        </p:nvSpPr>
        <p:spPr>
          <a:xfrm>
            <a:off x="6311742" y="4470374"/>
            <a:ext cx="2343091" cy="165096"/>
          </a:xfrm>
          <a:prstGeom prst="rect">
            <a:avLst/>
          </a:prstGeom>
          <a:noFill/>
        </p:spPr>
        <p:txBody>
          <a:bodyPr wrap="square" lIns="0" tIns="0" rIns="0" bIns="0" anchor="t">
            <a:spAutoFit/>
          </a:bodyPr>
          <a:lstStyle/>
          <a:p>
            <a:pPr marL="0" indent="0" algn="l">
              <a:buNone/>
            </a:pPr>
            <a:r>
              <a:rPr sz="1100" b="1" spc="100">
                <a:solidFill>
                  <a:srgbClr val="00A99D"/>
                </a:solidFill>
                <a:latin typeface="Arial"/>
                <a:ea typeface="Arial"/>
                <a:cs typeface="Arial"/>
              </a:rPr>
              <a:t>03 · DELIVERY</a:t>
            </a:r>
            <a:endParaRPr sz="1100"/>
          </a:p>
        </p:txBody>
      </p:sp>
      <p:sp>
        <p:nvSpPr>
          <p:cNvPr id="18" name="TextBox 22">
            <a:extLst>
              <a:ext uri="{FF2B5EF4-FFF2-40B4-BE49-F238E27FC236}">
                <a16:creationId xmlns:a16="http://schemas.microsoft.com/office/drawing/2014/main" id="{B3D38D5F-B717-493A-8EFA-55ABD1FFFEDF}"/>
              </a:ext>
            </a:extLst>
          </p:cNvPr>
          <p:cNvSpPr>
            <a:spLocks noGrp="1"/>
          </p:cNvSpPr>
          <p:nvPr/>
        </p:nvSpPr>
        <p:spPr>
          <a:xfrm>
            <a:off x="6311742" y="4787866"/>
            <a:ext cx="2343091" cy="487549"/>
          </a:xfrm>
          <a:prstGeom prst="rect">
            <a:avLst/>
          </a:prstGeom>
          <a:noFill/>
        </p:spPr>
        <p:txBody>
          <a:bodyPr wrap="square" lIns="0" tIns="0" rIns="0" bIns="0" anchor="t">
            <a:spAutoFit/>
          </a:bodyPr>
          <a:lstStyle/>
          <a:p>
            <a:pPr marL="0" indent="0" algn="l">
              <a:lnSpc>
                <a:spcPts val="1920"/>
              </a:lnSpc>
              <a:buNone/>
            </a:pPr>
            <a:r>
              <a:rPr sz="1600">
                <a:solidFill>
                  <a:srgbClr val="FFFFFF"/>
                </a:solidFill>
                <a:latin typeface="Arial"/>
                <a:ea typeface="Arial"/>
                <a:cs typeface="Arial"/>
              </a:rPr>
              <a:t>Promote only tested evidence.</a:t>
            </a:r>
            <a:endParaRPr sz="1600"/>
          </a:p>
        </p:txBody>
      </p:sp>
      <p:sp>
        <p:nvSpPr>
          <p:cNvPr id="19" name="TextBox 25">
            <a:extLst>
              <a:ext uri="{FF2B5EF4-FFF2-40B4-BE49-F238E27FC236}">
                <a16:creationId xmlns:a16="http://schemas.microsoft.com/office/drawing/2014/main" id="{A55C81A2-10BD-41FF-840F-16D03D2CFF24}"/>
              </a:ext>
            </a:extLst>
          </p:cNvPr>
          <p:cNvSpPr>
            <a:spLocks noGrp="1"/>
          </p:cNvSpPr>
          <p:nvPr/>
        </p:nvSpPr>
        <p:spPr>
          <a:xfrm>
            <a:off x="9067573" y="4470374"/>
            <a:ext cx="2539936" cy="165096"/>
          </a:xfrm>
          <a:prstGeom prst="rect">
            <a:avLst/>
          </a:prstGeom>
          <a:noFill/>
        </p:spPr>
        <p:txBody>
          <a:bodyPr wrap="square" lIns="0" tIns="0" rIns="0" bIns="0" anchor="t">
            <a:spAutoFit/>
          </a:bodyPr>
          <a:lstStyle/>
          <a:p>
            <a:pPr marL="0" indent="0" algn="l">
              <a:buNone/>
            </a:pPr>
            <a:r>
              <a:rPr sz="1100" b="1" spc="100">
                <a:solidFill>
                  <a:srgbClr val="00A99D"/>
                </a:solidFill>
                <a:latin typeface="Arial"/>
                <a:ea typeface="Arial"/>
                <a:cs typeface="Arial"/>
              </a:rPr>
              <a:t>04 · JUDGMENT</a:t>
            </a:r>
            <a:endParaRPr sz="1100"/>
          </a:p>
        </p:txBody>
      </p:sp>
      <p:sp>
        <p:nvSpPr>
          <p:cNvPr id="20" name="TextBox 26">
            <a:extLst>
              <a:ext uri="{FF2B5EF4-FFF2-40B4-BE49-F238E27FC236}">
                <a16:creationId xmlns:a16="http://schemas.microsoft.com/office/drawing/2014/main" id="{B2C2DBE8-0285-479C-A5F3-0E9453D67381}"/>
              </a:ext>
            </a:extLst>
          </p:cNvPr>
          <p:cNvSpPr>
            <a:spLocks noGrp="1"/>
          </p:cNvSpPr>
          <p:nvPr/>
        </p:nvSpPr>
        <p:spPr>
          <a:xfrm>
            <a:off x="9067573" y="4787866"/>
            <a:ext cx="2539936" cy="487549"/>
          </a:xfrm>
          <a:prstGeom prst="rect">
            <a:avLst/>
          </a:prstGeom>
          <a:noFill/>
        </p:spPr>
        <p:txBody>
          <a:bodyPr wrap="square" lIns="0" tIns="0" rIns="0" bIns="0" anchor="t">
            <a:spAutoFit/>
          </a:bodyPr>
          <a:lstStyle/>
          <a:p>
            <a:pPr marL="0" indent="0" algn="l">
              <a:lnSpc>
                <a:spcPts val="1920"/>
              </a:lnSpc>
              <a:buNone/>
            </a:pPr>
            <a:r>
              <a:rPr sz="1600">
                <a:solidFill>
                  <a:srgbClr val="FFFFFF"/>
                </a:solidFill>
                <a:latin typeface="Arial"/>
                <a:ea typeface="Arial"/>
                <a:cs typeface="Arial"/>
              </a:rPr>
              <a:t>State the limit before the claim.</a:t>
            </a:r>
            <a:endParaRPr sz="1600"/>
          </a:p>
        </p:txBody>
      </p:sp>
      <p:sp>
        <p:nvSpPr>
          <p:cNvPr id="21" name="TextBox 29">
            <a:extLst>
              <a:ext uri="{FF2B5EF4-FFF2-40B4-BE49-F238E27FC236}">
                <a16:creationId xmlns:a16="http://schemas.microsoft.com/office/drawing/2014/main" id="{2E382499-2961-435F-BCE0-C9BD5E059B40}"/>
              </a:ext>
            </a:extLst>
          </p:cNvPr>
          <p:cNvSpPr>
            <a:spLocks noGrp="1"/>
          </p:cNvSpPr>
          <p:nvPr/>
        </p:nvSpPr>
        <p:spPr>
          <a:xfrm>
            <a:off x="584185" y="6286429"/>
            <a:ext cx="4444889" cy="241294"/>
          </a:xfrm>
          <a:prstGeom prst="rect">
            <a:avLst/>
          </a:prstGeom>
          <a:noFill/>
        </p:spPr>
        <p:txBody>
          <a:bodyPr wrap="square" lIns="0" tIns="0" rIns="0" bIns="0" anchor="t">
            <a:spAutoFit/>
          </a:bodyPr>
          <a:lstStyle/>
          <a:p>
            <a:pPr marL="0" indent="0" algn="l">
              <a:buNone/>
            </a:pPr>
            <a:r>
              <a:rPr sz="1250">
                <a:solidFill>
                  <a:srgbClr val="B8C3C1"/>
                </a:solidFill>
                <a:latin typeface="Arial"/>
                <a:ea typeface="Arial"/>
                <a:cs typeface="Arial"/>
              </a:rPr>
              <a:t>Maksim Blekhshtein · Senior AI Engineer</a:t>
            </a:r>
            <a:endParaRPr sz="1250"/>
          </a:p>
        </p:txBody>
      </p:sp>
      <p:sp>
        <p:nvSpPr>
          <p:cNvPr id="22" name="TextBox 31">
            <a:extLst>
              <a:ext uri="{FF2B5EF4-FFF2-40B4-BE49-F238E27FC236}">
                <a16:creationId xmlns:a16="http://schemas.microsoft.com/office/drawing/2014/main" id="{55634D6B-35BD-4460-B254-48A6BB1A6977}"/>
              </a:ext>
            </a:extLst>
          </p:cNvPr>
          <p:cNvSpPr>
            <a:spLocks noGrp="1"/>
          </p:cNvSpPr>
          <p:nvPr/>
        </p:nvSpPr>
        <p:spPr>
          <a:xfrm>
            <a:off x="9004075" y="6248330"/>
            <a:ext cx="2603435" cy="330192"/>
          </a:xfrm>
          <a:prstGeom prst="rect">
            <a:avLst/>
          </a:prstGeom>
          <a:noFill/>
        </p:spPr>
        <p:txBody>
          <a:bodyPr wrap="square" lIns="0" tIns="0" rIns="0" bIns="0" anchor="t">
            <a:spAutoFit/>
          </a:bodyPr>
          <a:lstStyle/>
          <a:p>
            <a:pPr marL="0" indent="0" algn="r">
              <a:buNone/>
            </a:pPr>
            <a:r>
              <a:rPr sz="1200">
                <a:solidFill>
                  <a:srgbClr val="00A99D"/>
                </a:solidFill>
                <a:latin typeface="Arial"/>
                <a:ea typeface="Arial"/>
                <a:cs typeface="Arial"/>
              </a:rPr>
              <a:t>REPOSITORY READY TO REVIEW →</a:t>
            </a:r>
            <a:endParaRPr sz="1200"/>
          </a:p>
        </p:txBody>
      </p:sp>
    </p:spTree>
    <p:extLst>
      <p:ext uri="{BB962C8B-B14F-4D97-AF65-F5344CB8AC3E}">
        <p14:creationId xmlns:p14="http://schemas.microsoft.com/office/powerpoint/2010/main" val="4409036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2306</Words>
  <Application>Microsoft Macintosh PowerPoint</Application>
  <DocSecurity>0</DocSecurity>
  <PresentationFormat>Widescreen</PresentationFormat>
  <Paragraphs>332</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Maksim Blekhshtein</cp:lastModifiedBy>
  <cp:revision>1</cp:revision>
  <dcterms:created xsi:type="dcterms:W3CDTF">2026-08-30T17:31:47Z</dcterms:created>
  <dcterms:modified xsi:type="dcterms:W3CDTF">2026-08-30T17:33:37Z</dcterms:modified>
</cp:coreProperties>
</file>