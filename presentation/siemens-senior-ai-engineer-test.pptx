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2.svg" ContentType="image/svg+xml"/>
  <Override PartName="/ppt/media/image-10-10.svg" ContentType="image/svg+xml"/>
  <Override PartName="/ppt/media/image-10-2.svg" ContentType="image/svg+xml"/>
  <Override PartName="/ppt/media/image-10-4.svg" ContentType="image/svg+xml"/>
  <Override PartName="/ppt/media/image-10-6.svg" ContentType="image/svg+xml"/>
  <Override PartName="/ppt/media/image-10-8.svg" ContentType="image/svg+xml"/>
  <Override PartName="/ppt/media/image-11-2.svg" ContentType="image/svg+xml"/>
  <Override PartName="/ppt/media/image-11-4.svg" ContentType="image/svg+xml"/>
  <Override PartName="/ppt/media/image-11-6.svg" ContentType="image/svg+xml"/>
  <Override PartName="/ppt/media/image-12-11.svg" ContentType="image/svg+xml"/>
  <Override PartName="/ppt/media/image-12-14.svg" ContentType="image/svg+xml"/>
  <Override PartName="/ppt/media/image-12-16.svg" ContentType="image/svg+xml"/>
  <Override PartName="/ppt/media/image-12-19.svg" ContentType="image/svg+xml"/>
  <Override PartName="/ppt/media/image-12-2.svg" ContentType="image/svg+xml"/>
  <Override PartName="/ppt/media/image-12-21.svg" ContentType="image/svg+xml"/>
  <Override PartName="/ppt/media/image-12-24.svg" ContentType="image/svg+xml"/>
  <Override PartName="/ppt/media/image-12-26.svg" ContentType="image/svg+xml"/>
  <Override PartName="/ppt/media/image-12-29.svg" ContentType="image/svg+xml"/>
  <Override PartName="/ppt/media/image-12-4.svg" ContentType="image/svg+xml"/>
  <Override PartName="/ppt/media/image-12-6.svg" ContentType="image/svg+xml"/>
  <Override PartName="/ppt/media/image-12-9.svg" ContentType="image/svg+xml"/>
  <Override PartName="/ppt/media/image-13-11.svg" ContentType="image/svg+xml"/>
  <Override PartName="/ppt/media/image-13-14.svg" ContentType="image/svg+xml"/>
  <Override PartName="/ppt/media/image-13-16.svg" ContentType="image/svg+xml"/>
  <Override PartName="/ppt/media/image-13-19.svg" ContentType="image/svg+xml"/>
  <Override PartName="/ppt/media/image-13-2.svg" ContentType="image/svg+xml"/>
  <Override PartName="/ppt/media/image-13-21.svg" ContentType="image/svg+xml"/>
  <Override PartName="/ppt/media/image-13-24.svg" ContentType="image/svg+xml"/>
  <Override PartName="/ppt/media/image-13-26.svg" ContentType="image/svg+xml"/>
  <Override PartName="/ppt/media/image-13-29.svg" ContentType="image/svg+xml"/>
  <Override PartName="/ppt/media/image-13-31.svg" ContentType="image/svg+xml"/>
  <Override PartName="/ppt/media/image-13-34.svg" ContentType="image/svg+xml"/>
  <Override PartName="/ppt/media/image-13-36.svg" ContentType="image/svg+xml"/>
  <Override PartName="/ppt/media/image-13-4.svg" ContentType="image/svg+xml"/>
  <Override PartName="/ppt/media/image-13-6.svg" ContentType="image/svg+xml"/>
  <Override PartName="/ppt/media/image-13-9.svg" ContentType="image/svg+xml"/>
  <Override PartName="/ppt/media/image-14-2.svg" ContentType="image/svg+xml"/>
  <Override PartName="/ppt/media/image-15-2.svg" ContentType="image/svg+xml"/>
  <Override PartName="/ppt/media/image-16-2.svg" ContentType="image/svg+xml"/>
  <Override PartName="/ppt/media/image-16-4.svg" ContentType="image/svg+xml"/>
  <Override PartName="/ppt/media/image-16-6.svg" ContentType="image/svg+xml"/>
  <Override PartName="/ppt/media/image-16-8.svg" ContentType="image/svg+xml"/>
  <Override PartName="/ppt/media/image-2-10.svg" ContentType="image/svg+xml"/>
  <Override PartName="/ppt/media/image-2-2.svg" ContentType="image/svg+xml"/>
  <Override PartName="/ppt/media/image-2-4.svg" ContentType="image/svg+xml"/>
  <Override PartName="/ppt/media/image-2-6.svg" ContentType="image/svg+xml"/>
  <Override PartName="/ppt/media/image-2-8.svg" ContentType="image/svg+xml"/>
  <Override PartName="/ppt/media/image-4-2.svg" ContentType="image/svg+xml"/>
  <Override PartName="/ppt/media/image-5-2.svg" ContentType="image/svg+xml"/>
  <Override PartName="/ppt/media/image-5-4.svg" ContentType="image/svg+xml"/>
  <Override PartName="/ppt/media/image-5-6.svg" ContentType="image/svg+xml"/>
  <Override PartName="/ppt/media/image-5-8.svg" ContentType="image/svg+xml"/>
  <Override PartName="/ppt/media/image-6-2.svg" ContentType="image/svg+xml"/>
  <Override PartName="/ppt/media/image-6-4.svg" ContentType="image/svg+xml"/>
  <Override PartName="/ppt/media/image-7-2.svg" ContentType="image/svg+xml"/>
  <Override PartName="/ppt/media/image-9-2.svg" ContentType="image/svg+xml"/>
  <Override PartName="/ppt/media/image-9-4.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Open with the hiring thesis, not the task list. I treated the assignment as one operating system: evidence generation, durable serving, immutable delivery, and honest ML evaluation. The deck is intentionally organized around the questions a hiring manager or team lead would ask. Sources: README.md; docs/architecture.md.</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the evaluation lens for the rest of the deck. The strongest signal is not any one framework; it is the repeated ability to make boundaries explicit and executable. Every row maps to a concrete artifact shown later. Sources: docs/reviewer-guide.md; docs/test-strategy.md.</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Follow a single user request from the public boundary to a durable result. Tasks 1 to 3 form the online product; Tasks 4 to 6 are deliberately separate local analytical packages. This separation avoids pretending that every deliverable belongs in one deployed runtime. Sources: docs/architecture.md; README.md.</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key agent decision is that model prose is never treated as evidence. The planner proposes bounded searches, the fetch layer creates evidence records, synthesis can reference only those records, and the final validator checks support. If support is missing, the correct output is an abstention. Sources: task-01-search-agent/src/search_agent/evidence.py; answering.py; runner.py; task-01-search-agent/tests/test_evidence.py.</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These are hard defaults from RunBudget, not dashboard suggestions. Every phase consumes the same budget authority, so a retry cannot accidentally reset usage. The system also caps iterations, attempts, decoded bytes, and fetch policy. Sources: task-01-search-agent/src/search_agent/runner.py; task-01-search-agent/src/search_agent/security/.</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public API returns 202 after validation, authorization, persistence, idempotency handling, and enqueue. Research is then driven by a worker lease. SSE is replayable over durable events, while polling and cancellation use the same tenant-scoped state. Sources: task-02-agent-api/README.md; docs/architecture.md; task-02-agent-api/src/agent_api/routes/.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Authentication is only the outer boundary. Tenant context is propagated into every repository operation, lifecycle command, event replay, quota decision, and memory action. A cross-tenant identifier is treated as absent, producing a safe 404 rather than leaking existence. Sources: task-02-agent-api/src/agent_api/security/; storage/; task-02-agent-api/tests/security/.</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pipeline treats provenance as a chain of custody. GitHub Actions uses Workload Identity Federation, rebuilds and verifies the source, scans and produces an SBOM, pushes the tested image, resolves its immutable digest, and binds Terraform's binary plan to both commit and digest. Sources: .github/workflows/deploy.yml; task-03-deployment-strategy/operations/ci-cd.md; docs/release-and-operations.md.</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assessment profile is intentionally small and executable: two Cloud Run services scale to zero and cap at one instance, Cloud Tasks limits concurrency to one, and a EUR 5 budget alerts the owner. The expensive model runtime is a separate, disabled-by-default production plane with explicit evaluation, quota, security, and cost gates. Sources: task-03-deployment-strategy/README.md; architecture/strategy.md; docs/release-and-operations.md.</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offline tasks are not filler. Together they show three different forms of modeling judgment: entity-level leakage control, domain-appropriate retrieval with abstention, and reusable train/inference preprocessing. Sources: task-04-binary-classification/README.md; task-05-material-similarity/README.md; task-06-category-consolidation/README.md.</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classifier story is not '90 percent accuracy.' It is a leakage-aware screening baseline. Weighted logistic regression improves grouped-CV PR-AUC and recall, but holdout precision remains moderate and probabilities are overconfident. That makes calibration and business cost ownership explicit next steps. Sources: task-04-binary-classification/reports/model-card.md; reports/metrics.json.</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selected word/character mixture wins the reviewed eight-query benchmark on nDCG@5 while preserving deterministic ranking. But benchmark coverage and catalog coverage are different: 335 blank descriptions force explicit abstention, leaving text-backed catalog coverage at 66.43 percent. Sources: task-05-material-similarity/reports/relevance-metrics.json; retrieval-evaluation.md; data-analysis.md.</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rare-category transformer behaves like a proper estimator. Fit learns counts, retained categories, a collision-safe fallback label, and diagnostics from training data only. Transform applies that frozen state to validation, test, and inference; unseen values map deterministically. Sources: task-06-category-consolidation/README.md; src/category_consolidation/core.py; tests/test_category_consolidation.py.</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 clean computer is part of the product contract. One command builds a temporary locked environment, runs formatting, lint, strict typing, all six task tests, the submission audit, and a two-tenant HTTP smoke using fake inference. It needs neither cloud credentials nor a language model. Sources: Makefile; scripts/local_submission_check.sh; docs/test-strategy.md; docs/release-and-operations.md.</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the boundary I would want a senior engineer to state clearly. Production-minded means the seams, controls, and evidence paths exist; it does not mean that unmeasured enterprise claims are presented as facts. The next steps are gated by workload, ownership, policy, and observed data. Sources: docs/reviewer-guide.md; task-03-deployment-strategy/architecture/strategy.md; production-scale.md.</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Close on the operating principle rather than the technologies. My value is the ability to turn ambiguity into explicit contracts, choose the simplest defensible model, make failure observable, and leave a clean path from local proof to cloud delivery. Sources: README.md; docs/architecture.md; docs/test-strategy.md.</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sv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svg"/><Relationship Id="rId3" Type="http://schemas.openxmlformats.org/officeDocument/2006/relationships/image" Target="../media/image-2-3.png"/><Relationship Id="rId4" Type="http://schemas.openxmlformats.org/officeDocument/2006/relationships/image" Target="../media/image-2-4.svg"/><Relationship Id="rId5" Type="http://schemas.openxmlformats.org/officeDocument/2006/relationships/image" Target="../media/image-2-5.png"/><Relationship Id="rId6" Type="http://schemas.openxmlformats.org/officeDocument/2006/relationships/image" Target="../media/image-2-6.svg"/><Relationship Id="rId7" Type="http://schemas.openxmlformats.org/officeDocument/2006/relationships/image" Target="../media/image-2-7.png"/><Relationship Id="rId8" Type="http://schemas.openxmlformats.org/officeDocument/2006/relationships/image" Target="../media/image-2-8.svg"/><Relationship Id="rId9" Type="http://schemas.openxmlformats.org/officeDocument/2006/relationships/image" Target="../media/image-2-9.png"/><Relationship Id="rId10" Type="http://schemas.openxmlformats.org/officeDocument/2006/relationships/image" Target="../media/image-2-10.svg"/><Relationship Id="rId11" Type="http://schemas.openxmlformats.org/officeDocument/2006/relationships/slideLayout" Target="../slideLayouts/slideLayout1.xml"/><Relationship Id="rId1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sv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svg"/><Relationship Id="rId3" Type="http://schemas.openxmlformats.org/officeDocument/2006/relationships/image" Target="../media/image-5-3.png"/><Relationship Id="rId4" Type="http://schemas.openxmlformats.org/officeDocument/2006/relationships/image" Target="../media/image-5-4.svg"/><Relationship Id="rId5" Type="http://schemas.openxmlformats.org/officeDocument/2006/relationships/image" Target="../media/image-5-5.png"/><Relationship Id="rId6" Type="http://schemas.openxmlformats.org/officeDocument/2006/relationships/image" Target="../media/image-5-6.svg"/><Relationship Id="rId7" Type="http://schemas.openxmlformats.org/officeDocument/2006/relationships/image" Target="../media/image-5-7.png"/><Relationship Id="rId8" Type="http://schemas.openxmlformats.org/officeDocument/2006/relationships/image" Target="../media/image-5-8.svg"/><Relationship Id="rId9" Type="http://schemas.openxmlformats.org/officeDocument/2006/relationships/slideLayout" Target="../slideLayouts/slideLayout1.xml"/><Relationship Id="rId1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svg"/><Relationship Id="rId3" Type="http://schemas.openxmlformats.org/officeDocument/2006/relationships/image" Target="../media/image-6-3.png"/><Relationship Id="rId4" Type="http://schemas.openxmlformats.org/officeDocument/2006/relationships/image" Target="../media/image-6-4.sv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sv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svg"/><Relationship Id="rId3" Type="http://schemas.openxmlformats.org/officeDocument/2006/relationships/image" Target="../media/image-9-3.png"/><Relationship Id="rId4" Type="http://schemas.openxmlformats.org/officeDocument/2006/relationships/image" Target="../media/image-9-4.sv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svg"/><Relationship Id="rId3" Type="http://schemas.openxmlformats.org/officeDocument/2006/relationships/image" Target="../media/image-10-3.png"/><Relationship Id="rId4" Type="http://schemas.openxmlformats.org/officeDocument/2006/relationships/image" Target="../media/image-10-4.svg"/><Relationship Id="rId5" Type="http://schemas.openxmlformats.org/officeDocument/2006/relationships/image" Target="../media/image-10-5.png"/><Relationship Id="rId6" Type="http://schemas.openxmlformats.org/officeDocument/2006/relationships/image" Target="../media/image-10-6.svg"/><Relationship Id="rId7" Type="http://schemas.openxmlformats.org/officeDocument/2006/relationships/image" Target="../media/image-10-7.png"/><Relationship Id="rId8" Type="http://schemas.openxmlformats.org/officeDocument/2006/relationships/image" Target="../media/image-10-8.svg"/><Relationship Id="rId9" Type="http://schemas.openxmlformats.org/officeDocument/2006/relationships/image" Target="../media/image-10-9.png"/><Relationship Id="rId10" Type="http://schemas.openxmlformats.org/officeDocument/2006/relationships/image" Target="../media/image-10-10.svg"/><Relationship Id="rId11" Type="http://schemas.openxmlformats.org/officeDocument/2006/relationships/slideLayout" Target="../slideLayouts/slideLayout1.xml"/><Relationship Id="rId1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svg"/><Relationship Id="rId3" Type="http://schemas.openxmlformats.org/officeDocument/2006/relationships/image" Target="../media/image-11-3.png"/><Relationship Id="rId4" Type="http://schemas.openxmlformats.org/officeDocument/2006/relationships/image" Target="../media/image-11-4.svg"/><Relationship Id="rId5" Type="http://schemas.openxmlformats.org/officeDocument/2006/relationships/image" Target="../media/image-11-5.png"/><Relationship Id="rId6" Type="http://schemas.openxmlformats.org/officeDocument/2006/relationships/image" Target="../media/image-11-6.svg"/><Relationship Id="rId7" Type="http://schemas.openxmlformats.org/officeDocument/2006/relationships/slideLayout" Target="../slideLayouts/slideLayout1.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svg"/><Relationship Id="rId3" Type="http://schemas.openxmlformats.org/officeDocument/2006/relationships/image" Target="../media/image-12-3.png"/><Relationship Id="rId4" Type="http://schemas.openxmlformats.org/officeDocument/2006/relationships/image" Target="../media/image-12-4.svg"/><Relationship Id="rId5" Type="http://schemas.openxmlformats.org/officeDocument/2006/relationships/image" Target="../media/image-12-5.png"/><Relationship Id="rId6" Type="http://schemas.openxmlformats.org/officeDocument/2006/relationships/image" Target="../media/image-12-6.svg"/><Relationship Id="rId7" Type="http://schemas.openxmlformats.org/officeDocument/2006/relationships/image" Target="../media/image-12-7.png"/><Relationship Id="rId8" Type="http://schemas.openxmlformats.org/officeDocument/2006/relationships/image" Target="../media/image-12-8.png"/><Relationship Id="rId9" Type="http://schemas.openxmlformats.org/officeDocument/2006/relationships/image" Target="../media/image-12-9.svg"/><Relationship Id="rId10" Type="http://schemas.openxmlformats.org/officeDocument/2006/relationships/image" Target="../media/image-12-10.png"/><Relationship Id="rId11" Type="http://schemas.openxmlformats.org/officeDocument/2006/relationships/image" Target="../media/image-12-11.svg"/><Relationship Id="rId12" Type="http://schemas.openxmlformats.org/officeDocument/2006/relationships/image" Target="../media/image-12-12.png"/><Relationship Id="rId13" Type="http://schemas.openxmlformats.org/officeDocument/2006/relationships/image" Target="../media/image-12-13.png"/><Relationship Id="rId14" Type="http://schemas.openxmlformats.org/officeDocument/2006/relationships/image" Target="../media/image-12-14.svg"/><Relationship Id="rId15" Type="http://schemas.openxmlformats.org/officeDocument/2006/relationships/image" Target="../media/image-12-15.png"/><Relationship Id="rId16" Type="http://schemas.openxmlformats.org/officeDocument/2006/relationships/image" Target="../media/image-12-16.svg"/><Relationship Id="rId17" Type="http://schemas.openxmlformats.org/officeDocument/2006/relationships/image" Target="../media/image-12-17.png"/><Relationship Id="rId18" Type="http://schemas.openxmlformats.org/officeDocument/2006/relationships/image" Target="../media/image-12-18.png"/><Relationship Id="rId19" Type="http://schemas.openxmlformats.org/officeDocument/2006/relationships/image" Target="../media/image-12-19.svg"/><Relationship Id="rId20" Type="http://schemas.openxmlformats.org/officeDocument/2006/relationships/image" Target="../media/image-12-20.png"/><Relationship Id="rId21" Type="http://schemas.openxmlformats.org/officeDocument/2006/relationships/image" Target="../media/image-12-21.svg"/><Relationship Id="rId22" Type="http://schemas.openxmlformats.org/officeDocument/2006/relationships/image" Target="../media/image-12-22.png"/><Relationship Id="rId23" Type="http://schemas.openxmlformats.org/officeDocument/2006/relationships/image" Target="../media/image-12-23.png"/><Relationship Id="rId24" Type="http://schemas.openxmlformats.org/officeDocument/2006/relationships/image" Target="../media/image-12-24.svg"/><Relationship Id="rId25" Type="http://schemas.openxmlformats.org/officeDocument/2006/relationships/image" Target="../media/image-12-25.png"/><Relationship Id="rId26" Type="http://schemas.openxmlformats.org/officeDocument/2006/relationships/image" Target="../media/image-12-26.svg"/><Relationship Id="rId27" Type="http://schemas.openxmlformats.org/officeDocument/2006/relationships/image" Target="../media/image-12-27.png"/><Relationship Id="rId28" Type="http://schemas.openxmlformats.org/officeDocument/2006/relationships/image" Target="../media/image-12-28.png"/><Relationship Id="rId29" Type="http://schemas.openxmlformats.org/officeDocument/2006/relationships/image" Target="../media/image-12-29.svg"/><Relationship Id="rId30" Type="http://schemas.openxmlformats.org/officeDocument/2006/relationships/slideLayout" Target="../slideLayouts/slideLayout1.xml"/><Relationship Id="rId31"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svg"/><Relationship Id="rId3" Type="http://schemas.openxmlformats.org/officeDocument/2006/relationships/image" Target="../media/image-13-3.png"/><Relationship Id="rId4" Type="http://schemas.openxmlformats.org/officeDocument/2006/relationships/image" Target="../media/image-13-4.svg"/><Relationship Id="rId5" Type="http://schemas.openxmlformats.org/officeDocument/2006/relationships/image" Target="../media/image-13-5.png"/><Relationship Id="rId6" Type="http://schemas.openxmlformats.org/officeDocument/2006/relationships/image" Target="../media/image-13-6.svg"/><Relationship Id="rId7" Type="http://schemas.openxmlformats.org/officeDocument/2006/relationships/image" Target="../media/image-13-7.png"/><Relationship Id="rId8" Type="http://schemas.openxmlformats.org/officeDocument/2006/relationships/image" Target="../media/image-13-8.png"/><Relationship Id="rId9" Type="http://schemas.openxmlformats.org/officeDocument/2006/relationships/image" Target="../media/image-13-9.svg"/><Relationship Id="rId10" Type="http://schemas.openxmlformats.org/officeDocument/2006/relationships/image" Target="../media/image-13-10.png"/><Relationship Id="rId11" Type="http://schemas.openxmlformats.org/officeDocument/2006/relationships/image" Target="../media/image-13-11.svg"/><Relationship Id="rId12" Type="http://schemas.openxmlformats.org/officeDocument/2006/relationships/image" Target="../media/image-13-12.png"/><Relationship Id="rId13" Type="http://schemas.openxmlformats.org/officeDocument/2006/relationships/image" Target="../media/image-13-13.png"/><Relationship Id="rId14" Type="http://schemas.openxmlformats.org/officeDocument/2006/relationships/image" Target="../media/image-13-14.svg"/><Relationship Id="rId15" Type="http://schemas.openxmlformats.org/officeDocument/2006/relationships/image" Target="../media/image-13-15.png"/><Relationship Id="rId16" Type="http://schemas.openxmlformats.org/officeDocument/2006/relationships/image" Target="../media/image-13-16.svg"/><Relationship Id="rId17" Type="http://schemas.openxmlformats.org/officeDocument/2006/relationships/image" Target="../media/image-13-17.png"/><Relationship Id="rId18" Type="http://schemas.openxmlformats.org/officeDocument/2006/relationships/image" Target="../media/image-13-18.png"/><Relationship Id="rId19" Type="http://schemas.openxmlformats.org/officeDocument/2006/relationships/image" Target="../media/image-13-19.svg"/><Relationship Id="rId20" Type="http://schemas.openxmlformats.org/officeDocument/2006/relationships/image" Target="../media/image-13-20.png"/><Relationship Id="rId21" Type="http://schemas.openxmlformats.org/officeDocument/2006/relationships/image" Target="../media/image-13-21.svg"/><Relationship Id="rId22" Type="http://schemas.openxmlformats.org/officeDocument/2006/relationships/image" Target="../media/image-13-22.png"/><Relationship Id="rId23" Type="http://schemas.openxmlformats.org/officeDocument/2006/relationships/image" Target="../media/image-13-23.png"/><Relationship Id="rId24" Type="http://schemas.openxmlformats.org/officeDocument/2006/relationships/image" Target="../media/image-13-24.svg"/><Relationship Id="rId25" Type="http://schemas.openxmlformats.org/officeDocument/2006/relationships/image" Target="../media/image-13-25.png"/><Relationship Id="rId26" Type="http://schemas.openxmlformats.org/officeDocument/2006/relationships/image" Target="../media/image-13-26.svg"/><Relationship Id="rId27" Type="http://schemas.openxmlformats.org/officeDocument/2006/relationships/image" Target="../media/image-13-27.png"/><Relationship Id="rId28" Type="http://schemas.openxmlformats.org/officeDocument/2006/relationships/image" Target="../media/image-13-28.png"/><Relationship Id="rId29" Type="http://schemas.openxmlformats.org/officeDocument/2006/relationships/image" Target="../media/image-13-29.svg"/><Relationship Id="rId30" Type="http://schemas.openxmlformats.org/officeDocument/2006/relationships/image" Target="../media/image-13-30.png"/><Relationship Id="rId31" Type="http://schemas.openxmlformats.org/officeDocument/2006/relationships/image" Target="../media/image-13-31.svg"/><Relationship Id="rId32" Type="http://schemas.openxmlformats.org/officeDocument/2006/relationships/image" Target="../media/image-13-32.png"/><Relationship Id="rId33" Type="http://schemas.openxmlformats.org/officeDocument/2006/relationships/image" Target="../media/image-13-33.png"/><Relationship Id="rId34" Type="http://schemas.openxmlformats.org/officeDocument/2006/relationships/image" Target="../media/image-13-34.svg"/><Relationship Id="rId35" Type="http://schemas.openxmlformats.org/officeDocument/2006/relationships/image" Target="../media/image-13-35.png"/><Relationship Id="rId36" Type="http://schemas.openxmlformats.org/officeDocument/2006/relationships/image" Target="../media/image-13-36.svg"/><Relationship Id="rId37" Type="http://schemas.openxmlformats.org/officeDocument/2006/relationships/slideLayout" Target="../slideLayouts/slideLayout1.xml"/><Relationship Id="rId3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sv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sv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svg"/><Relationship Id="rId3" Type="http://schemas.openxmlformats.org/officeDocument/2006/relationships/image" Target="../media/image-16-3.png"/><Relationship Id="rId4" Type="http://schemas.openxmlformats.org/officeDocument/2006/relationships/image" Target="../media/image-16-4.svg"/><Relationship Id="rId5" Type="http://schemas.openxmlformats.org/officeDocument/2006/relationships/image" Target="../media/image-16-5.png"/><Relationship Id="rId6" Type="http://schemas.openxmlformats.org/officeDocument/2006/relationships/image" Target="../media/image-16-6.svg"/><Relationship Id="rId7" Type="http://schemas.openxmlformats.org/officeDocument/2006/relationships/image" Target="../media/image-16-7.png"/><Relationship Id="rId8" Type="http://schemas.openxmlformats.org/officeDocument/2006/relationships/image" Target="../media/image-16-8.svg"/><Relationship Id="rId9" Type="http://schemas.openxmlformats.org/officeDocument/2006/relationships/slideLayout" Target="../slideLayouts/slideLayout1.xml"/><Relationship Id="rId10"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1"/>
          <p:cNvSpPr/>
          <p:nvPr/>
        </p:nvSpPr>
        <p:spPr>
          <a:xfrm>
            <a:off x="0" y="86"/>
            <a:ext cx="12191695" cy="6857829"/>
          </a:xfrm>
          <a:prstGeom prst="rect">
            <a:avLst/>
          </a:prstGeom>
          <a:solidFill>
            <a:srgbClr val="162A2D"/>
          </a:solidFill>
          <a:ln/>
        </p:spPr>
      </p:sp>
      <p:sp>
        <p:nvSpPr>
          <p:cNvPr id="3" name="TextBox 3"/>
          <p:cNvSpPr/>
          <p:nvPr/>
        </p:nvSpPr>
        <p:spPr>
          <a:xfrm>
            <a:off x="609585" y="546172"/>
            <a:ext cx="2285943" cy="215895"/>
          </a:xfrm>
          <a:prstGeom prst="rect">
            <a:avLst/>
          </a:prstGeom>
          <a:noFill/>
          <a:ln/>
        </p:spPr>
        <p:txBody>
          <a:bodyPr wrap="square" lIns="0" tIns="0" rIns="0" bIns="0" rtlCol="0" anchor="t">
            <a:spAutoFit/>
          </a:bodyPr>
          <a:lstStyle/>
          <a:p>
            <a:pPr algn="l" indent="0" marL="0">
              <a:buNone/>
            </a:pPr>
            <a:r>
              <a:rPr lang="en-US" sz="1000" b="1" spc="200" kern="0" dirty="0">
                <a:solidFill>
                  <a:srgbClr val="00A99D"/>
                </a:solidFill>
                <a:latin typeface="Arial" pitchFamily="34" charset="0"/>
                <a:ea typeface="Arial" pitchFamily="34" charset="-122"/>
                <a:cs typeface="Arial" pitchFamily="34" charset="-120"/>
              </a:rPr>
              <a:t>SENIOR AI ENGINEER · CASE STUDY</a:t>
            </a:r>
            <a:endParaRPr lang="en-US" sz="1000" dirty="0"/>
          </a:p>
        </p:txBody>
      </p:sp>
      <p:sp>
        <p:nvSpPr>
          <p:cNvPr id="4" name="TextBox 7"/>
          <p:cNvSpPr/>
          <p:nvPr/>
        </p:nvSpPr>
        <p:spPr>
          <a:xfrm>
            <a:off x="609585" y="1016060"/>
            <a:ext cx="6667333" cy="1438437"/>
          </a:xfrm>
          <a:prstGeom prst="rect">
            <a:avLst/>
          </a:prstGeom>
          <a:noFill/>
          <a:ln/>
        </p:spPr>
        <p:txBody>
          <a:bodyPr wrap="square" lIns="0" tIns="0" rIns="0" bIns="0" rtlCol="0" anchor="t">
            <a:spAutoFit/>
          </a:bodyPr>
          <a:lstStyle/>
          <a:p>
            <a:pPr algn="l" indent="0" marL="0">
              <a:lnSpc>
                <a:spcPts val="5664"/>
              </a:lnSpc>
              <a:buNone/>
            </a:pPr>
            <a:r>
              <a:rPr lang="en-US" sz="5900" spc="-300" kern="0" dirty="0">
                <a:solidFill>
                  <a:srgbClr val="FFFFFF"/>
                </a:solidFill>
                <a:latin typeface="Arial" pitchFamily="34" charset="0"/>
                <a:ea typeface="Arial" pitchFamily="34" charset="-122"/>
                <a:cs typeface="Arial" pitchFamily="34" charset="-120"/>
              </a:rPr>
              <a:t>Six tasks.</a:t>
            </a:r>
            <a:endParaRPr lang="en-US" sz="5900" dirty="0"/>
          </a:p>
          <a:p>
            <a:pPr algn="l" indent="0" marL="0">
              <a:lnSpc>
                <a:spcPts val="5664"/>
              </a:lnSpc>
              <a:buNone/>
            </a:pPr>
            <a:r>
              <a:rPr lang="en-US" sz="5900" spc="-300" kern="0" dirty="0">
                <a:solidFill>
                  <a:srgbClr val="FFFFFF"/>
                </a:solidFill>
                <a:latin typeface="Arial" pitchFamily="34" charset="0"/>
                <a:ea typeface="Arial" pitchFamily="34" charset="-122"/>
                <a:cs typeface="Arial" pitchFamily="34" charset="-120"/>
              </a:rPr>
              <a:t>One hiring signal.</a:t>
            </a:r>
            <a:endParaRPr lang="en-US" sz="5900" dirty="0"/>
          </a:p>
        </p:txBody>
      </p:sp>
      <p:sp>
        <p:nvSpPr>
          <p:cNvPr id="5" name="Shape 10"/>
          <p:cNvSpPr/>
          <p:nvPr/>
        </p:nvSpPr>
        <p:spPr>
          <a:xfrm>
            <a:off x="660383" y="4356077"/>
            <a:ext cx="5905352" cy="825479"/>
          </a:xfrm>
          <a:prstGeom prst="rect">
            <a:avLst/>
          </a:prstGeom>
          <a:noFill/>
          <a:ln/>
        </p:spPr>
      </p:sp>
      <p:pic>
        <p:nvPicPr>
          <p:cNvPr id="6" name="Picture 10" descr="__type_image">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660383" y="4356077"/>
            <a:ext cx="5905352" cy="825479"/>
          </a:xfrm>
          <a:prstGeom prst="rect">
            <a:avLst/>
          </a:prstGeom>
        </p:spPr>
      </p:pic>
      <p:sp>
        <p:nvSpPr>
          <p:cNvPr id="7" name="TextBox 12"/>
          <p:cNvSpPr/>
          <p:nvPr/>
        </p:nvSpPr>
        <p:spPr>
          <a:xfrm>
            <a:off x="914377" y="4356077"/>
            <a:ext cx="5651359" cy="552635"/>
          </a:xfrm>
          <a:prstGeom prst="rect">
            <a:avLst/>
          </a:prstGeom>
          <a:noFill/>
          <a:ln/>
        </p:spPr>
        <p:txBody>
          <a:bodyPr wrap="square" lIns="0" tIns="0" rIns="0" bIns="0" rtlCol="0" anchor="t">
            <a:spAutoFit/>
          </a:bodyPr>
          <a:lstStyle/>
          <a:p>
            <a:pPr algn="l" indent="0" marL="0">
              <a:lnSpc>
                <a:spcPts val="2176"/>
              </a:lnSpc>
              <a:buNone/>
            </a:pPr>
            <a:r>
              <a:rPr lang="en-US" sz="1700" dirty="0">
                <a:solidFill>
                  <a:srgbClr val="F4F1EA"/>
                </a:solidFill>
                <a:latin typeface="Arial" pitchFamily="34" charset="0"/>
                <a:ea typeface="Arial" pitchFamily="34" charset="-122"/>
                <a:cs typeface="Arial" pitchFamily="34" charset="-120"/>
              </a:rPr>
              <a:t>I turn ambiguous AI problems into</a:t>
            </a:r>
            <a:endParaRPr lang="en-US" sz="1700" dirty="0"/>
          </a:p>
          <a:p>
            <a:pPr algn="l" indent="0" marL="0">
              <a:lnSpc>
                <a:spcPts val="2176"/>
              </a:lnSpc>
              <a:buNone/>
            </a:pPr>
            <a:r>
              <a:rPr lang="en-US" sz="1700" dirty="0">
                <a:solidFill>
                  <a:srgbClr val="F4F1EA"/>
                </a:solidFill>
                <a:latin typeface="Arial" pitchFamily="34" charset="0"/>
                <a:ea typeface="Arial" pitchFamily="34" charset="-122"/>
                <a:cs typeface="Arial" pitchFamily="34" charset="-120"/>
              </a:rPr>
              <a:t>reviewable, deployable systems.</a:t>
            </a:r>
            <a:endParaRPr lang="en-US" sz="1700" dirty="0"/>
          </a:p>
        </p:txBody>
      </p:sp>
      <p:sp>
        <p:nvSpPr>
          <p:cNvPr id="8" name="Shape 15"/>
          <p:cNvSpPr/>
          <p:nvPr/>
        </p:nvSpPr>
        <p:spPr>
          <a:xfrm>
            <a:off x="7480113" y="609670"/>
            <a:ext cx="4127397" cy="4127397"/>
          </a:xfrm>
          <a:prstGeom prst="ellipse">
            <a:avLst/>
          </a:prstGeom>
          <a:noFill/>
          <a:ln w="12700">
            <a:solidFill>
              <a:srgbClr val="FFFFFF">
                <a:alpha val="24000"/>
              </a:srgbClr>
            </a:solidFill>
            <a:prstDash val="solid"/>
          </a:ln>
        </p:spPr>
      </p:sp>
      <p:sp>
        <p:nvSpPr>
          <p:cNvPr id="9" name="Shape 17"/>
          <p:cNvSpPr/>
          <p:nvPr/>
        </p:nvSpPr>
        <p:spPr>
          <a:xfrm>
            <a:off x="7937302" y="1066859"/>
            <a:ext cx="3238419" cy="3238419"/>
          </a:xfrm>
          <a:prstGeom prst="ellipse">
            <a:avLst/>
          </a:prstGeom>
          <a:noFill/>
          <a:ln w="12700">
            <a:solidFill>
              <a:srgbClr val="00A99D">
                <a:alpha val="48000"/>
              </a:srgbClr>
            </a:solidFill>
            <a:prstDash val="solid"/>
          </a:ln>
        </p:spPr>
      </p:sp>
      <p:sp>
        <p:nvSpPr>
          <p:cNvPr id="10" name="Shape 19"/>
          <p:cNvSpPr/>
          <p:nvPr/>
        </p:nvSpPr>
        <p:spPr>
          <a:xfrm>
            <a:off x="8661183" y="1790741"/>
            <a:ext cx="1790655" cy="1790655"/>
          </a:xfrm>
          <a:prstGeom prst="ellipse">
            <a:avLst/>
          </a:prstGeom>
          <a:solidFill>
            <a:srgbClr val="00A99D"/>
          </a:solidFill>
          <a:ln/>
        </p:spPr>
      </p:sp>
      <p:sp>
        <p:nvSpPr>
          <p:cNvPr id="11" name="TextBox 21"/>
          <p:cNvSpPr/>
          <p:nvPr/>
        </p:nvSpPr>
        <p:spPr>
          <a:xfrm>
            <a:off x="8731032" y="2336827"/>
            <a:ext cx="1650959" cy="698483"/>
          </a:xfrm>
          <a:prstGeom prst="rect">
            <a:avLst/>
          </a:prstGeom>
          <a:noFill/>
          <a:ln/>
        </p:spPr>
        <p:txBody>
          <a:bodyPr wrap="none" lIns="0" tIns="0" rIns="0" bIns="0" rtlCol="0" anchor="t">
            <a:spAutoFit/>
          </a:bodyPr>
          <a:lstStyle/>
          <a:p>
            <a:pPr algn="ctr" indent="0" marL="0">
              <a:buNone/>
            </a:pPr>
            <a:r>
              <a:rPr lang="en-US" sz="4400" b="1" spc="-200" kern="0" dirty="0">
                <a:solidFill>
                  <a:srgbClr val="162A2D"/>
                </a:solidFill>
                <a:latin typeface="Arial" pitchFamily="34" charset="0"/>
                <a:ea typeface="Arial" pitchFamily="34" charset="-122"/>
                <a:cs typeface="Arial" pitchFamily="34" charset="-120"/>
              </a:rPr>
              <a:t>6→1</a:t>
            </a:r>
            <a:endParaRPr lang="en-US" sz="4400" dirty="0"/>
          </a:p>
        </p:txBody>
      </p:sp>
      <p:sp>
        <p:nvSpPr>
          <p:cNvPr id="12" name="TextBox 24"/>
          <p:cNvSpPr/>
          <p:nvPr/>
        </p:nvSpPr>
        <p:spPr>
          <a:xfrm>
            <a:off x="7746806" y="2476524"/>
            <a:ext cx="1142971" cy="355591"/>
          </a:xfrm>
          <a:prstGeom prst="roundRect">
            <a:avLst>
              <a:gd name="adj" fmla="val 50000"/>
            </a:avLst>
          </a:prstGeom>
          <a:solidFill>
            <a:srgbClr val="FFFFFF"/>
          </a:solidFill>
          <a:ln/>
        </p:spPr>
        <p:txBody>
          <a:bodyPr wrap="square" lIns="0" tIns="0" rIns="0" bIns="0" rtlCol="0" anchor="ctr">
            <a:spAutoFit/>
          </a:bodyPr>
          <a:lstStyle/>
          <a:p>
            <a:pPr algn="ctr" indent="0" marL="0">
              <a:buNone/>
            </a:pPr>
            <a:r>
              <a:rPr lang="en-US" sz="1100" b="1" dirty="0">
                <a:solidFill>
                  <a:srgbClr val="162A2D"/>
                </a:solidFill>
                <a:latin typeface="Arial" pitchFamily="34" charset="0"/>
                <a:ea typeface="Arial" pitchFamily="34" charset="-122"/>
                <a:cs typeface="Arial" pitchFamily="34" charset="-120"/>
              </a:rPr>
              <a:t>REASON</a:t>
            </a:r>
            <a:endParaRPr lang="en-US" sz="1100" dirty="0"/>
          </a:p>
        </p:txBody>
      </p:sp>
      <p:sp>
        <p:nvSpPr>
          <p:cNvPr id="13" name="TextBox 26"/>
          <p:cNvSpPr/>
          <p:nvPr/>
        </p:nvSpPr>
        <p:spPr>
          <a:xfrm>
            <a:off x="10274043" y="1384351"/>
            <a:ext cx="1142971" cy="355591"/>
          </a:xfrm>
          <a:prstGeom prst="roundRect">
            <a:avLst>
              <a:gd name="adj" fmla="val 50000"/>
            </a:avLst>
          </a:prstGeom>
          <a:noFill/>
          <a:ln w="12700">
            <a:solidFill>
              <a:srgbClr val="00A99D"/>
            </a:solidFill>
            <a:prstDash val="solid"/>
          </a:ln>
        </p:spPr>
        <p:txBody>
          <a:bodyPr wrap="square" lIns="0" tIns="0" rIns="0" bIns="0" rtlCol="0" anchor="ctr">
            <a:spAutoFit/>
          </a:bodyPr>
          <a:lstStyle/>
          <a:p>
            <a:pPr algn="ctr" indent="0" marL="0">
              <a:buNone/>
            </a:pPr>
            <a:r>
              <a:rPr lang="en-US" sz="1100" b="1" dirty="0">
                <a:solidFill>
                  <a:srgbClr val="FFFFFF"/>
                </a:solidFill>
                <a:latin typeface="Arial" pitchFamily="34" charset="0"/>
                <a:ea typeface="Arial" pitchFamily="34" charset="-122"/>
                <a:cs typeface="Arial" pitchFamily="34" charset="-120"/>
              </a:rPr>
              <a:t>SERVE</a:t>
            </a:r>
            <a:endParaRPr lang="en-US" sz="1100" dirty="0"/>
          </a:p>
        </p:txBody>
      </p:sp>
      <p:sp>
        <p:nvSpPr>
          <p:cNvPr id="14" name="TextBox 28"/>
          <p:cNvSpPr/>
          <p:nvPr/>
        </p:nvSpPr>
        <p:spPr>
          <a:xfrm>
            <a:off x="10350241" y="3632195"/>
            <a:ext cx="1142971" cy="355591"/>
          </a:xfrm>
          <a:prstGeom prst="roundRect">
            <a:avLst>
              <a:gd name="adj" fmla="val 50000"/>
            </a:avLst>
          </a:prstGeom>
          <a:solidFill>
            <a:srgbClr val="F4F1EA"/>
          </a:solidFill>
          <a:ln/>
        </p:spPr>
        <p:txBody>
          <a:bodyPr wrap="square" lIns="0" tIns="0" rIns="0" bIns="0" rtlCol="0" anchor="ctr">
            <a:spAutoFit/>
          </a:bodyPr>
          <a:lstStyle/>
          <a:p>
            <a:pPr algn="ctr" indent="0" marL="0">
              <a:buNone/>
            </a:pPr>
            <a:r>
              <a:rPr lang="en-US" sz="1100" b="1" dirty="0">
                <a:solidFill>
                  <a:srgbClr val="162A2D"/>
                </a:solidFill>
                <a:latin typeface="Arial" pitchFamily="34" charset="0"/>
                <a:ea typeface="Arial" pitchFamily="34" charset="-122"/>
                <a:cs typeface="Arial" pitchFamily="34" charset="-120"/>
              </a:rPr>
              <a:t>DEPLOY</a:t>
            </a:r>
            <a:endParaRPr lang="en-US" sz="1100" dirty="0"/>
          </a:p>
        </p:txBody>
      </p:sp>
      <p:sp>
        <p:nvSpPr>
          <p:cNvPr id="15" name="TextBox 31"/>
          <p:cNvSpPr/>
          <p:nvPr/>
        </p:nvSpPr>
        <p:spPr>
          <a:xfrm>
            <a:off x="609585" y="6108633"/>
            <a:ext cx="4952876" cy="279393"/>
          </a:xfrm>
          <a:prstGeom prst="rect">
            <a:avLst/>
          </a:prstGeom>
          <a:noFill/>
          <a:ln/>
        </p:spPr>
        <p:txBody>
          <a:bodyPr wrap="square" lIns="0" tIns="0" rIns="0" bIns="0" rtlCol="0" anchor="t">
            <a:spAutoFit/>
          </a:bodyPr>
          <a:lstStyle/>
          <a:p>
            <a:pPr algn="l" indent="0" marL="0">
              <a:buNone/>
            </a:pPr>
            <a:r>
              <a:rPr lang="en-US" sz="1200" dirty="0">
                <a:solidFill>
                  <a:srgbClr val="B8C3C1"/>
                </a:solidFill>
                <a:latin typeface="Arial" pitchFamily="34" charset="0"/>
                <a:ea typeface="Arial" pitchFamily="34" charset="-122"/>
                <a:cs typeface="Arial" pitchFamily="34" charset="-120"/>
              </a:rPr>
              <a:t>Maksim Blekhshtein · Technical assignment · August 2026</a:t>
            </a:r>
            <a:endParaRPr lang="en-US" sz="1200" dirty="0"/>
          </a:p>
        </p:txBody>
      </p:sp>
      <p:sp>
        <p:nvSpPr>
          <p:cNvPr id="16" name="TextBox 33"/>
          <p:cNvSpPr/>
          <p:nvPr/>
        </p:nvSpPr>
        <p:spPr>
          <a:xfrm>
            <a:off x="8877078" y="6083234"/>
            <a:ext cx="2730432" cy="330192"/>
          </a:xfrm>
          <a:prstGeom prst="rect">
            <a:avLst/>
          </a:prstGeom>
          <a:noFill/>
          <a:ln/>
        </p:spPr>
        <p:txBody>
          <a:bodyPr wrap="square" lIns="0" tIns="0" rIns="0" bIns="0" rtlCol="0" anchor="t">
            <a:spAutoFit/>
          </a:bodyPr>
          <a:lstStyle/>
          <a:p>
            <a:pPr algn="r" indent="0" marL="0">
              <a:buNone/>
            </a:pPr>
            <a:r>
              <a:rPr lang="en-US" sz="1100" spc="100" kern="0" dirty="0">
                <a:solidFill>
                  <a:srgbClr val="B8C3C1"/>
                </a:solidFill>
                <a:latin typeface="Arial" pitchFamily="34" charset="0"/>
                <a:ea typeface="Arial" pitchFamily="34" charset="-122"/>
                <a:cs typeface="Arial" pitchFamily="34" charset="-120"/>
              </a:rPr>
              <a:t>EVIDENCE → OPERATIONS → TRUST</a:t>
            </a:r>
            <a:endParaRPr lang="en-US" sz="1100" dirty="0"/>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1"/>
          <p:cNvSpPr/>
          <p:nvPr/>
        </p:nvSpPr>
        <p:spPr>
          <a:xfrm>
            <a:off x="0" y="86"/>
            <a:ext cx="12191695" cy="6857829"/>
          </a:xfrm>
          <a:prstGeom prst="rect">
            <a:avLst/>
          </a:prstGeom>
          <a:solidFill>
            <a:srgbClr val="F4F1EA"/>
          </a:solidFill>
          <a:ln/>
        </p:spPr>
      </p:sp>
      <p:sp>
        <p:nvSpPr>
          <p:cNvPr id="3" name="TextBox 3"/>
          <p:cNvSpPr/>
          <p:nvPr/>
        </p:nvSpPr>
        <p:spPr>
          <a:xfrm>
            <a:off x="584185" y="457274"/>
            <a:ext cx="2666933" cy="215895"/>
          </a:xfrm>
          <a:prstGeom prst="rect">
            <a:avLst/>
          </a:prstGeom>
          <a:noFill/>
          <a:ln/>
        </p:spPr>
        <p:txBody>
          <a:bodyPr wrap="square" lIns="0" tIns="0" rIns="0" bIns="0" rtlCol="0" anchor="t">
            <a:spAutoFit/>
          </a:bodyPr>
          <a:lstStyle/>
          <a:p>
            <a:pPr algn="l" indent="0" marL="0">
              <a:buNone/>
            </a:pPr>
            <a:r>
              <a:rPr lang="en-US" sz="1000" b="1" spc="200" kern="0" dirty="0">
                <a:solidFill>
                  <a:srgbClr val="00A99D"/>
                </a:solidFill>
                <a:latin typeface="Arial" pitchFamily="34" charset="0"/>
                <a:ea typeface="Arial" pitchFamily="34" charset="-122"/>
                <a:cs typeface="Arial" pitchFamily="34" charset="-120"/>
              </a:rPr>
              <a:t>THE HIRING SCORECARD</a:t>
            </a:r>
            <a:endParaRPr lang="en-US" sz="1000" dirty="0"/>
          </a:p>
        </p:txBody>
      </p:sp>
      <p:sp>
        <p:nvSpPr>
          <p:cNvPr id="4" name="TextBox 5"/>
          <p:cNvSpPr/>
          <p:nvPr/>
        </p:nvSpPr>
        <p:spPr>
          <a:xfrm>
            <a:off x="584185" y="812865"/>
            <a:ext cx="7492813" cy="736582"/>
          </a:xfrm>
          <a:prstGeom prst="rect">
            <a:avLst/>
          </a:prstGeom>
          <a:noFill/>
          <a:ln/>
        </p:spPr>
        <p:txBody>
          <a:bodyPr wrap="square" lIns="0" tIns="0" rIns="0" bIns="0" rtlCol="0" anchor="t">
            <a:spAutoFit/>
          </a:bodyPr>
          <a:lstStyle/>
          <a:p>
            <a:pPr algn="l" indent="0" marL="0">
              <a:lnSpc>
                <a:spcPts val="3672"/>
              </a:lnSpc>
              <a:buNone/>
            </a:pPr>
            <a:r>
              <a:rPr lang="en-US" sz="3400" spc="-150" kern="0" dirty="0">
                <a:solidFill>
                  <a:srgbClr val="162A2D"/>
                </a:solidFill>
                <a:latin typeface="Arial" pitchFamily="34" charset="0"/>
                <a:ea typeface="Arial" pitchFamily="34" charset="-122"/>
                <a:cs typeface="Arial" pitchFamily="34" charset="-120"/>
              </a:rPr>
              <a:t>What I would look for as a team lead</a:t>
            </a:r>
            <a:endParaRPr lang="en-US" sz="3400" dirty="0"/>
          </a:p>
        </p:txBody>
      </p:sp>
      <p:sp>
        <p:nvSpPr>
          <p:cNvPr id="5" name="TextBox 7"/>
          <p:cNvSpPr/>
          <p:nvPr/>
        </p:nvSpPr>
        <p:spPr>
          <a:xfrm>
            <a:off x="8750081" y="920813"/>
            <a:ext cx="2857429" cy="634984"/>
          </a:xfrm>
          <a:prstGeom prst="rect">
            <a:avLst/>
          </a:prstGeom>
          <a:noFill/>
          <a:ln/>
        </p:spPr>
        <p:txBody>
          <a:bodyPr wrap="square" lIns="0" tIns="0" rIns="0" bIns="0" rtlCol="0" anchor="t">
            <a:spAutoFit/>
          </a:bodyPr>
          <a:lstStyle/>
          <a:p>
            <a:pPr algn="l" indent="0" marL="0">
              <a:lnSpc>
                <a:spcPts val="1890"/>
              </a:lnSpc>
              <a:buNone/>
            </a:pPr>
            <a:r>
              <a:rPr lang="en-US" sz="1400" dirty="0">
                <a:solidFill>
                  <a:srgbClr val="5E6D6C"/>
                </a:solidFill>
                <a:latin typeface="Arial" pitchFamily="34" charset="0"/>
                <a:ea typeface="Arial" pitchFamily="34" charset="-122"/>
                <a:cs typeface="Arial" pitchFamily="34" charset="-120"/>
              </a:rPr>
              <a:t>Each proof is designed to survive</a:t>
            </a:r>
            <a:endParaRPr lang="en-US" sz="1400" dirty="0"/>
          </a:p>
          <a:p>
            <a:pPr algn="l" indent="0" marL="0">
              <a:lnSpc>
                <a:spcPts val="1890"/>
              </a:lnSpc>
              <a:buNone/>
            </a:pPr>
            <a:r>
              <a:rPr lang="en-US" sz="1400" dirty="0">
                <a:solidFill>
                  <a:srgbClr val="5E6D6C"/>
                </a:solidFill>
                <a:latin typeface="Arial" pitchFamily="34" charset="0"/>
                <a:ea typeface="Arial" pitchFamily="34" charset="-122"/>
                <a:cs typeface="Arial" pitchFamily="34" charset="-120"/>
              </a:rPr>
              <a:t>a skeptical code review.</a:t>
            </a:r>
            <a:endParaRPr lang="en-US" sz="1400" dirty="0"/>
          </a:p>
        </p:txBody>
      </p:sp>
      <p:sp>
        <p:nvSpPr>
          <p:cNvPr id="6" name="Shape 9"/>
          <p:cNvSpPr/>
          <p:nvPr/>
        </p:nvSpPr>
        <p:spPr>
          <a:xfrm>
            <a:off x="584185" y="1968537"/>
            <a:ext cx="11023324" cy="3936902"/>
          </a:xfrm>
          <a:prstGeom prst="rect">
            <a:avLst/>
          </a:prstGeom>
          <a:noFill/>
          <a:ln/>
        </p:spPr>
      </p:sp>
      <p:pic>
        <p:nvPicPr>
          <p:cNvPr id="7" name="Picture 9" descr="__type_image">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584185" y="1968537"/>
            <a:ext cx="11023324" cy="3936902"/>
          </a:xfrm>
          <a:prstGeom prst="rect">
            <a:avLst/>
          </a:prstGeom>
        </p:spPr>
      </p:pic>
      <p:sp>
        <p:nvSpPr>
          <p:cNvPr id="8" name="Shape 11"/>
          <p:cNvSpPr/>
          <p:nvPr/>
        </p:nvSpPr>
        <p:spPr>
          <a:xfrm>
            <a:off x="584185" y="1981236"/>
            <a:ext cx="11023324" cy="787380"/>
          </a:xfrm>
          <a:prstGeom prst="rect">
            <a:avLst/>
          </a:prstGeom>
          <a:noFill/>
          <a:ln/>
        </p:spPr>
      </p:sp>
      <p:pic>
        <p:nvPicPr>
          <p:cNvPr id="9" name="Picture 11" descr="__type_image">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84185" y="1981236"/>
            <a:ext cx="11023324" cy="787380"/>
          </a:xfrm>
          <a:prstGeom prst="rect">
            <a:avLst/>
          </a:prstGeom>
        </p:spPr>
      </p:pic>
      <p:sp>
        <p:nvSpPr>
          <p:cNvPr id="10" name="TextBox 13"/>
          <p:cNvSpPr/>
          <p:nvPr/>
        </p:nvSpPr>
        <p:spPr>
          <a:xfrm>
            <a:off x="584185" y="2289203"/>
            <a:ext cx="1968451" cy="165096"/>
          </a:xfrm>
          <a:prstGeom prst="rect">
            <a:avLst/>
          </a:prstGeom>
          <a:noFill/>
          <a:ln/>
        </p:spPr>
        <p:txBody>
          <a:bodyPr wrap="square" lIns="152396" tIns="0" rIns="0" bIns="0" rtlCol="0" anchor="t">
            <a:spAutoFit/>
          </a:bodyPr>
          <a:lstStyle/>
          <a:p>
            <a:pPr algn="l" indent="0" marL="0">
              <a:buNone/>
            </a:pPr>
            <a:r>
              <a:rPr lang="en-US" sz="1100" b="1" spc="100" kern="0" dirty="0">
                <a:solidFill>
                  <a:srgbClr val="00A99D"/>
                </a:solidFill>
                <a:latin typeface="Arial" pitchFamily="34" charset="0"/>
                <a:ea typeface="Arial" pitchFamily="34" charset="-122"/>
                <a:cs typeface="Arial" pitchFamily="34" charset="-120"/>
              </a:rPr>
              <a:t>AI JUDGMENT</a:t>
            </a:r>
            <a:endParaRPr lang="en-US" sz="1100" dirty="0"/>
          </a:p>
        </p:txBody>
      </p:sp>
      <p:sp>
        <p:nvSpPr>
          <p:cNvPr id="11" name="TextBox 15"/>
          <p:cNvSpPr/>
          <p:nvPr/>
        </p:nvSpPr>
        <p:spPr>
          <a:xfrm>
            <a:off x="2552636" y="2247930"/>
            <a:ext cx="4063898" cy="247644"/>
          </a:xfrm>
          <a:prstGeom prst="rect">
            <a:avLst/>
          </a:prstGeom>
          <a:noFill/>
          <a:ln/>
        </p:spPr>
        <p:txBody>
          <a:bodyPr wrap="square" lIns="0" tIns="0" rIns="0" bIns="0" rtlCol="0" anchor="t">
            <a:spAutoFit/>
          </a:bodyPr>
          <a:lstStyle/>
          <a:p>
            <a:pPr algn="l" indent="0" marL="0">
              <a:buNone/>
            </a:pPr>
            <a:r>
              <a:rPr lang="en-US" sz="1700" b="1" dirty="0">
                <a:solidFill>
                  <a:srgbClr val="162A2D"/>
                </a:solidFill>
                <a:latin typeface="Arial" pitchFamily="34" charset="0"/>
                <a:ea typeface="Arial" pitchFamily="34" charset="-122"/>
                <a:cs typeface="Arial" pitchFamily="34" charset="-120"/>
              </a:rPr>
              <a:t>Policy stays deterministic</a:t>
            </a:r>
            <a:endParaRPr lang="en-US" sz="1700" dirty="0"/>
          </a:p>
        </p:txBody>
      </p:sp>
      <p:sp>
        <p:nvSpPr>
          <p:cNvPr id="12" name="TextBox 17"/>
          <p:cNvSpPr/>
          <p:nvPr/>
        </p:nvSpPr>
        <p:spPr>
          <a:xfrm>
            <a:off x="6616535" y="2264598"/>
            <a:ext cx="4571886" cy="214307"/>
          </a:xfrm>
          <a:prstGeom prst="rect">
            <a:avLst/>
          </a:prstGeom>
          <a:noFill/>
          <a:ln/>
        </p:spPr>
        <p:txBody>
          <a:bodyPr wrap="square" lIns="0" tIns="0" rIns="0" bIns="0" rtlCol="0" anchor="t">
            <a:spAutoFit/>
          </a:bodyPr>
          <a:lstStyle/>
          <a:p>
            <a:pPr algn="l" indent="0" marL="0">
              <a:lnSpc>
                <a:spcPts val="1687"/>
              </a:lnSpc>
              <a:buNone/>
            </a:pPr>
            <a:r>
              <a:rPr lang="en-US" sz="1350" dirty="0">
                <a:solidFill>
                  <a:srgbClr val="5E6D6C"/>
                </a:solidFill>
                <a:latin typeface="Arial" pitchFamily="34" charset="0"/>
                <a:ea typeface="Arial" pitchFamily="34" charset="-122"/>
                <a:cs typeface="Arial" pitchFamily="34" charset="-120"/>
              </a:rPr>
              <a:t>Models propose; code owns budgets, access and evidence.</a:t>
            </a:r>
            <a:endParaRPr lang="en-US" sz="1350" dirty="0"/>
          </a:p>
        </p:txBody>
      </p:sp>
      <p:sp>
        <p:nvSpPr>
          <p:cNvPr id="13" name="Shape 20"/>
          <p:cNvSpPr/>
          <p:nvPr/>
        </p:nvSpPr>
        <p:spPr>
          <a:xfrm>
            <a:off x="584185" y="2768617"/>
            <a:ext cx="11023324" cy="787380"/>
          </a:xfrm>
          <a:prstGeom prst="rect">
            <a:avLst/>
          </a:prstGeom>
          <a:solidFill>
            <a:srgbClr val="FFFFFF">
              <a:alpha val="44000"/>
            </a:srgbClr>
          </a:solidFill>
          <a:ln/>
        </p:spPr>
      </p:sp>
      <p:pic>
        <p:nvPicPr>
          <p:cNvPr id="14" name="Picture 20" descr="__type_image">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84185" y="2768617"/>
            <a:ext cx="11023324" cy="787380"/>
          </a:xfrm>
          <a:prstGeom prst="rect">
            <a:avLst/>
          </a:prstGeom>
        </p:spPr>
      </p:pic>
      <p:sp>
        <p:nvSpPr>
          <p:cNvPr id="15" name="TextBox 22"/>
          <p:cNvSpPr/>
          <p:nvPr/>
        </p:nvSpPr>
        <p:spPr>
          <a:xfrm>
            <a:off x="584185" y="3076584"/>
            <a:ext cx="1968451" cy="165096"/>
          </a:xfrm>
          <a:prstGeom prst="rect">
            <a:avLst/>
          </a:prstGeom>
          <a:noFill/>
          <a:ln/>
        </p:spPr>
        <p:txBody>
          <a:bodyPr wrap="square" lIns="152396" tIns="0" rIns="0" bIns="0" rtlCol="0" anchor="t">
            <a:spAutoFit/>
          </a:bodyPr>
          <a:lstStyle/>
          <a:p>
            <a:pPr algn="l" indent="0" marL="0">
              <a:buNone/>
            </a:pPr>
            <a:r>
              <a:rPr lang="en-US" sz="1100" b="1" spc="100" kern="0" dirty="0">
                <a:solidFill>
                  <a:srgbClr val="00A99D"/>
                </a:solidFill>
                <a:latin typeface="Arial" pitchFamily="34" charset="0"/>
                <a:ea typeface="Arial" pitchFamily="34" charset="-122"/>
                <a:cs typeface="Arial" pitchFamily="34" charset="-120"/>
              </a:rPr>
              <a:t>PLATFORM</a:t>
            </a:r>
            <a:endParaRPr lang="en-US" sz="1100" dirty="0"/>
          </a:p>
        </p:txBody>
      </p:sp>
      <p:sp>
        <p:nvSpPr>
          <p:cNvPr id="16" name="TextBox 24"/>
          <p:cNvSpPr/>
          <p:nvPr/>
        </p:nvSpPr>
        <p:spPr>
          <a:xfrm>
            <a:off x="2552636" y="3035310"/>
            <a:ext cx="4063898" cy="247644"/>
          </a:xfrm>
          <a:prstGeom prst="rect">
            <a:avLst/>
          </a:prstGeom>
          <a:noFill/>
          <a:ln/>
        </p:spPr>
        <p:txBody>
          <a:bodyPr wrap="square" lIns="0" tIns="0" rIns="0" bIns="0" rtlCol="0" anchor="t">
            <a:spAutoFit/>
          </a:bodyPr>
          <a:lstStyle/>
          <a:p>
            <a:pPr algn="l" indent="0" marL="0">
              <a:buNone/>
            </a:pPr>
            <a:r>
              <a:rPr lang="en-US" sz="1700" b="1" dirty="0">
                <a:solidFill>
                  <a:srgbClr val="162A2D"/>
                </a:solidFill>
                <a:latin typeface="Arial" pitchFamily="34" charset="0"/>
                <a:ea typeface="Arial" pitchFamily="34" charset="-122"/>
                <a:cs typeface="Arial" pitchFamily="34" charset="-120"/>
              </a:rPr>
              <a:t>Long work becomes a job</a:t>
            </a:r>
            <a:endParaRPr lang="en-US" sz="1700" dirty="0"/>
          </a:p>
        </p:txBody>
      </p:sp>
      <p:sp>
        <p:nvSpPr>
          <p:cNvPr id="17" name="TextBox 26"/>
          <p:cNvSpPr/>
          <p:nvPr/>
        </p:nvSpPr>
        <p:spPr>
          <a:xfrm>
            <a:off x="6616535" y="3051978"/>
            <a:ext cx="4571886" cy="214307"/>
          </a:xfrm>
          <a:prstGeom prst="rect">
            <a:avLst/>
          </a:prstGeom>
          <a:noFill/>
          <a:ln/>
        </p:spPr>
        <p:txBody>
          <a:bodyPr wrap="square" lIns="0" tIns="0" rIns="0" bIns="0" rtlCol="0" anchor="t">
            <a:spAutoFit/>
          </a:bodyPr>
          <a:lstStyle/>
          <a:p>
            <a:pPr algn="l" indent="0" marL="0">
              <a:lnSpc>
                <a:spcPts val="1687"/>
              </a:lnSpc>
              <a:buNone/>
            </a:pPr>
            <a:r>
              <a:rPr lang="en-US" sz="1350" dirty="0">
                <a:solidFill>
                  <a:srgbClr val="5E6D6C"/>
                </a:solidFill>
                <a:latin typeface="Arial" pitchFamily="34" charset="0"/>
                <a:ea typeface="Arial" pitchFamily="34" charset="-122"/>
                <a:cs typeface="Arial" pitchFamily="34" charset="-120"/>
              </a:rPr>
              <a:t>Persistence, leases, SSE and cancellation are contracts.</a:t>
            </a:r>
            <a:endParaRPr lang="en-US" sz="1350" dirty="0"/>
          </a:p>
        </p:txBody>
      </p:sp>
      <p:sp>
        <p:nvSpPr>
          <p:cNvPr id="18" name="Shape 29"/>
          <p:cNvSpPr/>
          <p:nvPr/>
        </p:nvSpPr>
        <p:spPr>
          <a:xfrm>
            <a:off x="584185" y="3555997"/>
            <a:ext cx="11023324" cy="787380"/>
          </a:xfrm>
          <a:prstGeom prst="rect">
            <a:avLst/>
          </a:prstGeom>
          <a:noFill/>
          <a:ln/>
        </p:spPr>
      </p:sp>
      <p:pic>
        <p:nvPicPr>
          <p:cNvPr id="19" name="Picture 29" descr="__type_image">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584185" y="3555997"/>
            <a:ext cx="11023324" cy="787380"/>
          </a:xfrm>
          <a:prstGeom prst="rect">
            <a:avLst/>
          </a:prstGeom>
        </p:spPr>
      </p:pic>
      <p:sp>
        <p:nvSpPr>
          <p:cNvPr id="20" name="TextBox 31"/>
          <p:cNvSpPr/>
          <p:nvPr/>
        </p:nvSpPr>
        <p:spPr>
          <a:xfrm>
            <a:off x="584185" y="3863964"/>
            <a:ext cx="1968451" cy="165096"/>
          </a:xfrm>
          <a:prstGeom prst="rect">
            <a:avLst/>
          </a:prstGeom>
          <a:noFill/>
          <a:ln/>
        </p:spPr>
        <p:txBody>
          <a:bodyPr wrap="square" lIns="152396" tIns="0" rIns="0" bIns="0" rtlCol="0" anchor="t">
            <a:spAutoFit/>
          </a:bodyPr>
          <a:lstStyle/>
          <a:p>
            <a:pPr algn="l" indent="0" marL="0">
              <a:buNone/>
            </a:pPr>
            <a:r>
              <a:rPr lang="en-US" sz="1100" b="1" spc="100" kern="0" dirty="0">
                <a:solidFill>
                  <a:srgbClr val="00A99D"/>
                </a:solidFill>
                <a:latin typeface="Arial" pitchFamily="34" charset="0"/>
                <a:ea typeface="Arial" pitchFamily="34" charset="-122"/>
                <a:cs typeface="Arial" pitchFamily="34" charset="-120"/>
              </a:rPr>
              <a:t>ML PRACTICE</a:t>
            </a:r>
            <a:endParaRPr lang="en-US" sz="1100" dirty="0"/>
          </a:p>
        </p:txBody>
      </p:sp>
      <p:sp>
        <p:nvSpPr>
          <p:cNvPr id="21" name="TextBox 33"/>
          <p:cNvSpPr/>
          <p:nvPr/>
        </p:nvSpPr>
        <p:spPr>
          <a:xfrm>
            <a:off x="2552636" y="3822690"/>
            <a:ext cx="4063898" cy="247644"/>
          </a:xfrm>
          <a:prstGeom prst="rect">
            <a:avLst/>
          </a:prstGeom>
          <a:noFill/>
          <a:ln/>
        </p:spPr>
        <p:txBody>
          <a:bodyPr wrap="square" lIns="0" tIns="0" rIns="0" bIns="0" rtlCol="0" anchor="t">
            <a:spAutoFit/>
          </a:bodyPr>
          <a:lstStyle/>
          <a:p>
            <a:pPr algn="l" indent="0" marL="0">
              <a:buNone/>
            </a:pPr>
            <a:r>
              <a:rPr lang="en-US" sz="1700" b="1" dirty="0">
                <a:solidFill>
                  <a:srgbClr val="162A2D"/>
                </a:solidFill>
                <a:latin typeface="Arial" pitchFamily="34" charset="0"/>
                <a:ea typeface="Arial" pitchFamily="34" charset="-122"/>
                <a:cs typeface="Arial" pitchFamily="34" charset="-120"/>
              </a:rPr>
              <a:t>Leakage before leaderboard</a:t>
            </a:r>
            <a:endParaRPr lang="en-US" sz="1700" dirty="0"/>
          </a:p>
        </p:txBody>
      </p:sp>
      <p:sp>
        <p:nvSpPr>
          <p:cNvPr id="22" name="TextBox 35"/>
          <p:cNvSpPr/>
          <p:nvPr/>
        </p:nvSpPr>
        <p:spPr>
          <a:xfrm>
            <a:off x="6616535" y="3839358"/>
            <a:ext cx="4571886" cy="214307"/>
          </a:xfrm>
          <a:prstGeom prst="rect">
            <a:avLst/>
          </a:prstGeom>
          <a:noFill/>
          <a:ln/>
        </p:spPr>
        <p:txBody>
          <a:bodyPr wrap="square" lIns="0" tIns="0" rIns="0" bIns="0" rtlCol="0" anchor="t">
            <a:spAutoFit/>
          </a:bodyPr>
          <a:lstStyle/>
          <a:p>
            <a:pPr algn="l" indent="0" marL="0">
              <a:lnSpc>
                <a:spcPts val="1687"/>
              </a:lnSpc>
              <a:buNone/>
            </a:pPr>
            <a:r>
              <a:rPr lang="en-US" sz="1350" dirty="0">
                <a:solidFill>
                  <a:srgbClr val="5E6D6C"/>
                </a:solidFill>
                <a:latin typeface="Arial" pitchFamily="34" charset="0"/>
                <a:ea typeface="Arial" pitchFamily="34" charset="-122"/>
                <a:cs typeface="Arial" pitchFamily="34" charset="-120"/>
              </a:rPr>
              <a:t>Splits, abstention and calibration precede complexity.</a:t>
            </a:r>
            <a:endParaRPr lang="en-US" sz="1350" dirty="0"/>
          </a:p>
        </p:txBody>
      </p:sp>
      <p:sp>
        <p:nvSpPr>
          <p:cNvPr id="23" name="Shape 38"/>
          <p:cNvSpPr/>
          <p:nvPr/>
        </p:nvSpPr>
        <p:spPr>
          <a:xfrm>
            <a:off x="584185" y="4343377"/>
            <a:ext cx="11023324" cy="787380"/>
          </a:xfrm>
          <a:prstGeom prst="rect">
            <a:avLst/>
          </a:prstGeom>
          <a:solidFill>
            <a:srgbClr val="FFFFFF">
              <a:alpha val="44000"/>
            </a:srgbClr>
          </a:solidFill>
          <a:ln/>
        </p:spPr>
      </p:sp>
      <p:pic>
        <p:nvPicPr>
          <p:cNvPr id="24" name="Picture 38" descr="__type_image">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584185" y="4343377"/>
            <a:ext cx="11023324" cy="787380"/>
          </a:xfrm>
          <a:prstGeom prst="rect">
            <a:avLst/>
          </a:prstGeom>
        </p:spPr>
      </p:pic>
      <p:sp>
        <p:nvSpPr>
          <p:cNvPr id="25" name="TextBox 40"/>
          <p:cNvSpPr/>
          <p:nvPr/>
        </p:nvSpPr>
        <p:spPr>
          <a:xfrm>
            <a:off x="584185" y="4651344"/>
            <a:ext cx="1968451" cy="165096"/>
          </a:xfrm>
          <a:prstGeom prst="rect">
            <a:avLst/>
          </a:prstGeom>
          <a:noFill/>
          <a:ln/>
        </p:spPr>
        <p:txBody>
          <a:bodyPr wrap="square" lIns="152396" tIns="0" rIns="0" bIns="0" rtlCol="0" anchor="t">
            <a:spAutoFit/>
          </a:bodyPr>
          <a:lstStyle/>
          <a:p>
            <a:pPr algn="l" indent="0" marL="0">
              <a:buNone/>
            </a:pPr>
            <a:r>
              <a:rPr lang="en-US" sz="1100" b="1" spc="100" kern="0" dirty="0">
                <a:solidFill>
                  <a:srgbClr val="00A99D"/>
                </a:solidFill>
                <a:latin typeface="Arial" pitchFamily="34" charset="0"/>
                <a:ea typeface="Arial" pitchFamily="34" charset="-122"/>
                <a:cs typeface="Arial" pitchFamily="34" charset="-120"/>
              </a:rPr>
              <a:t>DELIVERY</a:t>
            </a:r>
            <a:endParaRPr lang="en-US" sz="1100" dirty="0"/>
          </a:p>
        </p:txBody>
      </p:sp>
      <p:sp>
        <p:nvSpPr>
          <p:cNvPr id="26" name="TextBox 42"/>
          <p:cNvSpPr/>
          <p:nvPr/>
        </p:nvSpPr>
        <p:spPr>
          <a:xfrm>
            <a:off x="2552636" y="4610070"/>
            <a:ext cx="4063898" cy="247644"/>
          </a:xfrm>
          <a:prstGeom prst="rect">
            <a:avLst/>
          </a:prstGeom>
          <a:noFill/>
          <a:ln/>
        </p:spPr>
        <p:txBody>
          <a:bodyPr wrap="square" lIns="0" tIns="0" rIns="0" bIns="0" rtlCol="0" anchor="t">
            <a:spAutoFit/>
          </a:bodyPr>
          <a:lstStyle/>
          <a:p>
            <a:pPr algn="l" indent="0" marL="0">
              <a:buNone/>
            </a:pPr>
            <a:r>
              <a:rPr lang="en-US" sz="1700" b="1" dirty="0">
                <a:solidFill>
                  <a:srgbClr val="162A2D"/>
                </a:solidFill>
                <a:latin typeface="Arial" pitchFamily="34" charset="0"/>
                <a:ea typeface="Arial" pitchFamily="34" charset="-122"/>
                <a:cs typeface="Arial" pitchFamily="34" charset="-120"/>
              </a:rPr>
              <a:t>Promote the tested digest</a:t>
            </a:r>
            <a:endParaRPr lang="en-US" sz="1700" dirty="0"/>
          </a:p>
        </p:txBody>
      </p:sp>
      <p:sp>
        <p:nvSpPr>
          <p:cNvPr id="27" name="TextBox 44"/>
          <p:cNvSpPr/>
          <p:nvPr/>
        </p:nvSpPr>
        <p:spPr>
          <a:xfrm>
            <a:off x="6616535" y="4626739"/>
            <a:ext cx="4571886" cy="214307"/>
          </a:xfrm>
          <a:prstGeom prst="rect">
            <a:avLst/>
          </a:prstGeom>
          <a:noFill/>
          <a:ln/>
        </p:spPr>
        <p:txBody>
          <a:bodyPr wrap="square" lIns="0" tIns="0" rIns="0" bIns="0" rtlCol="0" anchor="t">
            <a:spAutoFit/>
          </a:bodyPr>
          <a:lstStyle/>
          <a:p>
            <a:pPr algn="l" indent="0" marL="0">
              <a:lnSpc>
                <a:spcPts val="1687"/>
              </a:lnSpc>
              <a:buNone/>
            </a:pPr>
            <a:r>
              <a:rPr lang="en-US" sz="1350" dirty="0">
                <a:solidFill>
                  <a:srgbClr val="5E6D6C"/>
                </a:solidFill>
                <a:latin typeface="Arial" pitchFamily="34" charset="0"/>
                <a:ea typeface="Arial" pitchFamily="34" charset="-122"/>
                <a:cs typeface="Arial" pitchFamily="34" charset="-120"/>
              </a:rPr>
              <a:t>Keyless identity and reviewed Terraform close the loop.</a:t>
            </a:r>
            <a:endParaRPr lang="en-US" sz="1350" dirty="0"/>
          </a:p>
        </p:txBody>
      </p:sp>
      <p:sp>
        <p:nvSpPr>
          <p:cNvPr id="28" name="TextBox 49"/>
          <p:cNvSpPr/>
          <p:nvPr/>
        </p:nvSpPr>
        <p:spPr>
          <a:xfrm>
            <a:off x="584185" y="5441900"/>
            <a:ext cx="1968451" cy="165096"/>
          </a:xfrm>
          <a:prstGeom prst="rect">
            <a:avLst/>
          </a:prstGeom>
          <a:noFill/>
          <a:ln/>
        </p:spPr>
        <p:txBody>
          <a:bodyPr wrap="square" lIns="152396" tIns="0" rIns="0" bIns="0" rtlCol="0" anchor="t">
            <a:spAutoFit/>
          </a:bodyPr>
          <a:lstStyle/>
          <a:p>
            <a:pPr algn="l" indent="0" marL="0">
              <a:buNone/>
            </a:pPr>
            <a:r>
              <a:rPr lang="en-US" sz="1100" b="1" spc="100" kern="0" dirty="0">
                <a:solidFill>
                  <a:srgbClr val="00A99D"/>
                </a:solidFill>
                <a:latin typeface="Arial" pitchFamily="34" charset="0"/>
                <a:ea typeface="Arial" pitchFamily="34" charset="-122"/>
                <a:cs typeface="Arial" pitchFamily="34" charset="-120"/>
              </a:rPr>
              <a:t>PRODUCT SENSE</a:t>
            </a:r>
            <a:endParaRPr lang="en-US" sz="1100" dirty="0"/>
          </a:p>
        </p:txBody>
      </p:sp>
      <p:sp>
        <p:nvSpPr>
          <p:cNvPr id="29" name="TextBox 51"/>
          <p:cNvSpPr/>
          <p:nvPr/>
        </p:nvSpPr>
        <p:spPr>
          <a:xfrm>
            <a:off x="2552636" y="5400626"/>
            <a:ext cx="4063898" cy="247644"/>
          </a:xfrm>
          <a:prstGeom prst="rect">
            <a:avLst/>
          </a:prstGeom>
          <a:noFill/>
          <a:ln/>
        </p:spPr>
        <p:txBody>
          <a:bodyPr wrap="square" lIns="0" tIns="0" rIns="0" bIns="0" rtlCol="0" anchor="t">
            <a:spAutoFit/>
          </a:bodyPr>
          <a:lstStyle/>
          <a:p>
            <a:pPr algn="l" indent="0" marL="0">
              <a:buNone/>
            </a:pPr>
            <a:r>
              <a:rPr lang="en-US" sz="1700" b="1" dirty="0">
                <a:solidFill>
                  <a:srgbClr val="162A2D"/>
                </a:solidFill>
                <a:latin typeface="Arial" pitchFamily="34" charset="0"/>
                <a:ea typeface="Arial" pitchFamily="34" charset="-122"/>
                <a:cs typeface="Arial" pitchFamily="34" charset="-120"/>
              </a:rPr>
              <a:t>Limits are part of the UX</a:t>
            </a:r>
            <a:endParaRPr lang="en-US" sz="1700" dirty="0"/>
          </a:p>
        </p:txBody>
      </p:sp>
      <p:sp>
        <p:nvSpPr>
          <p:cNvPr id="30" name="TextBox 53"/>
          <p:cNvSpPr/>
          <p:nvPr/>
        </p:nvSpPr>
        <p:spPr>
          <a:xfrm>
            <a:off x="6616535" y="5417294"/>
            <a:ext cx="4571886" cy="214307"/>
          </a:xfrm>
          <a:prstGeom prst="rect">
            <a:avLst/>
          </a:prstGeom>
          <a:noFill/>
          <a:ln/>
        </p:spPr>
        <p:txBody>
          <a:bodyPr wrap="square" lIns="0" tIns="0" rIns="0" bIns="0" rtlCol="0" anchor="t">
            <a:spAutoFit/>
          </a:bodyPr>
          <a:lstStyle/>
          <a:p>
            <a:pPr algn="l" indent="0" marL="0">
              <a:lnSpc>
                <a:spcPts val="1687"/>
              </a:lnSpc>
              <a:buNone/>
            </a:pPr>
            <a:r>
              <a:rPr lang="en-US" sz="1350" dirty="0">
                <a:solidFill>
                  <a:srgbClr val="5E6D6C"/>
                </a:solidFill>
                <a:latin typeface="Arial" pitchFamily="34" charset="0"/>
                <a:ea typeface="Arial" pitchFamily="34" charset="-122"/>
                <a:cs typeface="Arial" pitchFamily="34" charset="-120"/>
              </a:rPr>
              <a:t>Typed failures beat confident output with weak evidence.</a:t>
            </a:r>
            <a:endParaRPr lang="en-US" sz="1350" dirty="0"/>
          </a:p>
        </p:txBody>
      </p:sp>
      <p:sp>
        <p:nvSpPr>
          <p:cNvPr id="31" name="TextBox 57"/>
          <p:cNvSpPr/>
          <p:nvPr/>
        </p:nvSpPr>
        <p:spPr>
          <a:xfrm>
            <a:off x="584185" y="6286429"/>
            <a:ext cx="6032349" cy="215895"/>
          </a:xfrm>
          <a:prstGeom prst="rect">
            <a:avLst/>
          </a:prstGeom>
          <a:noFill/>
          <a:ln/>
        </p:spPr>
        <p:txBody>
          <a:bodyPr wrap="square" lIns="0" tIns="0" rIns="0" bIns="0" rtlCol="0" anchor="t">
            <a:spAutoFit/>
          </a:bodyPr>
          <a:lstStyle/>
          <a:p>
            <a:pPr algn="l" indent="0" marL="0">
              <a:buNone/>
            </a:pPr>
            <a:r>
              <a:rPr lang="en-US" sz="1100" dirty="0">
                <a:solidFill>
                  <a:srgbClr val="5E6D6C"/>
                </a:solidFill>
                <a:latin typeface="Arial" pitchFamily="34" charset="0"/>
                <a:ea typeface="Arial" pitchFamily="34" charset="-122"/>
                <a:cs typeface="Arial" pitchFamily="34" charset="-120"/>
              </a:rPr>
              <a:t>The rest of the deck is the evidence behind this scorecard.</a:t>
            </a:r>
            <a:endParaRPr lang="en-US" sz="1100" dirty="0"/>
          </a:p>
        </p:txBody>
      </p:sp>
      <p:sp>
        <p:nvSpPr>
          <p:cNvPr id="32" name="TextBox 59"/>
          <p:cNvSpPr/>
          <p:nvPr/>
        </p:nvSpPr>
        <p:spPr>
          <a:xfrm>
            <a:off x="11099523" y="6248330"/>
            <a:ext cx="507987" cy="279393"/>
          </a:xfrm>
          <a:prstGeom prst="rect">
            <a:avLst/>
          </a:prstGeom>
          <a:noFill/>
          <a:ln/>
        </p:spPr>
        <p:txBody>
          <a:bodyPr wrap="square" lIns="0" tIns="0" rIns="0" bIns="0" rtlCol="0" anchor="t">
            <a:spAutoFit/>
          </a:bodyPr>
          <a:lstStyle/>
          <a:p>
            <a:pPr algn="r" indent="0" marL="0">
              <a:buNone/>
            </a:pPr>
            <a:r>
              <a:rPr lang="en-US" sz="1200" dirty="0">
                <a:solidFill>
                  <a:srgbClr val="00A99D"/>
                </a:solidFill>
                <a:latin typeface="Arial" pitchFamily="34" charset="0"/>
                <a:ea typeface="Arial" pitchFamily="34" charset="-122"/>
                <a:cs typeface="Arial" pitchFamily="34" charset="-120"/>
              </a:rPr>
              <a:t>02</a:t>
            </a:r>
            <a:endParaRPr lang="en-US" sz="1200" dirty="0"/>
          </a:p>
        </p:txBody>
      </p:sp>
    </p:spTree>
  </p:cSld>
  <p:clrMapOvr>
    <a:masterClrMapping/>
  </p:clrMapOvr>
  <p:transition spd="med">
    <p:push dir="l"/>
  </p:transition>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1"/>
          <p:cNvSpPr/>
          <p:nvPr/>
        </p:nvSpPr>
        <p:spPr>
          <a:xfrm>
            <a:off x="0" y="86"/>
            <a:ext cx="12191695" cy="6857829"/>
          </a:xfrm>
          <a:prstGeom prst="rect">
            <a:avLst/>
          </a:prstGeom>
          <a:solidFill>
            <a:srgbClr val="FFFFFF"/>
          </a:solidFill>
          <a:ln/>
        </p:spPr>
      </p:sp>
      <p:sp>
        <p:nvSpPr>
          <p:cNvPr id="3" name="TextBox 3"/>
          <p:cNvSpPr/>
          <p:nvPr/>
        </p:nvSpPr>
        <p:spPr>
          <a:xfrm>
            <a:off x="584185" y="457274"/>
            <a:ext cx="2539936" cy="215895"/>
          </a:xfrm>
          <a:prstGeom prst="rect">
            <a:avLst/>
          </a:prstGeom>
          <a:noFill/>
          <a:ln/>
        </p:spPr>
        <p:txBody>
          <a:bodyPr wrap="square" lIns="0" tIns="0" rIns="0" bIns="0" rtlCol="0" anchor="t">
            <a:spAutoFit/>
          </a:bodyPr>
          <a:lstStyle/>
          <a:p>
            <a:pPr algn="l" indent="0" marL="0">
              <a:buNone/>
            </a:pPr>
            <a:r>
              <a:rPr lang="en-US" sz="1000" b="1" spc="200" kern="0" dirty="0">
                <a:solidFill>
                  <a:srgbClr val="00A99D"/>
                </a:solidFill>
                <a:latin typeface="Arial" pitchFamily="34" charset="0"/>
                <a:ea typeface="Arial" pitchFamily="34" charset="-122"/>
                <a:cs typeface="Arial" pitchFamily="34" charset="-120"/>
              </a:rPr>
              <a:t>THE PRODUCT IN ONE REQUEST</a:t>
            </a:r>
            <a:endParaRPr lang="en-US" sz="1000" dirty="0"/>
          </a:p>
        </p:txBody>
      </p:sp>
      <p:sp>
        <p:nvSpPr>
          <p:cNvPr id="4" name="TextBox 5"/>
          <p:cNvSpPr/>
          <p:nvPr/>
        </p:nvSpPr>
        <p:spPr>
          <a:xfrm>
            <a:off x="584185" y="800166"/>
            <a:ext cx="7048324" cy="603235"/>
          </a:xfrm>
          <a:prstGeom prst="rect">
            <a:avLst/>
          </a:prstGeom>
          <a:noFill/>
          <a:ln/>
        </p:spPr>
        <p:txBody>
          <a:bodyPr wrap="square" lIns="0" tIns="0" rIns="0" bIns="0" rtlCol="0" anchor="t">
            <a:spAutoFit/>
          </a:bodyPr>
          <a:lstStyle/>
          <a:p>
            <a:pPr algn="l" indent="0" marL="0">
              <a:lnSpc>
                <a:spcPts val="3564"/>
              </a:lnSpc>
              <a:buNone/>
            </a:pPr>
            <a:r>
              <a:rPr lang="en-US" sz="3300" spc="-150" kern="0" dirty="0">
                <a:solidFill>
                  <a:srgbClr val="162A2D"/>
                </a:solidFill>
                <a:latin typeface="Arial" pitchFamily="34" charset="0"/>
                <a:ea typeface="Arial" pitchFamily="34" charset="-122"/>
                <a:cs typeface="Arial" pitchFamily="34" charset="-120"/>
              </a:rPr>
              <a:t>From question to durable evidence</a:t>
            </a:r>
            <a:endParaRPr lang="en-US" sz="3300" dirty="0"/>
          </a:p>
        </p:txBody>
      </p:sp>
      <p:sp>
        <p:nvSpPr>
          <p:cNvPr id="5" name="TextBox 7"/>
          <p:cNvSpPr/>
          <p:nvPr/>
        </p:nvSpPr>
        <p:spPr>
          <a:xfrm>
            <a:off x="8623084" y="901763"/>
            <a:ext cx="2984425" cy="533387"/>
          </a:xfrm>
          <a:prstGeom prst="rect">
            <a:avLst/>
          </a:prstGeom>
          <a:noFill/>
          <a:ln/>
        </p:spPr>
        <p:txBody>
          <a:bodyPr wrap="square" lIns="0" tIns="0" rIns="0" bIns="0" rtlCol="0" anchor="t">
            <a:spAutoFit/>
          </a:bodyPr>
          <a:lstStyle/>
          <a:p>
            <a:pPr algn="l" indent="0" marL="0">
              <a:lnSpc>
                <a:spcPts val="1822"/>
              </a:lnSpc>
              <a:buNone/>
            </a:pPr>
            <a:r>
              <a:rPr lang="en-US" sz="1350" dirty="0">
                <a:solidFill>
                  <a:srgbClr val="5E6D6C"/>
                </a:solidFill>
                <a:latin typeface="Arial" pitchFamily="34" charset="0"/>
                <a:ea typeface="Arial" pitchFamily="34" charset="-122"/>
                <a:cs typeface="Arial" pitchFamily="34" charset="-120"/>
              </a:rPr>
              <a:t>One trace crosses three tasks</a:t>
            </a:r>
            <a:endParaRPr lang="en-US" sz="1350" dirty="0"/>
          </a:p>
          <a:p>
            <a:pPr algn="l" indent="0" marL="0">
              <a:lnSpc>
                <a:spcPts val="1822"/>
              </a:lnSpc>
              <a:buNone/>
            </a:pPr>
            <a:r>
              <a:rPr lang="en-US" sz="1350" dirty="0">
                <a:solidFill>
                  <a:srgbClr val="5E6D6C"/>
                </a:solidFill>
                <a:latin typeface="Arial" pitchFamily="34" charset="0"/>
                <a:ea typeface="Arial" pitchFamily="34" charset="-122"/>
                <a:cs typeface="Arial" pitchFamily="34" charset="-120"/>
              </a:rPr>
              <a:t>without crossing responsibility.</a:t>
            </a:r>
            <a:endParaRPr lang="en-US" sz="1350" dirty="0"/>
          </a:p>
        </p:txBody>
      </p:sp>
      <p:sp>
        <p:nvSpPr>
          <p:cNvPr id="6" name="Shape 9"/>
          <p:cNvSpPr/>
          <p:nvPr/>
        </p:nvSpPr>
        <p:spPr>
          <a:xfrm>
            <a:off x="761981" y="3086109"/>
            <a:ext cx="10667733" cy="50799"/>
          </a:xfrm>
          <a:prstGeom prst="roundRect">
            <a:avLst>
              <a:gd name="adj" fmla="val 50000"/>
            </a:avLst>
          </a:prstGeom>
          <a:solidFill>
            <a:srgbClr val="C8D3D1"/>
          </a:solidFill>
          <a:ln/>
        </p:spPr>
      </p:sp>
      <p:sp>
        <p:nvSpPr>
          <p:cNvPr id="7" name="Shape 11"/>
          <p:cNvSpPr/>
          <p:nvPr/>
        </p:nvSpPr>
        <p:spPr>
          <a:xfrm>
            <a:off x="761981" y="3086109"/>
            <a:ext cx="9270768" cy="50799"/>
          </a:xfrm>
          <a:prstGeom prst="roundRect">
            <a:avLst>
              <a:gd name="adj" fmla="val 50000"/>
            </a:avLst>
          </a:prstGeom>
          <a:solidFill>
            <a:srgbClr val="00A99D"/>
          </a:solidFill>
          <a:ln/>
        </p:spPr>
      </p:sp>
      <p:sp>
        <p:nvSpPr>
          <p:cNvPr id="8" name="TextBox 15"/>
          <p:cNvSpPr/>
          <p:nvPr/>
        </p:nvSpPr>
        <p:spPr>
          <a:xfrm>
            <a:off x="666733" y="2108233"/>
            <a:ext cx="1587460" cy="171446"/>
          </a:xfrm>
          <a:prstGeom prst="rect">
            <a:avLst/>
          </a:prstGeom>
          <a:noFill/>
          <a:ln/>
        </p:spPr>
        <p:txBody>
          <a:bodyPr wrap="square" lIns="0" tIns="0" rIns="0" bIns="0" rtlCol="0" anchor="t">
            <a:spAutoFit/>
          </a:bodyPr>
          <a:lstStyle/>
          <a:p>
            <a:pPr algn="l" indent="0" marL="0">
              <a:buNone/>
            </a:pPr>
            <a:r>
              <a:rPr lang="en-US" sz="1150" b="1" spc="100" kern="0" dirty="0">
                <a:solidFill>
                  <a:srgbClr val="00A99D"/>
                </a:solidFill>
                <a:latin typeface="Arial" pitchFamily="34" charset="0"/>
                <a:ea typeface="Arial" pitchFamily="34" charset="-122"/>
                <a:cs typeface="Arial" pitchFamily="34" charset="-120"/>
              </a:rPr>
              <a:t>01 · CLIENT</a:t>
            </a:r>
            <a:endParaRPr lang="en-US" sz="1150" dirty="0"/>
          </a:p>
        </p:txBody>
      </p:sp>
      <p:sp>
        <p:nvSpPr>
          <p:cNvPr id="9" name="TextBox 17"/>
          <p:cNvSpPr/>
          <p:nvPr/>
        </p:nvSpPr>
        <p:spPr>
          <a:xfrm>
            <a:off x="666733" y="2368577"/>
            <a:ext cx="1587460" cy="440917"/>
          </a:xfrm>
          <a:prstGeom prst="rect">
            <a:avLst/>
          </a:prstGeom>
          <a:noFill/>
          <a:ln/>
        </p:spPr>
        <p:txBody>
          <a:bodyPr wrap="square" lIns="0" tIns="0" rIns="0" bIns="0" rtlCol="0" anchor="t">
            <a:spAutoFit/>
          </a:bodyPr>
          <a:lstStyle/>
          <a:p>
            <a:pPr algn="l" indent="0" marL="0">
              <a:lnSpc>
                <a:spcPts val="1736"/>
              </a:lnSpc>
              <a:buNone/>
            </a:pPr>
            <a:r>
              <a:rPr lang="en-US" sz="1550" b="1" dirty="0">
                <a:solidFill>
                  <a:srgbClr val="162A2D"/>
                </a:solidFill>
                <a:latin typeface="Arial" pitchFamily="34" charset="0"/>
                <a:ea typeface="Arial" pitchFamily="34" charset="-122"/>
                <a:cs typeface="Arial" pitchFamily="34" charset="-120"/>
              </a:rPr>
              <a:t>Question +</a:t>
            </a:r>
            <a:endParaRPr lang="en-US" sz="1550" dirty="0"/>
          </a:p>
          <a:p>
            <a:pPr algn="l" indent="0" marL="0">
              <a:lnSpc>
                <a:spcPts val="1736"/>
              </a:lnSpc>
              <a:buNone/>
            </a:pPr>
            <a:r>
              <a:rPr lang="en-US" sz="1550" b="1" dirty="0">
                <a:solidFill>
                  <a:srgbClr val="162A2D"/>
                </a:solidFill>
                <a:latin typeface="Arial" pitchFamily="34" charset="0"/>
                <a:ea typeface="Arial" pitchFamily="34" charset="-122"/>
                <a:cs typeface="Arial" pitchFamily="34" charset="-120"/>
              </a:rPr>
              <a:t>tenant context</a:t>
            </a:r>
            <a:endParaRPr lang="en-US" sz="1550" dirty="0"/>
          </a:p>
        </p:txBody>
      </p:sp>
      <p:sp>
        <p:nvSpPr>
          <p:cNvPr id="10" name="TextBox 22"/>
          <p:cNvSpPr/>
          <p:nvPr/>
        </p:nvSpPr>
        <p:spPr>
          <a:xfrm>
            <a:off x="2387540" y="3302003"/>
            <a:ext cx="1587460" cy="171446"/>
          </a:xfrm>
          <a:prstGeom prst="rect">
            <a:avLst/>
          </a:prstGeom>
          <a:noFill/>
          <a:ln/>
        </p:spPr>
        <p:txBody>
          <a:bodyPr wrap="square" lIns="0" tIns="0" rIns="0" bIns="0" rtlCol="0" anchor="t">
            <a:spAutoFit/>
          </a:bodyPr>
          <a:lstStyle/>
          <a:p>
            <a:pPr algn="l" indent="0" marL="0">
              <a:buNone/>
            </a:pPr>
            <a:r>
              <a:rPr lang="en-US" sz="1150" b="1" spc="100" kern="0" dirty="0">
                <a:solidFill>
                  <a:srgbClr val="00A99D"/>
                </a:solidFill>
                <a:latin typeface="Arial" pitchFamily="34" charset="0"/>
                <a:ea typeface="Arial" pitchFamily="34" charset="-122"/>
                <a:cs typeface="Arial" pitchFamily="34" charset="-120"/>
              </a:rPr>
              <a:t>02 · API</a:t>
            </a:r>
            <a:endParaRPr lang="en-US" sz="1150" dirty="0"/>
          </a:p>
        </p:txBody>
      </p:sp>
      <p:sp>
        <p:nvSpPr>
          <p:cNvPr id="11" name="TextBox 24"/>
          <p:cNvSpPr/>
          <p:nvPr/>
        </p:nvSpPr>
        <p:spPr>
          <a:xfrm>
            <a:off x="2387540" y="3562347"/>
            <a:ext cx="1587460" cy="440917"/>
          </a:xfrm>
          <a:prstGeom prst="rect">
            <a:avLst/>
          </a:prstGeom>
          <a:noFill/>
          <a:ln/>
        </p:spPr>
        <p:txBody>
          <a:bodyPr wrap="square" lIns="0" tIns="0" rIns="0" bIns="0" rtlCol="0" anchor="t">
            <a:spAutoFit/>
          </a:bodyPr>
          <a:lstStyle/>
          <a:p>
            <a:pPr algn="l" indent="0" marL="0">
              <a:lnSpc>
                <a:spcPts val="1736"/>
              </a:lnSpc>
              <a:buNone/>
            </a:pPr>
            <a:r>
              <a:rPr lang="en-US" sz="1550" b="1" dirty="0">
                <a:solidFill>
                  <a:srgbClr val="162A2D"/>
                </a:solidFill>
                <a:latin typeface="Arial" pitchFamily="34" charset="0"/>
                <a:ea typeface="Arial" pitchFamily="34" charset="-122"/>
                <a:cs typeface="Arial" pitchFamily="34" charset="-120"/>
              </a:rPr>
              <a:t>Persist before</a:t>
            </a:r>
            <a:endParaRPr lang="en-US" sz="1550" dirty="0"/>
          </a:p>
          <a:p>
            <a:pPr algn="l" indent="0" marL="0">
              <a:lnSpc>
                <a:spcPts val="1736"/>
              </a:lnSpc>
              <a:buNone/>
            </a:pPr>
            <a:r>
              <a:rPr lang="en-US" sz="1550" b="1" dirty="0">
                <a:solidFill>
                  <a:srgbClr val="162A2D"/>
                </a:solidFill>
                <a:latin typeface="Arial" pitchFamily="34" charset="0"/>
                <a:ea typeface="Arial" pitchFamily="34" charset="-122"/>
                <a:cs typeface="Arial" pitchFamily="34" charset="-120"/>
              </a:rPr>
              <a:t>enqueue</a:t>
            </a:r>
            <a:endParaRPr lang="en-US" sz="1550" dirty="0"/>
          </a:p>
        </p:txBody>
      </p:sp>
      <p:sp>
        <p:nvSpPr>
          <p:cNvPr id="12" name="TextBox 29"/>
          <p:cNvSpPr/>
          <p:nvPr/>
        </p:nvSpPr>
        <p:spPr>
          <a:xfrm>
            <a:off x="4114697" y="2108233"/>
            <a:ext cx="1587460" cy="171446"/>
          </a:xfrm>
          <a:prstGeom prst="rect">
            <a:avLst/>
          </a:prstGeom>
          <a:noFill/>
          <a:ln/>
        </p:spPr>
        <p:txBody>
          <a:bodyPr wrap="square" lIns="0" tIns="0" rIns="0" bIns="0" rtlCol="0" anchor="t">
            <a:spAutoFit/>
          </a:bodyPr>
          <a:lstStyle/>
          <a:p>
            <a:pPr algn="l" indent="0" marL="0">
              <a:buNone/>
            </a:pPr>
            <a:r>
              <a:rPr lang="en-US" sz="1150" b="1" spc="100" kern="0" dirty="0">
                <a:solidFill>
                  <a:srgbClr val="00A99D"/>
                </a:solidFill>
                <a:latin typeface="Arial" pitchFamily="34" charset="0"/>
                <a:ea typeface="Arial" pitchFamily="34" charset="-122"/>
                <a:cs typeface="Arial" pitchFamily="34" charset="-120"/>
              </a:rPr>
              <a:t>03 · WORKER</a:t>
            </a:r>
            <a:endParaRPr lang="en-US" sz="1150" dirty="0"/>
          </a:p>
        </p:txBody>
      </p:sp>
      <p:sp>
        <p:nvSpPr>
          <p:cNvPr id="13" name="TextBox 31"/>
          <p:cNvSpPr/>
          <p:nvPr/>
        </p:nvSpPr>
        <p:spPr>
          <a:xfrm>
            <a:off x="4114697" y="2368577"/>
            <a:ext cx="1587460" cy="440917"/>
          </a:xfrm>
          <a:prstGeom prst="rect">
            <a:avLst/>
          </a:prstGeom>
          <a:noFill/>
          <a:ln/>
        </p:spPr>
        <p:txBody>
          <a:bodyPr wrap="square" lIns="0" tIns="0" rIns="0" bIns="0" rtlCol="0" anchor="t">
            <a:spAutoFit/>
          </a:bodyPr>
          <a:lstStyle/>
          <a:p>
            <a:pPr algn="l" indent="0" marL="0">
              <a:lnSpc>
                <a:spcPts val="1736"/>
              </a:lnSpc>
              <a:buNone/>
            </a:pPr>
            <a:r>
              <a:rPr lang="en-US" sz="1550" b="1" dirty="0">
                <a:solidFill>
                  <a:srgbClr val="162A2D"/>
                </a:solidFill>
                <a:latin typeface="Arial" pitchFamily="34" charset="0"/>
                <a:ea typeface="Arial" pitchFamily="34" charset="-122"/>
                <a:cs typeface="Arial" pitchFamily="34" charset="-120"/>
              </a:rPr>
              <a:t>Claim lease +</a:t>
            </a:r>
            <a:endParaRPr lang="en-US" sz="1550" dirty="0"/>
          </a:p>
          <a:p>
            <a:pPr algn="l" indent="0" marL="0">
              <a:lnSpc>
                <a:spcPts val="1736"/>
              </a:lnSpc>
              <a:buNone/>
            </a:pPr>
            <a:r>
              <a:rPr lang="en-US" sz="1550" b="1" dirty="0">
                <a:solidFill>
                  <a:srgbClr val="162A2D"/>
                </a:solidFill>
                <a:latin typeface="Arial" pitchFamily="34" charset="0"/>
                <a:ea typeface="Arial" pitchFamily="34" charset="-122"/>
                <a:cs typeface="Arial" pitchFamily="34" charset="-120"/>
              </a:rPr>
              <a:t>run budget</a:t>
            </a:r>
            <a:endParaRPr lang="en-US" sz="1550" dirty="0"/>
          </a:p>
        </p:txBody>
      </p:sp>
      <p:sp>
        <p:nvSpPr>
          <p:cNvPr id="14" name="TextBox 36"/>
          <p:cNvSpPr/>
          <p:nvPr/>
        </p:nvSpPr>
        <p:spPr>
          <a:xfrm>
            <a:off x="5841854" y="3302003"/>
            <a:ext cx="1587460" cy="171446"/>
          </a:xfrm>
          <a:prstGeom prst="rect">
            <a:avLst/>
          </a:prstGeom>
          <a:noFill/>
          <a:ln/>
        </p:spPr>
        <p:txBody>
          <a:bodyPr wrap="square" lIns="0" tIns="0" rIns="0" bIns="0" rtlCol="0" anchor="t">
            <a:spAutoFit/>
          </a:bodyPr>
          <a:lstStyle/>
          <a:p>
            <a:pPr algn="l" indent="0" marL="0">
              <a:buNone/>
            </a:pPr>
            <a:r>
              <a:rPr lang="en-US" sz="1150" b="1" spc="100" kern="0" dirty="0">
                <a:solidFill>
                  <a:srgbClr val="00A99D"/>
                </a:solidFill>
                <a:latin typeface="Arial" pitchFamily="34" charset="0"/>
                <a:ea typeface="Arial" pitchFamily="34" charset="-122"/>
                <a:cs typeface="Arial" pitchFamily="34" charset="-120"/>
              </a:rPr>
              <a:t>04 · AGENT</a:t>
            </a:r>
            <a:endParaRPr lang="en-US" sz="1150" dirty="0"/>
          </a:p>
        </p:txBody>
      </p:sp>
      <p:sp>
        <p:nvSpPr>
          <p:cNvPr id="15" name="TextBox 38"/>
          <p:cNvSpPr/>
          <p:nvPr/>
        </p:nvSpPr>
        <p:spPr>
          <a:xfrm>
            <a:off x="5841854" y="3562347"/>
            <a:ext cx="1587460" cy="440917"/>
          </a:xfrm>
          <a:prstGeom prst="rect">
            <a:avLst/>
          </a:prstGeom>
          <a:noFill/>
          <a:ln/>
        </p:spPr>
        <p:txBody>
          <a:bodyPr wrap="square" lIns="0" tIns="0" rIns="0" bIns="0" rtlCol="0" anchor="t">
            <a:spAutoFit/>
          </a:bodyPr>
          <a:lstStyle/>
          <a:p>
            <a:pPr algn="l" indent="0" marL="0">
              <a:lnSpc>
                <a:spcPts val="1736"/>
              </a:lnSpc>
              <a:buNone/>
            </a:pPr>
            <a:r>
              <a:rPr lang="en-US" sz="1550" b="1" dirty="0">
                <a:solidFill>
                  <a:srgbClr val="162A2D"/>
                </a:solidFill>
                <a:latin typeface="Arial" pitchFamily="34" charset="0"/>
                <a:ea typeface="Arial" pitchFamily="34" charset="-122"/>
                <a:cs typeface="Arial" pitchFamily="34" charset="-120"/>
              </a:rPr>
              <a:t>Plan, search,</a:t>
            </a:r>
            <a:endParaRPr lang="en-US" sz="1550" dirty="0"/>
          </a:p>
          <a:p>
            <a:pPr algn="l" indent="0" marL="0">
              <a:lnSpc>
                <a:spcPts val="1736"/>
              </a:lnSpc>
              <a:buNone/>
            </a:pPr>
            <a:r>
              <a:rPr lang="en-US" sz="1550" b="1" dirty="0">
                <a:solidFill>
                  <a:srgbClr val="162A2D"/>
                </a:solidFill>
                <a:latin typeface="Arial" pitchFamily="34" charset="0"/>
                <a:ea typeface="Arial" pitchFamily="34" charset="-122"/>
                <a:cs typeface="Arial" pitchFamily="34" charset="-120"/>
              </a:rPr>
              <a:t>fetch, validate</a:t>
            </a:r>
            <a:endParaRPr lang="en-US" sz="1550" dirty="0"/>
          </a:p>
        </p:txBody>
      </p:sp>
      <p:sp>
        <p:nvSpPr>
          <p:cNvPr id="16" name="TextBox 43"/>
          <p:cNvSpPr/>
          <p:nvPr/>
        </p:nvSpPr>
        <p:spPr>
          <a:xfrm>
            <a:off x="7569011" y="2108233"/>
            <a:ext cx="1587460" cy="171446"/>
          </a:xfrm>
          <a:prstGeom prst="rect">
            <a:avLst/>
          </a:prstGeom>
          <a:noFill/>
          <a:ln/>
        </p:spPr>
        <p:txBody>
          <a:bodyPr wrap="square" lIns="0" tIns="0" rIns="0" bIns="0" rtlCol="0" anchor="t">
            <a:spAutoFit/>
          </a:bodyPr>
          <a:lstStyle/>
          <a:p>
            <a:pPr algn="l" indent="0" marL="0">
              <a:buNone/>
            </a:pPr>
            <a:r>
              <a:rPr lang="en-US" sz="1150" b="1" spc="100" kern="0" dirty="0">
                <a:solidFill>
                  <a:srgbClr val="00A99D"/>
                </a:solidFill>
                <a:latin typeface="Arial" pitchFamily="34" charset="0"/>
                <a:ea typeface="Arial" pitchFamily="34" charset="-122"/>
                <a:cs typeface="Arial" pitchFamily="34" charset="-120"/>
              </a:rPr>
              <a:t>05 · STATE</a:t>
            </a:r>
            <a:endParaRPr lang="en-US" sz="1150" dirty="0"/>
          </a:p>
        </p:txBody>
      </p:sp>
      <p:sp>
        <p:nvSpPr>
          <p:cNvPr id="17" name="TextBox 45"/>
          <p:cNvSpPr/>
          <p:nvPr/>
        </p:nvSpPr>
        <p:spPr>
          <a:xfrm>
            <a:off x="7569011" y="2368577"/>
            <a:ext cx="1587460" cy="440917"/>
          </a:xfrm>
          <a:prstGeom prst="rect">
            <a:avLst/>
          </a:prstGeom>
          <a:noFill/>
          <a:ln/>
        </p:spPr>
        <p:txBody>
          <a:bodyPr wrap="square" lIns="0" tIns="0" rIns="0" bIns="0" rtlCol="0" anchor="t">
            <a:spAutoFit/>
          </a:bodyPr>
          <a:lstStyle/>
          <a:p>
            <a:pPr algn="l" indent="0" marL="0">
              <a:lnSpc>
                <a:spcPts val="1736"/>
              </a:lnSpc>
              <a:buNone/>
            </a:pPr>
            <a:r>
              <a:rPr lang="en-US" sz="1550" b="1" dirty="0">
                <a:solidFill>
                  <a:srgbClr val="162A2D"/>
                </a:solidFill>
                <a:latin typeface="Arial" pitchFamily="34" charset="0"/>
                <a:ea typeface="Arial" pitchFamily="34" charset="-122"/>
                <a:cs typeface="Arial" pitchFamily="34" charset="-120"/>
              </a:rPr>
              <a:t>Typed events +</a:t>
            </a:r>
            <a:endParaRPr lang="en-US" sz="1550" dirty="0"/>
          </a:p>
          <a:p>
            <a:pPr algn="l" indent="0" marL="0">
              <a:lnSpc>
                <a:spcPts val="1736"/>
              </a:lnSpc>
              <a:buNone/>
            </a:pPr>
            <a:r>
              <a:rPr lang="en-US" sz="1550" b="1" dirty="0">
                <a:solidFill>
                  <a:srgbClr val="162A2D"/>
                </a:solidFill>
                <a:latin typeface="Arial" pitchFamily="34" charset="0"/>
                <a:ea typeface="Arial" pitchFamily="34" charset="-122"/>
                <a:cs typeface="Arial" pitchFamily="34" charset="-120"/>
              </a:rPr>
              <a:t>terminal result</a:t>
            </a:r>
            <a:endParaRPr lang="en-US" sz="1550" dirty="0"/>
          </a:p>
        </p:txBody>
      </p:sp>
      <p:sp>
        <p:nvSpPr>
          <p:cNvPr id="18" name="TextBox 50"/>
          <p:cNvSpPr/>
          <p:nvPr/>
        </p:nvSpPr>
        <p:spPr>
          <a:xfrm>
            <a:off x="9296168" y="3302003"/>
            <a:ext cx="1904952" cy="171446"/>
          </a:xfrm>
          <a:prstGeom prst="rect">
            <a:avLst/>
          </a:prstGeom>
          <a:noFill/>
          <a:ln/>
        </p:spPr>
        <p:txBody>
          <a:bodyPr wrap="square" lIns="0" tIns="0" rIns="0" bIns="0" rtlCol="0" anchor="t">
            <a:spAutoFit/>
          </a:bodyPr>
          <a:lstStyle/>
          <a:p>
            <a:pPr algn="l" indent="0" marL="0">
              <a:buNone/>
            </a:pPr>
            <a:r>
              <a:rPr lang="en-US" sz="1150" b="1" spc="100" kern="0" dirty="0">
                <a:solidFill>
                  <a:srgbClr val="00A99D"/>
                </a:solidFill>
                <a:latin typeface="Arial" pitchFamily="34" charset="0"/>
                <a:ea typeface="Arial" pitchFamily="34" charset="-122"/>
                <a:cs typeface="Arial" pitchFamily="34" charset="-120"/>
              </a:rPr>
              <a:t>06 · DELIVERY</a:t>
            </a:r>
            <a:endParaRPr lang="en-US" sz="1150" dirty="0"/>
          </a:p>
        </p:txBody>
      </p:sp>
      <p:sp>
        <p:nvSpPr>
          <p:cNvPr id="19" name="TextBox 52"/>
          <p:cNvSpPr/>
          <p:nvPr/>
        </p:nvSpPr>
        <p:spPr>
          <a:xfrm>
            <a:off x="9296168" y="3562347"/>
            <a:ext cx="1904952" cy="440917"/>
          </a:xfrm>
          <a:prstGeom prst="rect">
            <a:avLst/>
          </a:prstGeom>
          <a:noFill/>
          <a:ln/>
        </p:spPr>
        <p:txBody>
          <a:bodyPr wrap="square" lIns="0" tIns="0" rIns="0" bIns="0" rtlCol="0" anchor="t">
            <a:spAutoFit/>
          </a:bodyPr>
          <a:lstStyle/>
          <a:p>
            <a:pPr algn="l" indent="0" marL="0">
              <a:lnSpc>
                <a:spcPts val="1736"/>
              </a:lnSpc>
              <a:buNone/>
            </a:pPr>
            <a:r>
              <a:rPr lang="en-US" sz="1550" b="1" dirty="0">
                <a:solidFill>
                  <a:srgbClr val="162A2D"/>
                </a:solidFill>
                <a:latin typeface="Arial" pitchFamily="34" charset="0"/>
                <a:ea typeface="Arial" pitchFamily="34" charset="-122"/>
                <a:cs typeface="Arial" pitchFamily="34" charset="-120"/>
              </a:rPr>
              <a:t>Poll, SSE or</a:t>
            </a:r>
            <a:endParaRPr lang="en-US" sz="1550" dirty="0"/>
          </a:p>
          <a:p>
            <a:pPr algn="l" indent="0" marL="0">
              <a:lnSpc>
                <a:spcPts val="1736"/>
              </a:lnSpc>
              <a:buNone/>
            </a:pPr>
            <a:r>
              <a:rPr lang="en-US" sz="1550" b="1" dirty="0">
                <a:solidFill>
                  <a:srgbClr val="162A2D"/>
                </a:solidFill>
                <a:latin typeface="Arial" pitchFamily="34" charset="0"/>
                <a:ea typeface="Arial" pitchFamily="34" charset="-122"/>
                <a:cs typeface="Arial" pitchFamily="34" charset="-120"/>
              </a:rPr>
              <a:t>safe cancellation</a:t>
            </a:r>
            <a:endParaRPr lang="en-US" sz="1550" dirty="0"/>
          </a:p>
        </p:txBody>
      </p:sp>
      <p:sp>
        <p:nvSpPr>
          <p:cNvPr id="20" name="Shape 55"/>
          <p:cNvSpPr/>
          <p:nvPr/>
        </p:nvSpPr>
        <p:spPr>
          <a:xfrm>
            <a:off x="584185" y="5130757"/>
            <a:ext cx="11023324" cy="1104872"/>
          </a:xfrm>
          <a:prstGeom prst="roundRect">
            <a:avLst>
              <a:gd name="adj" fmla="val 18391"/>
            </a:avLst>
          </a:prstGeom>
          <a:solidFill>
            <a:srgbClr val="F4F1EA"/>
          </a:solidFill>
          <a:ln w="6350">
            <a:solidFill>
              <a:srgbClr val="D4DCDA"/>
            </a:solidFill>
            <a:prstDash val="solid"/>
          </a:ln>
        </p:spPr>
      </p:sp>
      <p:sp>
        <p:nvSpPr>
          <p:cNvPr id="21" name="TextBox 57"/>
          <p:cNvSpPr/>
          <p:nvPr/>
        </p:nvSpPr>
        <p:spPr>
          <a:xfrm>
            <a:off x="882628" y="5511748"/>
            <a:ext cx="1904952" cy="342891"/>
          </a:xfrm>
          <a:prstGeom prst="rect">
            <a:avLst/>
          </a:prstGeom>
          <a:noFill/>
          <a:ln/>
        </p:spPr>
        <p:txBody>
          <a:bodyPr wrap="square" lIns="0" tIns="0" rIns="0" bIns="0" rtlCol="0" anchor="t">
            <a:spAutoFit/>
          </a:bodyPr>
          <a:lstStyle/>
          <a:p>
            <a:pPr algn="l" indent="0" marL="0">
              <a:buNone/>
            </a:pPr>
            <a:r>
              <a:rPr lang="en-US" sz="1150" b="1" spc="150" kern="0" dirty="0">
                <a:solidFill>
                  <a:srgbClr val="5E6D6C"/>
                </a:solidFill>
                <a:latin typeface="Arial" pitchFamily="34" charset="0"/>
                <a:ea typeface="Arial" pitchFamily="34" charset="-122"/>
                <a:cs typeface="Arial" pitchFamily="34" charset="-120"/>
              </a:rPr>
              <a:t>OFFLINE · SAME DISCIPLINE</a:t>
            </a:r>
            <a:endParaRPr lang="en-US" sz="1150" dirty="0"/>
          </a:p>
        </p:txBody>
      </p:sp>
      <p:sp>
        <p:nvSpPr>
          <p:cNvPr id="22" name="TextBox 59"/>
          <p:cNvSpPr/>
          <p:nvPr/>
        </p:nvSpPr>
        <p:spPr>
          <a:xfrm>
            <a:off x="2787580" y="5565722"/>
            <a:ext cx="2793930" cy="234944"/>
          </a:xfrm>
          <a:prstGeom prst="rect">
            <a:avLst/>
          </a:prstGeom>
          <a:noFill/>
          <a:ln/>
        </p:spPr>
        <p:txBody>
          <a:bodyPr wrap="square" lIns="0" tIns="0" rIns="0" bIns="0" rtlCol="0" anchor="t">
            <a:spAutoFit/>
          </a:bodyPr>
          <a:lstStyle/>
          <a:p>
            <a:pPr algn="l" indent="0" marL="0">
              <a:buNone/>
            </a:pPr>
            <a:r>
              <a:rPr lang="en-US" sz="1600" b="1" dirty="0">
                <a:solidFill>
                  <a:srgbClr val="162A2D"/>
                </a:solidFill>
                <a:latin typeface="Arial" pitchFamily="34" charset="0"/>
                <a:ea typeface="Arial" pitchFamily="34" charset="-122"/>
                <a:cs typeface="Arial" pitchFamily="34" charset="-120"/>
              </a:rPr>
              <a:t>04 · Failure prediction</a:t>
            </a:r>
            <a:endParaRPr lang="en-US" sz="1600" dirty="0"/>
          </a:p>
        </p:txBody>
      </p:sp>
      <p:sp>
        <p:nvSpPr>
          <p:cNvPr id="23" name="TextBox 61"/>
          <p:cNvSpPr/>
          <p:nvPr/>
        </p:nvSpPr>
        <p:spPr>
          <a:xfrm>
            <a:off x="5581510" y="5565722"/>
            <a:ext cx="2857429" cy="234944"/>
          </a:xfrm>
          <a:prstGeom prst="rect">
            <a:avLst/>
          </a:prstGeom>
          <a:noFill/>
          <a:ln/>
        </p:spPr>
        <p:txBody>
          <a:bodyPr wrap="square" lIns="0" tIns="0" rIns="0" bIns="0" rtlCol="0" anchor="t">
            <a:spAutoFit/>
          </a:bodyPr>
          <a:lstStyle/>
          <a:p>
            <a:pPr algn="l" indent="0" marL="0">
              <a:buNone/>
            </a:pPr>
            <a:r>
              <a:rPr lang="en-US" sz="1600" b="1" dirty="0">
                <a:solidFill>
                  <a:srgbClr val="162A2D"/>
                </a:solidFill>
                <a:latin typeface="Arial" pitchFamily="34" charset="0"/>
                <a:ea typeface="Arial" pitchFamily="34" charset="-122"/>
                <a:cs typeface="Arial" pitchFamily="34" charset="-120"/>
              </a:rPr>
              <a:t>05 · Material similarity</a:t>
            </a:r>
            <a:endParaRPr lang="en-US" sz="1600" dirty="0"/>
          </a:p>
        </p:txBody>
      </p:sp>
      <p:sp>
        <p:nvSpPr>
          <p:cNvPr id="24" name="TextBox 63"/>
          <p:cNvSpPr/>
          <p:nvPr/>
        </p:nvSpPr>
        <p:spPr>
          <a:xfrm>
            <a:off x="8438939" y="5565722"/>
            <a:ext cx="2857429" cy="234944"/>
          </a:xfrm>
          <a:prstGeom prst="rect">
            <a:avLst/>
          </a:prstGeom>
          <a:noFill/>
          <a:ln/>
        </p:spPr>
        <p:txBody>
          <a:bodyPr wrap="square" lIns="0" tIns="0" rIns="0" bIns="0" rtlCol="0" anchor="t">
            <a:spAutoFit/>
          </a:bodyPr>
          <a:lstStyle/>
          <a:p>
            <a:pPr algn="l" indent="0" marL="0">
              <a:buNone/>
            </a:pPr>
            <a:r>
              <a:rPr lang="en-US" sz="1600" b="1" dirty="0">
                <a:solidFill>
                  <a:srgbClr val="162A2D"/>
                </a:solidFill>
                <a:latin typeface="Arial" pitchFamily="34" charset="0"/>
                <a:ea typeface="Arial" pitchFamily="34" charset="-122"/>
                <a:cs typeface="Arial" pitchFamily="34" charset="-120"/>
              </a:rPr>
              <a:t>06 · Category consolidation</a:t>
            </a:r>
            <a:endParaRPr lang="en-US" sz="1600" dirty="0"/>
          </a:p>
        </p:txBody>
      </p:sp>
      <p:sp>
        <p:nvSpPr>
          <p:cNvPr id="25" name="TextBox 66"/>
          <p:cNvSpPr/>
          <p:nvPr/>
        </p:nvSpPr>
        <p:spPr>
          <a:xfrm>
            <a:off x="11099523" y="6388026"/>
            <a:ext cx="507987" cy="241294"/>
          </a:xfrm>
          <a:prstGeom prst="rect">
            <a:avLst/>
          </a:prstGeom>
          <a:noFill/>
          <a:ln/>
        </p:spPr>
        <p:txBody>
          <a:bodyPr wrap="square" lIns="0" tIns="0" rIns="0" bIns="0" rtlCol="0" anchor="t">
            <a:spAutoFit/>
          </a:bodyPr>
          <a:lstStyle/>
          <a:p>
            <a:pPr algn="r" indent="0" marL="0">
              <a:buNone/>
            </a:pPr>
            <a:r>
              <a:rPr lang="en-US" sz="1200" dirty="0">
                <a:solidFill>
                  <a:srgbClr val="00A99D"/>
                </a:solidFill>
                <a:latin typeface="Arial" pitchFamily="34" charset="0"/>
                <a:ea typeface="Arial" pitchFamily="34" charset="-122"/>
                <a:cs typeface="Arial" pitchFamily="34" charset="-120"/>
              </a:rPr>
              <a:t>03</a:t>
            </a:r>
            <a:endParaRPr lang="en-US" sz="1200" dirty="0"/>
          </a:p>
        </p:txBody>
      </p:sp>
    </p:spTree>
  </p:cSld>
  <p:clrMapOvr>
    <a:masterClrMapping/>
  </p:clrMapOvr>
  <p:transition spd="med">
    <p:push dir="l"/>
  </p:transition>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1"/>
          <p:cNvSpPr/>
          <p:nvPr/>
        </p:nvSpPr>
        <p:spPr>
          <a:xfrm>
            <a:off x="0" y="86"/>
            <a:ext cx="12191695" cy="6857829"/>
          </a:xfrm>
          <a:prstGeom prst="rect">
            <a:avLst/>
          </a:prstGeom>
          <a:solidFill>
            <a:srgbClr val="F4F1EA"/>
          </a:solidFill>
          <a:ln/>
        </p:spPr>
      </p:sp>
      <p:sp>
        <p:nvSpPr>
          <p:cNvPr id="3" name="TextBox 3"/>
          <p:cNvSpPr/>
          <p:nvPr/>
        </p:nvSpPr>
        <p:spPr>
          <a:xfrm>
            <a:off x="584185" y="457274"/>
            <a:ext cx="2476438" cy="215895"/>
          </a:xfrm>
          <a:prstGeom prst="rect">
            <a:avLst/>
          </a:prstGeom>
          <a:noFill/>
          <a:ln/>
        </p:spPr>
        <p:txBody>
          <a:bodyPr wrap="square" lIns="0" tIns="0" rIns="0" bIns="0" rtlCol="0" anchor="t">
            <a:spAutoFit/>
          </a:bodyPr>
          <a:lstStyle/>
          <a:p>
            <a:pPr algn="l" indent="0" marL="0">
              <a:buNone/>
            </a:pPr>
            <a:r>
              <a:rPr lang="en-US" sz="1000" b="1" spc="200" kern="0" dirty="0">
                <a:solidFill>
                  <a:srgbClr val="00A99D"/>
                </a:solidFill>
                <a:latin typeface="Arial" pitchFamily="34" charset="0"/>
                <a:ea typeface="Arial" pitchFamily="34" charset="-122"/>
                <a:cs typeface="Arial" pitchFamily="34" charset="-120"/>
              </a:rPr>
              <a:t>TASK 01 · EVIDENCE CONTRACT</a:t>
            </a:r>
            <a:endParaRPr lang="en-US" sz="1000" dirty="0"/>
          </a:p>
        </p:txBody>
      </p:sp>
      <p:sp>
        <p:nvSpPr>
          <p:cNvPr id="4" name="TextBox 5"/>
          <p:cNvSpPr/>
          <p:nvPr/>
        </p:nvSpPr>
        <p:spPr>
          <a:xfrm>
            <a:off x="584185" y="812865"/>
            <a:ext cx="9016775" cy="1130272"/>
          </a:xfrm>
          <a:prstGeom prst="rect">
            <a:avLst/>
          </a:prstGeom>
          <a:noFill/>
          <a:ln/>
        </p:spPr>
        <p:txBody>
          <a:bodyPr wrap="square" lIns="0" tIns="0" rIns="0" bIns="0" rtlCol="0" anchor="t">
            <a:spAutoFit/>
          </a:bodyPr>
          <a:lstStyle/>
          <a:p>
            <a:pPr algn="l" indent="0" marL="0">
              <a:lnSpc>
                <a:spcPts val="3710"/>
              </a:lnSpc>
              <a:buNone/>
            </a:pPr>
            <a:r>
              <a:rPr lang="en-US" sz="3500" spc="-150" kern="0" dirty="0">
                <a:solidFill>
                  <a:srgbClr val="162A2D"/>
                </a:solidFill>
                <a:latin typeface="Arial" pitchFamily="34" charset="0"/>
                <a:ea typeface="Arial" pitchFamily="34" charset="-122"/>
                <a:cs typeface="Arial" pitchFamily="34" charset="-120"/>
              </a:rPr>
              <a:t>The agent does not get to</a:t>
            </a:r>
            <a:endParaRPr lang="en-US" sz="3500" dirty="0"/>
          </a:p>
          <a:p>
            <a:pPr algn="l" indent="0" marL="0">
              <a:lnSpc>
                <a:spcPts val="3710"/>
              </a:lnSpc>
              <a:buNone/>
            </a:pPr>
            <a:r>
              <a:rPr lang="en-US" sz="3500" spc="-150" kern="0" dirty="0">
                <a:solidFill>
                  <a:srgbClr val="162A2D"/>
                </a:solidFill>
                <a:latin typeface="Arial" pitchFamily="34" charset="0"/>
                <a:ea typeface="Arial" pitchFamily="34" charset="-122"/>
                <a:cs typeface="Arial" pitchFamily="34" charset="-120"/>
              </a:rPr>
              <a:t>“just answer”</a:t>
            </a:r>
            <a:endParaRPr lang="en-US" sz="3500" dirty="0"/>
          </a:p>
        </p:txBody>
      </p:sp>
      <p:sp>
        <p:nvSpPr>
          <p:cNvPr id="5" name="Shape 7"/>
          <p:cNvSpPr/>
          <p:nvPr/>
        </p:nvSpPr>
        <p:spPr>
          <a:xfrm>
            <a:off x="584185" y="2362227"/>
            <a:ext cx="4063898" cy="3492413"/>
          </a:xfrm>
          <a:prstGeom prst="roundRect">
            <a:avLst>
              <a:gd name="adj" fmla="val 8000"/>
            </a:avLst>
          </a:prstGeom>
          <a:solidFill>
            <a:srgbClr val="162A2D"/>
          </a:solidFill>
          <a:ln/>
        </p:spPr>
      </p:sp>
      <p:sp>
        <p:nvSpPr>
          <p:cNvPr id="6" name="TextBox 9"/>
          <p:cNvSpPr/>
          <p:nvPr/>
        </p:nvSpPr>
        <p:spPr>
          <a:xfrm>
            <a:off x="927077" y="2705118"/>
            <a:ext cx="3378116" cy="165096"/>
          </a:xfrm>
          <a:prstGeom prst="rect">
            <a:avLst/>
          </a:prstGeom>
          <a:noFill/>
          <a:ln/>
        </p:spPr>
        <p:txBody>
          <a:bodyPr wrap="square" lIns="0" tIns="0" rIns="0" bIns="0" rtlCol="0" anchor="t">
            <a:spAutoFit/>
          </a:bodyPr>
          <a:lstStyle/>
          <a:p>
            <a:pPr algn="l" indent="0" marL="0">
              <a:buNone/>
            </a:pPr>
            <a:r>
              <a:rPr lang="en-US" sz="1100" b="1" spc="150" kern="0" dirty="0">
                <a:solidFill>
                  <a:srgbClr val="00A99D"/>
                </a:solidFill>
                <a:latin typeface="Arial" pitchFamily="34" charset="0"/>
                <a:ea typeface="Arial" pitchFamily="34" charset="-122"/>
                <a:cs typeface="Arial" pitchFamily="34" charset="-120"/>
              </a:rPr>
              <a:t>THE ACCEPTANCE TEST</a:t>
            </a:r>
            <a:endParaRPr lang="en-US" sz="1100" dirty="0"/>
          </a:p>
        </p:txBody>
      </p:sp>
      <p:sp>
        <p:nvSpPr>
          <p:cNvPr id="7" name="TextBox 11"/>
          <p:cNvSpPr/>
          <p:nvPr/>
        </p:nvSpPr>
        <p:spPr>
          <a:xfrm>
            <a:off x="927077" y="3238505"/>
            <a:ext cx="3378116" cy="1708504"/>
          </a:xfrm>
          <a:prstGeom prst="rect">
            <a:avLst/>
          </a:prstGeom>
          <a:noFill/>
          <a:ln/>
        </p:spPr>
        <p:txBody>
          <a:bodyPr wrap="square" lIns="0" tIns="0" rIns="0" bIns="0" rtlCol="0" anchor="t">
            <a:spAutoFit/>
          </a:bodyPr>
          <a:lstStyle/>
          <a:p>
            <a:pPr algn="l" indent="0" marL="0">
              <a:lnSpc>
                <a:spcPts val="3364"/>
              </a:lnSpc>
              <a:buNone/>
            </a:pPr>
            <a:r>
              <a:rPr lang="en-US" sz="2900" dirty="0">
                <a:solidFill>
                  <a:srgbClr val="FFFFFF"/>
                </a:solidFill>
                <a:latin typeface="Georgia" pitchFamily="34" charset="0"/>
                <a:ea typeface="Georgia" pitchFamily="34" charset="-122"/>
                <a:cs typeface="Georgia" pitchFamily="34" charset="-120"/>
              </a:rPr>
              <a:t>“Can every factual claim point to evidence the system actually fetched?”</a:t>
            </a:r>
            <a:endParaRPr lang="en-US" sz="2900" dirty="0"/>
          </a:p>
        </p:txBody>
      </p:sp>
      <p:pic>
        <p:nvPicPr>
          <p:cNvPr id="8" name="Picture 13" descr="__type_image">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927077" y="5105358"/>
            <a:ext cx="3301917" cy="444489"/>
          </a:xfrm>
          <a:prstGeom prst="rect">
            <a:avLst/>
          </a:prstGeom>
        </p:spPr>
      </p:pic>
      <p:sp>
        <p:nvSpPr>
          <p:cNvPr id="9" name="TextBox 13"/>
          <p:cNvSpPr/>
          <p:nvPr/>
        </p:nvSpPr>
        <p:spPr>
          <a:xfrm>
            <a:off x="927077" y="5105358"/>
            <a:ext cx="3301917" cy="444489"/>
          </a:xfrm>
          <a:prstGeom prst="rect">
            <a:avLst/>
          </a:prstGeom>
          <a:noFill/>
          <a:ln/>
        </p:spPr>
        <p:txBody>
          <a:bodyPr wrap="square" lIns="0" tIns="139697" rIns="0" bIns="0" rtlCol="0" anchor="t">
            <a:spAutoFit/>
          </a:bodyPr>
          <a:lstStyle/>
          <a:p>
            <a:pPr algn="l" indent="0" marL="0">
              <a:buNone/>
            </a:pPr>
            <a:r>
              <a:rPr lang="en-US" sz="1250" dirty="0">
                <a:solidFill>
                  <a:srgbClr val="B8C3C1"/>
                </a:solidFill>
                <a:latin typeface="Arial" pitchFamily="34" charset="0"/>
                <a:ea typeface="Arial" pitchFamily="34" charset="-122"/>
                <a:cs typeface="Arial" pitchFamily="34" charset="-120"/>
              </a:rPr>
              <a:t>No evidence ID → no supported claim.</a:t>
            </a:r>
            <a:endParaRPr lang="en-US" sz="1250" dirty="0"/>
          </a:p>
        </p:txBody>
      </p:sp>
      <p:sp>
        <p:nvSpPr>
          <p:cNvPr id="10" name="Shape 18"/>
          <p:cNvSpPr/>
          <p:nvPr/>
        </p:nvSpPr>
        <p:spPr>
          <a:xfrm>
            <a:off x="5016375" y="2362227"/>
            <a:ext cx="1930352" cy="1333467"/>
          </a:xfrm>
          <a:prstGeom prst="roundRect">
            <a:avLst>
              <a:gd name="adj" fmla="val 14286"/>
            </a:avLst>
          </a:prstGeom>
          <a:solidFill>
            <a:srgbClr val="FFFFFF"/>
          </a:solidFill>
          <a:ln w="6350">
            <a:solidFill>
              <a:srgbClr val="C8D3D1"/>
            </a:solidFill>
            <a:prstDash val="solid"/>
          </a:ln>
        </p:spPr>
      </p:sp>
      <p:sp>
        <p:nvSpPr>
          <p:cNvPr id="11" name="TextBox 20"/>
          <p:cNvSpPr/>
          <p:nvPr/>
        </p:nvSpPr>
        <p:spPr>
          <a:xfrm>
            <a:off x="5238619" y="2584471"/>
            <a:ext cx="1485863" cy="146046"/>
          </a:xfrm>
          <a:prstGeom prst="rect">
            <a:avLst/>
          </a:prstGeom>
          <a:noFill/>
          <a:ln/>
        </p:spPr>
        <p:txBody>
          <a:bodyPr wrap="square" lIns="0" tIns="0" rIns="0" bIns="0" rtlCol="0" anchor="t">
            <a:spAutoFit/>
          </a:bodyPr>
          <a:lstStyle/>
          <a:p>
            <a:pPr algn="l" indent="0" marL="0">
              <a:buNone/>
            </a:pPr>
            <a:r>
              <a:rPr lang="en-US" sz="1000" b="1" spc="100" kern="0" dirty="0">
                <a:solidFill>
                  <a:srgbClr val="00A99D"/>
                </a:solidFill>
                <a:latin typeface="Arial" pitchFamily="34" charset="0"/>
                <a:ea typeface="Arial" pitchFamily="34" charset="-122"/>
                <a:cs typeface="Arial" pitchFamily="34" charset="-120"/>
              </a:rPr>
              <a:t>PLAN</a:t>
            </a:r>
            <a:endParaRPr lang="en-US" sz="1000" dirty="0"/>
          </a:p>
        </p:txBody>
      </p:sp>
      <p:sp>
        <p:nvSpPr>
          <p:cNvPr id="12" name="TextBox 22"/>
          <p:cNvSpPr/>
          <p:nvPr/>
        </p:nvSpPr>
        <p:spPr>
          <a:xfrm>
            <a:off x="5238619" y="2895613"/>
            <a:ext cx="1485863" cy="473460"/>
          </a:xfrm>
          <a:prstGeom prst="rect">
            <a:avLst/>
          </a:prstGeom>
          <a:noFill/>
          <a:ln/>
        </p:spPr>
        <p:txBody>
          <a:bodyPr wrap="square" lIns="0" tIns="0" rIns="0" bIns="0" rtlCol="0" anchor="t">
            <a:spAutoFit/>
          </a:bodyPr>
          <a:lstStyle/>
          <a:p>
            <a:pPr algn="l" indent="0" marL="0">
              <a:lnSpc>
                <a:spcPts val="1864"/>
              </a:lnSpc>
              <a:buNone/>
            </a:pPr>
            <a:r>
              <a:rPr lang="en-US" sz="1650" b="1" dirty="0">
                <a:solidFill>
                  <a:srgbClr val="162A2D"/>
                </a:solidFill>
                <a:latin typeface="Arial" pitchFamily="34" charset="0"/>
                <a:ea typeface="Arial" pitchFamily="34" charset="-122"/>
                <a:cs typeface="Arial" pitchFamily="34" charset="-120"/>
              </a:rPr>
              <a:t>Queries +</a:t>
            </a:r>
            <a:endParaRPr lang="en-US" sz="1650" dirty="0"/>
          </a:p>
          <a:p>
            <a:pPr algn="l" indent="0" marL="0">
              <a:lnSpc>
                <a:spcPts val="1864"/>
              </a:lnSpc>
              <a:buNone/>
            </a:pPr>
            <a:r>
              <a:rPr lang="en-US" sz="1650" b="1" dirty="0">
                <a:solidFill>
                  <a:srgbClr val="162A2D"/>
                </a:solidFill>
                <a:latin typeface="Arial" pitchFamily="34" charset="0"/>
                <a:ea typeface="Arial" pitchFamily="34" charset="-122"/>
                <a:cs typeface="Arial" pitchFamily="34" charset="-120"/>
              </a:rPr>
              <a:t>explicit limits</a:t>
            </a:r>
            <a:endParaRPr lang="en-US" sz="1650" dirty="0"/>
          </a:p>
        </p:txBody>
      </p:sp>
      <p:sp>
        <p:nvSpPr>
          <p:cNvPr id="13" name="Shape 25"/>
          <p:cNvSpPr/>
          <p:nvPr/>
        </p:nvSpPr>
        <p:spPr>
          <a:xfrm>
            <a:off x="7188020" y="2362227"/>
            <a:ext cx="1930352" cy="1333467"/>
          </a:xfrm>
          <a:prstGeom prst="roundRect">
            <a:avLst>
              <a:gd name="adj" fmla="val 14286"/>
            </a:avLst>
          </a:prstGeom>
          <a:solidFill>
            <a:srgbClr val="FFFFFF"/>
          </a:solidFill>
          <a:ln w="6350">
            <a:solidFill>
              <a:srgbClr val="C8D3D1"/>
            </a:solidFill>
            <a:prstDash val="solid"/>
          </a:ln>
        </p:spPr>
      </p:sp>
      <p:sp>
        <p:nvSpPr>
          <p:cNvPr id="14" name="TextBox 27"/>
          <p:cNvSpPr/>
          <p:nvPr/>
        </p:nvSpPr>
        <p:spPr>
          <a:xfrm>
            <a:off x="7410265" y="2584471"/>
            <a:ext cx="1485863" cy="146046"/>
          </a:xfrm>
          <a:prstGeom prst="rect">
            <a:avLst/>
          </a:prstGeom>
          <a:noFill/>
          <a:ln/>
        </p:spPr>
        <p:txBody>
          <a:bodyPr wrap="square" lIns="0" tIns="0" rIns="0" bIns="0" rtlCol="0" anchor="t">
            <a:spAutoFit/>
          </a:bodyPr>
          <a:lstStyle/>
          <a:p>
            <a:pPr algn="l" indent="0" marL="0">
              <a:buNone/>
            </a:pPr>
            <a:r>
              <a:rPr lang="en-US" sz="1000" b="1" spc="100" kern="0" dirty="0">
                <a:solidFill>
                  <a:srgbClr val="00A99D"/>
                </a:solidFill>
                <a:latin typeface="Arial" pitchFamily="34" charset="0"/>
                <a:ea typeface="Arial" pitchFamily="34" charset="-122"/>
                <a:cs typeface="Arial" pitchFamily="34" charset="-120"/>
              </a:rPr>
              <a:t>RETRIEVE</a:t>
            </a:r>
            <a:endParaRPr lang="en-US" sz="1000" dirty="0"/>
          </a:p>
        </p:txBody>
      </p:sp>
      <p:sp>
        <p:nvSpPr>
          <p:cNvPr id="15" name="TextBox 29"/>
          <p:cNvSpPr/>
          <p:nvPr/>
        </p:nvSpPr>
        <p:spPr>
          <a:xfrm>
            <a:off x="7410265" y="2895613"/>
            <a:ext cx="1485863" cy="710190"/>
          </a:xfrm>
          <a:prstGeom prst="rect">
            <a:avLst/>
          </a:prstGeom>
          <a:noFill/>
          <a:ln/>
        </p:spPr>
        <p:txBody>
          <a:bodyPr wrap="square" lIns="0" tIns="0" rIns="0" bIns="0" rtlCol="0" anchor="t">
            <a:spAutoFit/>
          </a:bodyPr>
          <a:lstStyle/>
          <a:p>
            <a:pPr algn="l" indent="0" marL="0">
              <a:lnSpc>
                <a:spcPts val="1864"/>
              </a:lnSpc>
              <a:buNone/>
            </a:pPr>
            <a:r>
              <a:rPr lang="en-US" sz="1650" b="1" dirty="0">
                <a:solidFill>
                  <a:srgbClr val="162A2D"/>
                </a:solidFill>
                <a:latin typeface="Arial" pitchFamily="34" charset="0"/>
                <a:ea typeface="Arial" pitchFamily="34" charset="-122"/>
                <a:cs typeface="Arial" pitchFamily="34" charset="-120"/>
              </a:rPr>
              <a:t>Safe URLs +</a:t>
            </a:r>
            <a:endParaRPr lang="en-US" sz="1650" dirty="0"/>
          </a:p>
          <a:p>
            <a:pPr algn="l" indent="0" marL="0">
              <a:lnSpc>
                <a:spcPts val="1864"/>
              </a:lnSpc>
              <a:buNone/>
            </a:pPr>
            <a:r>
              <a:rPr lang="en-US" sz="1650" b="1" dirty="0">
                <a:solidFill>
                  <a:srgbClr val="162A2D"/>
                </a:solidFill>
                <a:latin typeface="Arial" pitchFamily="34" charset="0"/>
                <a:ea typeface="Arial" pitchFamily="34" charset="-122"/>
                <a:cs typeface="Arial" pitchFamily="34" charset="-120"/>
              </a:rPr>
              <a:t>bounded bytes</a:t>
            </a:r>
            <a:endParaRPr lang="en-US" sz="1650" dirty="0"/>
          </a:p>
        </p:txBody>
      </p:sp>
      <p:sp>
        <p:nvSpPr>
          <p:cNvPr id="16" name="Shape 32"/>
          <p:cNvSpPr/>
          <p:nvPr/>
        </p:nvSpPr>
        <p:spPr>
          <a:xfrm>
            <a:off x="9359666" y="2362227"/>
            <a:ext cx="2247844" cy="1333467"/>
          </a:xfrm>
          <a:prstGeom prst="roundRect">
            <a:avLst>
              <a:gd name="adj" fmla="val 14286"/>
            </a:avLst>
          </a:prstGeom>
          <a:solidFill>
            <a:srgbClr val="00A99D"/>
          </a:solidFill>
          <a:ln/>
        </p:spPr>
      </p:sp>
      <p:sp>
        <p:nvSpPr>
          <p:cNvPr id="17" name="TextBox 34"/>
          <p:cNvSpPr/>
          <p:nvPr/>
        </p:nvSpPr>
        <p:spPr>
          <a:xfrm>
            <a:off x="9575561" y="2578121"/>
            <a:ext cx="1816055" cy="146046"/>
          </a:xfrm>
          <a:prstGeom prst="rect">
            <a:avLst/>
          </a:prstGeom>
          <a:noFill/>
          <a:ln/>
        </p:spPr>
        <p:txBody>
          <a:bodyPr wrap="square" lIns="0" tIns="0" rIns="0" bIns="0" rtlCol="0" anchor="t">
            <a:spAutoFit/>
          </a:bodyPr>
          <a:lstStyle/>
          <a:p>
            <a:pPr algn="l" indent="0" marL="0">
              <a:buNone/>
            </a:pPr>
            <a:r>
              <a:rPr lang="en-US" sz="1000" b="1" spc="100" kern="0" dirty="0">
                <a:solidFill>
                  <a:srgbClr val="162A2D"/>
                </a:solidFill>
                <a:latin typeface="Arial" pitchFamily="34" charset="0"/>
                <a:ea typeface="Arial" pitchFamily="34" charset="-122"/>
                <a:cs typeface="Arial" pitchFamily="34" charset="-120"/>
              </a:rPr>
              <a:t>EVIDENCE</a:t>
            </a:r>
            <a:endParaRPr lang="en-US" sz="1000" dirty="0"/>
          </a:p>
        </p:txBody>
      </p:sp>
      <p:sp>
        <p:nvSpPr>
          <p:cNvPr id="18" name="TextBox 36"/>
          <p:cNvSpPr/>
          <p:nvPr/>
        </p:nvSpPr>
        <p:spPr>
          <a:xfrm>
            <a:off x="9575561" y="2889263"/>
            <a:ext cx="1816055" cy="473460"/>
          </a:xfrm>
          <a:prstGeom prst="rect">
            <a:avLst/>
          </a:prstGeom>
          <a:noFill/>
          <a:ln/>
        </p:spPr>
        <p:txBody>
          <a:bodyPr wrap="square" lIns="0" tIns="0" rIns="0" bIns="0" rtlCol="0" anchor="t">
            <a:spAutoFit/>
          </a:bodyPr>
          <a:lstStyle/>
          <a:p>
            <a:pPr algn="l" indent="0" marL="0">
              <a:lnSpc>
                <a:spcPts val="1864"/>
              </a:lnSpc>
              <a:buNone/>
            </a:pPr>
            <a:r>
              <a:rPr lang="en-US" sz="1650" b="1" dirty="0">
                <a:solidFill>
                  <a:srgbClr val="162A2D"/>
                </a:solidFill>
                <a:latin typeface="Arial" pitchFamily="34" charset="0"/>
                <a:ea typeface="Arial" pitchFamily="34" charset="-122"/>
                <a:cs typeface="Arial" pitchFamily="34" charset="-120"/>
              </a:rPr>
              <a:t>Passages +</a:t>
            </a:r>
            <a:endParaRPr lang="en-US" sz="1650" dirty="0"/>
          </a:p>
          <a:p>
            <a:pPr algn="l" indent="0" marL="0">
              <a:lnSpc>
                <a:spcPts val="1864"/>
              </a:lnSpc>
              <a:buNone/>
            </a:pPr>
            <a:r>
              <a:rPr lang="en-US" sz="1650" b="1" dirty="0">
                <a:solidFill>
                  <a:srgbClr val="162A2D"/>
                </a:solidFill>
                <a:latin typeface="Arial" pitchFamily="34" charset="0"/>
                <a:ea typeface="Arial" pitchFamily="34" charset="-122"/>
                <a:cs typeface="Arial" pitchFamily="34" charset="-120"/>
              </a:rPr>
              <a:t>provenance IDs</a:t>
            </a:r>
            <a:endParaRPr lang="en-US" sz="1650" dirty="0"/>
          </a:p>
        </p:txBody>
      </p:sp>
      <p:sp>
        <p:nvSpPr>
          <p:cNvPr id="19" name="Shape 39"/>
          <p:cNvSpPr/>
          <p:nvPr/>
        </p:nvSpPr>
        <p:spPr>
          <a:xfrm>
            <a:off x="5016375" y="4089383"/>
            <a:ext cx="3047924" cy="1765256"/>
          </a:xfrm>
          <a:prstGeom prst="roundRect">
            <a:avLst>
              <a:gd name="adj" fmla="val 10791"/>
            </a:avLst>
          </a:prstGeom>
          <a:solidFill>
            <a:srgbClr val="FFFFFF"/>
          </a:solidFill>
          <a:ln w="6350">
            <a:solidFill>
              <a:srgbClr val="C8D3D1"/>
            </a:solidFill>
            <a:prstDash val="solid"/>
          </a:ln>
        </p:spPr>
      </p:sp>
      <p:sp>
        <p:nvSpPr>
          <p:cNvPr id="20" name="TextBox 41"/>
          <p:cNvSpPr/>
          <p:nvPr/>
        </p:nvSpPr>
        <p:spPr>
          <a:xfrm>
            <a:off x="5264018" y="4337027"/>
            <a:ext cx="2552636" cy="146046"/>
          </a:xfrm>
          <a:prstGeom prst="rect">
            <a:avLst/>
          </a:prstGeom>
          <a:noFill/>
          <a:ln/>
        </p:spPr>
        <p:txBody>
          <a:bodyPr wrap="square" lIns="0" tIns="0" rIns="0" bIns="0" rtlCol="0" anchor="t">
            <a:spAutoFit/>
          </a:bodyPr>
          <a:lstStyle/>
          <a:p>
            <a:pPr algn="l" indent="0" marL="0">
              <a:buNone/>
            </a:pPr>
            <a:r>
              <a:rPr lang="en-US" sz="1000" b="1" spc="100" kern="0" dirty="0">
                <a:solidFill>
                  <a:srgbClr val="00A99D"/>
                </a:solidFill>
                <a:latin typeface="Arial" pitchFamily="34" charset="0"/>
                <a:ea typeface="Arial" pitchFamily="34" charset="-122"/>
                <a:cs typeface="Arial" pitchFamily="34" charset="-120"/>
              </a:rPr>
              <a:t>SYNTHESIZE</a:t>
            </a:r>
            <a:endParaRPr lang="en-US" sz="1000" dirty="0"/>
          </a:p>
        </p:txBody>
      </p:sp>
      <p:sp>
        <p:nvSpPr>
          <p:cNvPr id="21" name="TextBox 43"/>
          <p:cNvSpPr/>
          <p:nvPr/>
        </p:nvSpPr>
        <p:spPr>
          <a:xfrm>
            <a:off x="5264018" y="4635470"/>
            <a:ext cx="2552636" cy="521084"/>
          </a:xfrm>
          <a:prstGeom prst="rect">
            <a:avLst/>
          </a:prstGeom>
          <a:noFill/>
          <a:ln/>
        </p:spPr>
        <p:txBody>
          <a:bodyPr wrap="square" lIns="0" tIns="0" rIns="0" bIns="0" rtlCol="0" anchor="t">
            <a:spAutoFit/>
          </a:bodyPr>
          <a:lstStyle/>
          <a:p>
            <a:pPr algn="l" indent="0" marL="0">
              <a:lnSpc>
                <a:spcPts val="2052"/>
              </a:lnSpc>
              <a:buNone/>
            </a:pPr>
            <a:r>
              <a:rPr lang="en-US" sz="1800" b="1" dirty="0">
                <a:solidFill>
                  <a:srgbClr val="162A2D"/>
                </a:solidFill>
                <a:latin typeface="Arial" pitchFamily="34" charset="0"/>
                <a:ea typeface="Arial" pitchFamily="34" charset="-122"/>
                <a:cs typeface="Arial" pitchFamily="34" charset="-120"/>
              </a:rPr>
              <a:t>Draft may cite only</a:t>
            </a:r>
            <a:endParaRPr lang="en-US" sz="1800" dirty="0"/>
          </a:p>
          <a:p>
            <a:pPr algn="l" indent="0" marL="0">
              <a:lnSpc>
                <a:spcPts val="2052"/>
              </a:lnSpc>
              <a:buNone/>
            </a:pPr>
            <a:r>
              <a:rPr lang="en-US" sz="1800" b="1" dirty="0">
                <a:solidFill>
                  <a:srgbClr val="162A2D"/>
                </a:solidFill>
                <a:latin typeface="Arial" pitchFamily="34" charset="0"/>
                <a:ea typeface="Arial" pitchFamily="34" charset="-122"/>
                <a:cs typeface="Arial" pitchFamily="34" charset="-120"/>
              </a:rPr>
              <a:t>registered evidence.</a:t>
            </a:r>
            <a:endParaRPr lang="en-US" sz="1800" dirty="0"/>
          </a:p>
        </p:txBody>
      </p:sp>
      <p:sp>
        <p:nvSpPr>
          <p:cNvPr id="22" name="TextBox 45"/>
          <p:cNvSpPr/>
          <p:nvPr/>
        </p:nvSpPr>
        <p:spPr>
          <a:xfrm>
            <a:off x="5264018" y="5308950"/>
            <a:ext cx="2552636" cy="396865"/>
          </a:xfrm>
          <a:prstGeom prst="rect">
            <a:avLst/>
          </a:prstGeom>
          <a:noFill/>
          <a:ln/>
        </p:spPr>
        <p:txBody>
          <a:bodyPr wrap="square" lIns="0" tIns="0" rIns="0" bIns="0" rtlCol="0" anchor="t">
            <a:spAutoFit/>
          </a:bodyPr>
          <a:lstStyle/>
          <a:p>
            <a:pPr algn="l" indent="0" marL="0">
              <a:lnSpc>
                <a:spcPts val="1562"/>
              </a:lnSpc>
              <a:buNone/>
            </a:pPr>
            <a:r>
              <a:rPr lang="en-US" sz="1250" dirty="0">
                <a:solidFill>
                  <a:srgbClr val="5E6D6C"/>
                </a:solidFill>
                <a:latin typeface="Arial" pitchFamily="34" charset="0"/>
                <a:ea typeface="Arial" pitchFamily="34" charset="-122"/>
                <a:cs typeface="Arial" pitchFamily="34" charset="-120"/>
              </a:rPr>
              <a:t>Prompt text cannot invent provenance.</a:t>
            </a:r>
            <a:endParaRPr lang="en-US" sz="1250" dirty="0"/>
          </a:p>
        </p:txBody>
      </p:sp>
      <p:sp>
        <p:nvSpPr>
          <p:cNvPr id="23" name="Shape 48"/>
          <p:cNvSpPr/>
          <p:nvPr/>
        </p:nvSpPr>
        <p:spPr>
          <a:xfrm>
            <a:off x="8305592" y="4089383"/>
            <a:ext cx="3301917" cy="1765256"/>
          </a:xfrm>
          <a:prstGeom prst="roundRect">
            <a:avLst>
              <a:gd name="adj" fmla="val 10791"/>
            </a:avLst>
          </a:prstGeom>
          <a:noFill/>
          <a:ln w="19050">
            <a:solidFill>
              <a:srgbClr val="00A99D"/>
            </a:solidFill>
            <a:prstDash val="solid"/>
          </a:ln>
        </p:spPr>
      </p:sp>
      <p:sp>
        <p:nvSpPr>
          <p:cNvPr id="24" name="TextBox 50"/>
          <p:cNvSpPr/>
          <p:nvPr/>
        </p:nvSpPr>
        <p:spPr>
          <a:xfrm>
            <a:off x="8565936" y="4349727"/>
            <a:ext cx="2781230" cy="146046"/>
          </a:xfrm>
          <a:prstGeom prst="rect">
            <a:avLst/>
          </a:prstGeom>
          <a:noFill/>
          <a:ln/>
        </p:spPr>
        <p:txBody>
          <a:bodyPr wrap="square" lIns="0" tIns="0" rIns="0" bIns="0" rtlCol="0" anchor="t">
            <a:spAutoFit/>
          </a:bodyPr>
          <a:lstStyle/>
          <a:p>
            <a:pPr algn="l" indent="0" marL="0">
              <a:buNone/>
            </a:pPr>
            <a:r>
              <a:rPr lang="en-US" sz="1000" b="1" spc="100" kern="0" dirty="0">
                <a:solidFill>
                  <a:srgbClr val="00A99D"/>
                </a:solidFill>
                <a:latin typeface="Arial" pitchFamily="34" charset="0"/>
                <a:ea typeface="Arial" pitchFamily="34" charset="-122"/>
                <a:cs typeface="Arial" pitchFamily="34" charset="-120"/>
              </a:rPr>
              <a:t>VALIDATE</a:t>
            </a:r>
            <a:endParaRPr lang="en-US" sz="1000" dirty="0"/>
          </a:p>
        </p:txBody>
      </p:sp>
      <p:sp>
        <p:nvSpPr>
          <p:cNvPr id="25" name="TextBox 52"/>
          <p:cNvSpPr/>
          <p:nvPr/>
        </p:nvSpPr>
        <p:spPr>
          <a:xfrm>
            <a:off x="8565936" y="4635470"/>
            <a:ext cx="2781230" cy="521084"/>
          </a:xfrm>
          <a:prstGeom prst="rect">
            <a:avLst/>
          </a:prstGeom>
          <a:noFill/>
          <a:ln/>
        </p:spPr>
        <p:txBody>
          <a:bodyPr wrap="square" lIns="0" tIns="0" rIns="0" bIns="0" rtlCol="0" anchor="t">
            <a:spAutoFit/>
          </a:bodyPr>
          <a:lstStyle/>
          <a:p>
            <a:pPr algn="l" indent="0" marL="0">
              <a:lnSpc>
                <a:spcPts val="2052"/>
              </a:lnSpc>
              <a:buNone/>
            </a:pPr>
            <a:r>
              <a:rPr lang="en-US" sz="1800" b="1" dirty="0">
                <a:solidFill>
                  <a:srgbClr val="162A2D"/>
                </a:solidFill>
                <a:latin typeface="Arial" pitchFamily="34" charset="0"/>
                <a:ea typeface="Arial" pitchFamily="34" charset="-122"/>
                <a:cs typeface="Arial" pitchFamily="34" charset="-120"/>
              </a:rPr>
              <a:t>Supported answer</a:t>
            </a:r>
            <a:endParaRPr lang="en-US" sz="1800" dirty="0"/>
          </a:p>
          <a:p>
            <a:pPr algn="l" indent="0" marL="0">
              <a:lnSpc>
                <a:spcPts val="2052"/>
              </a:lnSpc>
              <a:buNone/>
            </a:pPr>
            <a:r>
              <a:rPr lang="en-US" sz="1800" b="1" dirty="0">
                <a:solidFill>
                  <a:srgbClr val="162A2D"/>
                </a:solidFill>
                <a:latin typeface="Arial" pitchFamily="34" charset="0"/>
                <a:ea typeface="Arial" pitchFamily="34" charset="-122"/>
                <a:cs typeface="Arial" pitchFamily="34" charset="-120"/>
              </a:rPr>
              <a:t>or explicit abstention.</a:t>
            </a:r>
            <a:endParaRPr lang="en-US" sz="1800" dirty="0"/>
          </a:p>
        </p:txBody>
      </p:sp>
      <p:sp>
        <p:nvSpPr>
          <p:cNvPr id="26" name="TextBox 54"/>
          <p:cNvSpPr/>
          <p:nvPr/>
        </p:nvSpPr>
        <p:spPr>
          <a:xfrm>
            <a:off x="8565936" y="5308950"/>
            <a:ext cx="2781230" cy="396865"/>
          </a:xfrm>
          <a:prstGeom prst="rect">
            <a:avLst/>
          </a:prstGeom>
          <a:noFill/>
          <a:ln/>
        </p:spPr>
        <p:txBody>
          <a:bodyPr wrap="square" lIns="0" tIns="0" rIns="0" bIns="0" rtlCol="0" anchor="t">
            <a:spAutoFit/>
          </a:bodyPr>
          <a:lstStyle/>
          <a:p>
            <a:pPr algn="l" indent="0" marL="0">
              <a:lnSpc>
                <a:spcPts val="1562"/>
              </a:lnSpc>
              <a:buNone/>
            </a:pPr>
            <a:r>
              <a:rPr lang="en-US" sz="1250" dirty="0">
                <a:solidFill>
                  <a:srgbClr val="5E6D6C"/>
                </a:solidFill>
                <a:latin typeface="Arial" pitchFamily="34" charset="0"/>
                <a:ea typeface="Arial" pitchFamily="34" charset="-122"/>
                <a:cs typeface="Arial" pitchFamily="34" charset="-120"/>
              </a:rPr>
              <a:t>Confidence never overrides missing support.</a:t>
            </a:r>
            <a:endParaRPr lang="en-US" sz="1250" dirty="0"/>
          </a:p>
        </p:txBody>
      </p:sp>
      <p:sp>
        <p:nvSpPr>
          <p:cNvPr id="27" name="TextBox 58"/>
          <p:cNvSpPr/>
          <p:nvPr/>
        </p:nvSpPr>
        <p:spPr>
          <a:xfrm>
            <a:off x="584185" y="6324528"/>
            <a:ext cx="7746806" cy="215895"/>
          </a:xfrm>
          <a:prstGeom prst="rect">
            <a:avLst/>
          </a:prstGeom>
          <a:noFill/>
          <a:ln/>
        </p:spPr>
        <p:txBody>
          <a:bodyPr wrap="square" lIns="0" tIns="0" rIns="0" bIns="0" rtlCol="0" anchor="t">
            <a:spAutoFit/>
          </a:bodyPr>
          <a:lstStyle/>
          <a:p>
            <a:pPr algn="l" indent="0" marL="0">
              <a:buNone/>
            </a:pPr>
            <a:r>
              <a:rPr lang="en-US" sz="1200" dirty="0">
                <a:solidFill>
                  <a:srgbClr val="5E6D6C"/>
                </a:solidFill>
                <a:latin typeface="Arial" pitchFamily="34" charset="0"/>
                <a:ea typeface="Arial" pitchFamily="34" charset="-122"/>
                <a:cs typeface="Arial" pitchFamily="34" charset="-120"/>
              </a:rPr>
              <a:t>Engineering principle: deterministic code owns truth boundaries.</a:t>
            </a:r>
            <a:endParaRPr lang="en-US" sz="1200" dirty="0"/>
          </a:p>
        </p:txBody>
      </p:sp>
      <p:sp>
        <p:nvSpPr>
          <p:cNvPr id="28" name="TextBox 60"/>
          <p:cNvSpPr/>
          <p:nvPr/>
        </p:nvSpPr>
        <p:spPr>
          <a:xfrm>
            <a:off x="11099523" y="6311828"/>
            <a:ext cx="507987" cy="253994"/>
          </a:xfrm>
          <a:prstGeom prst="rect">
            <a:avLst/>
          </a:prstGeom>
          <a:noFill/>
          <a:ln/>
        </p:spPr>
        <p:txBody>
          <a:bodyPr wrap="square" lIns="0" tIns="0" rIns="0" bIns="0" rtlCol="0" anchor="t">
            <a:spAutoFit/>
          </a:bodyPr>
          <a:lstStyle/>
          <a:p>
            <a:pPr algn="r" indent="0" marL="0">
              <a:buNone/>
            </a:pPr>
            <a:r>
              <a:rPr lang="en-US" sz="1200" dirty="0">
                <a:solidFill>
                  <a:srgbClr val="00A99D"/>
                </a:solidFill>
                <a:latin typeface="Arial" pitchFamily="34" charset="0"/>
                <a:ea typeface="Arial" pitchFamily="34" charset="-122"/>
                <a:cs typeface="Arial" pitchFamily="34" charset="-120"/>
              </a:rPr>
              <a:t>04</a:t>
            </a:r>
            <a:endParaRPr lang="en-US" sz="1200" dirty="0"/>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1"/>
          <p:cNvSpPr/>
          <p:nvPr/>
        </p:nvSpPr>
        <p:spPr>
          <a:xfrm>
            <a:off x="0" y="86"/>
            <a:ext cx="12191695" cy="6857829"/>
          </a:xfrm>
          <a:prstGeom prst="rect">
            <a:avLst/>
          </a:prstGeom>
          <a:solidFill>
            <a:srgbClr val="162A2D"/>
          </a:solidFill>
          <a:ln/>
        </p:spPr>
      </p:sp>
      <p:sp>
        <p:nvSpPr>
          <p:cNvPr id="3" name="TextBox 3"/>
          <p:cNvSpPr/>
          <p:nvPr/>
        </p:nvSpPr>
        <p:spPr>
          <a:xfrm>
            <a:off x="584185" y="457274"/>
            <a:ext cx="2730432" cy="215895"/>
          </a:xfrm>
          <a:prstGeom prst="rect">
            <a:avLst/>
          </a:prstGeom>
          <a:noFill/>
          <a:ln/>
        </p:spPr>
        <p:txBody>
          <a:bodyPr wrap="square" lIns="0" tIns="0" rIns="0" bIns="0" rtlCol="0" anchor="t">
            <a:spAutoFit/>
          </a:bodyPr>
          <a:lstStyle/>
          <a:p>
            <a:pPr algn="l" indent="0" marL="0">
              <a:buNone/>
            </a:pPr>
            <a:r>
              <a:rPr lang="en-US" sz="1000" b="1" spc="200" kern="0" dirty="0">
                <a:solidFill>
                  <a:srgbClr val="00A99D"/>
                </a:solidFill>
                <a:latin typeface="Arial" pitchFamily="34" charset="0"/>
                <a:ea typeface="Arial" pitchFamily="34" charset="-122"/>
                <a:cs typeface="Arial" pitchFamily="34" charset="-120"/>
              </a:rPr>
              <a:t>TASK 01 · FAILURE BEHAVIOR</a:t>
            </a:r>
            <a:endParaRPr lang="en-US" sz="1000" dirty="0"/>
          </a:p>
        </p:txBody>
      </p:sp>
      <p:sp>
        <p:nvSpPr>
          <p:cNvPr id="4" name="TextBox 5"/>
          <p:cNvSpPr/>
          <p:nvPr/>
        </p:nvSpPr>
        <p:spPr>
          <a:xfrm>
            <a:off x="584185" y="800166"/>
            <a:ext cx="8889778" cy="1142971"/>
          </a:xfrm>
          <a:prstGeom prst="rect">
            <a:avLst/>
          </a:prstGeom>
          <a:noFill/>
          <a:ln/>
        </p:spPr>
        <p:txBody>
          <a:bodyPr wrap="square" lIns="0" tIns="0" rIns="0" bIns="0" rtlCol="0" anchor="t">
            <a:spAutoFit/>
          </a:bodyPr>
          <a:lstStyle/>
          <a:p>
            <a:pPr algn="l" indent="0" marL="0">
              <a:lnSpc>
                <a:spcPts val="3672"/>
              </a:lnSpc>
              <a:buNone/>
            </a:pPr>
            <a:r>
              <a:rPr lang="en-US" sz="3400" spc="-150" kern="0" dirty="0">
                <a:solidFill>
                  <a:srgbClr val="FFFFFF"/>
                </a:solidFill>
                <a:latin typeface="Arial" pitchFamily="34" charset="0"/>
                <a:ea typeface="Arial" pitchFamily="34" charset="-122"/>
                <a:cs typeface="Arial" pitchFamily="34" charset="-120"/>
              </a:rPr>
              <a:t>When confidence drops,</a:t>
            </a:r>
            <a:endParaRPr lang="en-US" sz="3400" dirty="0"/>
          </a:p>
          <a:p>
            <a:pPr algn="l" indent="0" marL="0">
              <a:lnSpc>
                <a:spcPts val="3672"/>
              </a:lnSpc>
              <a:buNone/>
            </a:pPr>
            <a:r>
              <a:rPr lang="en-US" sz="3400" spc="-150" kern="0" dirty="0">
                <a:solidFill>
                  <a:srgbClr val="FFFFFF"/>
                </a:solidFill>
                <a:latin typeface="Arial" pitchFamily="34" charset="0"/>
                <a:ea typeface="Arial" pitchFamily="34" charset="-122"/>
                <a:cs typeface="Arial" pitchFamily="34" charset="-120"/>
              </a:rPr>
              <a:t>the blast radius shrinks</a:t>
            </a:r>
            <a:endParaRPr lang="en-US" sz="3400" dirty="0"/>
          </a:p>
        </p:txBody>
      </p:sp>
      <p:sp>
        <p:nvSpPr>
          <p:cNvPr id="5" name="Shape 7"/>
          <p:cNvSpPr/>
          <p:nvPr/>
        </p:nvSpPr>
        <p:spPr>
          <a:xfrm>
            <a:off x="4381390" y="2235230"/>
            <a:ext cx="3428914" cy="3428914"/>
          </a:xfrm>
          <a:prstGeom prst="ellipse">
            <a:avLst/>
          </a:prstGeom>
          <a:noFill/>
          <a:ln w="12700">
            <a:solidFill>
              <a:srgbClr val="FFFFFF">
                <a:alpha val="26000"/>
              </a:srgbClr>
            </a:solidFill>
            <a:prstDash val="solid"/>
          </a:ln>
        </p:spPr>
      </p:sp>
      <p:sp>
        <p:nvSpPr>
          <p:cNvPr id="6" name="Shape 9"/>
          <p:cNvSpPr/>
          <p:nvPr/>
        </p:nvSpPr>
        <p:spPr>
          <a:xfrm>
            <a:off x="4870328" y="2724168"/>
            <a:ext cx="2451039" cy="2451039"/>
          </a:xfrm>
          <a:prstGeom prst="ellipse">
            <a:avLst/>
          </a:prstGeom>
          <a:noFill/>
          <a:ln w="12700">
            <a:solidFill>
              <a:srgbClr val="00A99D"/>
            </a:solidFill>
            <a:prstDash val="solid"/>
          </a:ln>
        </p:spPr>
      </p:sp>
      <p:sp>
        <p:nvSpPr>
          <p:cNvPr id="7" name="Shape 11"/>
          <p:cNvSpPr/>
          <p:nvPr/>
        </p:nvSpPr>
        <p:spPr>
          <a:xfrm>
            <a:off x="5206870" y="3060709"/>
            <a:ext cx="1777956" cy="1777956"/>
          </a:xfrm>
          <a:prstGeom prst="ellipse">
            <a:avLst/>
          </a:prstGeom>
          <a:solidFill>
            <a:srgbClr val="00A99D"/>
          </a:solidFill>
          <a:ln/>
        </p:spPr>
      </p:sp>
      <p:sp>
        <p:nvSpPr>
          <p:cNvPr id="8" name="TextBox 12"/>
          <p:cNvSpPr/>
          <p:nvPr/>
        </p:nvSpPr>
        <p:spPr>
          <a:xfrm>
            <a:off x="5793139" y="3645688"/>
            <a:ext cx="605318" cy="311142"/>
          </a:xfrm>
          <a:prstGeom prst="rect">
            <a:avLst/>
          </a:prstGeom>
          <a:noFill/>
          <a:ln/>
        </p:spPr>
        <p:txBody>
          <a:bodyPr wrap="square" lIns="0" tIns="0" rIns="0" bIns="0" rtlCol="0" anchor="ctr">
            <a:spAutoFit/>
          </a:bodyPr>
          <a:lstStyle/>
          <a:p>
            <a:pPr indent="0" marL="0">
              <a:lnSpc>
                <a:spcPts val="2244"/>
              </a:lnSpc>
              <a:buNone/>
            </a:pPr>
            <a:r>
              <a:rPr lang="en-US" sz="2200" b="1" dirty="0">
                <a:solidFill>
                  <a:srgbClr val="162A2D"/>
                </a:solidFill>
                <a:highlight>
                  <a:srgbClr val="00A99D"/>
                </a:highlight>
                <a:latin typeface="Arial" pitchFamily="34" charset="0"/>
                <a:ea typeface="Arial" pitchFamily="34" charset="-122"/>
                <a:cs typeface="Arial" pitchFamily="34" charset="-120"/>
              </a:rPr>
              <a:t>FAIL</a:t>
            </a:r>
            <a:endParaRPr lang="en-US" sz="2200" dirty="0"/>
          </a:p>
        </p:txBody>
      </p:sp>
      <p:sp>
        <p:nvSpPr>
          <p:cNvPr id="9" name="TextBox 14"/>
          <p:cNvSpPr/>
          <p:nvPr/>
        </p:nvSpPr>
        <p:spPr>
          <a:xfrm>
            <a:off x="5513647" y="3930637"/>
            <a:ext cx="1164303" cy="311142"/>
          </a:xfrm>
          <a:prstGeom prst="rect">
            <a:avLst/>
          </a:prstGeom>
          <a:noFill/>
          <a:ln/>
        </p:spPr>
        <p:txBody>
          <a:bodyPr wrap="square" lIns="0" tIns="0" rIns="0" bIns="0" rtlCol="0" anchor="ctr">
            <a:spAutoFit/>
          </a:bodyPr>
          <a:lstStyle/>
          <a:p>
            <a:pPr indent="0" marL="0">
              <a:lnSpc>
                <a:spcPts val="2244"/>
              </a:lnSpc>
              <a:buNone/>
            </a:pPr>
            <a:r>
              <a:rPr lang="en-US" sz="2200" b="1" dirty="0">
                <a:solidFill>
                  <a:srgbClr val="162A2D"/>
                </a:solidFill>
                <a:highlight>
                  <a:srgbClr val="00A99D"/>
                </a:highlight>
                <a:latin typeface="Arial" pitchFamily="34" charset="0"/>
                <a:ea typeface="Arial" pitchFamily="34" charset="-122"/>
                <a:cs typeface="Arial" pitchFamily="34" charset="-120"/>
              </a:rPr>
              <a:t>CLOSED</a:t>
            </a:r>
            <a:endParaRPr lang="en-US" sz="2200" dirty="0"/>
          </a:p>
        </p:txBody>
      </p:sp>
      <p:sp>
        <p:nvSpPr>
          <p:cNvPr id="10" name="Shape 18"/>
          <p:cNvSpPr/>
          <p:nvPr/>
        </p:nvSpPr>
        <p:spPr>
          <a:xfrm>
            <a:off x="698483" y="2387626"/>
            <a:ext cx="2285943" cy="1142971"/>
          </a:xfrm>
          <a:prstGeom prst="rect">
            <a:avLst/>
          </a:prstGeom>
          <a:noFill/>
          <a:ln/>
        </p:spPr>
      </p:sp>
      <p:pic>
        <p:nvPicPr>
          <p:cNvPr id="11" name="Picture 18" descr="__type_image">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698483" y="2387626"/>
            <a:ext cx="2285943" cy="1142971"/>
          </a:xfrm>
          <a:prstGeom prst="rect">
            <a:avLst/>
          </a:prstGeom>
        </p:spPr>
      </p:pic>
      <p:sp>
        <p:nvSpPr>
          <p:cNvPr id="12" name="TextBox 20"/>
          <p:cNvSpPr/>
          <p:nvPr/>
        </p:nvSpPr>
        <p:spPr>
          <a:xfrm>
            <a:off x="698483" y="2520973"/>
            <a:ext cx="2285943" cy="546086"/>
          </a:xfrm>
          <a:prstGeom prst="rect">
            <a:avLst/>
          </a:prstGeom>
          <a:noFill/>
          <a:ln/>
        </p:spPr>
        <p:txBody>
          <a:bodyPr wrap="square" lIns="0" tIns="0" rIns="0" bIns="0" rtlCol="0" anchor="t">
            <a:spAutoFit/>
          </a:bodyPr>
          <a:lstStyle/>
          <a:p>
            <a:pPr algn="l" indent="0" marL="0">
              <a:lnSpc>
                <a:spcPts val="4300"/>
              </a:lnSpc>
              <a:buNone/>
            </a:pPr>
            <a:r>
              <a:rPr lang="en-US" sz="4300" b="1" dirty="0">
                <a:solidFill>
                  <a:srgbClr val="00A99D"/>
                </a:solidFill>
                <a:latin typeface="Arial" pitchFamily="34" charset="0"/>
                <a:ea typeface="Arial" pitchFamily="34" charset="-122"/>
                <a:cs typeface="Arial" pitchFamily="34" charset="-120"/>
              </a:rPr>
              <a:t>60 s</a:t>
            </a:r>
            <a:endParaRPr lang="en-US" sz="4300" dirty="0"/>
          </a:p>
        </p:txBody>
      </p:sp>
      <p:sp>
        <p:nvSpPr>
          <p:cNvPr id="13" name="TextBox 22"/>
          <p:cNvSpPr/>
          <p:nvPr/>
        </p:nvSpPr>
        <p:spPr>
          <a:xfrm>
            <a:off x="698483" y="3143257"/>
            <a:ext cx="2285943" cy="205675"/>
          </a:xfrm>
          <a:prstGeom prst="rect">
            <a:avLst/>
          </a:prstGeom>
          <a:noFill/>
          <a:ln/>
        </p:spPr>
        <p:txBody>
          <a:bodyPr wrap="square" lIns="0" tIns="0" rIns="0" bIns="0" rtlCol="0" anchor="t">
            <a:spAutoFit/>
          </a:bodyPr>
          <a:lstStyle/>
          <a:p>
            <a:pPr algn="l" indent="0" marL="0">
              <a:lnSpc>
                <a:spcPts val="1620"/>
              </a:lnSpc>
              <a:buNone/>
            </a:pPr>
            <a:r>
              <a:rPr lang="en-US" sz="1350" dirty="0">
                <a:solidFill>
                  <a:srgbClr val="F4F1EA"/>
                </a:solidFill>
                <a:latin typeface="Arial" pitchFamily="34" charset="0"/>
                <a:ea typeface="Arial" pitchFamily="34" charset="-122"/>
                <a:cs typeface="Arial" pitchFamily="34" charset="-120"/>
              </a:rPr>
              <a:t>wall-clock ceiling</a:t>
            </a:r>
            <a:endParaRPr lang="en-US" sz="1350" dirty="0"/>
          </a:p>
        </p:txBody>
      </p:sp>
      <p:sp>
        <p:nvSpPr>
          <p:cNvPr id="14" name="Shape 25"/>
          <p:cNvSpPr/>
          <p:nvPr/>
        </p:nvSpPr>
        <p:spPr>
          <a:xfrm>
            <a:off x="1587460" y="5054559"/>
            <a:ext cx="2285943" cy="1142971"/>
          </a:xfrm>
          <a:prstGeom prst="rect">
            <a:avLst/>
          </a:prstGeom>
          <a:noFill/>
          <a:ln/>
        </p:spPr>
      </p:sp>
      <p:pic>
        <p:nvPicPr>
          <p:cNvPr id="15" name="Picture 25" descr="__type_image">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587460" y="5054559"/>
            <a:ext cx="2285943" cy="1142971"/>
          </a:xfrm>
          <a:prstGeom prst="rect">
            <a:avLst/>
          </a:prstGeom>
        </p:spPr>
      </p:pic>
      <p:sp>
        <p:nvSpPr>
          <p:cNvPr id="16" name="TextBox 27"/>
          <p:cNvSpPr/>
          <p:nvPr/>
        </p:nvSpPr>
        <p:spPr>
          <a:xfrm>
            <a:off x="1587460" y="5187906"/>
            <a:ext cx="2285943" cy="546086"/>
          </a:xfrm>
          <a:prstGeom prst="rect">
            <a:avLst/>
          </a:prstGeom>
          <a:noFill/>
          <a:ln/>
        </p:spPr>
        <p:txBody>
          <a:bodyPr wrap="square" lIns="0" tIns="0" rIns="0" bIns="0" rtlCol="0" anchor="t">
            <a:spAutoFit/>
          </a:bodyPr>
          <a:lstStyle/>
          <a:p>
            <a:pPr algn="l" indent="0" marL="0">
              <a:lnSpc>
                <a:spcPts val="4300"/>
              </a:lnSpc>
              <a:buNone/>
            </a:pPr>
            <a:r>
              <a:rPr lang="en-US" sz="4300" b="1" dirty="0">
                <a:solidFill>
                  <a:srgbClr val="00A99D"/>
                </a:solidFill>
                <a:latin typeface="Arial" pitchFamily="34" charset="0"/>
                <a:ea typeface="Arial" pitchFamily="34" charset="-122"/>
                <a:cs typeface="Arial" pitchFamily="34" charset="-120"/>
              </a:rPr>
              <a:t>8</a:t>
            </a:r>
            <a:endParaRPr lang="en-US" sz="4300" dirty="0"/>
          </a:p>
        </p:txBody>
      </p:sp>
      <p:sp>
        <p:nvSpPr>
          <p:cNvPr id="17" name="TextBox 29"/>
          <p:cNvSpPr/>
          <p:nvPr/>
        </p:nvSpPr>
        <p:spPr>
          <a:xfrm>
            <a:off x="1587460" y="5810190"/>
            <a:ext cx="2285943" cy="205675"/>
          </a:xfrm>
          <a:prstGeom prst="rect">
            <a:avLst/>
          </a:prstGeom>
          <a:noFill/>
          <a:ln/>
        </p:spPr>
        <p:txBody>
          <a:bodyPr wrap="square" lIns="0" tIns="0" rIns="0" bIns="0" rtlCol="0" anchor="t">
            <a:spAutoFit/>
          </a:bodyPr>
          <a:lstStyle/>
          <a:p>
            <a:pPr algn="l" indent="0" marL="0">
              <a:lnSpc>
                <a:spcPts val="1620"/>
              </a:lnSpc>
              <a:buNone/>
            </a:pPr>
            <a:r>
              <a:rPr lang="en-US" sz="1350" dirty="0">
                <a:solidFill>
                  <a:srgbClr val="F4F1EA"/>
                </a:solidFill>
                <a:latin typeface="Arial" pitchFamily="34" charset="0"/>
                <a:ea typeface="Arial" pitchFamily="34" charset="-122"/>
                <a:cs typeface="Arial" pitchFamily="34" charset="-120"/>
              </a:rPr>
              <a:t>search queries</a:t>
            </a:r>
            <a:endParaRPr lang="en-US" sz="1350" dirty="0"/>
          </a:p>
        </p:txBody>
      </p:sp>
      <p:sp>
        <p:nvSpPr>
          <p:cNvPr id="18" name="Shape 32"/>
          <p:cNvSpPr/>
          <p:nvPr/>
        </p:nvSpPr>
        <p:spPr>
          <a:xfrm>
            <a:off x="8305592" y="5054559"/>
            <a:ext cx="2285943" cy="1142971"/>
          </a:xfrm>
          <a:prstGeom prst="rect">
            <a:avLst/>
          </a:prstGeom>
          <a:noFill/>
          <a:ln/>
        </p:spPr>
      </p:sp>
      <p:pic>
        <p:nvPicPr>
          <p:cNvPr id="19" name="Picture 32" descr="__type_image">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305592" y="5054559"/>
            <a:ext cx="2285943" cy="1142971"/>
          </a:xfrm>
          <a:prstGeom prst="rect">
            <a:avLst/>
          </a:prstGeom>
        </p:spPr>
      </p:pic>
      <p:sp>
        <p:nvSpPr>
          <p:cNvPr id="20" name="TextBox 34"/>
          <p:cNvSpPr/>
          <p:nvPr/>
        </p:nvSpPr>
        <p:spPr>
          <a:xfrm>
            <a:off x="8305592" y="5187906"/>
            <a:ext cx="2285943" cy="546086"/>
          </a:xfrm>
          <a:prstGeom prst="rect">
            <a:avLst/>
          </a:prstGeom>
          <a:noFill/>
          <a:ln/>
        </p:spPr>
        <p:txBody>
          <a:bodyPr wrap="square" lIns="0" tIns="0" rIns="0" bIns="0" rtlCol="0" anchor="t">
            <a:spAutoFit/>
          </a:bodyPr>
          <a:lstStyle/>
          <a:p>
            <a:pPr algn="r" indent="0" marL="0">
              <a:lnSpc>
                <a:spcPts val="4300"/>
              </a:lnSpc>
              <a:buNone/>
            </a:pPr>
            <a:r>
              <a:rPr lang="en-US" sz="4300" b="1" dirty="0">
                <a:solidFill>
                  <a:srgbClr val="00A99D"/>
                </a:solidFill>
                <a:latin typeface="Arial" pitchFamily="34" charset="0"/>
                <a:ea typeface="Arial" pitchFamily="34" charset="-122"/>
                <a:cs typeface="Arial" pitchFamily="34" charset="-120"/>
              </a:rPr>
              <a:t>12</a:t>
            </a:r>
            <a:endParaRPr lang="en-US" sz="4300" dirty="0"/>
          </a:p>
        </p:txBody>
      </p:sp>
      <p:sp>
        <p:nvSpPr>
          <p:cNvPr id="21" name="TextBox 36"/>
          <p:cNvSpPr/>
          <p:nvPr/>
        </p:nvSpPr>
        <p:spPr>
          <a:xfrm>
            <a:off x="8305592" y="5810190"/>
            <a:ext cx="2285943" cy="205675"/>
          </a:xfrm>
          <a:prstGeom prst="rect">
            <a:avLst/>
          </a:prstGeom>
          <a:noFill/>
          <a:ln/>
        </p:spPr>
        <p:txBody>
          <a:bodyPr wrap="square" lIns="0" tIns="0" rIns="0" bIns="0" rtlCol="0" anchor="t">
            <a:spAutoFit/>
          </a:bodyPr>
          <a:lstStyle/>
          <a:p>
            <a:pPr algn="r" indent="0" marL="0">
              <a:lnSpc>
                <a:spcPts val="1620"/>
              </a:lnSpc>
              <a:buNone/>
            </a:pPr>
            <a:r>
              <a:rPr lang="en-US" sz="1350" dirty="0">
                <a:solidFill>
                  <a:srgbClr val="F4F1EA"/>
                </a:solidFill>
                <a:latin typeface="Arial" pitchFamily="34" charset="0"/>
                <a:ea typeface="Arial" pitchFamily="34" charset="-122"/>
                <a:cs typeface="Arial" pitchFamily="34" charset="-120"/>
              </a:rPr>
              <a:t>pages fetched</a:t>
            </a:r>
            <a:endParaRPr lang="en-US" sz="1350" dirty="0"/>
          </a:p>
        </p:txBody>
      </p:sp>
      <p:sp>
        <p:nvSpPr>
          <p:cNvPr id="22" name="Shape 39"/>
          <p:cNvSpPr/>
          <p:nvPr/>
        </p:nvSpPr>
        <p:spPr>
          <a:xfrm>
            <a:off x="9207270" y="2387626"/>
            <a:ext cx="2285943" cy="1142971"/>
          </a:xfrm>
          <a:prstGeom prst="rect">
            <a:avLst/>
          </a:prstGeom>
          <a:noFill/>
          <a:ln/>
        </p:spPr>
      </p:sp>
      <p:pic>
        <p:nvPicPr>
          <p:cNvPr id="23" name="Picture 39" descr="__type_image">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9207270" y="2387626"/>
            <a:ext cx="2285943" cy="1142971"/>
          </a:xfrm>
          <a:prstGeom prst="rect">
            <a:avLst/>
          </a:prstGeom>
        </p:spPr>
      </p:pic>
      <p:sp>
        <p:nvSpPr>
          <p:cNvPr id="24" name="TextBox 41"/>
          <p:cNvSpPr/>
          <p:nvPr/>
        </p:nvSpPr>
        <p:spPr>
          <a:xfrm>
            <a:off x="9207270" y="2520973"/>
            <a:ext cx="2285943" cy="546086"/>
          </a:xfrm>
          <a:prstGeom prst="rect">
            <a:avLst/>
          </a:prstGeom>
          <a:noFill/>
          <a:ln/>
        </p:spPr>
        <p:txBody>
          <a:bodyPr wrap="square" lIns="0" tIns="0" rIns="0" bIns="0" rtlCol="0" anchor="t">
            <a:spAutoFit/>
          </a:bodyPr>
          <a:lstStyle/>
          <a:p>
            <a:pPr algn="r" indent="0" marL="0">
              <a:lnSpc>
                <a:spcPts val="4300"/>
              </a:lnSpc>
              <a:buNone/>
            </a:pPr>
            <a:r>
              <a:rPr lang="en-US" sz="4300" b="1" dirty="0">
                <a:solidFill>
                  <a:srgbClr val="00A99D"/>
                </a:solidFill>
                <a:latin typeface="Arial" pitchFamily="34" charset="0"/>
                <a:ea typeface="Arial" pitchFamily="34" charset="-122"/>
                <a:cs typeface="Arial" pitchFamily="34" charset="-120"/>
              </a:rPr>
              <a:t>2</a:t>
            </a:r>
            <a:endParaRPr lang="en-US" sz="4300" dirty="0"/>
          </a:p>
        </p:txBody>
      </p:sp>
      <p:sp>
        <p:nvSpPr>
          <p:cNvPr id="25" name="TextBox 43"/>
          <p:cNvSpPr/>
          <p:nvPr/>
        </p:nvSpPr>
        <p:spPr>
          <a:xfrm>
            <a:off x="9207270" y="3143257"/>
            <a:ext cx="2285943" cy="205675"/>
          </a:xfrm>
          <a:prstGeom prst="rect">
            <a:avLst/>
          </a:prstGeom>
          <a:noFill/>
          <a:ln/>
        </p:spPr>
        <p:txBody>
          <a:bodyPr wrap="square" lIns="0" tIns="0" rIns="0" bIns="0" rtlCol="0" anchor="t">
            <a:spAutoFit/>
          </a:bodyPr>
          <a:lstStyle/>
          <a:p>
            <a:pPr algn="r" indent="0" marL="0">
              <a:lnSpc>
                <a:spcPts val="1620"/>
              </a:lnSpc>
              <a:buNone/>
            </a:pPr>
            <a:r>
              <a:rPr lang="en-US" sz="1350" dirty="0">
                <a:solidFill>
                  <a:srgbClr val="F4F1EA"/>
                </a:solidFill>
                <a:latin typeface="Arial" pitchFamily="34" charset="0"/>
                <a:ea typeface="Arial" pitchFamily="34" charset="-122"/>
                <a:cs typeface="Arial" pitchFamily="34" charset="-120"/>
              </a:rPr>
              <a:t>model calls</a:t>
            </a:r>
            <a:endParaRPr lang="en-US" sz="1350" dirty="0"/>
          </a:p>
        </p:txBody>
      </p:sp>
      <p:sp>
        <p:nvSpPr>
          <p:cNvPr id="26" name="Shape 46"/>
          <p:cNvSpPr/>
          <p:nvPr/>
        </p:nvSpPr>
        <p:spPr>
          <a:xfrm>
            <a:off x="8330992" y="3873489"/>
            <a:ext cx="2730432" cy="939777"/>
          </a:xfrm>
          <a:prstGeom prst="roundRect">
            <a:avLst>
              <a:gd name="adj" fmla="val 18919"/>
            </a:avLst>
          </a:prstGeom>
          <a:solidFill>
            <a:srgbClr val="FFFFFF">
              <a:alpha val="8000"/>
            </a:srgbClr>
          </a:solidFill>
          <a:ln w="6350">
            <a:solidFill>
              <a:srgbClr val="FFFFFF">
                <a:alpha val="20000"/>
              </a:srgbClr>
            </a:solidFill>
            <a:prstDash val="solid"/>
          </a:ln>
        </p:spPr>
      </p:sp>
      <p:sp>
        <p:nvSpPr>
          <p:cNvPr id="27" name="TextBox 48"/>
          <p:cNvSpPr/>
          <p:nvPr/>
        </p:nvSpPr>
        <p:spPr>
          <a:xfrm>
            <a:off x="8515137" y="4057634"/>
            <a:ext cx="2362141" cy="304792"/>
          </a:xfrm>
          <a:prstGeom prst="rect">
            <a:avLst/>
          </a:prstGeom>
          <a:noFill/>
          <a:ln/>
        </p:spPr>
        <p:txBody>
          <a:bodyPr wrap="square" lIns="0" tIns="0" rIns="0" bIns="0" rtlCol="0" anchor="t">
            <a:spAutoFit/>
          </a:bodyPr>
          <a:lstStyle/>
          <a:p>
            <a:pPr algn="l" indent="0" marL="0">
              <a:buNone/>
            </a:pPr>
            <a:r>
              <a:rPr lang="en-US" sz="2100" b="1" dirty="0">
                <a:solidFill>
                  <a:srgbClr val="FFFFFF"/>
                </a:solidFill>
                <a:latin typeface="Arial" pitchFamily="34" charset="0"/>
                <a:ea typeface="Arial" pitchFamily="34" charset="-122"/>
                <a:cs typeface="Arial" pitchFamily="34" charset="-120"/>
              </a:rPr>
              <a:t>24 MB</a:t>
            </a:r>
            <a:endParaRPr lang="en-US" sz="2100" dirty="0"/>
          </a:p>
        </p:txBody>
      </p:sp>
      <p:sp>
        <p:nvSpPr>
          <p:cNvPr id="28" name="TextBox 50"/>
          <p:cNvSpPr/>
          <p:nvPr/>
        </p:nvSpPr>
        <p:spPr>
          <a:xfrm>
            <a:off x="8515137" y="4425925"/>
            <a:ext cx="2362141" cy="177796"/>
          </a:xfrm>
          <a:prstGeom prst="rect">
            <a:avLst/>
          </a:prstGeom>
          <a:noFill/>
          <a:ln/>
        </p:spPr>
        <p:txBody>
          <a:bodyPr wrap="square" lIns="0" tIns="0" rIns="0" bIns="0" rtlCol="0" anchor="t">
            <a:spAutoFit/>
          </a:bodyPr>
          <a:lstStyle/>
          <a:p>
            <a:pPr algn="l" indent="0" marL="0">
              <a:buNone/>
            </a:pPr>
            <a:r>
              <a:rPr lang="en-US" sz="1200" dirty="0">
                <a:solidFill>
                  <a:srgbClr val="B8C3C1"/>
                </a:solidFill>
                <a:latin typeface="Arial" pitchFamily="34" charset="0"/>
                <a:ea typeface="Arial" pitchFamily="34" charset="-122"/>
                <a:cs typeface="Arial" pitchFamily="34" charset="-120"/>
              </a:rPr>
              <a:t>raw + decoded byte caps</a:t>
            </a:r>
            <a:endParaRPr lang="en-US" sz="1200" dirty="0"/>
          </a:p>
        </p:txBody>
      </p:sp>
      <p:sp>
        <p:nvSpPr>
          <p:cNvPr id="29" name="TextBox 53"/>
          <p:cNvSpPr/>
          <p:nvPr/>
        </p:nvSpPr>
        <p:spPr>
          <a:xfrm>
            <a:off x="584185" y="6324528"/>
            <a:ext cx="6857829" cy="228594"/>
          </a:xfrm>
          <a:prstGeom prst="rect">
            <a:avLst/>
          </a:prstGeom>
          <a:noFill/>
          <a:ln/>
        </p:spPr>
        <p:txBody>
          <a:bodyPr wrap="square" lIns="0" tIns="0" rIns="0" bIns="0" rtlCol="0" anchor="t">
            <a:spAutoFit/>
          </a:bodyPr>
          <a:lstStyle/>
          <a:p>
            <a:pPr algn="l" indent="0" marL="0">
              <a:buNone/>
            </a:pPr>
            <a:r>
              <a:rPr lang="en-US" sz="1200" dirty="0">
                <a:solidFill>
                  <a:srgbClr val="B8C3C1"/>
                </a:solidFill>
                <a:latin typeface="Arial" pitchFamily="34" charset="0"/>
                <a:ea typeface="Arial" pitchFamily="34" charset="-122"/>
                <a:cs typeface="Arial" pitchFamily="34" charset="-120"/>
              </a:rPr>
              <a:t>Unsafe URL, exhausted budget, missing evidence → typed terminal state.</a:t>
            </a:r>
            <a:endParaRPr lang="en-US" sz="1200" dirty="0"/>
          </a:p>
        </p:txBody>
      </p:sp>
      <p:sp>
        <p:nvSpPr>
          <p:cNvPr id="30" name="TextBox 55"/>
          <p:cNvSpPr/>
          <p:nvPr/>
        </p:nvSpPr>
        <p:spPr>
          <a:xfrm>
            <a:off x="11099523" y="6324528"/>
            <a:ext cx="507987" cy="253994"/>
          </a:xfrm>
          <a:prstGeom prst="rect">
            <a:avLst/>
          </a:prstGeom>
          <a:noFill/>
          <a:ln/>
        </p:spPr>
        <p:txBody>
          <a:bodyPr wrap="square" lIns="0" tIns="0" rIns="0" bIns="0" rtlCol="0" anchor="t">
            <a:spAutoFit/>
          </a:bodyPr>
          <a:lstStyle/>
          <a:p>
            <a:pPr algn="r" indent="0" marL="0">
              <a:buNone/>
            </a:pPr>
            <a:r>
              <a:rPr lang="en-US" sz="1200" dirty="0">
                <a:solidFill>
                  <a:srgbClr val="00A99D"/>
                </a:solidFill>
                <a:latin typeface="Arial" pitchFamily="34" charset="0"/>
                <a:ea typeface="Arial" pitchFamily="34" charset="-122"/>
                <a:cs typeface="Arial" pitchFamily="34" charset="-120"/>
              </a:rPr>
              <a:t>05</a:t>
            </a:r>
            <a:endParaRPr lang="en-US" sz="1200" dirty="0"/>
          </a:p>
        </p:txBody>
      </p:sp>
    </p:spTree>
  </p:cSld>
  <p:clrMapOvr>
    <a:masterClrMapping/>
  </p:clrMapOvr>
  <p:transition spd="med">
    <p:push dir="l"/>
  </p:transition>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1"/>
          <p:cNvSpPr/>
          <p:nvPr/>
        </p:nvSpPr>
        <p:spPr>
          <a:xfrm>
            <a:off x="0" y="86"/>
            <a:ext cx="12191695" cy="6857829"/>
          </a:xfrm>
          <a:prstGeom prst="rect">
            <a:avLst/>
          </a:prstGeom>
          <a:solidFill>
            <a:srgbClr val="FFFFFF"/>
          </a:solidFill>
          <a:ln/>
        </p:spPr>
      </p:sp>
      <p:sp>
        <p:nvSpPr>
          <p:cNvPr id="3" name="TextBox 3"/>
          <p:cNvSpPr/>
          <p:nvPr/>
        </p:nvSpPr>
        <p:spPr>
          <a:xfrm>
            <a:off x="584185" y="457274"/>
            <a:ext cx="2476438" cy="215895"/>
          </a:xfrm>
          <a:prstGeom prst="rect">
            <a:avLst/>
          </a:prstGeom>
          <a:noFill/>
          <a:ln/>
        </p:spPr>
        <p:txBody>
          <a:bodyPr wrap="square" lIns="0" tIns="0" rIns="0" bIns="0" rtlCol="0" anchor="t">
            <a:spAutoFit/>
          </a:bodyPr>
          <a:lstStyle/>
          <a:p>
            <a:pPr algn="l" indent="0" marL="0">
              <a:buNone/>
            </a:pPr>
            <a:r>
              <a:rPr lang="en-US" sz="1000" b="1" spc="200" kern="0" dirty="0">
                <a:solidFill>
                  <a:srgbClr val="00A99D"/>
                </a:solidFill>
                <a:latin typeface="Arial" pitchFamily="34" charset="0"/>
                <a:ea typeface="Arial" pitchFamily="34" charset="-122"/>
                <a:cs typeface="Arial" pitchFamily="34" charset="-120"/>
              </a:rPr>
              <a:t>TASK 02 · ASYNC CONTROL</a:t>
            </a:r>
            <a:endParaRPr lang="en-US" sz="1000" dirty="0"/>
          </a:p>
        </p:txBody>
      </p:sp>
      <p:sp>
        <p:nvSpPr>
          <p:cNvPr id="4" name="TextBox 5"/>
          <p:cNvSpPr/>
          <p:nvPr/>
        </p:nvSpPr>
        <p:spPr>
          <a:xfrm>
            <a:off x="584185" y="812865"/>
            <a:ext cx="9207270" cy="1130272"/>
          </a:xfrm>
          <a:prstGeom prst="rect">
            <a:avLst/>
          </a:prstGeom>
          <a:noFill/>
          <a:ln/>
        </p:spPr>
        <p:txBody>
          <a:bodyPr wrap="square" lIns="0" tIns="0" rIns="0" bIns="0" rtlCol="0" anchor="t">
            <a:spAutoFit/>
          </a:bodyPr>
          <a:lstStyle/>
          <a:p>
            <a:pPr algn="l" indent="0" marL="0">
              <a:lnSpc>
                <a:spcPts val="3672"/>
              </a:lnSpc>
              <a:buNone/>
            </a:pPr>
            <a:r>
              <a:rPr lang="en-US" sz="3400" spc="-150" kern="0" dirty="0">
                <a:solidFill>
                  <a:srgbClr val="162A2D"/>
                </a:solidFill>
                <a:latin typeface="Arial" pitchFamily="34" charset="0"/>
                <a:ea typeface="Arial" pitchFamily="34" charset="-122"/>
                <a:cs typeface="Arial" pitchFamily="34" charset="-120"/>
              </a:rPr>
              <a:t>HTTP returns fast.</a:t>
            </a:r>
            <a:endParaRPr lang="en-US" sz="3400" dirty="0"/>
          </a:p>
          <a:p>
            <a:pPr algn="l" indent="0" marL="0">
              <a:lnSpc>
                <a:spcPts val="3672"/>
              </a:lnSpc>
              <a:buNone/>
            </a:pPr>
            <a:r>
              <a:rPr lang="en-US" sz="3400" spc="-150" kern="0" dirty="0">
                <a:solidFill>
                  <a:srgbClr val="162A2D"/>
                </a:solidFill>
                <a:latin typeface="Arial" pitchFamily="34" charset="0"/>
                <a:ea typeface="Arial" pitchFamily="34" charset="-122"/>
                <a:cs typeface="Arial" pitchFamily="34" charset="-120"/>
              </a:rPr>
              <a:t>Research is allowed to take time.</a:t>
            </a:r>
            <a:endParaRPr lang="en-US" sz="3400" dirty="0"/>
          </a:p>
        </p:txBody>
      </p:sp>
      <p:sp>
        <p:nvSpPr>
          <p:cNvPr id="5" name="Shape 7"/>
          <p:cNvSpPr/>
          <p:nvPr/>
        </p:nvSpPr>
        <p:spPr>
          <a:xfrm>
            <a:off x="584185" y="2286029"/>
            <a:ext cx="3365416" cy="3428914"/>
          </a:xfrm>
          <a:prstGeom prst="roundRect">
            <a:avLst>
              <a:gd name="adj" fmla="val 8302"/>
            </a:avLst>
          </a:prstGeom>
          <a:solidFill>
            <a:srgbClr val="F4F1EA"/>
          </a:solidFill>
          <a:ln w="6350">
            <a:solidFill>
              <a:srgbClr val="D4DCDA"/>
            </a:solidFill>
            <a:prstDash val="solid"/>
          </a:ln>
        </p:spPr>
      </p:sp>
      <p:sp>
        <p:nvSpPr>
          <p:cNvPr id="6" name="TextBox 9"/>
          <p:cNvSpPr/>
          <p:nvPr/>
        </p:nvSpPr>
        <p:spPr>
          <a:xfrm>
            <a:off x="908027" y="2609870"/>
            <a:ext cx="2717732" cy="1028674"/>
          </a:xfrm>
          <a:prstGeom prst="rect">
            <a:avLst/>
          </a:prstGeom>
          <a:noFill/>
          <a:ln/>
        </p:spPr>
        <p:txBody>
          <a:bodyPr wrap="square" lIns="0" tIns="0" rIns="0" bIns="0" rtlCol="0" anchor="t">
            <a:spAutoFit/>
          </a:bodyPr>
          <a:lstStyle/>
          <a:p>
            <a:pPr algn="l" indent="0" marL="0">
              <a:lnSpc>
                <a:spcPts val="8100"/>
              </a:lnSpc>
              <a:buNone/>
            </a:pPr>
            <a:r>
              <a:rPr lang="en-US" sz="9000" b="1" spc="-600" kern="0" dirty="0">
                <a:solidFill>
                  <a:srgbClr val="00A99D"/>
                </a:solidFill>
                <a:latin typeface="Arial" pitchFamily="34" charset="0"/>
                <a:ea typeface="Arial" pitchFamily="34" charset="-122"/>
                <a:cs typeface="Arial" pitchFamily="34" charset="-120"/>
              </a:rPr>
              <a:t>202</a:t>
            </a:r>
            <a:endParaRPr lang="en-US" sz="9000" dirty="0"/>
          </a:p>
        </p:txBody>
      </p:sp>
      <p:sp>
        <p:nvSpPr>
          <p:cNvPr id="7" name="TextBox 11"/>
          <p:cNvSpPr/>
          <p:nvPr/>
        </p:nvSpPr>
        <p:spPr>
          <a:xfrm>
            <a:off x="908027" y="3854439"/>
            <a:ext cx="2717732" cy="300030"/>
          </a:xfrm>
          <a:prstGeom prst="rect">
            <a:avLst/>
          </a:prstGeom>
          <a:noFill/>
          <a:ln/>
        </p:spPr>
        <p:txBody>
          <a:bodyPr wrap="square" lIns="0" tIns="0" rIns="0" bIns="0" rtlCol="0" anchor="t">
            <a:spAutoFit/>
          </a:bodyPr>
          <a:lstStyle/>
          <a:p>
            <a:pPr algn="l" indent="0" marL="0">
              <a:lnSpc>
                <a:spcPts val="2362"/>
              </a:lnSpc>
              <a:buNone/>
            </a:pPr>
            <a:r>
              <a:rPr lang="en-US" sz="2250" b="1" dirty="0">
                <a:solidFill>
                  <a:srgbClr val="162A2D"/>
                </a:solidFill>
                <a:latin typeface="Arial" pitchFamily="34" charset="0"/>
                <a:ea typeface="Arial" pitchFamily="34" charset="-122"/>
                <a:cs typeface="Arial" pitchFamily="34" charset="-120"/>
              </a:rPr>
              <a:t>Accepted</a:t>
            </a:r>
            <a:endParaRPr lang="en-US" sz="2250" dirty="0"/>
          </a:p>
        </p:txBody>
      </p:sp>
      <p:sp>
        <p:nvSpPr>
          <p:cNvPr id="8" name="TextBox 13"/>
          <p:cNvSpPr/>
          <p:nvPr/>
        </p:nvSpPr>
        <p:spPr>
          <a:xfrm>
            <a:off x="908027" y="4294166"/>
            <a:ext cx="2717732" cy="462745"/>
          </a:xfrm>
          <a:prstGeom prst="rect">
            <a:avLst/>
          </a:prstGeom>
          <a:noFill/>
          <a:ln/>
        </p:spPr>
        <p:txBody>
          <a:bodyPr wrap="square" lIns="0" tIns="0" rIns="0" bIns="0" rtlCol="0" anchor="t">
            <a:spAutoFit/>
          </a:bodyPr>
          <a:lstStyle/>
          <a:p>
            <a:pPr algn="l" indent="0" marL="0">
              <a:lnSpc>
                <a:spcPts val="1822"/>
              </a:lnSpc>
              <a:buNone/>
            </a:pPr>
            <a:r>
              <a:rPr lang="en-US" sz="1350" dirty="0">
                <a:solidFill>
                  <a:srgbClr val="5E6D6C"/>
                </a:solidFill>
                <a:latin typeface="Arial" pitchFamily="34" charset="0"/>
                <a:ea typeface="Arial" pitchFamily="34" charset="-122"/>
                <a:cs typeface="Arial" pitchFamily="34" charset="-120"/>
              </a:rPr>
              <a:t>Stable run ID after</a:t>
            </a:r>
            <a:endParaRPr lang="en-US" sz="1350" dirty="0"/>
          </a:p>
          <a:p>
            <a:pPr algn="l" indent="0" marL="0">
              <a:lnSpc>
                <a:spcPts val="1822"/>
              </a:lnSpc>
              <a:buNone/>
            </a:pPr>
            <a:r>
              <a:rPr lang="en-US" sz="1350" dirty="0">
                <a:solidFill>
                  <a:srgbClr val="5E6D6C"/>
                </a:solidFill>
                <a:latin typeface="Arial" pitchFamily="34" charset="0"/>
                <a:ea typeface="Arial" pitchFamily="34" charset="-122"/>
                <a:cs typeface="Arial" pitchFamily="34" charset="-120"/>
              </a:rPr>
              <a:t>persist-before-enqueue.</a:t>
            </a:r>
            <a:endParaRPr lang="en-US" sz="1350" dirty="0"/>
          </a:p>
        </p:txBody>
      </p:sp>
      <p:pic>
        <p:nvPicPr>
          <p:cNvPr id="9" name="Picture 15" descr="__type_image">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908027" y="4972011"/>
            <a:ext cx="2666933" cy="469888"/>
          </a:xfrm>
          <a:prstGeom prst="rect">
            <a:avLst/>
          </a:prstGeom>
        </p:spPr>
      </p:pic>
      <p:sp>
        <p:nvSpPr>
          <p:cNvPr id="10" name="TextBox 15"/>
          <p:cNvSpPr/>
          <p:nvPr/>
        </p:nvSpPr>
        <p:spPr>
          <a:xfrm>
            <a:off x="908027" y="4972011"/>
            <a:ext cx="2666933" cy="469888"/>
          </a:xfrm>
          <a:prstGeom prst="rect">
            <a:avLst/>
          </a:prstGeom>
          <a:noFill/>
          <a:ln/>
        </p:spPr>
        <p:txBody>
          <a:bodyPr wrap="square" lIns="0" tIns="126997" rIns="0" bIns="0" rtlCol="0" anchor="t">
            <a:spAutoFit/>
          </a:bodyPr>
          <a:lstStyle/>
          <a:p>
            <a:pPr algn="l" indent="0" marL="0">
              <a:buNone/>
            </a:pPr>
            <a:r>
              <a:rPr lang="en-US" sz="1250" dirty="0">
                <a:solidFill>
                  <a:srgbClr val="162A2D"/>
                </a:solidFill>
                <a:latin typeface="Arial" pitchFamily="34" charset="0"/>
                <a:ea typeface="Arial" pitchFamily="34" charset="-122"/>
                <a:cs typeface="Arial" pitchFamily="34" charset="-120"/>
              </a:rPr>
              <a:t>Idempotency makes retries cheap.</a:t>
            </a:r>
            <a:endParaRPr lang="en-US" sz="1250" dirty="0"/>
          </a:p>
        </p:txBody>
      </p:sp>
      <p:sp>
        <p:nvSpPr>
          <p:cNvPr id="11" name="Shape 20"/>
          <p:cNvSpPr/>
          <p:nvPr/>
        </p:nvSpPr>
        <p:spPr>
          <a:xfrm>
            <a:off x="4711582" y="3924288"/>
            <a:ext cx="6254594" cy="50799"/>
          </a:xfrm>
          <a:prstGeom prst="roundRect">
            <a:avLst>
              <a:gd name="adj" fmla="val 50000"/>
            </a:avLst>
          </a:prstGeom>
          <a:solidFill>
            <a:srgbClr val="C8D3D1"/>
          </a:solidFill>
          <a:ln/>
        </p:spPr>
      </p:sp>
      <p:sp>
        <p:nvSpPr>
          <p:cNvPr id="12" name="Shape 22"/>
          <p:cNvSpPr/>
          <p:nvPr/>
        </p:nvSpPr>
        <p:spPr>
          <a:xfrm>
            <a:off x="4711582" y="3924288"/>
            <a:ext cx="4190895" cy="50799"/>
          </a:xfrm>
          <a:prstGeom prst="roundRect">
            <a:avLst>
              <a:gd name="adj" fmla="val 50000"/>
            </a:avLst>
          </a:prstGeom>
          <a:solidFill>
            <a:srgbClr val="00A99D"/>
          </a:solidFill>
          <a:ln/>
        </p:spPr>
      </p:sp>
      <p:sp>
        <p:nvSpPr>
          <p:cNvPr id="13" name="TextBox 24"/>
          <p:cNvSpPr/>
          <p:nvPr/>
        </p:nvSpPr>
        <p:spPr>
          <a:xfrm>
            <a:off x="4444889" y="3390901"/>
            <a:ext cx="1079473" cy="1079473"/>
          </a:xfrm>
          <a:prstGeom prst="ellipse">
            <a:avLst/>
          </a:prstGeom>
          <a:solidFill>
            <a:srgbClr val="F4F1EA"/>
          </a:solidFill>
          <a:ln w="19050">
            <a:solidFill>
              <a:srgbClr val="162A2D"/>
            </a:solidFill>
            <a:prstDash val="solid"/>
          </a:ln>
        </p:spPr>
        <p:txBody>
          <a:bodyPr wrap="square" lIns="0" tIns="0" rIns="0" bIns="0" rtlCol="0" anchor="ctr">
            <a:spAutoFit/>
          </a:bodyPr>
          <a:lstStyle/>
          <a:p>
            <a:pPr algn="ctr" indent="0" marL="0">
              <a:lnSpc>
                <a:spcPts val="1470"/>
              </a:lnSpc>
              <a:buNone/>
            </a:pPr>
            <a:r>
              <a:rPr lang="en-US" sz="1400" b="1" dirty="0">
                <a:solidFill>
                  <a:srgbClr val="162A2D"/>
                </a:solidFill>
                <a:latin typeface="Arial" pitchFamily="34" charset="0"/>
                <a:ea typeface="Arial" pitchFamily="34" charset="-122"/>
                <a:cs typeface="Arial" pitchFamily="34" charset="-120"/>
              </a:rPr>
              <a:t>QUEUED</a:t>
            </a:r>
            <a:endParaRPr lang="en-US" sz="1400" dirty="0"/>
          </a:p>
        </p:txBody>
      </p:sp>
      <p:sp>
        <p:nvSpPr>
          <p:cNvPr id="14" name="TextBox 26"/>
          <p:cNvSpPr/>
          <p:nvPr/>
        </p:nvSpPr>
        <p:spPr>
          <a:xfrm>
            <a:off x="5905352" y="3390901"/>
            <a:ext cx="1079473" cy="1079473"/>
          </a:xfrm>
          <a:prstGeom prst="ellipse">
            <a:avLst/>
          </a:prstGeom>
          <a:solidFill>
            <a:srgbClr val="00A99D"/>
          </a:solidFill>
          <a:ln/>
        </p:spPr>
        <p:txBody>
          <a:bodyPr wrap="square" lIns="0" tIns="0" rIns="0" bIns="0" rtlCol="0" anchor="ctr">
            <a:spAutoFit/>
          </a:bodyPr>
          <a:lstStyle/>
          <a:p>
            <a:pPr algn="ctr" indent="0" marL="0">
              <a:lnSpc>
                <a:spcPts val="1470"/>
              </a:lnSpc>
              <a:buNone/>
            </a:pPr>
            <a:r>
              <a:rPr lang="en-US" sz="1400" b="1" dirty="0">
                <a:solidFill>
                  <a:srgbClr val="162A2D"/>
                </a:solidFill>
                <a:latin typeface="Arial" pitchFamily="34" charset="0"/>
                <a:ea typeface="Arial" pitchFamily="34" charset="-122"/>
                <a:cs typeface="Arial" pitchFamily="34" charset="-120"/>
              </a:rPr>
              <a:t>RUNNING</a:t>
            </a:r>
            <a:endParaRPr lang="en-US" sz="1400" dirty="0"/>
          </a:p>
        </p:txBody>
      </p:sp>
      <p:sp>
        <p:nvSpPr>
          <p:cNvPr id="15" name="Shape 28"/>
          <p:cNvSpPr/>
          <p:nvPr/>
        </p:nvSpPr>
        <p:spPr>
          <a:xfrm>
            <a:off x="7365816" y="3390901"/>
            <a:ext cx="1079473" cy="1079473"/>
          </a:xfrm>
          <a:prstGeom prst="ellipse">
            <a:avLst/>
          </a:prstGeom>
          <a:solidFill>
            <a:srgbClr val="F4F1EA"/>
          </a:solidFill>
          <a:ln w="19050">
            <a:solidFill>
              <a:srgbClr val="00A99D"/>
            </a:solidFill>
            <a:prstDash val="solid"/>
          </a:ln>
        </p:spPr>
      </p:sp>
      <p:sp>
        <p:nvSpPr>
          <p:cNvPr id="16" name="TextBox 29"/>
          <p:cNvSpPr/>
          <p:nvPr/>
        </p:nvSpPr>
        <p:spPr>
          <a:xfrm>
            <a:off x="7538849" y="3744309"/>
            <a:ext cx="733407" cy="190495"/>
          </a:xfrm>
          <a:prstGeom prst="rect">
            <a:avLst/>
          </a:prstGeom>
          <a:noFill/>
          <a:ln/>
        </p:spPr>
        <p:txBody>
          <a:bodyPr wrap="square" lIns="0" tIns="0" rIns="0" bIns="0" rtlCol="0" anchor="ctr">
            <a:spAutoFit/>
          </a:bodyPr>
          <a:lstStyle/>
          <a:p>
            <a:pPr indent="0" marL="0">
              <a:lnSpc>
                <a:spcPts val="1417"/>
              </a:lnSpc>
              <a:buNone/>
            </a:pPr>
            <a:r>
              <a:rPr lang="en-US" sz="1350" b="1" dirty="0">
                <a:solidFill>
                  <a:srgbClr val="162A2D"/>
                </a:solidFill>
                <a:highlight>
                  <a:srgbClr val="F4F1EA"/>
                </a:highlight>
                <a:latin typeface="Arial" pitchFamily="34" charset="0"/>
                <a:ea typeface="Arial" pitchFamily="34" charset="-122"/>
                <a:cs typeface="Arial" pitchFamily="34" charset="-120"/>
              </a:rPr>
              <a:t>WAITING</a:t>
            </a:r>
            <a:endParaRPr lang="en-US" sz="1350" dirty="0"/>
          </a:p>
        </p:txBody>
      </p:sp>
      <p:sp>
        <p:nvSpPr>
          <p:cNvPr id="17" name="TextBox 31"/>
          <p:cNvSpPr/>
          <p:nvPr/>
        </p:nvSpPr>
        <p:spPr>
          <a:xfrm>
            <a:off x="7464238" y="3924288"/>
            <a:ext cx="882628" cy="190495"/>
          </a:xfrm>
          <a:prstGeom prst="rect">
            <a:avLst/>
          </a:prstGeom>
          <a:noFill/>
          <a:ln/>
        </p:spPr>
        <p:txBody>
          <a:bodyPr wrap="square" lIns="0" tIns="0" rIns="0" bIns="0" rtlCol="0" anchor="ctr">
            <a:spAutoFit/>
          </a:bodyPr>
          <a:lstStyle/>
          <a:p>
            <a:pPr indent="0" marL="0">
              <a:lnSpc>
                <a:spcPts val="1417"/>
              </a:lnSpc>
              <a:buNone/>
            </a:pPr>
            <a:r>
              <a:rPr lang="en-US" sz="1350" b="1" dirty="0">
                <a:solidFill>
                  <a:srgbClr val="162A2D"/>
                </a:solidFill>
                <a:highlight>
                  <a:srgbClr val="F4F1EA"/>
                </a:highlight>
                <a:latin typeface="Arial" pitchFamily="34" charset="0"/>
                <a:ea typeface="Arial" pitchFamily="34" charset="-122"/>
                <a:cs typeface="Arial" pitchFamily="34" charset="-120"/>
              </a:rPr>
              <a:t>FOR TOOL</a:t>
            </a:r>
            <a:endParaRPr lang="en-US" sz="1350" dirty="0"/>
          </a:p>
        </p:txBody>
      </p:sp>
      <p:sp>
        <p:nvSpPr>
          <p:cNvPr id="18" name="TextBox 33"/>
          <p:cNvSpPr/>
          <p:nvPr/>
        </p:nvSpPr>
        <p:spPr>
          <a:xfrm>
            <a:off x="8826279" y="2717818"/>
            <a:ext cx="1206470" cy="952476"/>
          </a:xfrm>
          <a:prstGeom prst="roundRect">
            <a:avLst>
              <a:gd name="adj" fmla="val 20000"/>
            </a:avLst>
          </a:prstGeom>
          <a:solidFill>
            <a:srgbClr val="162A2D"/>
          </a:solidFill>
          <a:ln/>
        </p:spPr>
        <p:txBody>
          <a:bodyPr wrap="square" lIns="0" tIns="0" rIns="0" bIns="0" rtlCol="0" anchor="ctr">
            <a:spAutoFit/>
          </a:bodyPr>
          <a:lstStyle/>
          <a:p>
            <a:pPr algn="ctr" indent="0" marL="0">
              <a:lnSpc>
                <a:spcPts val="1417"/>
              </a:lnSpc>
              <a:buNone/>
            </a:pPr>
            <a:r>
              <a:rPr lang="en-US" sz="1350" b="1" dirty="0">
                <a:solidFill>
                  <a:srgbClr val="FFFFFF"/>
                </a:solidFill>
                <a:latin typeface="Arial" pitchFamily="34" charset="0"/>
                <a:ea typeface="Arial" pitchFamily="34" charset="-122"/>
                <a:cs typeface="Arial" pitchFamily="34" charset="-120"/>
              </a:rPr>
              <a:t>COMPLETED</a:t>
            </a:r>
            <a:endParaRPr lang="en-US" sz="1350" dirty="0"/>
          </a:p>
        </p:txBody>
      </p:sp>
      <p:sp>
        <p:nvSpPr>
          <p:cNvPr id="19" name="TextBox 35"/>
          <p:cNvSpPr/>
          <p:nvPr/>
        </p:nvSpPr>
        <p:spPr>
          <a:xfrm>
            <a:off x="8826279" y="4317978"/>
            <a:ext cx="1206470" cy="952476"/>
          </a:xfrm>
          <a:prstGeom prst="roundRect">
            <a:avLst>
              <a:gd name="adj" fmla="val 20000"/>
            </a:avLst>
          </a:prstGeom>
          <a:noFill/>
          <a:ln w="12700">
            <a:solidFill>
              <a:srgbClr val="5E6D6C"/>
            </a:solidFill>
            <a:prstDash val="solid"/>
          </a:ln>
        </p:spPr>
        <p:txBody>
          <a:bodyPr wrap="square" lIns="0" tIns="0" rIns="0" bIns="0" rtlCol="0" anchor="ctr">
            <a:spAutoFit/>
          </a:bodyPr>
          <a:lstStyle/>
          <a:p>
            <a:pPr algn="ctr" indent="0" marL="0">
              <a:lnSpc>
                <a:spcPts val="1417"/>
              </a:lnSpc>
              <a:buNone/>
            </a:pPr>
            <a:r>
              <a:rPr lang="en-US" sz="1350" b="1" dirty="0">
                <a:solidFill>
                  <a:srgbClr val="162A2D"/>
                </a:solidFill>
                <a:latin typeface="Arial" pitchFamily="34" charset="0"/>
                <a:ea typeface="Arial" pitchFamily="34" charset="-122"/>
                <a:cs typeface="Arial" pitchFamily="34" charset="-120"/>
              </a:rPr>
              <a:t>FAILED</a:t>
            </a:r>
            <a:endParaRPr lang="en-US" sz="1350" dirty="0"/>
          </a:p>
        </p:txBody>
      </p:sp>
      <p:sp>
        <p:nvSpPr>
          <p:cNvPr id="20" name="TextBox 37"/>
          <p:cNvSpPr/>
          <p:nvPr/>
        </p:nvSpPr>
        <p:spPr>
          <a:xfrm>
            <a:off x="10401040" y="3390901"/>
            <a:ext cx="1206470" cy="1079473"/>
          </a:xfrm>
          <a:prstGeom prst="roundRect">
            <a:avLst>
              <a:gd name="adj" fmla="val 17647"/>
            </a:avLst>
          </a:prstGeom>
          <a:solidFill>
            <a:srgbClr val="F4F1EA"/>
          </a:solidFill>
          <a:ln w="12700">
            <a:solidFill>
              <a:srgbClr val="00A99D"/>
            </a:solidFill>
            <a:prstDash val="solid"/>
          </a:ln>
        </p:spPr>
        <p:txBody>
          <a:bodyPr wrap="square" lIns="0" tIns="0" rIns="0" bIns="0" rtlCol="0" anchor="ctr">
            <a:spAutoFit/>
          </a:bodyPr>
          <a:lstStyle/>
          <a:p>
            <a:pPr algn="ctr" indent="0" marL="0">
              <a:lnSpc>
                <a:spcPts val="1417"/>
              </a:lnSpc>
              <a:buNone/>
            </a:pPr>
            <a:r>
              <a:rPr lang="en-US" sz="1350" b="1" dirty="0">
                <a:solidFill>
                  <a:srgbClr val="162A2D"/>
                </a:solidFill>
                <a:latin typeface="Arial" pitchFamily="34" charset="0"/>
                <a:ea typeface="Arial" pitchFamily="34" charset="-122"/>
                <a:cs typeface="Arial" pitchFamily="34" charset="-120"/>
              </a:rPr>
              <a:t>CANCELLED</a:t>
            </a:r>
            <a:endParaRPr lang="en-US" sz="1350" dirty="0"/>
          </a:p>
        </p:txBody>
      </p:sp>
      <p:sp>
        <p:nvSpPr>
          <p:cNvPr id="21" name="Shape 40"/>
          <p:cNvSpPr/>
          <p:nvPr/>
        </p:nvSpPr>
        <p:spPr>
          <a:xfrm>
            <a:off x="4444889" y="5397451"/>
            <a:ext cx="7162621" cy="507987"/>
          </a:xfrm>
          <a:prstGeom prst="rect">
            <a:avLst/>
          </a:prstGeom>
          <a:noFill/>
          <a:ln/>
        </p:spPr>
      </p:sp>
      <p:pic>
        <p:nvPicPr>
          <p:cNvPr id="22" name="Picture 40" descr="__type_image">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444889" y="5397451"/>
            <a:ext cx="7162621" cy="507987"/>
          </a:xfrm>
          <a:prstGeom prst="rect">
            <a:avLst/>
          </a:prstGeom>
        </p:spPr>
      </p:pic>
      <p:sp>
        <p:nvSpPr>
          <p:cNvPr id="23" name="TextBox 42"/>
          <p:cNvSpPr/>
          <p:nvPr/>
        </p:nvSpPr>
        <p:spPr>
          <a:xfrm>
            <a:off x="4444889" y="5562547"/>
            <a:ext cx="1904952" cy="184145"/>
          </a:xfrm>
          <a:prstGeom prst="rect">
            <a:avLst/>
          </a:prstGeom>
          <a:noFill/>
          <a:ln/>
        </p:spPr>
        <p:txBody>
          <a:bodyPr wrap="square" lIns="0" tIns="0" rIns="0" bIns="0" rtlCol="0" anchor="t">
            <a:spAutoFit/>
          </a:bodyPr>
          <a:lstStyle/>
          <a:p>
            <a:pPr algn="l" indent="0" marL="0">
              <a:buNone/>
            </a:pPr>
            <a:r>
              <a:rPr lang="en-US" sz="1250" b="1" dirty="0">
                <a:solidFill>
                  <a:srgbClr val="00A99D"/>
                </a:solidFill>
                <a:latin typeface="Arial" pitchFamily="34" charset="0"/>
                <a:ea typeface="Arial" pitchFamily="34" charset="-122"/>
                <a:cs typeface="Arial" pitchFamily="34" charset="-120"/>
              </a:rPr>
              <a:t>LEASE RECOVERY</a:t>
            </a:r>
            <a:endParaRPr lang="en-US" sz="1250" dirty="0"/>
          </a:p>
        </p:txBody>
      </p:sp>
      <p:sp>
        <p:nvSpPr>
          <p:cNvPr id="24" name="TextBox 44"/>
          <p:cNvSpPr/>
          <p:nvPr/>
        </p:nvSpPr>
        <p:spPr>
          <a:xfrm>
            <a:off x="6349841" y="5556197"/>
            <a:ext cx="5257669" cy="196845"/>
          </a:xfrm>
          <a:prstGeom prst="rect">
            <a:avLst/>
          </a:prstGeom>
          <a:noFill/>
          <a:ln/>
        </p:spPr>
        <p:txBody>
          <a:bodyPr wrap="square" lIns="0" tIns="0" rIns="0" bIns="0" rtlCol="0" anchor="t">
            <a:spAutoFit/>
          </a:bodyPr>
          <a:lstStyle/>
          <a:p>
            <a:pPr algn="l" indent="0" marL="0">
              <a:buNone/>
            </a:pPr>
            <a:r>
              <a:rPr lang="en-US" sz="1350" dirty="0">
                <a:solidFill>
                  <a:srgbClr val="5E6D6C"/>
                </a:solidFill>
                <a:latin typeface="Arial" pitchFamily="34" charset="0"/>
                <a:ea typeface="Arial" pitchFamily="34" charset="-122"/>
                <a:cs typeface="Arial" pitchFamily="34" charset="-120"/>
              </a:rPr>
              <a:t>Expired claims can recover. Terminal states cannot move backward.</a:t>
            </a:r>
            <a:endParaRPr lang="en-US" sz="1350" dirty="0"/>
          </a:p>
        </p:txBody>
      </p:sp>
      <p:sp>
        <p:nvSpPr>
          <p:cNvPr id="25" name="TextBox 47"/>
          <p:cNvSpPr/>
          <p:nvPr/>
        </p:nvSpPr>
        <p:spPr>
          <a:xfrm>
            <a:off x="584185" y="6324528"/>
            <a:ext cx="5714857" cy="228594"/>
          </a:xfrm>
          <a:prstGeom prst="rect">
            <a:avLst/>
          </a:prstGeom>
          <a:noFill/>
          <a:ln/>
        </p:spPr>
        <p:txBody>
          <a:bodyPr wrap="square" lIns="0" tIns="0" rIns="0" bIns="0" rtlCol="0" anchor="t">
            <a:spAutoFit/>
          </a:bodyPr>
          <a:lstStyle/>
          <a:p>
            <a:pPr algn="l" indent="0" marL="0">
              <a:buNone/>
            </a:pPr>
            <a:r>
              <a:rPr lang="en-US" sz="1200" dirty="0">
                <a:solidFill>
                  <a:srgbClr val="5E6D6C"/>
                </a:solidFill>
                <a:latin typeface="Arial" pitchFamily="34" charset="0"/>
                <a:ea typeface="Arial" pitchFamily="34" charset="-122"/>
                <a:cs typeface="Arial" pitchFamily="34" charset="-120"/>
              </a:rPr>
              <a:t>Poll · replayable SSE · idempotent cancellation</a:t>
            </a:r>
            <a:endParaRPr lang="en-US" sz="1200" dirty="0"/>
          </a:p>
        </p:txBody>
      </p:sp>
      <p:sp>
        <p:nvSpPr>
          <p:cNvPr id="26" name="TextBox 49"/>
          <p:cNvSpPr/>
          <p:nvPr/>
        </p:nvSpPr>
        <p:spPr>
          <a:xfrm>
            <a:off x="11099523" y="6324528"/>
            <a:ext cx="507987" cy="253994"/>
          </a:xfrm>
          <a:prstGeom prst="rect">
            <a:avLst/>
          </a:prstGeom>
          <a:noFill/>
          <a:ln/>
        </p:spPr>
        <p:txBody>
          <a:bodyPr wrap="square" lIns="0" tIns="0" rIns="0" bIns="0" rtlCol="0" anchor="t">
            <a:spAutoFit/>
          </a:bodyPr>
          <a:lstStyle/>
          <a:p>
            <a:pPr algn="r" indent="0" marL="0">
              <a:buNone/>
            </a:pPr>
            <a:r>
              <a:rPr lang="en-US" sz="1200" dirty="0">
                <a:solidFill>
                  <a:srgbClr val="00A99D"/>
                </a:solidFill>
                <a:latin typeface="Arial" pitchFamily="34" charset="0"/>
                <a:ea typeface="Arial" pitchFamily="34" charset="-122"/>
                <a:cs typeface="Arial" pitchFamily="34" charset="-120"/>
              </a:rPr>
              <a:t>06</a:t>
            </a:r>
            <a:endParaRPr lang="en-US" sz="1200" dirty="0"/>
          </a:p>
        </p:txBody>
      </p:sp>
    </p:spTree>
  </p:cSld>
  <p:clrMapOvr>
    <a:masterClrMapping/>
  </p:clrMapOvr>
  <p:transition spd="med">
    <p:fade/>
  </p:transition>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1"/>
          <p:cNvSpPr/>
          <p:nvPr/>
        </p:nvSpPr>
        <p:spPr>
          <a:xfrm>
            <a:off x="0" y="86"/>
            <a:ext cx="12191695" cy="6857829"/>
          </a:xfrm>
          <a:prstGeom prst="rect">
            <a:avLst/>
          </a:prstGeom>
          <a:solidFill>
            <a:srgbClr val="F4F1EA"/>
          </a:solidFill>
          <a:ln/>
        </p:spPr>
      </p:sp>
      <p:sp>
        <p:nvSpPr>
          <p:cNvPr id="3" name="TextBox 3"/>
          <p:cNvSpPr/>
          <p:nvPr/>
        </p:nvSpPr>
        <p:spPr>
          <a:xfrm>
            <a:off x="584185" y="457274"/>
            <a:ext cx="2730432" cy="215895"/>
          </a:xfrm>
          <a:prstGeom prst="rect">
            <a:avLst/>
          </a:prstGeom>
          <a:noFill/>
          <a:ln/>
        </p:spPr>
        <p:txBody>
          <a:bodyPr wrap="square" lIns="0" tIns="0" rIns="0" bIns="0" rtlCol="0" anchor="t">
            <a:spAutoFit/>
          </a:bodyPr>
          <a:lstStyle/>
          <a:p>
            <a:pPr algn="l" indent="0" marL="0">
              <a:buNone/>
            </a:pPr>
            <a:r>
              <a:rPr lang="en-US" sz="1000" b="1" spc="200" kern="0" dirty="0">
                <a:solidFill>
                  <a:srgbClr val="00A99D"/>
                </a:solidFill>
                <a:latin typeface="Arial" pitchFamily="34" charset="0"/>
                <a:ea typeface="Arial" pitchFamily="34" charset="-122"/>
                <a:cs typeface="Arial" pitchFamily="34" charset="-120"/>
              </a:rPr>
              <a:t>TASK 02 · MULTI-TENANT TRUST</a:t>
            </a:r>
            <a:endParaRPr lang="en-US" sz="1000" dirty="0"/>
          </a:p>
        </p:txBody>
      </p:sp>
      <p:sp>
        <p:nvSpPr>
          <p:cNvPr id="4" name="TextBox 5"/>
          <p:cNvSpPr/>
          <p:nvPr/>
        </p:nvSpPr>
        <p:spPr>
          <a:xfrm>
            <a:off x="584185" y="812865"/>
            <a:ext cx="8826279" cy="698483"/>
          </a:xfrm>
          <a:prstGeom prst="rect">
            <a:avLst/>
          </a:prstGeom>
          <a:noFill/>
          <a:ln/>
        </p:spPr>
        <p:txBody>
          <a:bodyPr wrap="square" lIns="0" tIns="0" rIns="0" bIns="0" rtlCol="0" anchor="t">
            <a:spAutoFit/>
          </a:bodyPr>
          <a:lstStyle/>
          <a:p>
            <a:pPr algn="l" indent="0" marL="0">
              <a:lnSpc>
                <a:spcPts val="3672"/>
              </a:lnSpc>
              <a:buNone/>
            </a:pPr>
            <a:r>
              <a:rPr lang="en-US" sz="3400" spc="-150" kern="0" dirty="0">
                <a:solidFill>
                  <a:srgbClr val="162A2D"/>
                </a:solidFill>
                <a:latin typeface="Arial" pitchFamily="34" charset="0"/>
                <a:ea typeface="Arial" pitchFamily="34" charset="-122"/>
                <a:cs typeface="Arial" pitchFamily="34" charset="-120"/>
              </a:rPr>
              <a:t>Isolation lives inside every query</a:t>
            </a:r>
            <a:endParaRPr lang="en-US" sz="3400" dirty="0"/>
          </a:p>
        </p:txBody>
      </p:sp>
      <p:sp>
        <p:nvSpPr>
          <p:cNvPr id="5" name="TextBox 7"/>
          <p:cNvSpPr/>
          <p:nvPr/>
        </p:nvSpPr>
        <p:spPr>
          <a:xfrm>
            <a:off x="9067573" y="901763"/>
            <a:ext cx="2539936" cy="533387"/>
          </a:xfrm>
          <a:prstGeom prst="rect">
            <a:avLst/>
          </a:prstGeom>
          <a:noFill/>
          <a:ln/>
        </p:spPr>
        <p:txBody>
          <a:bodyPr wrap="square" lIns="0" tIns="0" rIns="0" bIns="0" rtlCol="0" anchor="t">
            <a:spAutoFit/>
          </a:bodyPr>
          <a:lstStyle/>
          <a:p>
            <a:pPr algn="l" indent="0" marL="0">
              <a:lnSpc>
                <a:spcPts val="1822"/>
              </a:lnSpc>
              <a:buNone/>
            </a:pPr>
            <a:r>
              <a:rPr lang="en-US" sz="1350" dirty="0">
                <a:solidFill>
                  <a:srgbClr val="5E6D6C"/>
                </a:solidFill>
                <a:latin typeface="Arial" pitchFamily="34" charset="0"/>
                <a:ea typeface="Arial" pitchFamily="34" charset="-122"/>
                <a:cs typeface="Arial" pitchFamily="34" charset="-120"/>
              </a:rPr>
              <a:t>Middleware alone cannot</a:t>
            </a:r>
            <a:endParaRPr lang="en-US" sz="1350" dirty="0"/>
          </a:p>
          <a:p>
            <a:pPr algn="l" indent="0" marL="0">
              <a:lnSpc>
                <a:spcPts val="1822"/>
              </a:lnSpc>
              <a:buNone/>
            </a:pPr>
            <a:r>
              <a:rPr lang="en-US" sz="1350" dirty="0">
                <a:solidFill>
                  <a:srgbClr val="5E6D6C"/>
                </a:solidFill>
                <a:latin typeface="Arial" pitchFamily="34" charset="0"/>
                <a:ea typeface="Arial" pitchFamily="34" charset="-122"/>
                <a:cs typeface="Arial" pitchFamily="34" charset="-120"/>
              </a:rPr>
              <a:t>protect durable state.</a:t>
            </a:r>
            <a:endParaRPr lang="en-US" sz="1350" dirty="0"/>
          </a:p>
        </p:txBody>
      </p:sp>
      <p:sp>
        <p:nvSpPr>
          <p:cNvPr id="6" name="Shape 9"/>
          <p:cNvSpPr/>
          <p:nvPr/>
        </p:nvSpPr>
        <p:spPr>
          <a:xfrm>
            <a:off x="749281" y="2032035"/>
            <a:ext cx="9334267" cy="4127397"/>
          </a:xfrm>
          <a:prstGeom prst="roundRect">
            <a:avLst>
              <a:gd name="adj" fmla="val 8000"/>
            </a:avLst>
          </a:prstGeom>
          <a:noFill/>
          <a:ln w="19050">
            <a:solidFill>
              <a:srgbClr val="162A2D"/>
            </a:solidFill>
            <a:prstDash val="solid"/>
          </a:ln>
        </p:spPr>
      </p:sp>
      <p:sp>
        <p:nvSpPr>
          <p:cNvPr id="7" name="TextBox 11"/>
          <p:cNvSpPr/>
          <p:nvPr/>
        </p:nvSpPr>
        <p:spPr>
          <a:xfrm>
            <a:off x="996925" y="2279679"/>
            <a:ext cx="8838979" cy="152396"/>
          </a:xfrm>
          <a:prstGeom prst="rect">
            <a:avLst/>
          </a:prstGeom>
          <a:noFill/>
          <a:ln/>
        </p:spPr>
        <p:txBody>
          <a:bodyPr wrap="square" lIns="0" tIns="0" rIns="0" bIns="0" rtlCol="0" anchor="t">
            <a:spAutoFit/>
          </a:bodyPr>
          <a:lstStyle/>
          <a:p>
            <a:pPr algn="l" indent="0" marL="0">
              <a:buNone/>
            </a:pPr>
            <a:r>
              <a:rPr lang="en-US" sz="1050" b="1" spc="150" kern="0" dirty="0">
                <a:solidFill>
                  <a:srgbClr val="5E6D6C"/>
                </a:solidFill>
                <a:latin typeface="Arial" pitchFamily="34" charset="0"/>
                <a:ea typeface="Arial" pitchFamily="34" charset="-122"/>
                <a:cs typeface="Arial" pitchFamily="34" charset="-120"/>
              </a:rPr>
              <a:t>01 · AUTHENTICATED REQUEST</a:t>
            </a:r>
            <a:endParaRPr lang="en-US" sz="1050" dirty="0"/>
          </a:p>
        </p:txBody>
      </p:sp>
      <p:sp>
        <p:nvSpPr>
          <p:cNvPr id="8" name="Shape 13"/>
          <p:cNvSpPr/>
          <p:nvPr/>
        </p:nvSpPr>
        <p:spPr>
          <a:xfrm>
            <a:off x="1276318" y="2635270"/>
            <a:ext cx="8127797" cy="3174921"/>
          </a:xfrm>
          <a:prstGeom prst="roundRect">
            <a:avLst>
              <a:gd name="adj" fmla="val 8800"/>
            </a:avLst>
          </a:prstGeom>
          <a:solidFill>
            <a:srgbClr val="FFFFFF">
              <a:alpha val="46000"/>
            </a:srgbClr>
          </a:solidFill>
          <a:ln w="19050">
            <a:solidFill>
              <a:srgbClr val="00A99D"/>
            </a:solidFill>
            <a:prstDash val="solid"/>
          </a:ln>
        </p:spPr>
      </p:sp>
      <p:sp>
        <p:nvSpPr>
          <p:cNvPr id="9" name="TextBox 15"/>
          <p:cNvSpPr/>
          <p:nvPr/>
        </p:nvSpPr>
        <p:spPr>
          <a:xfrm>
            <a:off x="1511262" y="2870214"/>
            <a:ext cx="7657909" cy="152396"/>
          </a:xfrm>
          <a:prstGeom prst="rect">
            <a:avLst/>
          </a:prstGeom>
          <a:noFill/>
          <a:ln/>
        </p:spPr>
        <p:txBody>
          <a:bodyPr wrap="square" lIns="0" tIns="0" rIns="0" bIns="0" rtlCol="0" anchor="t">
            <a:spAutoFit/>
          </a:bodyPr>
          <a:lstStyle/>
          <a:p>
            <a:pPr algn="l" indent="0" marL="0">
              <a:buNone/>
            </a:pPr>
            <a:r>
              <a:rPr lang="en-US" sz="1050" b="1" spc="150" kern="0" dirty="0">
                <a:solidFill>
                  <a:srgbClr val="00A99D"/>
                </a:solidFill>
                <a:latin typeface="Arial" pitchFamily="34" charset="0"/>
                <a:ea typeface="Arial" pitchFamily="34" charset="-122"/>
                <a:cs typeface="Arial" pitchFamily="34" charset="-120"/>
              </a:rPr>
              <a:t>02 · PRINCIPAL + TENANT SCOPE</a:t>
            </a:r>
            <a:endParaRPr lang="en-US" sz="1050" dirty="0"/>
          </a:p>
        </p:txBody>
      </p:sp>
      <p:sp>
        <p:nvSpPr>
          <p:cNvPr id="10" name="Shape 17"/>
          <p:cNvSpPr/>
          <p:nvPr/>
        </p:nvSpPr>
        <p:spPr>
          <a:xfrm>
            <a:off x="1854154" y="3238505"/>
            <a:ext cx="6603835" cy="2184345"/>
          </a:xfrm>
          <a:prstGeom prst="roundRect">
            <a:avLst>
              <a:gd name="adj" fmla="val 10465"/>
            </a:avLst>
          </a:prstGeom>
          <a:solidFill>
            <a:srgbClr val="FFFFFF"/>
          </a:solidFill>
          <a:ln w="6350">
            <a:solidFill>
              <a:srgbClr val="C8D3D1"/>
            </a:solidFill>
            <a:prstDash val="solid"/>
          </a:ln>
        </p:spPr>
      </p:sp>
      <p:sp>
        <p:nvSpPr>
          <p:cNvPr id="11" name="TextBox 19"/>
          <p:cNvSpPr/>
          <p:nvPr/>
        </p:nvSpPr>
        <p:spPr>
          <a:xfrm>
            <a:off x="2063698" y="3448050"/>
            <a:ext cx="6184745" cy="152396"/>
          </a:xfrm>
          <a:prstGeom prst="rect">
            <a:avLst/>
          </a:prstGeom>
          <a:noFill/>
          <a:ln/>
        </p:spPr>
        <p:txBody>
          <a:bodyPr wrap="square" lIns="0" tIns="0" rIns="0" bIns="0" rtlCol="0" anchor="t">
            <a:spAutoFit/>
          </a:bodyPr>
          <a:lstStyle/>
          <a:p>
            <a:pPr algn="l" indent="0" marL="0">
              <a:buNone/>
            </a:pPr>
            <a:r>
              <a:rPr lang="en-US" sz="1050" b="1" spc="150" kern="0" dirty="0">
                <a:solidFill>
                  <a:srgbClr val="5E6D6C"/>
                </a:solidFill>
                <a:latin typeface="Arial" pitchFamily="34" charset="0"/>
                <a:ea typeface="Arial" pitchFamily="34" charset="-122"/>
                <a:cs typeface="Arial" pitchFamily="34" charset="-120"/>
              </a:rPr>
              <a:t>03 · REPOSITORY FILTER</a:t>
            </a:r>
            <a:endParaRPr lang="en-US" sz="1050" dirty="0"/>
          </a:p>
        </p:txBody>
      </p:sp>
      <p:sp>
        <p:nvSpPr>
          <p:cNvPr id="12" name="Shape 21"/>
          <p:cNvSpPr/>
          <p:nvPr/>
        </p:nvSpPr>
        <p:spPr>
          <a:xfrm>
            <a:off x="2419290" y="3829040"/>
            <a:ext cx="5016375" cy="1181070"/>
          </a:xfrm>
          <a:prstGeom prst="roundRect">
            <a:avLst>
              <a:gd name="adj" fmla="val 15054"/>
            </a:avLst>
          </a:prstGeom>
          <a:solidFill>
            <a:srgbClr val="162A2D"/>
          </a:solidFill>
          <a:ln/>
        </p:spPr>
      </p:sp>
      <p:sp>
        <p:nvSpPr>
          <p:cNvPr id="13" name="TextBox 23"/>
          <p:cNvSpPr/>
          <p:nvPr/>
        </p:nvSpPr>
        <p:spPr>
          <a:xfrm>
            <a:off x="2685983" y="4321153"/>
            <a:ext cx="1289613" cy="196845"/>
          </a:xfrm>
          <a:prstGeom prst="rect">
            <a:avLst/>
          </a:prstGeom>
          <a:noFill/>
          <a:ln/>
        </p:spPr>
        <p:txBody>
          <a:bodyPr wrap="square" lIns="0" tIns="0" rIns="0" bIns="0" rtlCol="0" anchor="t">
            <a:spAutoFit/>
          </a:bodyPr>
          <a:lstStyle/>
          <a:p>
            <a:pPr algn="l" indent="0" marL="0">
              <a:buNone/>
            </a:pPr>
            <a:r>
              <a:rPr lang="en-US" sz="1300" b="1" dirty="0">
                <a:solidFill>
                  <a:srgbClr val="00A99D"/>
                </a:solidFill>
                <a:latin typeface="Arial" pitchFamily="34" charset="0"/>
                <a:ea typeface="Arial" pitchFamily="34" charset="-122"/>
                <a:cs typeface="Arial" pitchFamily="34" charset="-120"/>
              </a:rPr>
              <a:t>TENANT A</a:t>
            </a:r>
            <a:endParaRPr lang="en-US" sz="1300" dirty="0"/>
          </a:p>
        </p:txBody>
      </p:sp>
      <p:sp>
        <p:nvSpPr>
          <p:cNvPr id="14" name="TextBox 25"/>
          <p:cNvSpPr/>
          <p:nvPr/>
        </p:nvSpPr>
        <p:spPr>
          <a:xfrm>
            <a:off x="3975596" y="4152882"/>
            <a:ext cx="2210836" cy="533387"/>
          </a:xfrm>
          <a:prstGeom prst="rect">
            <a:avLst/>
          </a:prstGeom>
          <a:noFill/>
          <a:ln/>
        </p:spPr>
        <p:txBody>
          <a:bodyPr wrap="square" lIns="0" tIns="0" rIns="0" bIns="0" rtlCol="0" anchor="t">
            <a:spAutoFit/>
          </a:bodyPr>
          <a:lstStyle/>
          <a:p>
            <a:pPr algn="l" indent="0" marL="0">
              <a:buNone/>
            </a:pPr>
            <a:r>
              <a:rPr lang="en-US" sz="1800" b="1" dirty="0">
                <a:solidFill>
                  <a:srgbClr val="FFFFFF"/>
                </a:solidFill>
                <a:latin typeface="Arial" pitchFamily="34" charset="0"/>
                <a:ea typeface="Arial" pitchFamily="34" charset="-122"/>
                <a:cs typeface="Arial" pitchFamily="34" charset="-120"/>
              </a:rPr>
              <a:t>session · run · events</a:t>
            </a:r>
            <a:endParaRPr lang="en-US" sz="1800" dirty="0"/>
          </a:p>
        </p:txBody>
      </p:sp>
      <p:sp>
        <p:nvSpPr>
          <p:cNvPr id="15" name="TextBox 27"/>
          <p:cNvSpPr/>
          <p:nvPr/>
        </p:nvSpPr>
        <p:spPr>
          <a:xfrm>
            <a:off x="6186432" y="4327503"/>
            <a:ext cx="982539" cy="184145"/>
          </a:xfrm>
          <a:prstGeom prst="rect">
            <a:avLst/>
          </a:prstGeom>
          <a:noFill/>
          <a:ln/>
        </p:spPr>
        <p:txBody>
          <a:bodyPr wrap="square" lIns="0" tIns="0" rIns="0" bIns="0" rtlCol="0" anchor="t">
            <a:spAutoFit/>
          </a:bodyPr>
          <a:lstStyle/>
          <a:p>
            <a:pPr algn="r" indent="0" marL="0">
              <a:buNone/>
            </a:pPr>
            <a:r>
              <a:rPr lang="en-US" sz="1250" dirty="0">
                <a:solidFill>
                  <a:srgbClr val="B8C3C1"/>
                </a:solidFill>
                <a:latin typeface="Arial" pitchFamily="34" charset="0"/>
                <a:ea typeface="Arial" pitchFamily="34" charset="-122"/>
                <a:cs typeface="Arial" pitchFamily="34" charset="-120"/>
              </a:rPr>
              <a:t>memory</a:t>
            </a:r>
            <a:endParaRPr lang="en-US" sz="1250" dirty="0"/>
          </a:p>
        </p:txBody>
      </p:sp>
      <p:sp>
        <p:nvSpPr>
          <p:cNvPr id="16" name="Shape 33"/>
          <p:cNvSpPr/>
          <p:nvPr/>
        </p:nvSpPr>
        <p:spPr>
          <a:xfrm>
            <a:off x="9893053" y="2603521"/>
            <a:ext cx="1714457" cy="1714457"/>
          </a:xfrm>
          <a:prstGeom prst="ellipse">
            <a:avLst/>
          </a:prstGeom>
          <a:solidFill>
            <a:srgbClr val="00A99D"/>
          </a:solidFill>
          <a:ln/>
        </p:spPr>
      </p:sp>
      <p:sp>
        <p:nvSpPr>
          <p:cNvPr id="17" name="TextBox 35"/>
          <p:cNvSpPr/>
          <p:nvPr/>
        </p:nvSpPr>
        <p:spPr>
          <a:xfrm>
            <a:off x="10232769" y="2809295"/>
            <a:ext cx="1035024" cy="1302809"/>
          </a:xfrm>
          <a:prstGeom prst="rect">
            <a:avLst/>
          </a:prstGeom>
          <a:noFill/>
          <a:ln/>
        </p:spPr>
        <p:txBody>
          <a:bodyPr wrap="square" lIns="0" tIns="0" rIns="0" bIns="0" rtlCol="0" anchor="t">
            <a:spAutoFit/>
          </a:bodyPr>
          <a:lstStyle/>
          <a:p>
            <a:pPr algn="ctr" indent="0" marL="0">
              <a:lnSpc>
                <a:spcPts val="3420"/>
              </a:lnSpc>
              <a:buNone/>
            </a:pPr>
            <a:r>
              <a:rPr lang="en-US" sz="3600" b="1" dirty="0">
                <a:solidFill>
                  <a:srgbClr val="162A2D"/>
                </a:solidFill>
                <a:latin typeface="Arial" pitchFamily="34" charset="0"/>
                <a:ea typeface="Arial" pitchFamily="34" charset="-122"/>
                <a:cs typeface="Arial" pitchFamily="34" charset="-120"/>
              </a:rPr>
              <a:t>404</a:t>
            </a:r>
            <a:endParaRPr lang="en-US" sz="3600" dirty="0"/>
          </a:p>
          <a:p>
            <a:pPr algn="ctr" indent="0" marL="0">
              <a:lnSpc>
                <a:spcPts val="1282"/>
              </a:lnSpc>
              <a:buNone/>
            </a:pPr>
            <a:r>
              <a:rPr lang="en-US" sz="1350" b="1" spc="50" kern="0" dirty="0">
                <a:solidFill>
                  <a:srgbClr val="162A2D"/>
                </a:solidFill>
                <a:latin typeface="Arial" pitchFamily="34" charset="0"/>
                <a:ea typeface="Arial" pitchFamily="34" charset="-122"/>
                <a:cs typeface="Arial" pitchFamily="34" charset="-120"/>
              </a:rPr>
              <a:t>ACROSS</a:t>
            </a:r>
            <a:endParaRPr lang="en-US" sz="3600" dirty="0"/>
          </a:p>
          <a:p>
            <a:pPr algn="ctr" indent="0" marL="0">
              <a:lnSpc>
                <a:spcPts val="1282"/>
              </a:lnSpc>
              <a:buNone/>
            </a:pPr>
            <a:r>
              <a:rPr lang="en-US" sz="1350" b="1" spc="50" kern="0" dirty="0">
                <a:solidFill>
                  <a:srgbClr val="162A2D"/>
                </a:solidFill>
                <a:latin typeface="Arial" pitchFamily="34" charset="0"/>
                <a:ea typeface="Arial" pitchFamily="34" charset="-122"/>
                <a:cs typeface="Arial" pitchFamily="34" charset="-120"/>
              </a:rPr>
              <a:t>BOUNDARY</a:t>
            </a:r>
            <a:endParaRPr lang="en-US" sz="3600" dirty="0"/>
          </a:p>
        </p:txBody>
      </p:sp>
      <p:sp>
        <p:nvSpPr>
          <p:cNvPr id="18" name="Shape 38"/>
          <p:cNvSpPr/>
          <p:nvPr/>
        </p:nvSpPr>
        <p:spPr>
          <a:xfrm>
            <a:off x="9766056" y="4470374"/>
            <a:ext cx="1841454" cy="1206470"/>
          </a:xfrm>
          <a:prstGeom prst="rect">
            <a:avLst/>
          </a:prstGeom>
          <a:noFill/>
          <a:ln/>
        </p:spPr>
      </p:sp>
      <p:pic>
        <p:nvPicPr>
          <p:cNvPr id="19" name="Picture 38" descr="__type_image">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9766056" y="4470374"/>
            <a:ext cx="1841454" cy="1206470"/>
          </a:xfrm>
          <a:prstGeom prst="rect">
            <a:avLst/>
          </a:prstGeom>
        </p:spPr>
      </p:pic>
      <p:sp>
        <p:nvSpPr>
          <p:cNvPr id="20" name="TextBox 40"/>
          <p:cNvSpPr/>
          <p:nvPr/>
        </p:nvSpPr>
        <p:spPr>
          <a:xfrm>
            <a:off x="9969251" y="4470374"/>
            <a:ext cx="1638259" cy="355591"/>
          </a:xfrm>
          <a:prstGeom prst="rect">
            <a:avLst/>
          </a:prstGeom>
          <a:noFill/>
          <a:ln/>
        </p:spPr>
        <p:txBody>
          <a:bodyPr wrap="square" lIns="0" tIns="0" rIns="0" bIns="0" rtlCol="0" anchor="t">
            <a:spAutoFit/>
          </a:bodyPr>
          <a:lstStyle/>
          <a:p>
            <a:pPr algn="l" indent="0" marL="0">
              <a:buNone/>
            </a:pPr>
            <a:r>
              <a:rPr lang="en-US" sz="1200" b="1" dirty="0">
                <a:solidFill>
                  <a:srgbClr val="162A2D"/>
                </a:solidFill>
                <a:latin typeface="Arial" pitchFamily="34" charset="0"/>
                <a:ea typeface="Arial" pitchFamily="34" charset="-122"/>
                <a:cs typeface="Arial" pitchFamily="34" charset="-120"/>
              </a:rPr>
              <a:t>The same scope protects:</a:t>
            </a:r>
            <a:endParaRPr lang="en-US" sz="1200" dirty="0"/>
          </a:p>
        </p:txBody>
      </p:sp>
      <p:sp>
        <p:nvSpPr>
          <p:cNvPr id="21" name="TextBox 42"/>
          <p:cNvSpPr/>
          <p:nvPr/>
        </p:nvSpPr>
        <p:spPr>
          <a:xfrm>
            <a:off x="9969251" y="4914863"/>
            <a:ext cx="1638259" cy="642921"/>
          </a:xfrm>
          <a:prstGeom prst="rect">
            <a:avLst/>
          </a:prstGeom>
          <a:noFill/>
          <a:ln/>
        </p:spPr>
        <p:txBody>
          <a:bodyPr wrap="square" lIns="0" tIns="0" rIns="0" bIns="0" rtlCol="0" anchor="t">
            <a:spAutoFit/>
          </a:bodyPr>
          <a:lstStyle/>
          <a:p>
            <a:pPr algn="l" indent="0" marL="0">
              <a:lnSpc>
                <a:spcPts val="1687"/>
              </a:lnSpc>
              <a:buNone/>
            </a:pPr>
            <a:r>
              <a:rPr lang="en-US" sz="1250" dirty="0">
                <a:solidFill>
                  <a:srgbClr val="5E6D6C"/>
                </a:solidFill>
                <a:latin typeface="Arial" pitchFamily="34" charset="0"/>
                <a:ea typeface="Arial" pitchFamily="34" charset="-122"/>
                <a:cs typeface="Arial" pitchFamily="34" charset="-120"/>
              </a:rPr>
              <a:t>status · SSE · cancel</a:t>
            </a:r>
            <a:endParaRPr lang="en-US" sz="1250" dirty="0"/>
          </a:p>
          <a:p>
            <a:pPr algn="l" indent="0" marL="0">
              <a:lnSpc>
                <a:spcPts val="1687"/>
              </a:lnSpc>
              <a:buNone/>
            </a:pPr>
            <a:r>
              <a:rPr lang="en-US" sz="1250" dirty="0">
                <a:solidFill>
                  <a:srgbClr val="5E6D6C"/>
                </a:solidFill>
                <a:latin typeface="Arial" pitchFamily="34" charset="0"/>
                <a:ea typeface="Arial" pitchFamily="34" charset="-122"/>
                <a:cs typeface="Arial" pitchFamily="34" charset="-120"/>
              </a:rPr>
              <a:t>results · memory · quota</a:t>
            </a:r>
            <a:endParaRPr lang="en-US" sz="1250" dirty="0"/>
          </a:p>
        </p:txBody>
      </p:sp>
      <p:sp>
        <p:nvSpPr>
          <p:cNvPr id="22" name="TextBox 45"/>
          <p:cNvSpPr/>
          <p:nvPr/>
        </p:nvSpPr>
        <p:spPr>
          <a:xfrm>
            <a:off x="584185" y="6311828"/>
            <a:ext cx="7048324" cy="266693"/>
          </a:xfrm>
          <a:prstGeom prst="rect">
            <a:avLst/>
          </a:prstGeom>
          <a:noFill/>
          <a:ln/>
        </p:spPr>
        <p:txBody>
          <a:bodyPr wrap="square" lIns="0" tIns="0" rIns="0" bIns="0" rtlCol="0" anchor="t">
            <a:spAutoFit/>
          </a:bodyPr>
          <a:lstStyle/>
          <a:p>
            <a:pPr algn="l" indent="0" marL="0">
              <a:buNone/>
            </a:pPr>
            <a:r>
              <a:rPr lang="en-US" sz="1200" dirty="0">
                <a:solidFill>
                  <a:srgbClr val="5E6D6C"/>
                </a:solidFill>
                <a:latin typeface="Arial" pitchFamily="34" charset="0"/>
                <a:ea typeface="Arial" pitchFamily="34" charset="-122"/>
                <a:cs typeface="Arial" pitchFamily="34" charset="-120"/>
              </a:rPr>
              <a:t>Opaque IDs do not replace authorization; every read carries scope.</a:t>
            </a:r>
            <a:endParaRPr lang="en-US" sz="1200" dirty="0"/>
          </a:p>
        </p:txBody>
      </p:sp>
      <p:sp>
        <p:nvSpPr>
          <p:cNvPr id="23" name="TextBox 47"/>
          <p:cNvSpPr/>
          <p:nvPr/>
        </p:nvSpPr>
        <p:spPr>
          <a:xfrm>
            <a:off x="11099523" y="6349927"/>
            <a:ext cx="507987" cy="253994"/>
          </a:xfrm>
          <a:prstGeom prst="rect">
            <a:avLst/>
          </a:prstGeom>
          <a:noFill/>
          <a:ln/>
        </p:spPr>
        <p:txBody>
          <a:bodyPr wrap="square" lIns="0" tIns="0" rIns="0" bIns="0" rtlCol="0" anchor="t">
            <a:spAutoFit/>
          </a:bodyPr>
          <a:lstStyle/>
          <a:p>
            <a:pPr algn="r" indent="0" marL="0">
              <a:buNone/>
            </a:pPr>
            <a:r>
              <a:rPr lang="en-US" sz="1200" dirty="0">
                <a:solidFill>
                  <a:srgbClr val="00A99D"/>
                </a:solidFill>
                <a:latin typeface="Arial" pitchFamily="34" charset="0"/>
                <a:ea typeface="Arial" pitchFamily="34" charset="-122"/>
                <a:cs typeface="Arial" pitchFamily="34" charset="-120"/>
              </a:rPr>
              <a:t>07</a:t>
            </a:r>
            <a:endParaRPr lang="en-US" sz="1200" dirty="0"/>
          </a:p>
        </p:txBody>
      </p:sp>
    </p:spTree>
  </p:cSld>
  <p:clrMapOvr>
    <a:masterClrMapping/>
  </p:clrMapOvr>
  <p:transition spd="med">
    <p:push dir="l"/>
  </p:transition>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1"/>
          <p:cNvSpPr/>
          <p:nvPr/>
        </p:nvSpPr>
        <p:spPr>
          <a:xfrm>
            <a:off x="0" y="86"/>
            <a:ext cx="12191695" cy="6857829"/>
          </a:xfrm>
          <a:prstGeom prst="rect">
            <a:avLst/>
          </a:prstGeom>
          <a:solidFill>
            <a:srgbClr val="FFFFFF"/>
          </a:solidFill>
          <a:ln/>
        </p:spPr>
      </p:sp>
      <p:sp>
        <p:nvSpPr>
          <p:cNvPr id="3" name="TextBox 3"/>
          <p:cNvSpPr/>
          <p:nvPr/>
        </p:nvSpPr>
        <p:spPr>
          <a:xfrm>
            <a:off x="584185" y="457274"/>
            <a:ext cx="2476438" cy="215895"/>
          </a:xfrm>
          <a:prstGeom prst="rect">
            <a:avLst/>
          </a:prstGeom>
          <a:noFill/>
          <a:ln/>
        </p:spPr>
        <p:txBody>
          <a:bodyPr wrap="square" lIns="0" tIns="0" rIns="0" bIns="0" rtlCol="0" anchor="t">
            <a:spAutoFit/>
          </a:bodyPr>
          <a:lstStyle/>
          <a:p>
            <a:pPr algn="l" indent="0" marL="0">
              <a:buNone/>
            </a:pPr>
            <a:r>
              <a:rPr lang="en-US" sz="1000" b="1" spc="200" kern="0" dirty="0">
                <a:solidFill>
                  <a:srgbClr val="00A99D"/>
                </a:solidFill>
                <a:latin typeface="Arial" pitchFamily="34" charset="0"/>
                <a:ea typeface="Arial" pitchFamily="34" charset="-122"/>
                <a:cs typeface="Arial" pitchFamily="34" charset="-120"/>
              </a:rPr>
              <a:t>TASK 03 · SOFTWARE SUPPLY CHAIN</a:t>
            </a:r>
            <a:endParaRPr lang="en-US" sz="1000" dirty="0"/>
          </a:p>
        </p:txBody>
      </p:sp>
      <p:sp>
        <p:nvSpPr>
          <p:cNvPr id="4" name="TextBox 5"/>
          <p:cNvSpPr/>
          <p:nvPr/>
        </p:nvSpPr>
        <p:spPr>
          <a:xfrm>
            <a:off x="584185" y="812865"/>
            <a:ext cx="9842254" cy="698483"/>
          </a:xfrm>
          <a:prstGeom prst="rect">
            <a:avLst/>
          </a:prstGeom>
          <a:noFill/>
          <a:ln/>
        </p:spPr>
        <p:txBody>
          <a:bodyPr wrap="square" lIns="0" tIns="0" rIns="0" bIns="0" rtlCol="0" anchor="t">
            <a:spAutoFit/>
          </a:bodyPr>
          <a:lstStyle/>
          <a:p>
            <a:pPr algn="l" indent="0" marL="0">
              <a:lnSpc>
                <a:spcPts val="3672"/>
              </a:lnSpc>
              <a:buNone/>
            </a:pPr>
            <a:r>
              <a:rPr lang="en-US" sz="3400" spc="-150" kern="0" dirty="0">
                <a:solidFill>
                  <a:srgbClr val="162A2D"/>
                </a:solidFill>
                <a:latin typeface="Arial" pitchFamily="34" charset="0"/>
                <a:ea typeface="Arial" pitchFamily="34" charset="-122"/>
                <a:cs typeface="Arial" pitchFamily="34" charset="-120"/>
              </a:rPr>
              <a:t>Promote evidence, not image tags</a:t>
            </a:r>
            <a:endParaRPr lang="en-US" sz="3400" dirty="0"/>
          </a:p>
        </p:txBody>
      </p:sp>
      <p:sp>
        <p:nvSpPr>
          <p:cNvPr id="5" name="TextBox 7"/>
          <p:cNvSpPr/>
          <p:nvPr/>
        </p:nvSpPr>
        <p:spPr>
          <a:xfrm>
            <a:off x="8940576" y="901763"/>
            <a:ext cx="2666933" cy="533387"/>
          </a:xfrm>
          <a:prstGeom prst="rect">
            <a:avLst/>
          </a:prstGeom>
          <a:noFill/>
          <a:ln/>
        </p:spPr>
        <p:txBody>
          <a:bodyPr wrap="square" lIns="0" tIns="0" rIns="0" bIns="0" rtlCol="0" anchor="t">
            <a:spAutoFit/>
          </a:bodyPr>
          <a:lstStyle/>
          <a:p>
            <a:pPr algn="l" indent="0" marL="0">
              <a:lnSpc>
                <a:spcPts val="1822"/>
              </a:lnSpc>
              <a:buNone/>
            </a:pPr>
            <a:r>
              <a:rPr lang="en-US" sz="1350" dirty="0">
                <a:solidFill>
                  <a:srgbClr val="5E6D6C"/>
                </a:solidFill>
                <a:latin typeface="Arial" pitchFamily="34" charset="0"/>
                <a:ea typeface="Arial" pitchFamily="34" charset="-122"/>
                <a:cs typeface="Arial" pitchFamily="34" charset="-120"/>
              </a:rPr>
              <a:t>The artifact that passed</a:t>
            </a:r>
            <a:endParaRPr lang="en-US" sz="1350" dirty="0"/>
          </a:p>
          <a:p>
            <a:pPr algn="l" indent="0" marL="0">
              <a:lnSpc>
                <a:spcPts val="1822"/>
              </a:lnSpc>
              <a:buNone/>
            </a:pPr>
            <a:r>
              <a:rPr lang="en-US" sz="1350" dirty="0">
                <a:solidFill>
                  <a:srgbClr val="5E6D6C"/>
                </a:solidFill>
                <a:latin typeface="Arial" pitchFamily="34" charset="0"/>
                <a:ea typeface="Arial" pitchFamily="34" charset="-122"/>
                <a:cs typeface="Arial" pitchFamily="34" charset="-120"/>
              </a:rPr>
              <a:t>is the artifact that ships.</a:t>
            </a:r>
            <a:endParaRPr lang="en-US" sz="1350" dirty="0"/>
          </a:p>
        </p:txBody>
      </p:sp>
      <p:sp>
        <p:nvSpPr>
          <p:cNvPr id="6" name="Shape 9"/>
          <p:cNvSpPr/>
          <p:nvPr/>
        </p:nvSpPr>
        <p:spPr>
          <a:xfrm>
            <a:off x="584185" y="2095533"/>
            <a:ext cx="11023324" cy="1333467"/>
          </a:xfrm>
          <a:prstGeom prst="roundRect">
            <a:avLst>
              <a:gd name="adj" fmla="val 19048"/>
            </a:avLst>
          </a:prstGeom>
          <a:solidFill>
            <a:srgbClr val="162A2D"/>
          </a:solidFill>
          <a:ln/>
        </p:spPr>
      </p:sp>
      <p:sp>
        <p:nvSpPr>
          <p:cNvPr id="7" name="TextBox 13"/>
          <p:cNvSpPr/>
          <p:nvPr/>
        </p:nvSpPr>
        <p:spPr>
          <a:xfrm>
            <a:off x="952476" y="2349527"/>
            <a:ext cx="2476438" cy="152396"/>
          </a:xfrm>
          <a:prstGeom prst="rect">
            <a:avLst/>
          </a:prstGeom>
          <a:noFill/>
          <a:ln/>
        </p:spPr>
        <p:txBody>
          <a:bodyPr wrap="square" lIns="0" tIns="0" rIns="0" bIns="0" rtlCol="0" anchor="t">
            <a:spAutoFit/>
          </a:bodyPr>
          <a:lstStyle/>
          <a:p>
            <a:pPr algn="l" indent="0" marL="0">
              <a:buNone/>
            </a:pPr>
            <a:r>
              <a:rPr lang="en-US" sz="1050" b="1" spc="150" kern="0" dirty="0">
                <a:solidFill>
                  <a:srgbClr val="00A99D"/>
                </a:solidFill>
                <a:latin typeface="Arial" pitchFamily="34" charset="0"/>
                <a:ea typeface="Arial" pitchFamily="34" charset="-122"/>
                <a:cs typeface="Arial" pitchFamily="34" charset="-120"/>
              </a:rPr>
              <a:t>IDENTITY</a:t>
            </a:r>
            <a:endParaRPr lang="en-US" sz="1050" dirty="0"/>
          </a:p>
        </p:txBody>
      </p:sp>
      <p:sp>
        <p:nvSpPr>
          <p:cNvPr id="8" name="TextBox 15"/>
          <p:cNvSpPr/>
          <p:nvPr/>
        </p:nvSpPr>
        <p:spPr>
          <a:xfrm>
            <a:off x="952476" y="2628920"/>
            <a:ext cx="2476438" cy="526243"/>
          </a:xfrm>
          <a:prstGeom prst="rect">
            <a:avLst/>
          </a:prstGeom>
          <a:noFill/>
          <a:ln/>
        </p:spPr>
        <p:txBody>
          <a:bodyPr wrap="square" lIns="0" tIns="0" rIns="0" bIns="0" rtlCol="0" anchor="t">
            <a:spAutoFit/>
          </a:bodyPr>
          <a:lstStyle/>
          <a:p>
            <a:pPr algn="l" indent="0" marL="0">
              <a:lnSpc>
                <a:spcPts val="2072"/>
              </a:lnSpc>
              <a:buNone/>
            </a:pPr>
            <a:r>
              <a:rPr lang="en-US" sz="1850" b="1" dirty="0">
                <a:solidFill>
                  <a:srgbClr val="FFFFFF"/>
                </a:solidFill>
                <a:latin typeface="Arial" pitchFamily="34" charset="0"/>
                <a:ea typeface="Arial" pitchFamily="34" charset="-122"/>
                <a:cs typeface="Arial" pitchFamily="34" charset="-120"/>
              </a:rPr>
              <a:t>OIDC → short-lived</a:t>
            </a:r>
            <a:endParaRPr lang="en-US" sz="1850" dirty="0"/>
          </a:p>
          <a:p>
            <a:pPr algn="l" indent="0" marL="0">
              <a:lnSpc>
                <a:spcPts val="2072"/>
              </a:lnSpc>
              <a:buNone/>
            </a:pPr>
            <a:r>
              <a:rPr lang="en-US" sz="1850" b="1" dirty="0">
                <a:solidFill>
                  <a:srgbClr val="FFFFFF"/>
                </a:solidFill>
                <a:latin typeface="Arial" pitchFamily="34" charset="0"/>
                <a:ea typeface="Arial" pitchFamily="34" charset="-122"/>
                <a:cs typeface="Arial" pitchFamily="34" charset="-120"/>
              </a:rPr>
              <a:t>deployer credential</a:t>
            </a:r>
            <a:endParaRPr lang="en-US" sz="1850" dirty="0"/>
          </a:p>
        </p:txBody>
      </p:sp>
      <p:sp>
        <p:nvSpPr>
          <p:cNvPr id="9" name="TextBox 20"/>
          <p:cNvSpPr/>
          <p:nvPr/>
        </p:nvSpPr>
        <p:spPr>
          <a:xfrm>
            <a:off x="4609985" y="2670194"/>
            <a:ext cx="1714457" cy="196845"/>
          </a:xfrm>
          <a:prstGeom prst="rect">
            <a:avLst/>
          </a:prstGeom>
          <a:noFill/>
          <a:ln/>
        </p:spPr>
        <p:txBody>
          <a:bodyPr wrap="square" lIns="0" tIns="0" rIns="0" bIns="0" rtlCol="0" anchor="t">
            <a:spAutoFit/>
          </a:bodyPr>
          <a:lstStyle/>
          <a:p>
            <a:pPr algn="l" indent="0" marL="0">
              <a:buNone/>
            </a:pPr>
            <a:r>
              <a:rPr lang="en-US" sz="1350" dirty="0">
                <a:solidFill>
                  <a:srgbClr val="B8C3C1"/>
                </a:solidFill>
                <a:latin typeface="Arial" pitchFamily="34" charset="0"/>
                <a:ea typeface="Arial" pitchFamily="34" charset="-122"/>
                <a:cs typeface="Arial" pitchFamily="34" charset="-120"/>
              </a:rPr>
              <a:t>Repository ID</a:t>
            </a:r>
            <a:endParaRPr lang="en-US" sz="1350" dirty="0"/>
          </a:p>
        </p:txBody>
      </p:sp>
      <p:sp>
        <p:nvSpPr>
          <p:cNvPr id="10" name="TextBox 22"/>
          <p:cNvSpPr/>
          <p:nvPr/>
        </p:nvSpPr>
        <p:spPr>
          <a:xfrm>
            <a:off x="7054674" y="2670194"/>
            <a:ext cx="1714457" cy="196845"/>
          </a:xfrm>
          <a:prstGeom prst="rect">
            <a:avLst/>
          </a:prstGeom>
          <a:noFill/>
          <a:ln/>
        </p:spPr>
        <p:txBody>
          <a:bodyPr wrap="square" lIns="0" tIns="0" rIns="0" bIns="0" rtlCol="0" anchor="t">
            <a:spAutoFit/>
          </a:bodyPr>
          <a:lstStyle/>
          <a:p>
            <a:pPr algn="l" indent="0" marL="0">
              <a:buNone/>
            </a:pPr>
            <a:r>
              <a:rPr lang="en-US" sz="1350" dirty="0">
                <a:solidFill>
                  <a:srgbClr val="B8C3C1"/>
                </a:solidFill>
                <a:latin typeface="Arial" pitchFamily="34" charset="0"/>
                <a:ea typeface="Arial" pitchFamily="34" charset="-122"/>
                <a:cs typeface="Arial" pitchFamily="34" charset="-120"/>
              </a:rPr>
              <a:t>protected branch</a:t>
            </a:r>
            <a:endParaRPr lang="en-US" sz="1350" dirty="0"/>
          </a:p>
        </p:txBody>
      </p:sp>
      <p:sp>
        <p:nvSpPr>
          <p:cNvPr id="11" name="TextBox 24"/>
          <p:cNvSpPr/>
          <p:nvPr/>
        </p:nvSpPr>
        <p:spPr>
          <a:xfrm>
            <a:off x="9499363" y="2670194"/>
            <a:ext cx="1714457" cy="196845"/>
          </a:xfrm>
          <a:prstGeom prst="rect">
            <a:avLst/>
          </a:prstGeom>
          <a:noFill/>
          <a:ln/>
        </p:spPr>
        <p:txBody>
          <a:bodyPr wrap="square" lIns="0" tIns="0" rIns="0" bIns="0" rtlCol="0" anchor="t">
            <a:spAutoFit/>
          </a:bodyPr>
          <a:lstStyle/>
          <a:p>
            <a:pPr algn="l" indent="0" marL="0">
              <a:buNone/>
            </a:pPr>
            <a:r>
              <a:rPr lang="en-US" sz="1350" dirty="0">
                <a:solidFill>
                  <a:srgbClr val="B8C3C1"/>
                </a:solidFill>
                <a:latin typeface="Arial" pitchFamily="34" charset="0"/>
                <a:ea typeface="Arial" pitchFamily="34" charset="-122"/>
                <a:cs typeface="Arial" pitchFamily="34" charset="-120"/>
              </a:rPr>
              <a:t>gcp-dev environment</a:t>
            </a:r>
            <a:endParaRPr lang="en-US" sz="1350" dirty="0"/>
          </a:p>
        </p:txBody>
      </p:sp>
      <p:sp>
        <p:nvSpPr>
          <p:cNvPr id="12" name="Shape 28"/>
          <p:cNvSpPr/>
          <p:nvPr/>
        </p:nvSpPr>
        <p:spPr>
          <a:xfrm>
            <a:off x="838179" y="4508473"/>
            <a:ext cx="10159746" cy="63498"/>
          </a:xfrm>
          <a:prstGeom prst="roundRect">
            <a:avLst>
              <a:gd name="adj" fmla="val 50000"/>
            </a:avLst>
          </a:prstGeom>
          <a:solidFill>
            <a:srgbClr val="C8D3D1"/>
          </a:solidFill>
          <a:ln/>
        </p:spPr>
      </p:sp>
      <p:sp>
        <p:nvSpPr>
          <p:cNvPr id="13" name="Shape 30"/>
          <p:cNvSpPr/>
          <p:nvPr/>
        </p:nvSpPr>
        <p:spPr>
          <a:xfrm>
            <a:off x="838179" y="4508473"/>
            <a:ext cx="8381790" cy="63498"/>
          </a:xfrm>
          <a:prstGeom prst="roundRect">
            <a:avLst>
              <a:gd name="adj" fmla="val 50000"/>
            </a:avLst>
          </a:prstGeom>
          <a:solidFill>
            <a:srgbClr val="00A99D"/>
          </a:solidFill>
          <a:ln/>
        </p:spPr>
      </p:sp>
      <p:sp>
        <p:nvSpPr>
          <p:cNvPr id="14" name="TextBox 34"/>
          <p:cNvSpPr/>
          <p:nvPr/>
        </p:nvSpPr>
        <p:spPr>
          <a:xfrm>
            <a:off x="584185" y="3905238"/>
            <a:ext cx="1492213" cy="469888"/>
          </a:xfrm>
          <a:prstGeom prst="rect">
            <a:avLst/>
          </a:prstGeom>
          <a:noFill/>
          <a:ln/>
        </p:spPr>
        <p:txBody>
          <a:bodyPr wrap="square" lIns="0" tIns="0" rIns="0" bIns="0" rtlCol="0" anchor="t">
            <a:spAutoFit/>
          </a:bodyPr>
          <a:lstStyle/>
          <a:p>
            <a:pPr algn="l" indent="0" marL="0">
              <a:buNone/>
            </a:pPr>
            <a:r>
              <a:rPr lang="en-US" sz="3200" b="1" dirty="0">
                <a:solidFill>
                  <a:srgbClr val="00A99D"/>
                </a:solidFill>
                <a:latin typeface="Arial" pitchFamily="34" charset="0"/>
                <a:ea typeface="Arial" pitchFamily="34" charset="-122"/>
                <a:cs typeface="Arial" pitchFamily="34" charset="-120"/>
              </a:rPr>
              <a:t>01</a:t>
            </a:r>
            <a:endParaRPr lang="en-US" sz="3200" dirty="0"/>
          </a:p>
        </p:txBody>
      </p:sp>
      <p:sp>
        <p:nvSpPr>
          <p:cNvPr id="15" name="TextBox 35"/>
          <p:cNvSpPr/>
          <p:nvPr/>
        </p:nvSpPr>
        <p:spPr>
          <a:xfrm>
            <a:off x="584185" y="4375126"/>
            <a:ext cx="1492213" cy="438139"/>
          </a:xfrm>
          <a:prstGeom prst="rect">
            <a:avLst/>
          </a:prstGeom>
          <a:noFill/>
          <a:ln/>
        </p:spPr>
        <p:txBody>
          <a:bodyPr wrap="square" lIns="0" tIns="0" rIns="0" bIns="0" rtlCol="0" anchor="t">
            <a:spAutoFit/>
          </a:bodyPr>
          <a:lstStyle/>
          <a:p>
            <a:pPr algn="l" indent="0" marL="0">
              <a:lnSpc>
                <a:spcPts val="1725"/>
              </a:lnSpc>
              <a:buNone/>
            </a:pPr>
            <a:r>
              <a:rPr lang="en-US" sz="1500" b="1" dirty="0">
                <a:solidFill>
                  <a:srgbClr val="162A2D"/>
                </a:solidFill>
                <a:latin typeface="Arial" pitchFamily="34" charset="0"/>
                <a:ea typeface="Arial" pitchFamily="34" charset="-122"/>
                <a:cs typeface="Arial" pitchFamily="34" charset="-120"/>
              </a:rPr>
              <a:t>Commit</a:t>
            </a:r>
            <a:endParaRPr lang="en-US" sz="1500" dirty="0"/>
          </a:p>
          <a:p>
            <a:pPr algn="l" indent="0" marL="0">
              <a:lnSpc>
                <a:spcPts val="1725"/>
              </a:lnSpc>
              <a:buNone/>
            </a:pPr>
            <a:r>
              <a:rPr lang="en-US" sz="1500" b="1" dirty="0">
                <a:solidFill>
                  <a:srgbClr val="162A2D"/>
                </a:solidFill>
                <a:latin typeface="Arial" pitchFamily="34" charset="0"/>
                <a:ea typeface="Arial" pitchFamily="34" charset="-122"/>
                <a:cs typeface="Arial" pitchFamily="34" charset="-120"/>
              </a:rPr>
              <a:t>SHA</a:t>
            </a:r>
            <a:endParaRPr lang="en-US" sz="1500" dirty="0"/>
          </a:p>
        </p:txBody>
      </p:sp>
      <p:sp>
        <p:nvSpPr>
          <p:cNvPr id="16" name="TextBox 40"/>
          <p:cNvSpPr/>
          <p:nvPr/>
        </p:nvSpPr>
        <p:spPr>
          <a:xfrm>
            <a:off x="2489138" y="3905238"/>
            <a:ext cx="1492213" cy="469888"/>
          </a:xfrm>
          <a:prstGeom prst="rect">
            <a:avLst/>
          </a:prstGeom>
          <a:noFill/>
          <a:ln/>
        </p:spPr>
        <p:txBody>
          <a:bodyPr wrap="square" lIns="0" tIns="0" rIns="0" bIns="0" rtlCol="0" anchor="t">
            <a:spAutoFit/>
          </a:bodyPr>
          <a:lstStyle/>
          <a:p>
            <a:pPr algn="l" indent="0" marL="0">
              <a:buNone/>
            </a:pPr>
            <a:r>
              <a:rPr lang="en-US" sz="3200" b="1" dirty="0">
                <a:solidFill>
                  <a:srgbClr val="00A99D"/>
                </a:solidFill>
                <a:latin typeface="Arial" pitchFamily="34" charset="0"/>
                <a:ea typeface="Arial" pitchFamily="34" charset="-122"/>
                <a:cs typeface="Arial" pitchFamily="34" charset="-120"/>
              </a:rPr>
              <a:t>02</a:t>
            </a:r>
            <a:endParaRPr lang="en-US" sz="3200" dirty="0"/>
          </a:p>
        </p:txBody>
      </p:sp>
      <p:sp>
        <p:nvSpPr>
          <p:cNvPr id="17" name="TextBox 41"/>
          <p:cNvSpPr/>
          <p:nvPr/>
        </p:nvSpPr>
        <p:spPr>
          <a:xfrm>
            <a:off x="2489138" y="4375126"/>
            <a:ext cx="1492213" cy="438139"/>
          </a:xfrm>
          <a:prstGeom prst="rect">
            <a:avLst/>
          </a:prstGeom>
          <a:noFill/>
          <a:ln/>
        </p:spPr>
        <p:txBody>
          <a:bodyPr wrap="square" lIns="0" tIns="0" rIns="0" bIns="0" rtlCol="0" anchor="t">
            <a:spAutoFit/>
          </a:bodyPr>
          <a:lstStyle/>
          <a:p>
            <a:pPr algn="l" indent="0" marL="0">
              <a:lnSpc>
                <a:spcPts val="1725"/>
              </a:lnSpc>
              <a:buNone/>
            </a:pPr>
            <a:r>
              <a:rPr lang="en-US" sz="1500" b="1" dirty="0">
                <a:solidFill>
                  <a:srgbClr val="162A2D"/>
                </a:solidFill>
                <a:latin typeface="Arial" pitchFamily="34" charset="0"/>
                <a:ea typeface="Arial" pitchFamily="34" charset="-122"/>
                <a:cs typeface="Arial" pitchFamily="34" charset="-120"/>
              </a:rPr>
              <a:t>Tests +</a:t>
            </a:r>
            <a:endParaRPr lang="en-US" sz="1500" dirty="0"/>
          </a:p>
          <a:p>
            <a:pPr algn="l" indent="0" marL="0">
              <a:lnSpc>
                <a:spcPts val="1725"/>
              </a:lnSpc>
              <a:buNone/>
            </a:pPr>
            <a:r>
              <a:rPr lang="en-US" sz="1500" b="1" dirty="0">
                <a:solidFill>
                  <a:srgbClr val="162A2D"/>
                </a:solidFill>
                <a:latin typeface="Arial" pitchFamily="34" charset="0"/>
                <a:ea typeface="Arial" pitchFamily="34" charset="-122"/>
                <a:cs typeface="Arial" pitchFamily="34" charset="-120"/>
              </a:rPr>
              <a:t>contracts</a:t>
            </a:r>
            <a:endParaRPr lang="en-US" sz="1500" dirty="0"/>
          </a:p>
        </p:txBody>
      </p:sp>
      <p:sp>
        <p:nvSpPr>
          <p:cNvPr id="18" name="TextBox 46"/>
          <p:cNvSpPr/>
          <p:nvPr/>
        </p:nvSpPr>
        <p:spPr>
          <a:xfrm>
            <a:off x="4394090" y="3905238"/>
            <a:ext cx="1492213" cy="469888"/>
          </a:xfrm>
          <a:prstGeom prst="rect">
            <a:avLst/>
          </a:prstGeom>
          <a:noFill/>
          <a:ln/>
        </p:spPr>
        <p:txBody>
          <a:bodyPr wrap="square" lIns="0" tIns="0" rIns="0" bIns="0" rtlCol="0" anchor="t">
            <a:spAutoFit/>
          </a:bodyPr>
          <a:lstStyle/>
          <a:p>
            <a:pPr algn="l" indent="0" marL="0">
              <a:buNone/>
            </a:pPr>
            <a:r>
              <a:rPr lang="en-US" sz="3200" b="1" dirty="0">
                <a:solidFill>
                  <a:srgbClr val="00A99D"/>
                </a:solidFill>
                <a:latin typeface="Arial" pitchFamily="34" charset="0"/>
                <a:ea typeface="Arial" pitchFamily="34" charset="-122"/>
                <a:cs typeface="Arial" pitchFamily="34" charset="-120"/>
              </a:rPr>
              <a:t>03</a:t>
            </a:r>
            <a:endParaRPr lang="en-US" sz="3200" dirty="0"/>
          </a:p>
        </p:txBody>
      </p:sp>
      <p:sp>
        <p:nvSpPr>
          <p:cNvPr id="19" name="TextBox 47"/>
          <p:cNvSpPr/>
          <p:nvPr/>
        </p:nvSpPr>
        <p:spPr>
          <a:xfrm>
            <a:off x="4394090" y="4375126"/>
            <a:ext cx="1492213" cy="438139"/>
          </a:xfrm>
          <a:prstGeom prst="rect">
            <a:avLst/>
          </a:prstGeom>
          <a:noFill/>
          <a:ln/>
        </p:spPr>
        <p:txBody>
          <a:bodyPr wrap="square" lIns="0" tIns="0" rIns="0" bIns="0" rtlCol="0" anchor="t">
            <a:spAutoFit/>
          </a:bodyPr>
          <a:lstStyle/>
          <a:p>
            <a:pPr algn="l" indent="0" marL="0">
              <a:lnSpc>
                <a:spcPts val="1725"/>
              </a:lnSpc>
              <a:buNone/>
            </a:pPr>
            <a:r>
              <a:rPr lang="en-US" sz="1500" b="1" dirty="0">
                <a:solidFill>
                  <a:srgbClr val="162A2D"/>
                </a:solidFill>
                <a:latin typeface="Arial" pitchFamily="34" charset="0"/>
                <a:ea typeface="Arial" pitchFamily="34" charset="-122"/>
                <a:cs typeface="Arial" pitchFamily="34" charset="-120"/>
              </a:rPr>
              <a:t>Trivy +</a:t>
            </a:r>
            <a:endParaRPr lang="en-US" sz="1500" dirty="0"/>
          </a:p>
          <a:p>
            <a:pPr algn="l" indent="0" marL="0">
              <a:lnSpc>
                <a:spcPts val="1725"/>
              </a:lnSpc>
              <a:buNone/>
            </a:pPr>
            <a:r>
              <a:rPr lang="en-US" sz="1500" b="1" dirty="0">
                <a:solidFill>
                  <a:srgbClr val="162A2D"/>
                </a:solidFill>
                <a:latin typeface="Arial" pitchFamily="34" charset="0"/>
                <a:ea typeface="Arial" pitchFamily="34" charset="-122"/>
                <a:cs typeface="Arial" pitchFamily="34" charset="-120"/>
              </a:rPr>
              <a:t>SBOM</a:t>
            </a:r>
            <a:endParaRPr lang="en-US" sz="1500" dirty="0"/>
          </a:p>
        </p:txBody>
      </p:sp>
      <p:sp>
        <p:nvSpPr>
          <p:cNvPr id="20" name="Shape 50"/>
          <p:cNvSpPr/>
          <p:nvPr/>
        </p:nvSpPr>
        <p:spPr>
          <a:xfrm>
            <a:off x="6299043" y="3714743"/>
            <a:ext cx="1809705" cy="1777956"/>
          </a:xfrm>
          <a:prstGeom prst="roundRect">
            <a:avLst>
              <a:gd name="adj" fmla="val 12143"/>
            </a:avLst>
          </a:prstGeom>
          <a:solidFill>
            <a:srgbClr val="00A99D"/>
          </a:solidFill>
          <a:ln/>
        </p:spPr>
      </p:sp>
      <p:sp>
        <p:nvSpPr>
          <p:cNvPr id="21" name="TextBox 52"/>
          <p:cNvSpPr/>
          <p:nvPr/>
        </p:nvSpPr>
        <p:spPr>
          <a:xfrm>
            <a:off x="6514937" y="3930637"/>
            <a:ext cx="1377916" cy="469888"/>
          </a:xfrm>
          <a:prstGeom prst="rect">
            <a:avLst/>
          </a:prstGeom>
          <a:noFill/>
          <a:ln/>
        </p:spPr>
        <p:txBody>
          <a:bodyPr wrap="square" lIns="0" tIns="0" rIns="0" bIns="0" rtlCol="0" anchor="t">
            <a:spAutoFit/>
          </a:bodyPr>
          <a:lstStyle/>
          <a:p>
            <a:pPr algn="l" indent="0" marL="0">
              <a:buNone/>
            </a:pPr>
            <a:r>
              <a:rPr lang="en-US" sz="3200" b="1" dirty="0">
                <a:solidFill>
                  <a:srgbClr val="162A2D"/>
                </a:solidFill>
                <a:latin typeface="Arial" pitchFamily="34" charset="0"/>
                <a:ea typeface="Arial" pitchFamily="34" charset="-122"/>
                <a:cs typeface="Arial" pitchFamily="34" charset="-120"/>
              </a:rPr>
              <a:t>04</a:t>
            </a:r>
            <a:endParaRPr lang="en-US" sz="3200" dirty="0"/>
          </a:p>
        </p:txBody>
      </p:sp>
      <p:sp>
        <p:nvSpPr>
          <p:cNvPr id="22" name="TextBox 53"/>
          <p:cNvSpPr/>
          <p:nvPr/>
        </p:nvSpPr>
        <p:spPr>
          <a:xfrm>
            <a:off x="6514937" y="4400526"/>
            <a:ext cx="1377916" cy="474849"/>
          </a:xfrm>
          <a:prstGeom prst="rect">
            <a:avLst/>
          </a:prstGeom>
          <a:noFill/>
          <a:ln/>
        </p:spPr>
        <p:txBody>
          <a:bodyPr wrap="square" lIns="0" tIns="0" rIns="0" bIns="0" rtlCol="0" anchor="t">
            <a:spAutoFit/>
          </a:bodyPr>
          <a:lstStyle/>
          <a:p>
            <a:pPr algn="l" indent="0" marL="0">
              <a:lnSpc>
                <a:spcPts val="1870"/>
              </a:lnSpc>
              <a:buNone/>
            </a:pPr>
            <a:r>
              <a:rPr lang="en-US" sz="1700" b="1" dirty="0">
                <a:solidFill>
                  <a:srgbClr val="162A2D"/>
                </a:solidFill>
                <a:latin typeface="Arial" pitchFamily="34" charset="0"/>
                <a:ea typeface="Arial" pitchFamily="34" charset="-122"/>
                <a:cs typeface="Arial" pitchFamily="34" charset="-120"/>
              </a:rPr>
              <a:t>Immutable</a:t>
            </a:r>
            <a:endParaRPr lang="en-US" sz="1700" dirty="0"/>
          </a:p>
          <a:p>
            <a:pPr algn="l" indent="0" marL="0">
              <a:lnSpc>
                <a:spcPts val="1870"/>
              </a:lnSpc>
              <a:buNone/>
            </a:pPr>
            <a:r>
              <a:rPr lang="en-US" sz="1700" b="1" dirty="0">
                <a:solidFill>
                  <a:srgbClr val="162A2D"/>
                </a:solidFill>
                <a:latin typeface="Arial" pitchFamily="34" charset="0"/>
                <a:ea typeface="Arial" pitchFamily="34" charset="-122"/>
                <a:cs typeface="Arial" pitchFamily="34" charset="-120"/>
              </a:rPr>
              <a:t>digest</a:t>
            </a:r>
            <a:endParaRPr lang="en-US" sz="1700" dirty="0"/>
          </a:p>
        </p:txBody>
      </p:sp>
      <p:sp>
        <p:nvSpPr>
          <p:cNvPr id="23" name="TextBox 54"/>
          <p:cNvSpPr/>
          <p:nvPr/>
        </p:nvSpPr>
        <p:spPr>
          <a:xfrm>
            <a:off x="6514937" y="5002372"/>
            <a:ext cx="1377916" cy="165096"/>
          </a:xfrm>
          <a:prstGeom prst="rect">
            <a:avLst/>
          </a:prstGeom>
          <a:noFill/>
          <a:ln/>
        </p:spPr>
        <p:txBody>
          <a:bodyPr wrap="square" lIns="0" tIns="0" rIns="0" bIns="0" rtlCol="0" anchor="t">
            <a:spAutoFit/>
          </a:bodyPr>
          <a:lstStyle/>
          <a:p>
            <a:pPr algn="l" indent="0" marL="0">
              <a:buNone/>
            </a:pPr>
            <a:r>
              <a:rPr lang="en-US" sz="1100" dirty="0">
                <a:solidFill>
                  <a:srgbClr val="162A2D"/>
                </a:solidFill>
                <a:latin typeface="Arial" pitchFamily="34" charset="0"/>
                <a:ea typeface="Arial" pitchFamily="34" charset="-122"/>
                <a:cs typeface="Arial" pitchFamily="34" charset="-120"/>
              </a:rPr>
              <a:t>Exact tested image</a:t>
            </a:r>
            <a:endParaRPr lang="en-US" sz="1100" dirty="0"/>
          </a:p>
        </p:txBody>
      </p:sp>
      <p:sp>
        <p:nvSpPr>
          <p:cNvPr id="24" name="TextBox 59"/>
          <p:cNvSpPr/>
          <p:nvPr/>
        </p:nvSpPr>
        <p:spPr>
          <a:xfrm>
            <a:off x="8521487" y="3905238"/>
            <a:ext cx="1492213" cy="469888"/>
          </a:xfrm>
          <a:prstGeom prst="rect">
            <a:avLst/>
          </a:prstGeom>
          <a:noFill/>
          <a:ln/>
        </p:spPr>
        <p:txBody>
          <a:bodyPr wrap="square" lIns="0" tIns="0" rIns="0" bIns="0" rtlCol="0" anchor="t">
            <a:spAutoFit/>
          </a:bodyPr>
          <a:lstStyle/>
          <a:p>
            <a:pPr algn="l" indent="0" marL="0">
              <a:buNone/>
            </a:pPr>
            <a:r>
              <a:rPr lang="en-US" sz="3200" b="1" dirty="0">
                <a:solidFill>
                  <a:srgbClr val="00A99D"/>
                </a:solidFill>
                <a:latin typeface="Arial" pitchFamily="34" charset="0"/>
                <a:ea typeface="Arial" pitchFamily="34" charset="-122"/>
                <a:cs typeface="Arial" pitchFamily="34" charset="-120"/>
              </a:rPr>
              <a:t>05</a:t>
            </a:r>
            <a:endParaRPr lang="en-US" sz="3200" dirty="0"/>
          </a:p>
        </p:txBody>
      </p:sp>
      <p:sp>
        <p:nvSpPr>
          <p:cNvPr id="25" name="TextBox 60"/>
          <p:cNvSpPr/>
          <p:nvPr/>
        </p:nvSpPr>
        <p:spPr>
          <a:xfrm>
            <a:off x="8521487" y="4375126"/>
            <a:ext cx="1492213" cy="438139"/>
          </a:xfrm>
          <a:prstGeom prst="rect">
            <a:avLst/>
          </a:prstGeom>
          <a:noFill/>
          <a:ln/>
        </p:spPr>
        <p:txBody>
          <a:bodyPr wrap="square" lIns="0" tIns="0" rIns="0" bIns="0" rtlCol="0" anchor="t">
            <a:spAutoFit/>
          </a:bodyPr>
          <a:lstStyle/>
          <a:p>
            <a:pPr algn="l" indent="0" marL="0">
              <a:lnSpc>
                <a:spcPts val="1725"/>
              </a:lnSpc>
              <a:buNone/>
            </a:pPr>
            <a:r>
              <a:rPr lang="en-US" sz="1500" b="1" dirty="0">
                <a:solidFill>
                  <a:srgbClr val="162A2D"/>
                </a:solidFill>
                <a:latin typeface="Arial" pitchFamily="34" charset="0"/>
                <a:ea typeface="Arial" pitchFamily="34" charset="-122"/>
                <a:cs typeface="Arial" pitchFamily="34" charset="-120"/>
              </a:rPr>
              <a:t>Binary</a:t>
            </a:r>
            <a:endParaRPr lang="en-US" sz="1500" dirty="0"/>
          </a:p>
          <a:p>
            <a:pPr algn="l" indent="0" marL="0">
              <a:lnSpc>
                <a:spcPts val="1725"/>
              </a:lnSpc>
              <a:buNone/>
            </a:pPr>
            <a:r>
              <a:rPr lang="en-US" sz="1500" b="1" dirty="0">
                <a:solidFill>
                  <a:srgbClr val="162A2D"/>
                </a:solidFill>
                <a:latin typeface="Arial" pitchFamily="34" charset="0"/>
                <a:ea typeface="Arial" pitchFamily="34" charset="-122"/>
                <a:cs typeface="Arial" pitchFamily="34" charset="-120"/>
              </a:rPr>
              <a:t>plan</a:t>
            </a:r>
            <a:endParaRPr lang="en-US" sz="1500" dirty="0"/>
          </a:p>
        </p:txBody>
      </p:sp>
      <p:sp>
        <p:nvSpPr>
          <p:cNvPr id="26" name="TextBox 65"/>
          <p:cNvSpPr/>
          <p:nvPr/>
        </p:nvSpPr>
        <p:spPr>
          <a:xfrm>
            <a:off x="10337542" y="3905238"/>
            <a:ext cx="1269968" cy="469888"/>
          </a:xfrm>
          <a:prstGeom prst="rect">
            <a:avLst/>
          </a:prstGeom>
          <a:noFill/>
          <a:ln/>
        </p:spPr>
        <p:txBody>
          <a:bodyPr wrap="square" lIns="0" tIns="0" rIns="0" bIns="0" rtlCol="0" anchor="t">
            <a:spAutoFit/>
          </a:bodyPr>
          <a:lstStyle/>
          <a:p>
            <a:pPr algn="r" indent="0" marL="0">
              <a:buNone/>
            </a:pPr>
            <a:r>
              <a:rPr lang="en-US" sz="3200" b="1" dirty="0">
                <a:solidFill>
                  <a:srgbClr val="00A99D"/>
                </a:solidFill>
                <a:latin typeface="Arial" pitchFamily="34" charset="0"/>
                <a:ea typeface="Arial" pitchFamily="34" charset="-122"/>
                <a:cs typeface="Arial" pitchFamily="34" charset="-120"/>
              </a:rPr>
              <a:t>06</a:t>
            </a:r>
            <a:endParaRPr lang="en-US" sz="3200" dirty="0"/>
          </a:p>
        </p:txBody>
      </p:sp>
      <p:sp>
        <p:nvSpPr>
          <p:cNvPr id="27" name="TextBox 66"/>
          <p:cNvSpPr/>
          <p:nvPr/>
        </p:nvSpPr>
        <p:spPr>
          <a:xfrm>
            <a:off x="10337542" y="4375126"/>
            <a:ext cx="1269968" cy="438139"/>
          </a:xfrm>
          <a:prstGeom prst="rect">
            <a:avLst/>
          </a:prstGeom>
          <a:noFill/>
          <a:ln/>
        </p:spPr>
        <p:txBody>
          <a:bodyPr wrap="square" lIns="0" tIns="0" rIns="0" bIns="0" rtlCol="0" anchor="t">
            <a:spAutoFit/>
          </a:bodyPr>
          <a:lstStyle/>
          <a:p>
            <a:pPr algn="r" indent="0" marL="0">
              <a:lnSpc>
                <a:spcPts val="1725"/>
              </a:lnSpc>
              <a:buNone/>
            </a:pPr>
            <a:r>
              <a:rPr lang="en-US" sz="1500" b="1" dirty="0">
                <a:solidFill>
                  <a:srgbClr val="162A2D"/>
                </a:solidFill>
                <a:latin typeface="Arial" pitchFamily="34" charset="0"/>
                <a:ea typeface="Arial" pitchFamily="34" charset="-122"/>
                <a:cs typeface="Arial" pitchFamily="34" charset="-120"/>
              </a:rPr>
              <a:t>Apply +</a:t>
            </a:r>
            <a:endParaRPr lang="en-US" sz="1500" dirty="0"/>
          </a:p>
          <a:p>
            <a:pPr algn="r" indent="0" marL="0">
              <a:lnSpc>
                <a:spcPts val="1725"/>
              </a:lnSpc>
              <a:buNone/>
            </a:pPr>
            <a:r>
              <a:rPr lang="en-US" sz="1500" b="1" dirty="0">
                <a:solidFill>
                  <a:srgbClr val="162A2D"/>
                </a:solidFill>
                <a:latin typeface="Arial" pitchFamily="34" charset="0"/>
                <a:ea typeface="Arial" pitchFamily="34" charset="-122"/>
                <a:cs typeface="Arial" pitchFamily="34" charset="-120"/>
              </a:rPr>
              <a:t>verify</a:t>
            </a:r>
            <a:endParaRPr lang="en-US" sz="1500" dirty="0"/>
          </a:p>
        </p:txBody>
      </p:sp>
      <p:sp>
        <p:nvSpPr>
          <p:cNvPr id="28" name="Shape 69"/>
          <p:cNvSpPr/>
          <p:nvPr/>
        </p:nvSpPr>
        <p:spPr>
          <a:xfrm>
            <a:off x="584185" y="5803841"/>
            <a:ext cx="11023324" cy="660383"/>
          </a:xfrm>
          <a:prstGeom prst="roundRect">
            <a:avLst>
              <a:gd name="adj" fmla="val 25000"/>
            </a:avLst>
          </a:prstGeom>
          <a:solidFill>
            <a:srgbClr val="F4F1EA"/>
          </a:solidFill>
          <a:ln/>
        </p:spPr>
      </p:sp>
      <p:sp>
        <p:nvSpPr>
          <p:cNvPr id="29" name="TextBox 71"/>
          <p:cNvSpPr/>
          <p:nvPr/>
        </p:nvSpPr>
        <p:spPr>
          <a:xfrm>
            <a:off x="825479" y="6045135"/>
            <a:ext cx="2349441" cy="177796"/>
          </a:xfrm>
          <a:prstGeom prst="rect">
            <a:avLst/>
          </a:prstGeom>
          <a:noFill/>
          <a:ln/>
        </p:spPr>
        <p:txBody>
          <a:bodyPr wrap="square" lIns="0" tIns="0" rIns="0" bIns="0" rtlCol="0" anchor="t">
            <a:spAutoFit/>
          </a:bodyPr>
          <a:lstStyle/>
          <a:p>
            <a:pPr algn="l" indent="0" marL="0">
              <a:buNone/>
            </a:pPr>
            <a:r>
              <a:rPr lang="en-US" sz="1200" b="1" dirty="0">
                <a:solidFill>
                  <a:srgbClr val="00A99D"/>
                </a:solidFill>
                <a:latin typeface="Arial" pitchFamily="34" charset="0"/>
                <a:ea typeface="Arial" pitchFamily="34" charset="-122"/>
                <a:cs typeface="Arial" pitchFamily="34" charset="-120"/>
              </a:rPr>
              <a:t>NO STATIC CLOUD KEY</a:t>
            </a:r>
            <a:endParaRPr lang="en-US" sz="1200" dirty="0"/>
          </a:p>
        </p:txBody>
      </p:sp>
      <p:sp>
        <p:nvSpPr>
          <p:cNvPr id="30" name="TextBox 73"/>
          <p:cNvSpPr/>
          <p:nvPr/>
        </p:nvSpPr>
        <p:spPr>
          <a:xfrm>
            <a:off x="3174921" y="6035610"/>
            <a:ext cx="3174921" cy="196845"/>
          </a:xfrm>
          <a:prstGeom prst="rect">
            <a:avLst/>
          </a:prstGeom>
          <a:noFill/>
          <a:ln/>
        </p:spPr>
        <p:txBody>
          <a:bodyPr wrap="square" lIns="0" tIns="0" rIns="0" bIns="0" rtlCol="0" anchor="t">
            <a:spAutoFit/>
          </a:bodyPr>
          <a:lstStyle/>
          <a:p>
            <a:pPr algn="l" indent="0" marL="0">
              <a:buNone/>
            </a:pPr>
            <a:r>
              <a:rPr lang="en-US" sz="1350" dirty="0">
                <a:solidFill>
                  <a:srgbClr val="162A2D"/>
                </a:solidFill>
                <a:latin typeface="Arial" pitchFamily="34" charset="0"/>
                <a:ea typeface="Arial" pitchFamily="34" charset="-122"/>
                <a:cs typeface="Arial" pitchFamily="34" charset="-120"/>
              </a:rPr>
              <a:t>No floating image tag</a:t>
            </a:r>
            <a:endParaRPr lang="en-US" sz="1350" dirty="0"/>
          </a:p>
        </p:txBody>
      </p:sp>
      <p:sp>
        <p:nvSpPr>
          <p:cNvPr id="31" name="TextBox 75"/>
          <p:cNvSpPr/>
          <p:nvPr/>
        </p:nvSpPr>
        <p:spPr>
          <a:xfrm>
            <a:off x="6349841" y="6035610"/>
            <a:ext cx="3174921" cy="196845"/>
          </a:xfrm>
          <a:prstGeom prst="rect">
            <a:avLst/>
          </a:prstGeom>
          <a:noFill/>
          <a:ln/>
        </p:spPr>
        <p:txBody>
          <a:bodyPr wrap="square" lIns="0" tIns="0" rIns="0" bIns="0" rtlCol="0" anchor="t">
            <a:spAutoFit/>
          </a:bodyPr>
          <a:lstStyle/>
          <a:p>
            <a:pPr algn="l" indent="0" marL="0">
              <a:buNone/>
            </a:pPr>
            <a:r>
              <a:rPr lang="en-US" sz="1350" dirty="0">
                <a:solidFill>
                  <a:srgbClr val="162A2D"/>
                </a:solidFill>
                <a:latin typeface="Arial" pitchFamily="34" charset="0"/>
                <a:ea typeface="Arial" pitchFamily="34" charset="-122"/>
                <a:cs typeface="Arial" pitchFamily="34" charset="-120"/>
              </a:rPr>
              <a:t>No plan input drift</a:t>
            </a:r>
            <a:endParaRPr lang="en-US" sz="1350" dirty="0"/>
          </a:p>
        </p:txBody>
      </p:sp>
      <p:sp>
        <p:nvSpPr>
          <p:cNvPr id="32" name="TextBox 77"/>
          <p:cNvSpPr/>
          <p:nvPr/>
        </p:nvSpPr>
        <p:spPr>
          <a:xfrm>
            <a:off x="9524762" y="6045135"/>
            <a:ext cx="1714457" cy="177796"/>
          </a:xfrm>
          <a:prstGeom prst="rect">
            <a:avLst/>
          </a:prstGeom>
          <a:noFill/>
          <a:ln/>
        </p:spPr>
        <p:txBody>
          <a:bodyPr wrap="square" lIns="0" tIns="0" rIns="0" bIns="0" rtlCol="0" anchor="t">
            <a:spAutoFit/>
          </a:bodyPr>
          <a:lstStyle/>
          <a:p>
            <a:pPr algn="r" indent="0" marL="0">
              <a:buNone/>
            </a:pPr>
            <a:r>
              <a:rPr lang="en-US" sz="1200" dirty="0">
                <a:solidFill>
                  <a:srgbClr val="00A99D"/>
                </a:solidFill>
                <a:latin typeface="Arial" pitchFamily="34" charset="0"/>
                <a:ea typeface="Arial" pitchFamily="34" charset="-122"/>
                <a:cs typeface="Arial" pitchFamily="34" charset="-120"/>
              </a:rPr>
              <a:t>08</a:t>
            </a:r>
            <a:endParaRPr lang="en-US" sz="1200" dirty="0"/>
          </a:p>
        </p:txBody>
      </p:sp>
    </p:spTree>
  </p:cSld>
  <p:clrMapOvr>
    <a:masterClrMapping/>
  </p:clrMapOvr>
  <p:transition spd="med">
    <p:fade/>
  </p:transition>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1"/>
          <p:cNvSpPr/>
          <p:nvPr/>
        </p:nvSpPr>
        <p:spPr>
          <a:xfrm>
            <a:off x="0" y="86"/>
            <a:ext cx="12191695" cy="6857829"/>
          </a:xfrm>
          <a:prstGeom prst="rect">
            <a:avLst/>
          </a:prstGeom>
          <a:solidFill>
            <a:srgbClr val="F4F1EA"/>
          </a:solidFill>
          <a:ln/>
        </p:spPr>
      </p:sp>
      <p:sp>
        <p:nvSpPr>
          <p:cNvPr id="3" name="TextBox 3"/>
          <p:cNvSpPr/>
          <p:nvPr/>
        </p:nvSpPr>
        <p:spPr>
          <a:xfrm>
            <a:off x="584185" y="457274"/>
            <a:ext cx="2603435" cy="215895"/>
          </a:xfrm>
          <a:prstGeom prst="rect">
            <a:avLst/>
          </a:prstGeom>
          <a:noFill/>
          <a:ln/>
        </p:spPr>
        <p:txBody>
          <a:bodyPr wrap="square" lIns="0" tIns="0" rIns="0" bIns="0" rtlCol="0" anchor="t">
            <a:spAutoFit/>
          </a:bodyPr>
          <a:lstStyle/>
          <a:p>
            <a:pPr algn="l" indent="0" marL="0">
              <a:buNone/>
            </a:pPr>
            <a:r>
              <a:rPr lang="en-US" sz="1000" b="1" spc="200" kern="0" dirty="0">
                <a:solidFill>
                  <a:srgbClr val="00A99D"/>
                </a:solidFill>
                <a:latin typeface="Arial" pitchFamily="34" charset="0"/>
                <a:ea typeface="Arial" pitchFamily="34" charset="-122"/>
                <a:cs typeface="Arial" pitchFamily="34" charset="-120"/>
              </a:rPr>
              <a:t>TASK 03 · COST-AWARE ARCHITECTURE</a:t>
            </a:r>
            <a:endParaRPr lang="en-US" sz="1000" dirty="0"/>
          </a:p>
        </p:txBody>
      </p:sp>
      <p:sp>
        <p:nvSpPr>
          <p:cNvPr id="4" name="TextBox 5"/>
          <p:cNvSpPr/>
          <p:nvPr/>
        </p:nvSpPr>
        <p:spPr>
          <a:xfrm>
            <a:off x="584185" y="812865"/>
            <a:ext cx="8762781" cy="698483"/>
          </a:xfrm>
          <a:prstGeom prst="rect">
            <a:avLst/>
          </a:prstGeom>
          <a:noFill/>
          <a:ln/>
        </p:spPr>
        <p:txBody>
          <a:bodyPr wrap="square" lIns="0" tIns="0" rIns="0" bIns="0" rtlCol="0" anchor="t">
            <a:spAutoFit/>
          </a:bodyPr>
          <a:lstStyle/>
          <a:p>
            <a:pPr algn="l" indent="0" marL="0">
              <a:lnSpc>
                <a:spcPts val="3672"/>
              </a:lnSpc>
              <a:buNone/>
            </a:pPr>
            <a:r>
              <a:rPr lang="en-US" sz="3400" spc="-150" kern="0" dirty="0">
                <a:solidFill>
                  <a:srgbClr val="162A2D"/>
                </a:solidFill>
                <a:latin typeface="Arial" pitchFamily="34" charset="0"/>
                <a:ea typeface="Arial" pitchFamily="34" charset="-122"/>
                <a:cs typeface="Arial" pitchFamily="34" charset="-120"/>
              </a:rPr>
              <a:t>A test should not bill like a platform</a:t>
            </a:r>
            <a:endParaRPr lang="en-US" sz="3400" dirty="0"/>
          </a:p>
        </p:txBody>
      </p:sp>
      <p:sp>
        <p:nvSpPr>
          <p:cNvPr id="5" name="Shape 7"/>
          <p:cNvSpPr/>
          <p:nvPr/>
        </p:nvSpPr>
        <p:spPr>
          <a:xfrm>
            <a:off x="584185" y="1943137"/>
            <a:ext cx="6794330" cy="4127397"/>
          </a:xfrm>
          <a:prstGeom prst="roundRect">
            <a:avLst>
              <a:gd name="adj" fmla="val 6769"/>
            </a:avLst>
          </a:prstGeom>
          <a:solidFill>
            <a:srgbClr val="FFFFFF"/>
          </a:solidFill>
          <a:ln w="6350">
            <a:solidFill>
              <a:srgbClr val="C8D3D1"/>
            </a:solidFill>
            <a:prstDash val="solid"/>
          </a:ln>
        </p:spPr>
      </p:sp>
      <p:sp>
        <p:nvSpPr>
          <p:cNvPr id="6" name="TextBox 9"/>
          <p:cNvSpPr/>
          <p:nvPr/>
        </p:nvSpPr>
        <p:spPr>
          <a:xfrm>
            <a:off x="869928" y="2228880"/>
            <a:ext cx="6222844" cy="152396"/>
          </a:xfrm>
          <a:prstGeom prst="rect">
            <a:avLst/>
          </a:prstGeom>
          <a:noFill/>
          <a:ln/>
        </p:spPr>
        <p:txBody>
          <a:bodyPr wrap="square" lIns="0" tIns="0" rIns="0" bIns="0" rtlCol="0" anchor="t">
            <a:spAutoFit/>
          </a:bodyPr>
          <a:lstStyle/>
          <a:p>
            <a:pPr algn="l" indent="0" marL="0">
              <a:buNone/>
            </a:pPr>
            <a:r>
              <a:rPr lang="en-US" sz="1050" b="1" spc="150" kern="0" dirty="0">
                <a:solidFill>
                  <a:srgbClr val="00A99D"/>
                </a:solidFill>
                <a:latin typeface="Arial" pitchFamily="34" charset="0"/>
                <a:ea typeface="Arial" pitchFamily="34" charset="-122"/>
                <a:cs typeface="Arial" pitchFamily="34" charset="-120"/>
              </a:rPr>
              <a:t>ASSESSMENT PLANE · EXECUTABLE</a:t>
            </a:r>
            <a:endParaRPr lang="en-US" sz="1050" dirty="0"/>
          </a:p>
        </p:txBody>
      </p:sp>
      <p:sp>
        <p:nvSpPr>
          <p:cNvPr id="7" name="Shape 11"/>
          <p:cNvSpPr/>
          <p:nvPr/>
        </p:nvSpPr>
        <p:spPr>
          <a:xfrm>
            <a:off x="869928" y="2622570"/>
            <a:ext cx="2889178" cy="1587460"/>
          </a:xfrm>
          <a:prstGeom prst="roundRect">
            <a:avLst>
              <a:gd name="adj" fmla="val 12800"/>
            </a:avLst>
          </a:prstGeom>
          <a:solidFill>
            <a:srgbClr val="162A2D"/>
          </a:solidFill>
          <a:ln/>
        </p:spPr>
      </p:sp>
      <p:sp>
        <p:nvSpPr>
          <p:cNvPr id="8" name="TextBox 13"/>
          <p:cNvSpPr/>
          <p:nvPr/>
        </p:nvSpPr>
        <p:spPr>
          <a:xfrm>
            <a:off x="1085823" y="2838465"/>
            <a:ext cx="2457389" cy="247644"/>
          </a:xfrm>
          <a:prstGeom prst="rect">
            <a:avLst/>
          </a:prstGeom>
          <a:noFill/>
          <a:ln/>
        </p:spPr>
        <p:txBody>
          <a:bodyPr wrap="square" lIns="0" tIns="0" rIns="0" bIns="0" rtlCol="0" anchor="t">
            <a:spAutoFit/>
          </a:bodyPr>
          <a:lstStyle/>
          <a:p>
            <a:pPr algn="l" indent="0" marL="0">
              <a:buNone/>
            </a:pPr>
            <a:r>
              <a:rPr lang="en-US" sz="1700" b="1" dirty="0">
                <a:solidFill>
                  <a:srgbClr val="FFFFFF"/>
                </a:solidFill>
                <a:latin typeface="Arial" pitchFamily="34" charset="0"/>
                <a:ea typeface="Arial" pitchFamily="34" charset="-122"/>
                <a:cs typeface="Arial" pitchFamily="34" charset="-120"/>
              </a:rPr>
              <a:t>Cloud Run API</a:t>
            </a:r>
            <a:endParaRPr lang="en-US" sz="1700" dirty="0"/>
          </a:p>
        </p:txBody>
      </p:sp>
      <p:sp>
        <p:nvSpPr>
          <p:cNvPr id="9" name="TextBox 14"/>
          <p:cNvSpPr/>
          <p:nvPr/>
        </p:nvSpPr>
        <p:spPr>
          <a:xfrm>
            <a:off x="1085823" y="3213105"/>
            <a:ext cx="2457389" cy="196845"/>
          </a:xfrm>
          <a:prstGeom prst="rect">
            <a:avLst/>
          </a:prstGeom>
          <a:noFill/>
          <a:ln/>
        </p:spPr>
        <p:txBody>
          <a:bodyPr wrap="square" lIns="0" tIns="0" rIns="0" bIns="0" rtlCol="0" anchor="t">
            <a:spAutoFit/>
          </a:bodyPr>
          <a:lstStyle/>
          <a:p>
            <a:pPr algn="l" indent="0" marL="0">
              <a:buNone/>
            </a:pPr>
            <a:r>
              <a:rPr lang="en-US" sz="1300" dirty="0">
                <a:solidFill>
                  <a:srgbClr val="B8C3C1"/>
                </a:solidFill>
                <a:latin typeface="Arial" pitchFamily="34" charset="0"/>
                <a:ea typeface="Arial" pitchFamily="34" charset="-122"/>
                <a:cs typeface="Arial" pitchFamily="34" charset="-120"/>
              </a:rPr>
              <a:t>min 0 · max 1</a:t>
            </a:r>
            <a:endParaRPr lang="en-US" sz="1300" dirty="0"/>
          </a:p>
        </p:txBody>
      </p:sp>
      <p:sp>
        <p:nvSpPr>
          <p:cNvPr id="10" name="TextBox 15"/>
          <p:cNvSpPr/>
          <p:nvPr/>
        </p:nvSpPr>
        <p:spPr>
          <a:xfrm>
            <a:off x="1085823" y="3651244"/>
            <a:ext cx="2457389" cy="177796"/>
          </a:xfrm>
          <a:prstGeom prst="rect">
            <a:avLst/>
          </a:prstGeom>
          <a:noFill/>
          <a:ln/>
        </p:spPr>
        <p:txBody>
          <a:bodyPr wrap="square" lIns="0" tIns="0" rIns="0" bIns="0" rtlCol="0" anchor="t">
            <a:spAutoFit/>
          </a:bodyPr>
          <a:lstStyle/>
          <a:p>
            <a:pPr algn="l" indent="0" marL="0">
              <a:buNone/>
            </a:pPr>
            <a:r>
              <a:rPr lang="en-US" sz="1200" dirty="0">
                <a:solidFill>
                  <a:srgbClr val="00A99D"/>
                </a:solidFill>
                <a:latin typeface="Arial" pitchFamily="34" charset="0"/>
                <a:ea typeface="Arial" pitchFamily="34" charset="-122"/>
                <a:cs typeface="Arial" pitchFamily="34" charset="-120"/>
              </a:rPr>
              <a:t>Authenticated public edge</a:t>
            </a:r>
            <a:endParaRPr lang="en-US" sz="1200" dirty="0"/>
          </a:p>
        </p:txBody>
      </p:sp>
      <p:sp>
        <p:nvSpPr>
          <p:cNvPr id="11" name="Shape 18"/>
          <p:cNvSpPr/>
          <p:nvPr/>
        </p:nvSpPr>
        <p:spPr>
          <a:xfrm>
            <a:off x="4203595" y="2622570"/>
            <a:ext cx="2889178" cy="1587460"/>
          </a:xfrm>
          <a:prstGeom prst="roundRect">
            <a:avLst>
              <a:gd name="adj" fmla="val 12800"/>
            </a:avLst>
          </a:prstGeom>
          <a:solidFill>
            <a:srgbClr val="162A2D"/>
          </a:solidFill>
          <a:ln/>
        </p:spPr>
      </p:sp>
      <p:sp>
        <p:nvSpPr>
          <p:cNvPr id="12" name="TextBox 20"/>
          <p:cNvSpPr/>
          <p:nvPr/>
        </p:nvSpPr>
        <p:spPr>
          <a:xfrm>
            <a:off x="4419490" y="2838465"/>
            <a:ext cx="2457389" cy="247644"/>
          </a:xfrm>
          <a:prstGeom prst="rect">
            <a:avLst/>
          </a:prstGeom>
          <a:noFill/>
          <a:ln/>
        </p:spPr>
        <p:txBody>
          <a:bodyPr wrap="square" lIns="0" tIns="0" rIns="0" bIns="0" rtlCol="0" anchor="t">
            <a:spAutoFit/>
          </a:bodyPr>
          <a:lstStyle/>
          <a:p>
            <a:pPr algn="l" indent="0" marL="0">
              <a:buNone/>
            </a:pPr>
            <a:r>
              <a:rPr lang="en-US" sz="1700" b="1" dirty="0">
                <a:solidFill>
                  <a:srgbClr val="FFFFFF"/>
                </a:solidFill>
                <a:latin typeface="Arial" pitchFamily="34" charset="0"/>
                <a:ea typeface="Arial" pitchFamily="34" charset="-122"/>
                <a:cs typeface="Arial" pitchFamily="34" charset="-120"/>
              </a:rPr>
              <a:t>Cloud Run worker</a:t>
            </a:r>
            <a:endParaRPr lang="en-US" sz="1700" dirty="0"/>
          </a:p>
        </p:txBody>
      </p:sp>
      <p:sp>
        <p:nvSpPr>
          <p:cNvPr id="13" name="TextBox 21"/>
          <p:cNvSpPr/>
          <p:nvPr/>
        </p:nvSpPr>
        <p:spPr>
          <a:xfrm>
            <a:off x="4419490" y="3213105"/>
            <a:ext cx="2457389" cy="196845"/>
          </a:xfrm>
          <a:prstGeom prst="rect">
            <a:avLst/>
          </a:prstGeom>
          <a:noFill/>
          <a:ln/>
        </p:spPr>
        <p:txBody>
          <a:bodyPr wrap="square" lIns="0" tIns="0" rIns="0" bIns="0" rtlCol="0" anchor="t">
            <a:spAutoFit/>
          </a:bodyPr>
          <a:lstStyle/>
          <a:p>
            <a:pPr algn="l" indent="0" marL="0">
              <a:buNone/>
            </a:pPr>
            <a:r>
              <a:rPr lang="en-US" sz="1300" dirty="0">
                <a:solidFill>
                  <a:srgbClr val="B8C3C1"/>
                </a:solidFill>
                <a:latin typeface="Arial" pitchFamily="34" charset="0"/>
                <a:ea typeface="Arial" pitchFamily="34" charset="-122"/>
                <a:cs typeface="Arial" pitchFamily="34" charset="-120"/>
              </a:rPr>
              <a:t>min 0 · max 1</a:t>
            </a:r>
            <a:endParaRPr lang="en-US" sz="1300" dirty="0"/>
          </a:p>
        </p:txBody>
      </p:sp>
      <p:sp>
        <p:nvSpPr>
          <p:cNvPr id="14" name="TextBox 22"/>
          <p:cNvSpPr/>
          <p:nvPr/>
        </p:nvSpPr>
        <p:spPr>
          <a:xfrm>
            <a:off x="4419490" y="3651244"/>
            <a:ext cx="2457389" cy="177796"/>
          </a:xfrm>
          <a:prstGeom prst="rect">
            <a:avLst/>
          </a:prstGeom>
          <a:noFill/>
          <a:ln/>
        </p:spPr>
        <p:txBody>
          <a:bodyPr wrap="square" lIns="0" tIns="0" rIns="0" bIns="0" rtlCol="0" anchor="t">
            <a:spAutoFit/>
          </a:bodyPr>
          <a:lstStyle/>
          <a:p>
            <a:pPr algn="l" indent="0" marL="0">
              <a:buNone/>
            </a:pPr>
            <a:r>
              <a:rPr lang="en-US" sz="1200" dirty="0">
                <a:solidFill>
                  <a:srgbClr val="00A99D"/>
                </a:solidFill>
                <a:latin typeface="Arial" pitchFamily="34" charset="0"/>
                <a:ea typeface="Arial" pitchFamily="34" charset="-122"/>
                <a:cs typeface="Arial" pitchFamily="34" charset="-120"/>
              </a:rPr>
              <a:t>Task-only ingress</a:t>
            </a:r>
            <a:endParaRPr lang="en-US" sz="1200" dirty="0"/>
          </a:p>
        </p:txBody>
      </p:sp>
      <p:sp>
        <p:nvSpPr>
          <p:cNvPr id="15" name="Shape 25"/>
          <p:cNvSpPr/>
          <p:nvPr/>
        </p:nvSpPr>
        <p:spPr>
          <a:xfrm>
            <a:off x="869928" y="4514823"/>
            <a:ext cx="6235544" cy="1206470"/>
          </a:xfrm>
          <a:prstGeom prst="rect">
            <a:avLst/>
          </a:prstGeom>
          <a:noFill/>
          <a:ln/>
        </p:spPr>
      </p:sp>
      <p:pic>
        <p:nvPicPr>
          <p:cNvPr id="16" name="Picture 25" descr="__type_image">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869928" y="4514823"/>
            <a:ext cx="6235544" cy="1206470"/>
          </a:xfrm>
          <a:prstGeom prst="rect">
            <a:avLst/>
          </a:prstGeom>
        </p:spPr>
      </p:pic>
      <p:sp>
        <p:nvSpPr>
          <p:cNvPr id="17" name="TextBox 27"/>
          <p:cNvSpPr/>
          <p:nvPr/>
        </p:nvSpPr>
        <p:spPr>
          <a:xfrm>
            <a:off x="869928" y="4892638"/>
            <a:ext cx="2031949" cy="457189"/>
          </a:xfrm>
          <a:prstGeom prst="rect">
            <a:avLst/>
          </a:prstGeom>
          <a:noFill/>
          <a:ln/>
        </p:spPr>
        <p:txBody>
          <a:bodyPr wrap="square" lIns="0" tIns="0" rIns="0" bIns="0" rtlCol="0" anchor="t">
            <a:spAutoFit/>
          </a:bodyPr>
          <a:lstStyle/>
          <a:p>
            <a:pPr algn="l" indent="0" marL="0">
              <a:buNone/>
            </a:pPr>
            <a:r>
              <a:rPr lang="en-US" sz="1550" b="1" dirty="0">
                <a:solidFill>
                  <a:srgbClr val="162A2D"/>
                </a:solidFill>
                <a:latin typeface="Arial" pitchFamily="34" charset="0"/>
                <a:ea typeface="Arial" pitchFamily="34" charset="-122"/>
                <a:cs typeface="Arial" pitchFamily="34" charset="-120"/>
              </a:rPr>
              <a:t>Cloud Tasks</a:t>
            </a:r>
            <a:endParaRPr lang="en-US" sz="1550" dirty="0"/>
          </a:p>
          <a:p>
            <a:pPr algn="l" indent="0" marL="0">
              <a:buNone/>
            </a:pPr>
            <a:r>
              <a:rPr lang="en-US" sz="1200" dirty="0">
                <a:solidFill>
                  <a:srgbClr val="5E6D6C"/>
                </a:solidFill>
                <a:latin typeface="Arial" pitchFamily="34" charset="0"/>
                <a:ea typeface="Arial" pitchFamily="34" charset="-122"/>
                <a:cs typeface="Arial" pitchFamily="34" charset="-120"/>
              </a:rPr>
              <a:t>concurrency 1</a:t>
            </a:r>
            <a:endParaRPr lang="en-US" sz="1550" dirty="0"/>
          </a:p>
        </p:txBody>
      </p:sp>
      <p:sp>
        <p:nvSpPr>
          <p:cNvPr id="18" name="TextBox 29"/>
          <p:cNvSpPr/>
          <p:nvPr/>
        </p:nvSpPr>
        <p:spPr>
          <a:xfrm>
            <a:off x="2901877" y="4892638"/>
            <a:ext cx="2031949" cy="457189"/>
          </a:xfrm>
          <a:prstGeom prst="rect">
            <a:avLst/>
          </a:prstGeom>
          <a:noFill/>
          <a:ln/>
        </p:spPr>
        <p:txBody>
          <a:bodyPr wrap="square" lIns="0" tIns="0" rIns="0" bIns="0" rtlCol="0" anchor="t">
            <a:spAutoFit/>
          </a:bodyPr>
          <a:lstStyle/>
          <a:p>
            <a:pPr algn="l" indent="0" marL="0">
              <a:buNone/>
            </a:pPr>
            <a:r>
              <a:rPr lang="en-US" sz="1550" b="1" dirty="0">
                <a:solidFill>
                  <a:srgbClr val="162A2D"/>
                </a:solidFill>
                <a:latin typeface="Arial" pitchFamily="34" charset="0"/>
                <a:ea typeface="Arial" pitchFamily="34" charset="-122"/>
                <a:cs typeface="Arial" pitchFamily="34" charset="-120"/>
              </a:rPr>
              <a:t>Firestore</a:t>
            </a:r>
            <a:endParaRPr lang="en-US" sz="1550" dirty="0"/>
          </a:p>
          <a:p>
            <a:pPr algn="l" indent="0" marL="0">
              <a:buNone/>
            </a:pPr>
            <a:r>
              <a:rPr lang="en-US" sz="1200" dirty="0">
                <a:solidFill>
                  <a:srgbClr val="5E6D6C"/>
                </a:solidFill>
                <a:latin typeface="Arial" pitchFamily="34" charset="0"/>
                <a:ea typeface="Arial" pitchFamily="34" charset="-122"/>
                <a:cs typeface="Arial" pitchFamily="34" charset="-120"/>
              </a:rPr>
              <a:t>named database</a:t>
            </a:r>
            <a:endParaRPr lang="en-US" sz="1550" dirty="0"/>
          </a:p>
        </p:txBody>
      </p:sp>
      <p:sp>
        <p:nvSpPr>
          <p:cNvPr id="19" name="TextBox 31"/>
          <p:cNvSpPr/>
          <p:nvPr/>
        </p:nvSpPr>
        <p:spPr>
          <a:xfrm>
            <a:off x="4933827" y="4892638"/>
            <a:ext cx="2095448" cy="457189"/>
          </a:xfrm>
          <a:prstGeom prst="rect">
            <a:avLst/>
          </a:prstGeom>
          <a:noFill/>
          <a:ln/>
        </p:spPr>
        <p:txBody>
          <a:bodyPr wrap="square" lIns="0" tIns="0" rIns="0" bIns="0" rtlCol="0" anchor="t">
            <a:spAutoFit/>
          </a:bodyPr>
          <a:lstStyle/>
          <a:p>
            <a:pPr algn="l" indent="0" marL="0">
              <a:buNone/>
            </a:pPr>
            <a:r>
              <a:rPr lang="en-US" sz="1550" b="1" dirty="0">
                <a:solidFill>
                  <a:srgbClr val="162A2D"/>
                </a:solidFill>
                <a:latin typeface="Arial" pitchFamily="34" charset="0"/>
                <a:ea typeface="Arial" pitchFamily="34" charset="-122"/>
                <a:cs typeface="Arial" pitchFamily="34" charset="-120"/>
              </a:rPr>
              <a:t>Secrets + logs</a:t>
            </a:r>
            <a:endParaRPr lang="en-US" sz="1550" dirty="0"/>
          </a:p>
          <a:p>
            <a:pPr algn="l" indent="0" marL="0">
              <a:buNone/>
            </a:pPr>
            <a:r>
              <a:rPr lang="en-US" sz="1200" dirty="0">
                <a:solidFill>
                  <a:srgbClr val="5E6D6C"/>
                </a:solidFill>
                <a:latin typeface="Arial" pitchFamily="34" charset="0"/>
                <a:ea typeface="Arial" pitchFamily="34" charset="-122"/>
                <a:cs typeface="Arial" pitchFamily="34" charset="-120"/>
              </a:rPr>
              <a:t>identity-bound</a:t>
            </a:r>
            <a:endParaRPr lang="en-US" sz="1550" dirty="0"/>
          </a:p>
        </p:txBody>
      </p:sp>
      <p:sp>
        <p:nvSpPr>
          <p:cNvPr id="20" name="Shape 35"/>
          <p:cNvSpPr/>
          <p:nvPr/>
        </p:nvSpPr>
        <p:spPr>
          <a:xfrm>
            <a:off x="7784905" y="1943137"/>
            <a:ext cx="3822604" cy="4127397"/>
          </a:xfrm>
          <a:prstGeom prst="roundRect">
            <a:avLst>
              <a:gd name="adj" fmla="val 7309"/>
            </a:avLst>
          </a:prstGeom>
          <a:solidFill>
            <a:srgbClr val="162A2D"/>
          </a:solidFill>
          <a:ln/>
        </p:spPr>
      </p:sp>
      <p:sp>
        <p:nvSpPr>
          <p:cNvPr id="21" name="TextBox 37"/>
          <p:cNvSpPr/>
          <p:nvPr/>
        </p:nvSpPr>
        <p:spPr>
          <a:xfrm>
            <a:off x="8064298" y="2222530"/>
            <a:ext cx="3263818" cy="152396"/>
          </a:xfrm>
          <a:prstGeom prst="rect">
            <a:avLst/>
          </a:prstGeom>
          <a:noFill/>
          <a:ln/>
        </p:spPr>
        <p:txBody>
          <a:bodyPr wrap="square" lIns="0" tIns="0" rIns="0" bIns="0" rtlCol="0" anchor="t">
            <a:spAutoFit/>
          </a:bodyPr>
          <a:lstStyle/>
          <a:p>
            <a:pPr algn="l" indent="0" marL="0">
              <a:buNone/>
            </a:pPr>
            <a:r>
              <a:rPr lang="en-US" sz="1050" b="1" spc="150" kern="0" dirty="0">
                <a:solidFill>
                  <a:srgbClr val="00A99D"/>
                </a:solidFill>
                <a:latin typeface="Arial" pitchFamily="34" charset="0"/>
                <a:ea typeface="Arial" pitchFamily="34" charset="-122"/>
                <a:cs typeface="Arial" pitchFamily="34" charset="-120"/>
              </a:rPr>
              <a:t>PRODUCTION MODEL PLANE · GATED</a:t>
            </a:r>
            <a:endParaRPr lang="en-US" sz="1050" dirty="0"/>
          </a:p>
        </p:txBody>
      </p:sp>
      <p:sp>
        <p:nvSpPr>
          <p:cNvPr id="22" name="TextBox 39"/>
          <p:cNvSpPr/>
          <p:nvPr/>
        </p:nvSpPr>
        <p:spPr>
          <a:xfrm>
            <a:off x="8064298" y="2679719"/>
            <a:ext cx="3263818" cy="713167"/>
          </a:xfrm>
          <a:prstGeom prst="rect">
            <a:avLst/>
          </a:prstGeom>
          <a:noFill/>
          <a:ln/>
        </p:spPr>
        <p:txBody>
          <a:bodyPr wrap="square" lIns="0" tIns="0" rIns="0" bIns="0" rtlCol="0" anchor="t">
            <a:spAutoFit/>
          </a:bodyPr>
          <a:lstStyle/>
          <a:p>
            <a:pPr algn="l" indent="0" marL="0">
              <a:lnSpc>
                <a:spcPts val="2808"/>
              </a:lnSpc>
              <a:buNone/>
            </a:pPr>
            <a:r>
              <a:rPr lang="en-US" sz="2600" dirty="0">
                <a:solidFill>
                  <a:srgbClr val="FFFFFF"/>
                </a:solidFill>
                <a:latin typeface="Arial" pitchFamily="34" charset="0"/>
                <a:ea typeface="Arial" pitchFamily="34" charset="-122"/>
                <a:cs typeface="Arial" pitchFamily="34" charset="-120"/>
              </a:rPr>
              <a:t>Inference scales</a:t>
            </a:r>
            <a:endParaRPr lang="en-US" sz="2600" dirty="0"/>
          </a:p>
          <a:p>
            <a:pPr algn="l" indent="0" marL="0">
              <a:lnSpc>
                <a:spcPts val="2808"/>
              </a:lnSpc>
              <a:buNone/>
            </a:pPr>
            <a:r>
              <a:rPr lang="en-US" sz="2600" dirty="0">
                <a:solidFill>
                  <a:srgbClr val="FFFFFF"/>
                </a:solidFill>
                <a:latin typeface="Arial" pitchFamily="34" charset="0"/>
                <a:ea typeface="Arial" pitchFamily="34" charset="-122"/>
                <a:cs typeface="Arial" pitchFamily="34" charset="-120"/>
              </a:rPr>
              <a:t>on its own budget.</a:t>
            </a:r>
            <a:endParaRPr lang="en-US" sz="2600" dirty="0"/>
          </a:p>
        </p:txBody>
      </p:sp>
      <p:sp>
        <p:nvSpPr>
          <p:cNvPr id="23" name="Shape 41"/>
          <p:cNvSpPr/>
          <p:nvPr/>
        </p:nvSpPr>
        <p:spPr>
          <a:xfrm>
            <a:off x="8064298" y="3761176"/>
            <a:ext cx="3238419" cy="1231869"/>
          </a:xfrm>
          <a:prstGeom prst="roundRect">
            <a:avLst>
              <a:gd name="adj" fmla="val 50000"/>
            </a:avLst>
          </a:prstGeom>
          <a:noFill/>
          <a:ln w="12700">
            <a:solidFill>
              <a:srgbClr val="00A99D"/>
            </a:solidFill>
            <a:prstDash val="solid"/>
          </a:ln>
        </p:spPr>
      </p:sp>
      <p:sp>
        <p:nvSpPr>
          <p:cNvPr id="24" name="TextBox 43"/>
          <p:cNvSpPr/>
          <p:nvPr/>
        </p:nvSpPr>
        <p:spPr>
          <a:xfrm>
            <a:off x="8400840" y="4021520"/>
            <a:ext cx="1269968" cy="711182"/>
          </a:xfrm>
          <a:prstGeom prst="rect">
            <a:avLst/>
          </a:prstGeom>
          <a:noFill/>
          <a:ln/>
        </p:spPr>
        <p:txBody>
          <a:bodyPr wrap="none" lIns="0" tIns="0" rIns="0" bIns="0" rtlCol="0" anchor="t">
            <a:spAutoFit/>
          </a:bodyPr>
          <a:lstStyle/>
          <a:p>
            <a:pPr algn="l" indent="0" marL="0">
              <a:lnSpc>
                <a:spcPts val="4100"/>
              </a:lnSpc>
              <a:buNone/>
            </a:pPr>
            <a:r>
              <a:rPr lang="en-US" sz="4100" b="1" dirty="0">
                <a:solidFill>
                  <a:srgbClr val="00A99D"/>
                </a:solidFill>
                <a:latin typeface="Arial" pitchFamily="34" charset="0"/>
                <a:ea typeface="Arial" pitchFamily="34" charset="-122"/>
                <a:cs typeface="Arial" pitchFamily="34" charset="-120"/>
              </a:rPr>
              <a:t>€5</a:t>
            </a:r>
            <a:endParaRPr lang="en-US" sz="4100" dirty="0"/>
          </a:p>
        </p:txBody>
      </p:sp>
      <p:sp>
        <p:nvSpPr>
          <p:cNvPr id="25" name="TextBox 45"/>
          <p:cNvSpPr/>
          <p:nvPr/>
        </p:nvSpPr>
        <p:spPr>
          <a:xfrm>
            <a:off x="9823204" y="4194553"/>
            <a:ext cx="1142971" cy="365116"/>
          </a:xfrm>
          <a:prstGeom prst="rect">
            <a:avLst/>
          </a:prstGeom>
          <a:noFill/>
          <a:ln/>
        </p:spPr>
        <p:txBody>
          <a:bodyPr wrap="square" lIns="0" tIns="0" rIns="0" bIns="0" rtlCol="0" anchor="t">
            <a:spAutoFit/>
          </a:bodyPr>
          <a:lstStyle/>
          <a:p>
            <a:pPr algn="l" indent="0" marL="0">
              <a:lnSpc>
                <a:spcPts val="1437"/>
              </a:lnSpc>
              <a:buNone/>
            </a:pPr>
            <a:r>
              <a:rPr lang="en-US" sz="1250" dirty="0">
                <a:solidFill>
                  <a:srgbClr val="B8C3C1"/>
                </a:solidFill>
                <a:latin typeface="Arial" pitchFamily="34" charset="0"/>
                <a:ea typeface="Arial" pitchFamily="34" charset="-122"/>
                <a:cs typeface="Arial" pitchFamily="34" charset="-120"/>
              </a:rPr>
              <a:t>assessment</a:t>
            </a:r>
            <a:endParaRPr lang="en-US" sz="1250" dirty="0"/>
          </a:p>
          <a:p>
            <a:pPr algn="l" indent="0" marL="0">
              <a:lnSpc>
                <a:spcPts val="1437"/>
              </a:lnSpc>
              <a:buNone/>
            </a:pPr>
            <a:r>
              <a:rPr lang="en-US" sz="1250" dirty="0">
                <a:solidFill>
                  <a:srgbClr val="B8C3C1"/>
                </a:solidFill>
                <a:latin typeface="Arial" pitchFamily="34" charset="0"/>
                <a:ea typeface="Arial" pitchFamily="34" charset="-122"/>
                <a:cs typeface="Arial" pitchFamily="34" charset="-120"/>
              </a:rPr>
              <a:t>alert budget</a:t>
            </a:r>
            <a:endParaRPr lang="en-US" sz="1250" dirty="0"/>
          </a:p>
        </p:txBody>
      </p:sp>
      <p:pic>
        <p:nvPicPr>
          <p:cNvPr id="26" name="Picture 48" descr="__type_image">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064298" y="4825965"/>
            <a:ext cx="3238419" cy="952476"/>
          </a:xfrm>
          <a:prstGeom prst="rect">
            <a:avLst/>
          </a:prstGeom>
        </p:spPr>
      </p:pic>
      <p:sp>
        <p:nvSpPr>
          <p:cNvPr id="27" name="TextBox 48"/>
          <p:cNvSpPr/>
          <p:nvPr/>
        </p:nvSpPr>
        <p:spPr>
          <a:xfrm>
            <a:off x="8064298" y="4825965"/>
            <a:ext cx="3238419" cy="952476"/>
          </a:xfrm>
          <a:prstGeom prst="rect">
            <a:avLst/>
          </a:prstGeom>
          <a:noFill/>
          <a:ln/>
        </p:spPr>
        <p:txBody>
          <a:bodyPr wrap="square" lIns="0" tIns="152396" rIns="0" bIns="0" rtlCol="0" anchor="t">
            <a:spAutoFit/>
          </a:bodyPr>
          <a:lstStyle/>
          <a:p>
            <a:pPr algn="l" indent="0" marL="0">
              <a:lnSpc>
                <a:spcPts val="1750"/>
              </a:lnSpc>
              <a:buNone/>
            </a:pPr>
            <a:r>
              <a:rPr lang="en-US" sz="1250" dirty="0">
                <a:solidFill>
                  <a:srgbClr val="B8C3C1"/>
                </a:solidFill>
                <a:latin typeface="Arial" pitchFamily="34" charset="0"/>
                <a:ea typeface="Arial" pitchFamily="34" charset="-122"/>
                <a:cs typeface="Arial" pitchFamily="34" charset="-120"/>
              </a:rPr>
              <a:t>GPU profile requires evaluation, license review, quota, load test and explicit cost acknowledgement.</a:t>
            </a:r>
            <a:endParaRPr lang="en-US" sz="1250" dirty="0"/>
          </a:p>
        </p:txBody>
      </p:sp>
      <p:sp>
        <p:nvSpPr>
          <p:cNvPr id="28" name="TextBox 51"/>
          <p:cNvSpPr/>
          <p:nvPr/>
        </p:nvSpPr>
        <p:spPr>
          <a:xfrm>
            <a:off x="584185" y="6324528"/>
            <a:ext cx="6857829" cy="253994"/>
          </a:xfrm>
          <a:prstGeom prst="rect">
            <a:avLst/>
          </a:prstGeom>
          <a:noFill/>
          <a:ln/>
        </p:spPr>
        <p:txBody>
          <a:bodyPr wrap="square" lIns="0" tIns="0" rIns="0" bIns="0" rtlCol="0" anchor="t">
            <a:spAutoFit/>
          </a:bodyPr>
          <a:lstStyle/>
          <a:p>
            <a:pPr algn="l" indent="0" marL="0">
              <a:buNone/>
            </a:pPr>
            <a:r>
              <a:rPr lang="en-US" sz="1200" dirty="0">
                <a:solidFill>
                  <a:srgbClr val="5E6D6C"/>
                </a:solidFill>
                <a:latin typeface="Arial" pitchFamily="34" charset="0"/>
                <a:ea typeface="Arial" pitchFamily="34" charset="-122"/>
                <a:cs typeface="Arial" pitchFamily="34" charset="-120"/>
              </a:rPr>
              <a:t>Cost caps are verified after Terraform applies — not left as prose.</a:t>
            </a:r>
            <a:endParaRPr lang="en-US" sz="1200" dirty="0"/>
          </a:p>
        </p:txBody>
      </p:sp>
      <p:sp>
        <p:nvSpPr>
          <p:cNvPr id="29" name="TextBox 53"/>
          <p:cNvSpPr/>
          <p:nvPr/>
        </p:nvSpPr>
        <p:spPr>
          <a:xfrm>
            <a:off x="11099523" y="6349927"/>
            <a:ext cx="507987" cy="253994"/>
          </a:xfrm>
          <a:prstGeom prst="rect">
            <a:avLst/>
          </a:prstGeom>
          <a:noFill/>
          <a:ln/>
        </p:spPr>
        <p:txBody>
          <a:bodyPr wrap="square" lIns="0" tIns="0" rIns="0" bIns="0" rtlCol="0" anchor="t">
            <a:spAutoFit/>
          </a:bodyPr>
          <a:lstStyle/>
          <a:p>
            <a:pPr algn="r" indent="0" marL="0">
              <a:buNone/>
            </a:pPr>
            <a:r>
              <a:rPr lang="en-US" sz="1200" dirty="0">
                <a:solidFill>
                  <a:srgbClr val="00A99D"/>
                </a:solidFill>
                <a:latin typeface="Arial" pitchFamily="34" charset="0"/>
                <a:ea typeface="Arial" pitchFamily="34" charset="-122"/>
                <a:cs typeface="Arial" pitchFamily="34" charset="-120"/>
              </a:rPr>
              <a:t>09</a:t>
            </a:r>
            <a:endParaRPr lang="en-US" sz="1200" dirty="0"/>
          </a:p>
        </p:txBody>
      </p:sp>
    </p:spTree>
  </p:cSld>
  <p:clrMapOvr>
    <a:masterClrMapping/>
  </p:clrMapOvr>
  <p:transition spd="med">
    <p:push dir="l"/>
  </p:transition>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1"/>
          <p:cNvSpPr/>
          <p:nvPr/>
        </p:nvSpPr>
        <p:spPr>
          <a:xfrm>
            <a:off x="0" y="86"/>
            <a:ext cx="12191695" cy="6857829"/>
          </a:xfrm>
          <a:prstGeom prst="rect">
            <a:avLst/>
          </a:prstGeom>
          <a:solidFill>
            <a:srgbClr val="162A2D"/>
          </a:solidFill>
          <a:ln/>
        </p:spPr>
      </p:sp>
      <p:sp>
        <p:nvSpPr>
          <p:cNvPr id="3" name="TextBox 3"/>
          <p:cNvSpPr/>
          <p:nvPr/>
        </p:nvSpPr>
        <p:spPr>
          <a:xfrm>
            <a:off x="584185" y="457274"/>
            <a:ext cx="2476438" cy="215895"/>
          </a:xfrm>
          <a:prstGeom prst="rect">
            <a:avLst/>
          </a:prstGeom>
          <a:noFill/>
          <a:ln/>
        </p:spPr>
        <p:txBody>
          <a:bodyPr wrap="square" lIns="0" tIns="0" rIns="0" bIns="0" rtlCol="0" anchor="t">
            <a:spAutoFit/>
          </a:bodyPr>
          <a:lstStyle/>
          <a:p>
            <a:pPr algn="l" indent="0" marL="0">
              <a:buNone/>
            </a:pPr>
            <a:r>
              <a:rPr lang="en-US" sz="1000" b="1" spc="200" kern="0" dirty="0">
                <a:solidFill>
                  <a:srgbClr val="00A99D"/>
                </a:solidFill>
                <a:latin typeface="Arial" pitchFamily="34" charset="0"/>
                <a:ea typeface="Arial" pitchFamily="34" charset="-122"/>
                <a:cs typeface="Arial" pitchFamily="34" charset="-120"/>
              </a:rPr>
              <a:t>TASKS 04—06 · APPLIED ML</a:t>
            </a:r>
            <a:endParaRPr lang="en-US" sz="1000" dirty="0"/>
          </a:p>
        </p:txBody>
      </p:sp>
      <p:sp>
        <p:nvSpPr>
          <p:cNvPr id="4" name="TextBox 5"/>
          <p:cNvSpPr/>
          <p:nvPr/>
        </p:nvSpPr>
        <p:spPr>
          <a:xfrm>
            <a:off x="584185" y="812865"/>
            <a:ext cx="9524762" cy="736582"/>
          </a:xfrm>
          <a:prstGeom prst="rect">
            <a:avLst/>
          </a:prstGeom>
          <a:noFill/>
          <a:ln/>
        </p:spPr>
        <p:txBody>
          <a:bodyPr wrap="square" lIns="0" tIns="0" rIns="0" bIns="0" rtlCol="0" anchor="t">
            <a:spAutoFit/>
          </a:bodyPr>
          <a:lstStyle/>
          <a:p>
            <a:pPr algn="l" indent="0" marL="0">
              <a:lnSpc>
                <a:spcPts val="3672"/>
              </a:lnSpc>
              <a:buNone/>
            </a:pPr>
            <a:r>
              <a:rPr lang="en-US" sz="3400" spc="-150" kern="0" dirty="0">
                <a:solidFill>
                  <a:srgbClr val="FFFFFF"/>
                </a:solidFill>
                <a:latin typeface="Arial" pitchFamily="34" charset="0"/>
                <a:ea typeface="Arial" pitchFamily="34" charset="-122"/>
                <a:cs typeface="Arial" pitchFamily="34" charset="-120"/>
              </a:rPr>
              <a:t>Three tasks. Three decisions I would defend.</a:t>
            </a:r>
            <a:endParaRPr lang="en-US" sz="3400" dirty="0"/>
          </a:p>
        </p:txBody>
      </p:sp>
      <p:sp>
        <p:nvSpPr>
          <p:cNvPr id="5" name="Shape 7"/>
          <p:cNvSpPr/>
          <p:nvPr/>
        </p:nvSpPr>
        <p:spPr>
          <a:xfrm>
            <a:off x="584185" y="2019335"/>
            <a:ext cx="3365416" cy="4127397"/>
          </a:xfrm>
          <a:prstGeom prst="rect">
            <a:avLst/>
          </a:prstGeom>
          <a:solidFill>
            <a:srgbClr val="FFFFFF">
              <a:alpha val="6000"/>
            </a:srgbClr>
          </a:solidFill>
          <a:ln/>
        </p:spPr>
      </p:sp>
      <p:pic>
        <p:nvPicPr>
          <p:cNvPr id="6" name="Picture 7" descr="__type_image">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584185" y="2019335"/>
            <a:ext cx="3365416" cy="4127397"/>
          </a:xfrm>
          <a:prstGeom prst="rect">
            <a:avLst/>
          </a:prstGeom>
        </p:spPr>
      </p:pic>
      <p:sp>
        <p:nvSpPr>
          <p:cNvPr id="7" name="TextBox 9"/>
          <p:cNvSpPr/>
          <p:nvPr/>
        </p:nvSpPr>
        <p:spPr>
          <a:xfrm>
            <a:off x="825479" y="2298728"/>
            <a:ext cx="2882828" cy="857229"/>
          </a:xfrm>
          <a:prstGeom prst="rect">
            <a:avLst/>
          </a:prstGeom>
          <a:noFill/>
          <a:ln/>
        </p:spPr>
        <p:txBody>
          <a:bodyPr wrap="square" lIns="0" tIns="0" rIns="0" bIns="0" rtlCol="0" anchor="t">
            <a:spAutoFit/>
          </a:bodyPr>
          <a:lstStyle/>
          <a:p>
            <a:pPr algn="l" indent="0" marL="0">
              <a:lnSpc>
                <a:spcPts val="6750"/>
              </a:lnSpc>
              <a:buNone/>
            </a:pPr>
            <a:r>
              <a:rPr lang="en-US" sz="7500" b="1" spc="-450" kern="0" dirty="0">
                <a:solidFill>
                  <a:srgbClr val="FFFFFF">
                    <a:alpha val="18000"/>
                  </a:srgbClr>
                </a:solidFill>
                <a:latin typeface="Arial" pitchFamily="34" charset="0"/>
                <a:ea typeface="Arial" pitchFamily="34" charset="-122"/>
                <a:cs typeface="Arial" pitchFamily="34" charset="-120"/>
              </a:rPr>
              <a:t>04</a:t>
            </a:r>
            <a:endParaRPr lang="en-US" sz="7500" dirty="0"/>
          </a:p>
        </p:txBody>
      </p:sp>
      <p:sp>
        <p:nvSpPr>
          <p:cNvPr id="8" name="TextBox 11"/>
          <p:cNvSpPr/>
          <p:nvPr/>
        </p:nvSpPr>
        <p:spPr>
          <a:xfrm>
            <a:off x="825479" y="3232155"/>
            <a:ext cx="2882828" cy="534776"/>
          </a:xfrm>
          <a:prstGeom prst="rect">
            <a:avLst/>
          </a:prstGeom>
          <a:noFill/>
          <a:ln/>
        </p:spPr>
        <p:txBody>
          <a:bodyPr wrap="square" lIns="0" tIns="0" rIns="0" bIns="0" rtlCol="0" anchor="t">
            <a:spAutoFit/>
          </a:bodyPr>
          <a:lstStyle/>
          <a:p>
            <a:pPr algn="l" indent="0" marL="0">
              <a:lnSpc>
                <a:spcPts val="2106"/>
              </a:lnSpc>
              <a:buNone/>
            </a:pPr>
            <a:r>
              <a:rPr lang="en-US" sz="1950" b="1" dirty="0">
                <a:solidFill>
                  <a:srgbClr val="FFFFFF"/>
                </a:solidFill>
                <a:latin typeface="Arial" pitchFamily="34" charset="0"/>
                <a:ea typeface="Arial" pitchFamily="34" charset="-122"/>
                <a:cs typeface="Arial" pitchFamily="34" charset="-120"/>
              </a:rPr>
              <a:t>Failure</a:t>
            </a:r>
            <a:endParaRPr lang="en-US" sz="1950" dirty="0"/>
          </a:p>
          <a:p>
            <a:pPr algn="l" indent="0" marL="0">
              <a:lnSpc>
                <a:spcPts val="2106"/>
              </a:lnSpc>
              <a:buNone/>
            </a:pPr>
            <a:r>
              <a:rPr lang="en-US" sz="1950" b="1" dirty="0">
                <a:solidFill>
                  <a:srgbClr val="FFFFFF"/>
                </a:solidFill>
                <a:latin typeface="Arial" pitchFamily="34" charset="0"/>
                <a:ea typeface="Arial" pitchFamily="34" charset="-122"/>
                <a:cs typeface="Arial" pitchFamily="34" charset="-120"/>
              </a:rPr>
              <a:t>prediction</a:t>
            </a:r>
            <a:endParaRPr lang="en-US" sz="1950" dirty="0"/>
          </a:p>
        </p:txBody>
      </p:sp>
      <p:sp>
        <p:nvSpPr>
          <p:cNvPr id="9" name="TextBox 13"/>
          <p:cNvSpPr/>
          <p:nvPr/>
        </p:nvSpPr>
        <p:spPr>
          <a:xfrm>
            <a:off x="825479" y="4084423"/>
            <a:ext cx="2882828" cy="473063"/>
          </a:xfrm>
          <a:prstGeom prst="rect">
            <a:avLst/>
          </a:prstGeom>
          <a:noFill/>
          <a:ln/>
        </p:spPr>
        <p:txBody>
          <a:bodyPr wrap="square" lIns="0" tIns="0" rIns="0" bIns="0" rtlCol="0" anchor="t">
            <a:spAutoFit/>
          </a:bodyPr>
          <a:lstStyle/>
          <a:p>
            <a:pPr algn="l" indent="0" marL="0">
              <a:lnSpc>
                <a:spcPts val="1863"/>
              </a:lnSpc>
              <a:buNone/>
            </a:pPr>
            <a:r>
              <a:rPr lang="en-US" sz="1350" dirty="0">
                <a:solidFill>
                  <a:srgbClr val="B8C3C1"/>
                </a:solidFill>
                <a:latin typeface="Arial" pitchFamily="34" charset="0"/>
                <a:ea typeface="Arial" pitchFamily="34" charset="-122"/>
                <a:cs typeface="Arial" pitchFamily="34" charset="-120"/>
              </a:rPr>
              <a:t>Group identical feature vectors before CV and holdout.</a:t>
            </a:r>
            <a:endParaRPr lang="en-US" sz="1350" dirty="0"/>
          </a:p>
        </p:txBody>
      </p:sp>
      <p:pic>
        <p:nvPicPr>
          <p:cNvPr id="10" name="Picture 15" descr="__type_image">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25479" y="5245055"/>
            <a:ext cx="2793930" cy="634984"/>
          </a:xfrm>
          <a:prstGeom prst="rect">
            <a:avLst/>
          </a:prstGeom>
        </p:spPr>
      </p:pic>
      <p:sp>
        <p:nvSpPr>
          <p:cNvPr id="11" name="TextBox 15"/>
          <p:cNvSpPr/>
          <p:nvPr/>
        </p:nvSpPr>
        <p:spPr>
          <a:xfrm>
            <a:off x="825479" y="5245055"/>
            <a:ext cx="2793930" cy="634984"/>
          </a:xfrm>
          <a:prstGeom prst="rect">
            <a:avLst/>
          </a:prstGeom>
          <a:noFill/>
          <a:ln/>
        </p:spPr>
        <p:txBody>
          <a:bodyPr wrap="square" lIns="0" tIns="139697" rIns="0" bIns="0" rtlCol="0" anchor="t">
            <a:spAutoFit/>
          </a:bodyPr>
          <a:lstStyle/>
          <a:p>
            <a:pPr algn="l" indent="0" marL="0">
              <a:buNone/>
            </a:pPr>
            <a:r>
              <a:rPr lang="en-US" sz="1250" dirty="0">
                <a:solidFill>
                  <a:srgbClr val="00A99D"/>
                </a:solidFill>
                <a:latin typeface="Arial" pitchFamily="34" charset="0"/>
                <a:ea typeface="Arial" pitchFamily="34" charset="-122"/>
                <a:cs typeface="Arial" pitchFamily="34" charset="-120"/>
              </a:rPr>
              <a:t>Leakage risk shaped the pipeline.</a:t>
            </a:r>
            <a:endParaRPr lang="en-US" sz="1250" dirty="0"/>
          </a:p>
        </p:txBody>
      </p:sp>
      <p:sp>
        <p:nvSpPr>
          <p:cNvPr id="12" name="Shape 18"/>
          <p:cNvSpPr/>
          <p:nvPr/>
        </p:nvSpPr>
        <p:spPr>
          <a:xfrm>
            <a:off x="4413140" y="2019335"/>
            <a:ext cx="3365416" cy="4127397"/>
          </a:xfrm>
          <a:prstGeom prst="rect">
            <a:avLst/>
          </a:prstGeom>
          <a:solidFill>
            <a:srgbClr val="F4F1EA"/>
          </a:solidFill>
          <a:ln/>
        </p:spPr>
      </p:sp>
      <p:sp>
        <p:nvSpPr>
          <p:cNvPr id="13" name="TextBox 20"/>
          <p:cNvSpPr/>
          <p:nvPr/>
        </p:nvSpPr>
        <p:spPr>
          <a:xfrm>
            <a:off x="4654434" y="2260629"/>
            <a:ext cx="2882828" cy="857229"/>
          </a:xfrm>
          <a:prstGeom prst="rect">
            <a:avLst/>
          </a:prstGeom>
          <a:noFill/>
          <a:ln/>
        </p:spPr>
        <p:txBody>
          <a:bodyPr wrap="square" lIns="0" tIns="0" rIns="0" bIns="0" rtlCol="0" anchor="t">
            <a:spAutoFit/>
          </a:bodyPr>
          <a:lstStyle/>
          <a:p>
            <a:pPr algn="l" indent="0" marL="0">
              <a:lnSpc>
                <a:spcPts val="6750"/>
              </a:lnSpc>
              <a:buNone/>
            </a:pPr>
            <a:r>
              <a:rPr lang="en-US" sz="7500" b="1" spc="-450" kern="0" dirty="0">
                <a:solidFill>
                  <a:srgbClr val="162A2D">
                    <a:alpha val="13000"/>
                  </a:srgbClr>
                </a:solidFill>
                <a:latin typeface="Arial" pitchFamily="34" charset="0"/>
                <a:ea typeface="Arial" pitchFamily="34" charset="-122"/>
                <a:cs typeface="Arial" pitchFamily="34" charset="-120"/>
              </a:rPr>
              <a:t>05</a:t>
            </a:r>
            <a:endParaRPr lang="en-US" sz="7500" dirty="0"/>
          </a:p>
        </p:txBody>
      </p:sp>
      <p:sp>
        <p:nvSpPr>
          <p:cNvPr id="14" name="TextBox 22"/>
          <p:cNvSpPr/>
          <p:nvPr/>
        </p:nvSpPr>
        <p:spPr>
          <a:xfrm>
            <a:off x="4654434" y="3194056"/>
            <a:ext cx="2882828" cy="534776"/>
          </a:xfrm>
          <a:prstGeom prst="rect">
            <a:avLst/>
          </a:prstGeom>
          <a:noFill/>
          <a:ln/>
        </p:spPr>
        <p:txBody>
          <a:bodyPr wrap="square" lIns="0" tIns="0" rIns="0" bIns="0" rtlCol="0" anchor="t">
            <a:spAutoFit/>
          </a:bodyPr>
          <a:lstStyle/>
          <a:p>
            <a:pPr algn="l" indent="0" marL="0">
              <a:lnSpc>
                <a:spcPts val="2106"/>
              </a:lnSpc>
              <a:buNone/>
            </a:pPr>
            <a:r>
              <a:rPr lang="en-US" sz="1950" b="1" dirty="0">
                <a:solidFill>
                  <a:srgbClr val="162A2D"/>
                </a:solidFill>
                <a:latin typeface="Arial" pitchFamily="34" charset="0"/>
                <a:ea typeface="Arial" pitchFamily="34" charset="-122"/>
                <a:cs typeface="Arial" pitchFamily="34" charset="-120"/>
              </a:rPr>
              <a:t>Material</a:t>
            </a:r>
            <a:endParaRPr lang="en-US" sz="1950" dirty="0"/>
          </a:p>
          <a:p>
            <a:pPr algn="l" indent="0" marL="0">
              <a:lnSpc>
                <a:spcPts val="2106"/>
              </a:lnSpc>
              <a:buNone/>
            </a:pPr>
            <a:r>
              <a:rPr lang="en-US" sz="1950" b="1" dirty="0">
                <a:solidFill>
                  <a:srgbClr val="162A2D"/>
                </a:solidFill>
                <a:latin typeface="Arial" pitchFamily="34" charset="0"/>
                <a:ea typeface="Arial" pitchFamily="34" charset="-122"/>
                <a:cs typeface="Arial" pitchFamily="34" charset="-120"/>
              </a:rPr>
              <a:t>similarity</a:t>
            </a:r>
            <a:endParaRPr lang="en-US" sz="1950" dirty="0"/>
          </a:p>
        </p:txBody>
      </p:sp>
      <p:sp>
        <p:nvSpPr>
          <p:cNvPr id="15" name="TextBox 24"/>
          <p:cNvSpPr/>
          <p:nvPr/>
        </p:nvSpPr>
        <p:spPr>
          <a:xfrm>
            <a:off x="4654434" y="4046324"/>
            <a:ext cx="2882828" cy="473063"/>
          </a:xfrm>
          <a:prstGeom prst="rect">
            <a:avLst/>
          </a:prstGeom>
          <a:noFill/>
          <a:ln/>
        </p:spPr>
        <p:txBody>
          <a:bodyPr wrap="square" lIns="0" tIns="0" rIns="0" bIns="0" rtlCol="0" anchor="t">
            <a:spAutoFit/>
          </a:bodyPr>
          <a:lstStyle/>
          <a:p>
            <a:pPr algn="l" indent="0" marL="0">
              <a:lnSpc>
                <a:spcPts val="1863"/>
              </a:lnSpc>
              <a:buNone/>
            </a:pPr>
            <a:r>
              <a:rPr lang="en-US" sz="1350" dirty="0">
                <a:solidFill>
                  <a:srgbClr val="5E6D6C"/>
                </a:solidFill>
                <a:latin typeface="Arial" pitchFamily="34" charset="0"/>
                <a:ea typeface="Arial" pitchFamily="34" charset="-122"/>
                <a:cs typeface="Arial" pitchFamily="34" charset="-120"/>
              </a:rPr>
              <a:t>Use lexical evidence before embeddings or ANN complexity.</a:t>
            </a:r>
            <a:endParaRPr lang="en-US" sz="1350" dirty="0"/>
          </a:p>
        </p:txBody>
      </p:sp>
      <p:pic>
        <p:nvPicPr>
          <p:cNvPr id="16" name="Picture 26" descr="__type_image">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4654434" y="5245055"/>
            <a:ext cx="2793930" cy="634984"/>
          </a:xfrm>
          <a:prstGeom prst="rect">
            <a:avLst/>
          </a:prstGeom>
        </p:spPr>
      </p:pic>
      <p:sp>
        <p:nvSpPr>
          <p:cNvPr id="17" name="TextBox 26"/>
          <p:cNvSpPr/>
          <p:nvPr/>
        </p:nvSpPr>
        <p:spPr>
          <a:xfrm>
            <a:off x="4654434" y="5245055"/>
            <a:ext cx="2793930" cy="634984"/>
          </a:xfrm>
          <a:prstGeom prst="rect">
            <a:avLst/>
          </a:prstGeom>
          <a:noFill/>
          <a:ln/>
        </p:spPr>
        <p:txBody>
          <a:bodyPr wrap="square" lIns="0" tIns="139697" rIns="0" bIns="0" rtlCol="0" anchor="t">
            <a:spAutoFit/>
          </a:bodyPr>
          <a:lstStyle/>
          <a:p>
            <a:pPr algn="l" indent="0" marL="0">
              <a:buNone/>
            </a:pPr>
            <a:r>
              <a:rPr lang="en-US" sz="1250" dirty="0">
                <a:solidFill>
                  <a:srgbClr val="00A99D"/>
                </a:solidFill>
                <a:latin typeface="Arial" pitchFamily="34" charset="0"/>
                <a:ea typeface="Arial" pitchFamily="34" charset="-122"/>
                <a:cs typeface="Arial" pitchFamily="34" charset="-120"/>
              </a:rPr>
              <a:t>Blank descriptions must abstain.</a:t>
            </a:r>
            <a:endParaRPr lang="en-US" sz="1250" dirty="0"/>
          </a:p>
        </p:txBody>
      </p:sp>
      <p:sp>
        <p:nvSpPr>
          <p:cNvPr id="18" name="Shape 29"/>
          <p:cNvSpPr/>
          <p:nvPr/>
        </p:nvSpPr>
        <p:spPr>
          <a:xfrm>
            <a:off x="8242094" y="2019335"/>
            <a:ext cx="3365416" cy="4127397"/>
          </a:xfrm>
          <a:prstGeom prst="rect">
            <a:avLst/>
          </a:prstGeom>
          <a:solidFill>
            <a:srgbClr val="FFFFFF">
              <a:alpha val="6000"/>
            </a:srgbClr>
          </a:solidFill>
          <a:ln/>
        </p:spPr>
      </p:sp>
      <p:pic>
        <p:nvPicPr>
          <p:cNvPr id="19" name="Picture 29" descr="__type_image">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8242094" y="2019335"/>
            <a:ext cx="3365416" cy="4127397"/>
          </a:xfrm>
          <a:prstGeom prst="rect">
            <a:avLst/>
          </a:prstGeom>
        </p:spPr>
      </p:pic>
      <p:sp>
        <p:nvSpPr>
          <p:cNvPr id="20" name="TextBox 31"/>
          <p:cNvSpPr/>
          <p:nvPr/>
        </p:nvSpPr>
        <p:spPr>
          <a:xfrm>
            <a:off x="8483388" y="2260629"/>
            <a:ext cx="2882828" cy="857229"/>
          </a:xfrm>
          <a:prstGeom prst="rect">
            <a:avLst/>
          </a:prstGeom>
          <a:noFill/>
          <a:ln/>
        </p:spPr>
        <p:txBody>
          <a:bodyPr wrap="square" lIns="0" tIns="0" rIns="0" bIns="0" rtlCol="0" anchor="t">
            <a:spAutoFit/>
          </a:bodyPr>
          <a:lstStyle/>
          <a:p>
            <a:pPr algn="l" indent="0" marL="0">
              <a:lnSpc>
                <a:spcPts val="6750"/>
              </a:lnSpc>
              <a:buNone/>
            </a:pPr>
            <a:r>
              <a:rPr lang="en-US" sz="7500" b="1" spc="-450" kern="0" dirty="0">
                <a:solidFill>
                  <a:srgbClr val="FFFFFF">
                    <a:alpha val="18000"/>
                  </a:srgbClr>
                </a:solidFill>
                <a:latin typeface="Arial" pitchFamily="34" charset="0"/>
                <a:ea typeface="Arial" pitchFamily="34" charset="-122"/>
                <a:cs typeface="Arial" pitchFamily="34" charset="-120"/>
              </a:rPr>
              <a:t>06</a:t>
            </a:r>
            <a:endParaRPr lang="en-US" sz="7500" dirty="0"/>
          </a:p>
        </p:txBody>
      </p:sp>
      <p:sp>
        <p:nvSpPr>
          <p:cNvPr id="21" name="TextBox 33"/>
          <p:cNvSpPr/>
          <p:nvPr/>
        </p:nvSpPr>
        <p:spPr>
          <a:xfrm>
            <a:off x="8483388" y="3194056"/>
            <a:ext cx="2882828" cy="534776"/>
          </a:xfrm>
          <a:prstGeom prst="rect">
            <a:avLst/>
          </a:prstGeom>
          <a:noFill/>
          <a:ln/>
        </p:spPr>
        <p:txBody>
          <a:bodyPr wrap="square" lIns="0" tIns="0" rIns="0" bIns="0" rtlCol="0" anchor="t">
            <a:spAutoFit/>
          </a:bodyPr>
          <a:lstStyle/>
          <a:p>
            <a:pPr algn="l" indent="0" marL="0">
              <a:lnSpc>
                <a:spcPts val="2106"/>
              </a:lnSpc>
              <a:buNone/>
            </a:pPr>
            <a:r>
              <a:rPr lang="en-US" sz="1950" b="1" dirty="0">
                <a:solidFill>
                  <a:srgbClr val="FFFFFF"/>
                </a:solidFill>
                <a:latin typeface="Arial" pitchFamily="34" charset="0"/>
                <a:ea typeface="Arial" pitchFamily="34" charset="-122"/>
                <a:cs typeface="Arial" pitchFamily="34" charset="-120"/>
              </a:rPr>
              <a:t>Category</a:t>
            </a:r>
            <a:endParaRPr lang="en-US" sz="1950" dirty="0"/>
          </a:p>
          <a:p>
            <a:pPr algn="l" indent="0" marL="0">
              <a:lnSpc>
                <a:spcPts val="2106"/>
              </a:lnSpc>
              <a:buNone/>
            </a:pPr>
            <a:r>
              <a:rPr lang="en-US" sz="1950" b="1" dirty="0">
                <a:solidFill>
                  <a:srgbClr val="FFFFFF"/>
                </a:solidFill>
                <a:latin typeface="Arial" pitchFamily="34" charset="0"/>
                <a:ea typeface="Arial" pitchFamily="34" charset="-122"/>
                <a:cs typeface="Arial" pitchFamily="34" charset="-120"/>
              </a:rPr>
              <a:t>consolidation</a:t>
            </a:r>
            <a:endParaRPr lang="en-US" sz="1950" dirty="0"/>
          </a:p>
        </p:txBody>
      </p:sp>
      <p:sp>
        <p:nvSpPr>
          <p:cNvPr id="22" name="TextBox 35"/>
          <p:cNvSpPr/>
          <p:nvPr/>
        </p:nvSpPr>
        <p:spPr>
          <a:xfrm>
            <a:off x="8483388" y="4046324"/>
            <a:ext cx="2882828" cy="473063"/>
          </a:xfrm>
          <a:prstGeom prst="rect">
            <a:avLst/>
          </a:prstGeom>
          <a:noFill/>
          <a:ln/>
        </p:spPr>
        <p:txBody>
          <a:bodyPr wrap="square" lIns="0" tIns="0" rIns="0" bIns="0" rtlCol="0" anchor="t">
            <a:spAutoFit/>
          </a:bodyPr>
          <a:lstStyle/>
          <a:p>
            <a:pPr algn="l" indent="0" marL="0">
              <a:lnSpc>
                <a:spcPts val="1863"/>
              </a:lnSpc>
              <a:buNone/>
            </a:pPr>
            <a:r>
              <a:rPr lang="en-US" sz="1350" dirty="0">
                <a:solidFill>
                  <a:srgbClr val="B8C3C1"/>
                </a:solidFill>
                <a:latin typeface="Arial" pitchFamily="34" charset="0"/>
                <a:ea typeface="Arial" pitchFamily="34" charset="-122"/>
                <a:cs typeface="Arial" pitchFamily="34" charset="-120"/>
              </a:rPr>
              <a:t>Fit vocabulary once; map unseen values predictably.</a:t>
            </a:r>
            <a:endParaRPr lang="en-US" sz="1350" dirty="0"/>
          </a:p>
        </p:txBody>
      </p:sp>
      <p:pic>
        <p:nvPicPr>
          <p:cNvPr id="23" name="Picture 37" descr="__type_image">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8483388" y="5206956"/>
            <a:ext cx="2793930" cy="634984"/>
          </a:xfrm>
          <a:prstGeom prst="rect">
            <a:avLst/>
          </a:prstGeom>
        </p:spPr>
      </p:pic>
      <p:sp>
        <p:nvSpPr>
          <p:cNvPr id="24" name="TextBox 37"/>
          <p:cNvSpPr/>
          <p:nvPr/>
        </p:nvSpPr>
        <p:spPr>
          <a:xfrm>
            <a:off x="8483388" y="5206956"/>
            <a:ext cx="2793930" cy="634984"/>
          </a:xfrm>
          <a:prstGeom prst="rect">
            <a:avLst/>
          </a:prstGeom>
          <a:noFill/>
          <a:ln/>
        </p:spPr>
        <p:txBody>
          <a:bodyPr wrap="square" lIns="0" tIns="139697" rIns="0" bIns="0" rtlCol="0" anchor="t">
            <a:spAutoFit/>
          </a:bodyPr>
          <a:lstStyle/>
          <a:p>
            <a:pPr algn="l" indent="0" marL="0">
              <a:buNone/>
            </a:pPr>
            <a:r>
              <a:rPr lang="en-US" sz="1250" dirty="0">
                <a:solidFill>
                  <a:srgbClr val="00A99D"/>
                </a:solidFill>
                <a:latin typeface="Arial" pitchFamily="34" charset="0"/>
                <a:ea typeface="Arial" pitchFamily="34" charset="-122"/>
                <a:cs typeface="Arial" pitchFamily="34" charset="-120"/>
              </a:rPr>
              <a:t>Training state stays frozen.</a:t>
            </a:r>
            <a:endParaRPr lang="en-US" sz="1250" dirty="0"/>
          </a:p>
        </p:txBody>
      </p:sp>
      <p:sp>
        <p:nvSpPr>
          <p:cNvPr id="25" name="TextBox 40"/>
          <p:cNvSpPr/>
          <p:nvPr/>
        </p:nvSpPr>
        <p:spPr>
          <a:xfrm>
            <a:off x="11099523" y="6362627"/>
            <a:ext cx="507987" cy="253994"/>
          </a:xfrm>
          <a:prstGeom prst="rect">
            <a:avLst/>
          </a:prstGeom>
          <a:noFill/>
          <a:ln/>
        </p:spPr>
        <p:txBody>
          <a:bodyPr wrap="square" lIns="0" tIns="0" rIns="0" bIns="0" rtlCol="0" anchor="t">
            <a:spAutoFit/>
          </a:bodyPr>
          <a:lstStyle/>
          <a:p>
            <a:pPr algn="r" indent="0" marL="0">
              <a:buNone/>
            </a:pPr>
            <a:r>
              <a:rPr lang="en-US" sz="1200" dirty="0">
                <a:solidFill>
                  <a:srgbClr val="00A99D"/>
                </a:solidFill>
                <a:latin typeface="Arial" pitchFamily="34" charset="0"/>
                <a:ea typeface="Arial" pitchFamily="34" charset="-122"/>
                <a:cs typeface="Arial" pitchFamily="34" charset="-120"/>
              </a:rPr>
              <a:t>10</a:t>
            </a:r>
            <a:endParaRPr lang="en-US" sz="1200" dirty="0"/>
          </a:p>
        </p:txBody>
      </p:sp>
    </p:spTree>
  </p:cSld>
  <p:clrMapOvr>
    <a:masterClrMapping/>
  </p:clrMapOvr>
  <p:transition spd="med">
    <p:fade/>
  </p:transition>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1"/>
          <p:cNvSpPr/>
          <p:nvPr/>
        </p:nvSpPr>
        <p:spPr>
          <a:xfrm>
            <a:off x="0" y="86"/>
            <a:ext cx="12191695" cy="6857829"/>
          </a:xfrm>
          <a:prstGeom prst="rect">
            <a:avLst/>
          </a:prstGeom>
          <a:solidFill>
            <a:srgbClr val="F4F1EA"/>
          </a:solidFill>
          <a:ln/>
        </p:spPr>
      </p:sp>
      <p:sp>
        <p:nvSpPr>
          <p:cNvPr id="3" name="TextBox 3"/>
          <p:cNvSpPr/>
          <p:nvPr/>
        </p:nvSpPr>
        <p:spPr>
          <a:xfrm>
            <a:off x="584185" y="457274"/>
            <a:ext cx="2730432" cy="215895"/>
          </a:xfrm>
          <a:prstGeom prst="rect">
            <a:avLst/>
          </a:prstGeom>
          <a:noFill/>
          <a:ln/>
        </p:spPr>
        <p:txBody>
          <a:bodyPr wrap="square" lIns="0" tIns="0" rIns="0" bIns="0" rtlCol="0" anchor="t">
            <a:spAutoFit/>
          </a:bodyPr>
          <a:lstStyle/>
          <a:p>
            <a:pPr algn="l" indent="0" marL="0">
              <a:buNone/>
            </a:pPr>
            <a:r>
              <a:rPr lang="en-US" sz="1000" b="1" spc="200" kern="0" dirty="0">
                <a:solidFill>
                  <a:srgbClr val="00A99D"/>
                </a:solidFill>
                <a:latin typeface="Arial" pitchFamily="34" charset="0"/>
                <a:ea typeface="Arial" pitchFamily="34" charset="-122"/>
                <a:cs typeface="Arial" pitchFamily="34" charset="-120"/>
              </a:rPr>
              <a:t>TASK 04 · FAILURE PREDICTION</a:t>
            </a:r>
            <a:endParaRPr lang="en-US" sz="1000" dirty="0"/>
          </a:p>
        </p:txBody>
      </p:sp>
      <p:sp>
        <p:nvSpPr>
          <p:cNvPr id="4" name="TextBox 5"/>
          <p:cNvSpPr/>
          <p:nvPr/>
        </p:nvSpPr>
        <p:spPr>
          <a:xfrm>
            <a:off x="584185" y="812865"/>
            <a:ext cx="9588260" cy="736582"/>
          </a:xfrm>
          <a:prstGeom prst="rect">
            <a:avLst/>
          </a:prstGeom>
          <a:noFill/>
          <a:ln/>
        </p:spPr>
        <p:txBody>
          <a:bodyPr wrap="square" lIns="0" tIns="0" rIns="0" bIns="0" rtlCol="0" anchor="t">
            <a:spAutoFit/>
          </a:bodyPr>
          <a:lstStyle/>
          <a:p>
            <a:pPr algn="l" indent="0" marL="0">
              <a:lnSpc>
                <a:spcPts val="3564"/>
              </a:lnSpc>
              <a:buNone/>
            </a:pPr>
            <a:r>
              <a:rPr lang="en-US" sz="3300" spc="-150" kern="0" dirty="0">
                <a:solidFill>
                  <a:srgbClr val="162A2D"/>
                </a:solidFill>
                <a:latin typeface="Arial" pitchFamily="34" charset="0"/>
                <a:ea typeface="Arial" pitchFamily="34" charset="-122"/>
                <a:cs typeface="Arial" pitchFamily="34" charset="-120"/>
              </a:rPr>
              <a:t>Useful as a screen — not a crystal ball</a:t>
            </a:r>
            <a:endParaRPr lang="en-US" sz="3300" dirty="0"/>
          </a:p>
        </p:txBody>
      </p:sp>
      <p:sp>
        <p:nvSpPr>
          <p:cNvPr id="5" name="Shape 7"/>
          <p:cNvSpPr/>
          <p:nvPr/>
        </p:nvSpPr>
        <p:spPr>
          <a:xfrm>
            <a:off x="584185" y="2032035"/>
            <a:ext cx="4825879" cy="4127397"/>
          </a:xfrm>
          <a:prstGeom prst="roundRect">
            <a:avLst>
              <a:gd name="adj" fmla="val 6462"/>
            </a:avLst>
          </a:prstGeom>
          <a:solidFill>
            <a:srgbClr val="FFFFFF"/>
          </a:solidFill>
          <a:ln w="6350">
            <a:solidFill>
              <a:srgbClr val="C8D3D1"/>
            </a:solidFill>
            <a:prstDash val="solid"/>
          </a:ln>
        </p:spPr>
      </p:sp>
      <p:sp>
        <p:nvSpPr>
          <p:cNvPr id="6" name="TextBox 9"/>
          <p:cNvSpPr/>
          <p:nvPr/>
        </p:nvSpPr>
        <p:spPr>
          <a:xfrm>
            <a:off x="857229" y="2305078"/>
            <a:ext cx="4279793" cy="152396"/>
          </a:xfrm>
          <a:prstGeom prst="rect">
            <a:avLst/>
          </a:prstGeom>
          <a:noFill/>
          <a:ln/>
        </p:spPr>
        <p:txBody>
          <a:bodyPr wrap="square" lIns="0" tIns="0" rIns="0" bIns="0" rtlCol="0" anchor="t">
            <a:spAutoFit/>
          </a:bodyPr>
          <a:lstStyle/>
          <a:p>
            <a:pPr algn="l" indent="0" marL="0">
              <a:buNone/>
            </a:pPr>
            <a:r>
              <a:rPr lang="en-US" sz="1050" b="1" spc="150" kern="0" dirty="0">
                <a:solidFill>
                  <a:srgbClr val="00A99D"/>
                </a:solidFill>
                <a:latin typeface="Arial" pitchFamily="34" charset="0"/>
                <a:ea typeface="Arial" pitchFamily="34" charset="-122"/>
                <a:cs typeface="Arial" pitchFamily="34" charset="-120"/>
              </a:rPr>
              <a:t>GROUPED CV · MEAN PR-AUC</a:t>
            </a:r>
            <a:endParaRPr lang="en-US" sz="1050" dirty="0"/>
          </a:p>
        </p:txBody>
      </p:sp>
      <p:sp>
        <p:nvSpPr>
          <p:cNvPr id="7" name="Shape 11"/>
          <p:cNvSpPr/>
          <p:nvPr/>
        </p:nvSpPr>
        <p:spPr>
          <a:xfrm>
            <a:off x="857229" y="2990861"/>
            <a:ext cx="4190895" cy="495288"/>
          </a:xfrm>
          <a:prstGeom prst="roundRect">
            <a:avLst>
              <a:gd name="adj" fmla="val 23077"/>
            </a:avLst>
          </a:prstGeom>
          <a:solidFill>
            <a:srgbClr val="DFE6E4"/>
          </a:solidFill>
          <a:ln/>
        </p:spPr>
      </p:sp>
      <p:sp>
        <p:nvSpPr>
          <p:cNvPr id="8" name="Shape 13"/>
          <p:cNvSpPr/>
          <p:nvPr/>
        </p:nvSpPr>
        <p:spPr>
          <a:xfrm>
            <a:off x="857229" y="2990861"/>
            <a:ext cx="584185" cy="495288"/>
          </a:xfrm>
          <a:prstGeom prst="roundRect">
            <a:avLst>
              <a:gd name="adj" fmla="val 23077"/>
            </a:avLst>
          </a:prstGeom>
          <a:solidFill>
            <a:srgbClr val="5E6D6C"/>
          </a:solidFill>
          <a:ln/>
        </p:spPr>
      </p:sp>
      <p:sp>
        <p:nvSpPr>
          <p:cNvPr id="9" name="TextBox 15"/>
          <p:cNvSpPr/>
          <p:nvPr/>
        </p:nvSpPr>
        <p:spPr>
          <a:xfrm>
            <a:off x="1568411" y="3117858"/>
            <a:ext cx="2984425" cy="241294"/>
          </a:xfrm>
          <a:prstGeom prst="rect">
            <a:avLst/>
          </a:prstGeom>
          <a:noFill/>
          <a:ln/>
        </p:spPr>
        <p:txBody>
          <a:bodyPr wrap="square" lIns="0" tIns="0" rIns="0" bIns="0" rtlCol="0" anchor="t">
            <a:spAutoFit/>
          </a:bodyPr>
          <a:lstStyle/>
          <a:p>
            <a:pPr algn="l" indent="0" marL="0">
              <a:buNone/>
            </a:pPr>
            <a:r>
              <a:rPr lang="en-US" sz="1400" dirty="0">
                <a:solidFill>
                  <a:srgbClr val="162A2D"/>
                </a:solidFill>
                <a:latin typeface="Arial" pitchFamily="34" charset="0"/>
                <a:ea typeface="Arial" pitchFamily="34" charset="-122"/>
                <a:cs typeface="Arial" pitchFamily="34" charset="-120"/>
              </a:rPr>
              <a:t>Dummy · 0.077</a:t>
            </a:r>
            <a:endParaRPr lang="en-US" sz="1400" dirty="0"/>
          </a:p>
        </p:txBody>
      </p:sp>
      <p:sp>
        <p:nvSpPr>
          <p:cNvPr id="10" name="Shape 18"/>
          <p:cNvSpPr/>
          <p:nvPr/>
        </p:nvSpPr>
        <p:spPr>
          <a:xfrm>
            <a:off x="857229" y="3740142"/>
            <a:ext cx="4190895" cy="609585"/>
          </a:xfrm>
          <a:prstGeom prst="roundRect">
            <a:avLst>
              <a:gd name="adj" fmla="val 20833"/>
            </a:avLst>
          </a:prstGeom>
          <a:solidFill>
            <a:srgbClr val="DFE6E4"/>
          </a:solidFill>
          <a:ln/>
        </p:spPr>
      </p:sp>
      <p:sp>
        <p:nvSpPr>
          <p:cNvPr id="11" name="Shape 20"/>
          <p:cNvSpPr/>
          <p:nvPr/>
        </p:nvSpPr>
        <p:spPr>
          <a:xfrm>
            <a:off x="857229" y="3740142"/>
            <a:ext cx="2355791" cy="609585"/>
          </a:xfrm>
          <a:prstGeom prst="roundRect">
            <a:avLst>
              <a:gd name="adj" fmla="val 20833"/>
            </a:avLst>
          </a:prstGeom>
          <a:solidFill>
            <a:srgbClr val="00A99D"/>
          </a:solidFill>
          <a:ln/>
        </p:spPr>
      </p:sp>
      <p:sp>
        <p:nvSpPr>
          <p:cNvPr id="12" name="TextBox 22"/>
          <p:cNvSpPr/>
          <p:nvPr/>
        </p:nvSpPr>
        <p:spPr>
          <a:xfrm>
            <a:off x="3346366" y="3905238"/>
            <a:ext cx="1549361" cy="266693"/>
          </a:xfrm>
          <a:prstGeom prst="rect">
            <a:avLst/>
          </a:prstGeom>
          <a:noFill/>
          <a:ln/>
        </p:spPr>
        <p:txBody>
          <a:bodyPr wrap="square" lIns="0" tIns="0" rIns="0" bIns="0" rtlCol="0" anchor="t">
            <a:spAutoFit/>
          </a:bodyPr>
          <a:lstStyle/>
          <a:p>
            <a:pPr algn="l" indent="0" marL="0">
              <a:buNone/>
            </a:pPr>
            <a:r>
              <a:rPr lang="en-US" sz="1500" b="1" dirty="0">
                <a:solidFill>
                  <a:srgbClr val="162A2D"/>
                </a:solidFill>
                <a:latin typeface="Arial" pitchFamily="34" charset="0"/>
                <a:ea typeface="Arial" pitchFamily="34" charset="-122"/>
                <a:cs typeface="Arial" pitchFamily="34" charset="-120"/>
              </a:rPr>
              <a:t>0.563</a:t>
            </a:r>
            <a:endParaRPr lang="en-US" sz="1500" dirty="0"/>
          </a:p>
        </p:txBody>
      </p:sp>
      <p:sp>
        <p:nvSpPr>
          <p:cNvPr id="13" name="TextBox 25"/>
          <p:cNvSpPr/>
          <p:nvPr/>
        </p:nvSpPr>
        <p:spPr>
          <a:xfrm>
            <a:off x="857229" y="4489423"/>
            <a:ext cx="4190895" cy="279393"/>
          </a:xfrm>
          <a:prstGeom prst="rect">
            <a:avLst/>
          </a:prstGeom>
          <a:noFill/>
          <a:ln/>
        </p:spPr>
        <p:txBody>
          <a:bodyPr wrap="square" lIns="0" tIns="0" rIns="0" bIns="0" rtlCol="0" anchor="t">
            <a:spAutoFit/>
          </a:bodyPr>
          <a:lstStyle/>
          <a:p>
            <a:pPr algn="l" indent="0" marL="0">
              <a:buNone/>
            </a:pPr>
            <a:r>
              <a:rPr lang="en-US" sz="1450" b="1" dirty="0">
                <a:solidFill>
                  <a:srgbClr val="162A2D"/>
                </a:solidFill>
                <a:latin typeface="Arial" pitchFamily="34" charset="0"/>
                <a:ea typeface="Arial" pitchFamily="34" charset="-122"/>
                <a:cs typeface="Arial" pitchFamily="34" charset="-120"/>
              </a:rPr>
              <a:t>Weighted logistic</a:t>
            </a:r>
            <a:endParaRPr lang="en-US" sz="1450" dirty="0"/>
          </a:p>
        </p:txBody>
      </p:sp>
      <p:pic>
        <p:nvPicPr>
          <p:cNvPr id="14" name="Picture 27" descr="__type_image">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857229" y="5086309"/>
            <a:ext cx="4190895" cy="800080"/>
          </a:xfrm>
          <a:prstGeom prst="rect">
            <a:avLst/>
          </a:prstGeom>
        </p:spPr>
      </p:pic>
      <p:sp>
        <p:nvSpPr>
          <p:cNvPr id="15" name="TextBox 27"/>
          <p:cNvSpPr/>
          <p:nvPr/>
        </p:nvSpPr>
        <p:spPr>
          <a:xfrm>
            <a:off x="857229" y="5086309"/>
            <a:ext cx="4190895" cy="800080"/>
          </a:xfrm>
          <a:prstGeom prst="rect">
            <a:avLst/>
          </a:prstGeom>
          <a:noFill/>
          <a:ln/>
        </p:spPr>
        <p:txBody>
          <a:bodyPr wrap="square" lIns="0" tIns="152396" rIns="0" bIns="0" rtlCol="0" anchor="t">
            <a:spAutoFit/>
          </a:bodyPr>
          <a:lstStyle/>
          <a:p>
            <a:pPr algn="l" indent="0" marL="0">
              <a:lnSpc>
                <a:spcPts val="1822"/>
              </a:lnSpc>
              <a:buNone/>
            </a:pPr>
            <a:r>
              <a:rPr lang="en-US" sz="1350" dirty="0">
                <a:solidFill>
                  <a:srgbClr val="5E6D6C"/>
                </a:solidFill>
                <a:latin typeface="Arial" pitchFamily="34" charset="0"/>
                <a:ea typeface="Arial" pitchFamily="34" charset="-122"/>
                <a:cs typeface="Arial" pitchFamily="34" charset="-120"/>
              </a:rPr>
              <a:t>3,700 entities · identical feature groups never cross split boundaries.</a:t>
            </a:r>
            <a:endParaRPr lang="en-US" sz="1350" dirty="0"/>
          </a:p>
        </p:txBody>
      </p:sp>
      <p:sp>
        <p:nvSpPr>
          <p:cNvPr id="16" name="Shape 30"/>
          <p:cNvSpPr/>
          <p:nvPr/>
        </p:nvSpPr>
        <p:spPr>
          <a:xfrm>
            <a:off x="5879953" y="2032035"/>
            <a:ext cx="5727557" cy="4127397"/>
          </a:xfrm>
          <a:prstGeom prst="roundRect">
            <a:avLst>
              <a:gd name="adj" fmla="val 6462"/>
            </a:avLst>
          </a:prstGeom>
          <a:solidFill>
            <a:srgbClr val="162A2D"/>
          </a:solidFill>
          <a:ln/>
        </p:spPr>
      </p:sp>
      <p:sp>
        <p:nvSpPr>
          <p:cNvPr id="17" name="TextBox 32"/>
          <p:cNvSpPr/>
          <p:nvPr/>
        </p:nvSpPr>
        <p:spPr>
          <a:xfrm>
            <a:off x="6146646" y="2298728"/>
            <a:ext cx="5194170" cy="152396"/>
          </a:xfrm>
          <a:prstGeom prst="rect">
            <a:avLst/>
          </a:prstGeom>
          <a:noFill/>
          <a:ln/>
        </p:spPr>
        <p:txBody>
          <a:bodyPr wrap="square" lIns="0" tIns="0" rIns="0" bIns="0" rtlCol="0" anchor="t">
            <a:spAutoFit/>
          </a:bodyPr>
          <a:lstStyle/>
          <a:p>
            <a:pPr algn="l" indent="0" marL="0">
              <a:buNone/>
            </a:pPr>
            <a:r>
              <a:rPr lang="en-US" sz="1050" b="1" spc="150" kern="0" dirty="0">
                <a:solidFill>
                  <a:srgbClr val="00A99D"/>
                </a:solidFill>
                <a:latin typeface="Arial" pitchFamily="34" charset="0"/>
                <a:ea typeface="Arial" pitchFamily="34" charset="-122"/>
                <a:cs typeface="Arial" pitchFamily="34" charset="-120"/>
              </a:rPr>
              <a:t>LOCKED HOLDOUT · THRESHOLD 0.6713</a:t>
            </a:r>
            <a:endParaRPr lang="en-US" sz="1050" dirty="0"/>
          </a:p>
        </p:txBody>
      </p:sp>
      <p:sp>
        <p:nvSpPr>
          <p:cNvPr id="18" name="Shape 34"/>
          <p:cNvSpPr/>
          <p:nvPr/>
        </p:nvSpPr>
        <p:spPr>
          <a:xfrm>
            <a:off x="6146646" y="2984511"/>
            <a:ext cx="2463738" cy="1460463"/>
          </a:xfrm>
          <a:prstGeom prst="rect">
            <a:avLst/>
          </a:prstGeom>
          <a:noFill/>
          <a:ln/>
        </p:spPr>
      </p:sp>
      <p:pic>
        <p:nvPicPr>
          <p:cNvPr id="19" name="Picture 34" descr="__type_image">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146646" y="2984511"/>
            <a:ext cx="2463738" cy="1460463"/>
          </a:xfrm>
          <a:prstGeom prst="rect">
            <a:avLst/>
          </a:prstGeom>
        </p:spPr>
      </p:pic>
      <p:sp>
        <p:nvSpPr>
          <p:cNvPr id="20" name="TextBox 36"/>
          <p:cNvSpPr/>
          <p:nvPr/>
        </p:nvSpPr>
        <p:spPr>
          <a:xfrm>
            <a:off x="6146646" y="2984511"/>
            <a:ext cx="2457389" cy="675564"/>
          </a:xfrm>
          <a:prstGeom prst="rect">
            <a:avLst/>
          </a:prstGeom>
          <a:noFill/>
          <a:ln/>
        </p:spPr>
        <p:txBody>
          <a:bodyPr wrap="square" lIns="0" tIns="0" rIns="0" bIns="0" rtlCol="0" anchor="t">
            <a:spAutoFit/>
          </a:bodyPr>
          <a:lstStyle/>
          <a:p>
            <a:pPr algn="l" indent="0" marL="0">
              <a:lnSpc>
                <a:spcPts val="5320"/>
              </a:lnSpc>
              <a:buNone/>
            </a:pPr>
            <a:r>
              <a:rPr lang="en-US" sz="5600" b="1" dirty="0">
                <a:solidFill>
                  <a:srgbClr val="00A99D"/>
                </a:solidFill>
                <a:latin typeface="Arial" pitchFamily="34" charset="0"/>
                <a:ea typeface="Arial" pitchFamily="34" charset="-122"/>
                <a:cs typeface="Arial" pitchFamily="34" charset="-120"/>
              </a:rPr>
              <a:t>.855</a:t>
            </a:r>
            <a:endParaRPr lang="en-US" sz="5600" dirty="0"/>
          </a:p>
        </p:txBody>
      </p:sp>
      <p:sp>
        <p:nvSpPr>
          <p:cNvPr id="21" name="TextBox 38"/>
          <p:cNvSpPr/>
          <p:nvPr/>
        </p:nvSpPr>
        <p:spPr>
          <a:xfrm>
            <a:off x="6146646" y="3774372"/>
            <a:ext cx="2457389" cy="215895"/>
          </a:xfrm>
          <a:prstGeom prst="rect">
            <a:avLst/>
          </a:prstGeom>
          <a:noFill/>
          <a:ln/>
        </p:spPr>
        <p:txBody>
          <a:bodyPr wrap="square" lIns="0" tIns="0" rIns="0" bIns="0" rtlCol="0" anchor="t">
            <a:spAutoFit/>
          </a:bodyPr>
          <a:lstStyle/>
          <a:p>
            <a:pPr algn="l" indent="0" marL="0">
              <a:buNone/>
            </a:pPr>
            <a:r>
              <a:rPr lang="en-US" sz="1500" dirty="0">
                <a:solidFill>
                  <a:srgbClr val="FFFFFF"/>
                </a:solidFill>
                <a:latin typeface="Arial" pitchFamily="34" charset="0"/>
                <a:ea typeface="Arial" pitchFamily="34" charset="-122"/>
                <a:cs typeface="Arial" pitchFamily="34" charset="-120"/>
              </a:rPr>
              <a:t>Recall</a:t>
            </a:r>
            <a:endParaRPr lang="en-US" sz="1500" dirty="0"/>
          </a:p>
        </p:txBody>
      </p:sp>
      <p:sp>
        <p:nvSpPr>
          <p:cNvPr id="22" name="TextBox 40"/>
          <p:cNvSpPr/>
          <p:nvPr/>
        </p:nvSpPr>
        <p:spPr>
          <a:xfrm>
            <a:off x="6146646" y="4053765"/>
            <a:ext cx="2457389" cy="177796"/>
          </a:xfrm>
          <a:prstGeom prst="rect">
            <a:avLst/>
          </a:prstGeom>
          <a:noFill/>
          <a:ln/>
        </p:spPr>
        <p:txBody>
          <a:bodyPr wrap="square" lIns="0" tIns="0" rIns="0" bIns="0" rtlCol="0" anchor="t">
            <a:spAutoFit/>
          </a:bodyPr>
          <a:lstStyle/>
          <a:p>
            <a:pPr algn="l" indent="0" marL="0">
              <a:buNone/>
            </a:pPr>
            <a:r>
              <a:rPr lang="en-US" sz="1200" dirty="0">
                <a:solidFill>
                  <a:srgbClr val="B8C3C1"/>
                </a:solidFill>
                <a:latin typeface="Arial" pitchFamily="34" charset="0"/>
                <a:ea typeface="Arial" pitchFamily="34" charset="-122"/>
                <a:cs typeface="Arial" pitchFamily="34" charset="-120"/>
              </a:rPr>
              <a:t>47 TP · 8 FN</a:t>
            </a:r>
            <a:endParaRPr lang="en-US" sz="1200" dirty="0"/>
          </a:p>
        </p:txBody>
      </p:sp>
      <p:sp>
        <p:nvSpPr>
          <p:cNvPr id="23" name="TextBox 45"/>
          <p:cNvSpPr/>
          <p:nvPr/>
        </p:nvSpPr>
        <p:spPr>
          <a:xfrm>
            <a:off x="9054874" y="2984511"/>
            <a:ext cx="2285943" cy="675564"/>
          </a:xfrm>
          <a:prstGeom prst="rect">
            <a:avLst/>
          </a:prstGeom>
          <a:noFill/>
          <a:ln/>
        </p:spPr>
        <p:txBody>
          <a:bodyPr wrap="square" lIns="0" tIns="0" rIns="0" bIns="0" rtlCol="0" anchor="t">
            <a:spAutoFit/>
          </a:bodyPr>
          <a:lstStyle/>
          <a:p>
            <a:pPr algn="l" indent="0" marL="0">
              <a:lnSpc>
                <a:spcPts val="5320"/>
              </a:lnSpc>
              <a:buNone/>
            </a:pPr>
            <a:r>
              <a:rPr lang="en-US" sz="5600" b="1" dirty="0">
                <a:solidFill>
                  <a:srgbClr val="FFFFFF"/>
                </a:solidFill>
                <a:latin typeface="Arial" pitchFamily="34" charset="0"/>
                <a:ea typeface="Arial" pitchFamily="34" charset="-122"/>
                <a:cs typeface="Arial" pitchFamily="34" charset="-120"/>
              </a:rPr>
              <a:t>.423</a:t>
            </a:r>
            <a:endParaRPr lang="en-US" sz="5600" dirty="0"/>
          </a:p>
        </p:txBody>
      </p:sp>
      <p:sp>
        <p:nvSpPr>
          <p:cNvPr id="24" name="TextBox 47"/>
          <p:cNvSpPr/>
          <p:nvPr/>
        </p:nvSpPr>
        <p:spPr>
          <a:xfrm>
            <a:off x="9054874" y="3774372"/>
            <a:ext cx="2285943" cy="215895"/>
          </a:xfrm>
          <a:prstGeom prst="rect">
            <a:avLst/>
          </a:prstGeom>
          <a:noFill/>
          <a:ln/>
        </p:spPr>
        <p:txBody>
          <a:bodyPr wrap="square" lIns="0" tIns="0" rIns="0" bIns="0" rtlCol="0" anchor="t">
            <a:spAutoFit/>
          </a:bodyPr>
          <a:lstStyle/>
          <a:p>
            <a:pPr algn="l" indent="0" marL="0">
              <a:buNone/>
            </a:pPr>
            <a:r>
              <a:rPr lang="en-US" sz="1500" dirty="0">
                <a:solidFill>
                  <a:srgbClr val="FFFFFF"/>
                </a:solidFill>
                <a:latin typeface="Arial" pitchFamily="34" charset="0"/>
                <a:ea typeface="Arial" pitchFamily="34" charset="-122"/>
                <a:cs typeface="Arial" pitchFamily="34" charset="-120"/>
              </a:rPr>
              <a:t>Precision</a:t>
            </a:r>
            <a:endParaRPr lang="en-US" sz="1500" dirty="0"/>
          </a:p>
        </p:txBody>
      </p:sp>
      <p:sp>
        <p:nvSpPr>
          <p:cNvPr id="25" name="TextBox 49"/>
          <p:cNvSpPr/>
          <p:nvPr/>
        </p:nvSpPr>
        <p:spPr>
          <a:xfrm>
            <a:off x="9054874" y="4053765"/>
            <a:ext cx="2285943" cy="177796"/>
          </a:xfrm>
          <a:prstGeom prst="rect">
            <a:avLst/>
          </a:prstGeom>
          <a:noFill/>
          <a:ln/>
        </p:spPr>
        <p:txBody>
          <a:bodyPr wrap="square" lIns="0" tIns="0" rIns="0" bIns="0" rtlCol="0" anchor="t">
            <a:spAutoFit/>
          </a:bodyPr>
          <a:lstStyle/>
          <a:p>
            <a:pPr algn="l" indent="0" marL="0">
              <a:buNone/>
            </a:pPr>
            <a:r>
              <a:rPr lang="en-US" sz="1200" dirty="0">
                <a:solidFill>
                  <a:srgbClr val="B8C3C1"/>
                </a:solidFill>
                <a:latin typeface="Arial" pitchFamily="34" charset="0"/>
                <a:ea typeface="Arial" pitchFamily="34" charset="-122"/>
                <a:cs typeface="Arial" pitchFamily="34" charset="-120"/>
              </a:rPr>
              <a:t>64 false positives</a:t>
            </a:r>
            <a:endParaRPr lang="en-US" sz="1200" dirty="0"/>
          </a:p>
        </p:txBody>
      </p:sp>
      <p:sp>
        <p:nvSpPr>
          <p:cNvPr id="26" name="Shape 52"/>
          <p:cNvSpPr/>
          <p:nvPr/>
        </p:nvSpPr>
        <p:spPr>
          <a:xfrm>
            <a:off x="6146646" y="4775166"/>
            <a:ext cx="5194170" cy="1117572"/>
          </a:xfrm>
          <a:prstGeom prst="rect">
            <a:avLst/>
          </a:prstGeom>
          <a:noFill/>
          <a:ln/>
        </p:spPr>
      </p:sp>
      <p:pic>
        <p:nvPicPr>
          <p:cNvPr id="27" name="Picture 52" descr="__type_image">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146646" y="4775166"/>
            <a:ext cx="5194170" cy="1117572"/>
          </a:xfrm>
          <a:prstGeom prst="rect">
            <a:avLst/>
          </a:prstGeom>
        </p:spPr>
      </p:pic>
      <p:sp>
        <p:nvSpPr>
          <p:cNvPr id="28" name="TextBox 55"/>
          <p:cNvSpPr/>
          <p:nvPr/>
        </p:nvSpPr>
        <p:spPr>
          <a:xfrm>
            <a:off x="6146646" y="4959312"/>
            <a:ext cx="1714457" cy="311142"/>
          </a:xfrm>
          <a:prstGeom prst="rect">
            <a:avLst/>
          </a:prstGeom>
          <a:noFill/>
          <a:ln/>
        </p:spPr>
        <p:txBody>
          <a:bodyPr wrap="square" lIns="0" tIns="0" rIns="0" bIns="0" rtlCol="0" anchor="t">
            <a:spAutoFit/>
          </a:bodyPr>
          <a:lstStyle/>
          <a:p>
            <a:pPr algn="l" indent="0" marL="0">
              <a:buNone/>
            </a:pPr>
            <a:r>
              <a:rPr lang="en-US" sz="2150" b="1" dirty="0">
                <a:solidFill>
                  <a:srgbClr val="FFFFFF"/>
                </a:solidFill>
                <a:latin typeface="Arial" pitchFamily="34" charset="0"/>
                <a:ea typeface="Arial" pitchFamily="34" charset="-122"/>
                <a:cs typeface="Arial" pitchFamily="34" charset="-120"/>
              </a:rPr>
              <a:t>.423</a:t>
            </a:r>
            <a:endParaRPr lang="en-US" sz="2150" dirty="0"/>
          </a:p>
        </p:txBody>
      </p:sp>
      <p:sp>
        <p:nvSpPr>
          <p:cNvPr id="29" name="TextBox 56"/>
          <p:cNvSpPr/>
          <p:nvPr/>
        </p:nvSpPr>
        <p:spPr>
          <a:xfrm>
            <a:off x="6146646" y="5270454"/>
            <a:ext cx="1714457" cy="177796"/>
          </a:xfrm>
          <a:prstGeom prst="rect">
            <a:avLst/>
          </a:prstGeom>
          <a:noFill/>
          <a:ln/>
        </p:spPr>
        <p:txBody>
          <a:bodyPr wrap="square" lIns="0" tIns="0" rIns="0" bIns="0" rtlCol="0" anchor="t">
            <a:spAutoFit/>
          </a:bodyPr>
          <a:lstStyle/>
          <a:p>
            <a:pPr algn="l" indent="0" marL="0">
              <a:buNone/>
            </a:pPr>
            <a:r>
              <a:rPr lang="en-US" sz="1200" dirty="0">
                <a:solidFill>
                  <a:srgbClr val="B8C3C1"/>
                </a:solidFill>
                <a:latin typeface="Arial" pitchFamily="34" charset="0"/>
                <a:ea typeface="Arial" pitchFamily="34" charset="-122"/>
                <a:cs typeface="Arial" pitchFamily="34" charset="-120"/>
              </a:rPr>
              <a:t>PR-AUC</a:t>
            </a:r>
            <a:endParaRPr lang="en-US" sz="1200" dirty="0"/>
          </a:p>
        </p:txBody>
      </p:sp>
      <p:sp>
        <p:nvSpPr>
          <p:cNvPr id="30" name="TextBox 59"/>
          <p:cNvSpPr/>
          <p:nvPr/>
        </p:nvSpPr>
        <p:spPr>
          <a:xfrm>
            <a:off x="7861103" y="4959312"/>
            <a:ext cx="1714457" cy="311142"/>
          </a:xfrm>
          <a:prstGeom prst="rect">
            <a:avLst/>
          </a:prstGeom>
          <a:noFill/>
          <a:ln/>
        </p:spPr>
        <p:txBody>
          <a:bodyPr wrap="square" lIns="0" tIns="0" rIns="0" bIns="0" rtlCol="0" anchor="t">
            <a:spAutoFit/>
          </a:bodyPr>
          <a:lstStyle/>
          <a:p>
            <a:pPr algn="l" indent="0" marL="0">
              <a:buNone/>
            </a:pPr>
            <a:r>
              <a:rPr lang="en-US" sz="2150" b="1" dirty="0">
                <a:solidFill>
                  <a:srgbClr val="FFFFFF"/>
                </a:solidFill>
                <a:latin typeface="Arial" pitchFamily="34" charset="0"/>
                <a:ea typeface="Arial" pitchFamily="34" charset="-122"/>
                <a:cs typeface="Arial" pitchFamily="34" charset="-120"/>
              </a:rPr>
              <a:t>.566</a:t>
            </a:r>
            <a:endParaRPr lang="en-US" sz="2150" dirty="0"/>
          </a:p>
        </p:txBody>
      </p:sp>
      <p:sp>
        <p:nvSpPr>
          <p:cNvPr id="31" name="TextBox 60"/>
          <p:cNvSpPr/>
          <p:nvPr/>
        </p:nvSpPr>
        <p:spPr>
          <a:xfrm>
            <a:off x="7861103" y="5270454"/>
            <a:ext cx="1714457" cy="177796"/>
          </a:xfrm>
          <a:prstGeom prst="rect">
            <a:avLst/>
          </a:prstGeom>
          <a:noFill/>
          <a:ln/>
        </p:spPr>
        <p:txBody>
          <a:bodyPr wrap="square" lIns="0" tIns="0" rIns="0" bIns="0" rtlCol="0" anchor="t">
            <a:spAutoFit/>
          </a:bodyPr>
          <a:lstStyle/>
          <a:p>
            <a:pPr algn="l" indent="0" marL="0">
              <a:buNone/>
            </a:pPr>
            <a:r>
              <a:rPr lang="en-US" sz="1200" dirty="0">
                <a:solidFill>
                  <a:srgbClr val="B8C3C1"/>
                </a:solidFill>
                <a:latin typeface="Arial" pitchFamily="34" charset="0"/>
                <a:ea typeface="Arial" pitchFamily="34" charset="-122"/>
                <a:cs typeface="Arial" pitchFamily="34" charset="-120"/>
              </a:rPr>
              <a:t>F1</a:t>
            </a:r>
            <a:endParaRPr lang="en-US" sz="1200" dirty="0"/>
          </a:p>
        </p:txBody>
      </p:sp>
      <p:sp>
        <p:nvSpPr>
          <p:cNvPr id="32" name="TextBox 63"/>
          <p:cNvSpPr/>
          <p:nvPr/>
        </p:nvSpPr>
        <p:spPr>
          <a:xfrm>
            <a:off x="9575561" y="4959312"/>
            <a:ext cx="1765256" cy="438139"/>
          </a:xfrm>
          <a:prstGeom prst="rect">
            <a:avLst/>
          </a:prstGeom>
          <a:noFill/>
          <a:ln/>
        </p:spPr>
        <p:txBody>
          <a:bodyPr wrap="square" lIns="0" tIns="0" rIns="0" bIns="0" rtlCol="0" anchor="t">
            <a:spAutoFit/>
          </a:bodyPr>
          <a:lstStyle/>
          <a:p>
            <a:pPr algn="l" indent="0" marL="0">
              <a:lnSpc>
                <a:spcPts val="1725"/>
              </a:lnSpc>
              <a:buNone/>
            </a:pPr>
            <a:r>
              <a:rPr lang="en-US" sz="1500" b="1" dirty="0">
                <a:solidFill>
                  <a:srgbClr val="00A99D"/>
                </a:solidFill>
                <a:latin typeface="Arial" pitchFamily="34" charset="0"/>
                <a:ea typeface="Arial" pitchFamily="34" charset="-122"/>
                <a:cs typeface="Arial" pitchFamily="34" charset="-120"/>
              </a:rPr>
              <a:t>Calibration</a:t>
            </a:r>
            <a:endParaRPr lang="en-US" sz="1500" dirty="0"/>
          </a:p>
          <a:p>
            <a:pPr algn="l" indent="0" marL="0">
              <a:lnSpc>
                <a:spcPts val="1725"/>
              </a:lnSpc>
              <a:buNone/>
            </a:pPr>
            <a:r>
              <a:rPr lang="en-US" sz="1500" b="1" dirty="0">
                <a:solidFill>
                  <a:srgbClr val="00A99D"/>
                </a:solidFill>
                <a:latin typeface="Arial" pitchFamily="34" charset="0"/>
                <a:ea typeface="Arial" pitchFamily="34" charset="-122"/>
                <a:cs typeface="Arial" pitchFamily="34" charset="-120"/>
              </a:rPr>
              <a:t>still required</a:t>
            </a:r>
            <a:endParaRPr lang="en-US" sz="1500" dirty="0"/>
          </a:p>
        </p:txBody>
      </p:sp>
      <p:sp>
        <p:nvSpPr>
          <p:cNvPr id="33" name="TextBox 67"/>
          <p:cNvSpPr/>
          <p:nvPr/>
        </p:nvSpPr>
        <p:spPr>
          <a:xfrm>
            <a:off x="584185" y="6324528"/>
            <a:ext cx="8254794" cy="266693"/>
          </a:xfrm>
          <a:prstGeom prst="rect">
            <a:avLst/>
          </a:prstGeom>
          <a:noFill/>
          <a:ln/>
        </p:spPr>
        <p:txBody>
          <a:bodyPr wrap="square" lIns="0" tIns="0" rIns="0" bIns="0" rtlCol="0" anchor="t">
            <a:spAutoFit/>
          </a:bodyPr>
          <a:lstStyle/>
          <a:p>
            <a:pPr algn="l" indent="0" marL="0">
              <a:buNone/>
            </a:pPr>
            <a:r>
              <a:rPr lang="en-US" sz="1200" dirty="0">
                <a:solidFill>
                  <a:srgbClr val="5E6D6C"/>
                </a:solidFill>
                <a:latin typeface="Arial" pitchFamily="34" charset="0"/>
                <a:ea typeface="Arial" pitchFamily="34" charset="-122"/>
                <a:cs typeface="Arial" pitchFamily="34" charset="-120"/>
              </a:rPr>
              <a:t>Accuracy is context; minority errors drive the decision.</a:t>
            </a:r>
            <a:endParaRPr lang="en-US" sz="1200" dirty="0"/>
          </a:p>
        </p:txBody>
      </p:sp>
      <p:sp>
        <p:nvSpPr>
          <p:cNvPr id="34" name="TextBox 69"/>
          <p:cNvSpPr/>
          <p:nvPr/>
        </p:nvSpPr>
        <p:spPr>
          <a:xfrm>
            <a:off x="11099523" y="6362627"/>
            <a:ext cx="507987" cy="253994"/>
          </a:xfrm>
          <a:prstGeom prst="rect">
            <a:avLst/>
          </a:prstGeom>
          <a:noFill/>
          <a:ln/>
        </p:spPr>
        <p:txBody>
          <a:bodyPr wrap="square" lIns="0" tIns="0" rIns="0" bIns="0" rtlCol="0" anchor="t">
            <a:spAutoFit/>
          </a:bodyPr>
          <a:lstStyle/>
          <a:p>
            <a:pPr algn="r" indent="0" marL="0">
              <a:buNone/>
            </a:pPr>
            <a:r>
              <a:rPr lang="en-US" sz="1200" dirty="0">
                <a:solidFill>
                  <a:srgbClr val="00A99D"/>
                </a:solidFill>
                <a:latin typeface="Arial" pitchFamily="34" charset="0"/>
                <a:ea typeface="Arial" pitchFamily="34" charset="-122"/>
                <a:cs typeface="Arial" pitchFamily="34" charset="-120"/>
              </a:rPr>
              <a:t>11</a:t>
            </a:r>
            <a:endParaRPr lang="en-US" sz="1200" dirty="0"/>
          </a:p>
        </p:txBody>
      </p:sp>
    </p:spTree>
  </p:cSld>
  <p:clrMapOvr>
    <a:masterClrMapping/>
  </p:clrMapOvr>
  <p:transition spd="med">
    <p:push dir="l"/>
  </p:transition>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1"/>
          <p:cNvSpPr/>
          <p:nvPr/>
        </p:nvSpPr>
        <p:spPr>
          <a:xfrm>
            <a:off x="0" y="86"/>
            <a:ext cx="12191695" cy="6857829"/>
          </a:xfrm>
          <a:prstGeom prst="rect">
            <a:avLst/>
          </a:prstGeom>
          <a:solidFill>
            <a:srgbClr val="FFFFFF"/>
          </a:solidFill>
          <a:ln/>
        </p:spPr>
      </p:sp>
      <p:sp>
        <p:nvSpPr>
          <p:cNvPr id="3" name="TextBox 3"/>
          <p:cNvSpPr/>
          <p:nvPr/>
        </p:nvSpPr>
        <p:spPr>
          <a:xfrm>
            <a:off x="584185" y="457274"/>
            <a:ext cx="2730432" cy="215895"/>
          </a:xfrm>
          <a:prstGeom prst="rect">
            <a:avLst/>
          </a:prstGeom>
          <a:noFill/>
          <a:ln/>
        </p:spPr>
        <p:txBody>
          <a:bodyPr wrap="square" lIns="0" tIns="0" rIns="0" bIns="0" rtlCol="0" anchor="t">
            <a:spAutoFit/>
          </a:bodyPr>
          <a:lstStyle/>
          <a:p>
            <a:pPr algn="l" indent="0" marL="0">
              <a:buNone/>
            </a:pPr>
            <a:r>
              <a:rPr lang="en-US" sz="1000" b="1" spc="200" kern="0" dirty="0">
                <a:solidFill>
                  <a:srgbClr val="00A99D"/>
                </a:solidFill>
                <a:latin typeface="Arial" pitchFamily="34" charset="0"/>
                <a:ea typeface="Arial" pitchFamily="34" charset="-122"/>
                <a:cs typeface="Arial" pitchFamily="34" charset="-120"/>
              </a:rPr>
              <a:t>TASK 05 · MATERIAL RETRIEVAL</a:t>
            </a:r>
            <a:endParaRPr lang="en-US" sz="1000" dirty="0"/>
          </a:p>
        </p:txBody>
      </p:sp>
      <p:sp>
        <p:nvSpPr>
          <p:cNvPr id="4" name="TextBox 5"/>
          <p:cNvSpPr/>
          <p:nvPr/>
        </p:nvSpPr>
        <p:spPr>
          <a:xfrm>
            <a:off x="584185" y="812865"/>
            <a:ext cx="9143771" cy="1079473"/>
          </a:xfrm>
          <a:prstGeom prst="rect">
            <a:avLst/>
          </a:prstGeom>
          <a:noFill/>
          <a:ln/>
        </p:spPr>
        <p:txBody>
          <a:bodyPr wrap="square" lIns="0" tIns="0" rIns="0" bIns="0" rtlCol="0" anchor="t">
            <a:spAutoFit/>
          </a:bodyPr>
          <a:lstStyle/>
          <a:p>
            <a:pPr algn="l" indent="0" marL="0">
              <a:lnSpc>
                <a:spcPts val="3564"/>
              </a:lnSpc>
              <a:buNone/>
            </a:pPr>
            <a:r>
              <a:rPr lang="en-US" sz="3300" spc="-150" kern="0" dirty="0">
                <a:solidFill>
                  <a:srgbClr val="162A2D"/>
                </a:solidFill>
                <a:latin typeface="Arial" pitchFamily="34" charset="0"/>
                <a:ea typeface="Arial" pitchFamily="34" charset="-122"/>
                <a:cs typeface="Arial" pitchFamily="34" charset="-120"/>
              </a:rPr>
              <a:t>Better ranking did not fix</a:t>
            </a:r>
            <a:endParaRPr lang="en-US" sz="3300" dirty="0"/>
          </a:p>
          <a:p>
            <a:pPr algn="l" indent="0" marL="0">
              <a:lnSpc>
                <a:spcPts val="3564"/>
              </a:lnSpc>
              <a:buNone/>
            </a:pPr>
            <a:r>
              <a:rPr lang="en-US" sz="3300" spc="-150" kern="0" dirty="0">
                <a:solidFill>
                  <a:srgbClr val="162A2D"/>
                </a:solidFill>
                <a:latin typeface="Arial" pitchFamily="34" charset="0"/>
                <a:ea typeface="Arial" pitchFamily="34" charset="-122"/>
                <a:cs typeface="Arial" pitchFamily="34" charset="-120"/>
              </a:rPr>
              <a:t>missing evidence</a:t>
            </a:r>
            <a:endParaRPr lang="en-US" sz="3300" dirty="0"/>
          </a:p>
        </p:txBody>
      </p:sp>
      <p:sp>
        <p:nvSpPr>
          <p:cNvPr id="5" name="Shape 7"/>
          <p:cNvSpPr/>
          <p:nvPr/>
        </p:nvSpPr>
        <p:spPr>
          <a:xfrm>
            <a:off x="584185" y="2349527"/>
            <a:ext cx="6667333" cy="3479713"/>
          </a:xfrm>
          <a:prstGeom prst="roundRect">
            <a:avLst>
              <a:gd name="adj" fmla="val 7664"/>
            </a:avLst>
          </a:prstGeom>
          <a:solidFill>
            <a:srgbClr val="F4F1EA"/>
          </a:solidFill>
          <a:ln/>
        </p:spPr>
      </p:sp>
      <p:sp>
        <p:nvSpPr>
          <p:cNvPr id="6" name="TextBox 9"/>
          <p:cNvSpPr/>
          <p:nvPr/>
        </p:nvSpPr>
        <p:spPr>
          <a:xfrm>
            <a:off x="850879" y="2616220"/>
            <a:ext cx="6133947" cy="152396"/>
          </a:xfrm>
          <a:prstGeom prst="rect">
            <a:avLst/>
          </a:prstGeom>
          <a:noFill/>
          <a:ln/>
        </p:spPr>
        <p:txBody>
          <a:bodyPr wrap="square" lIns="0" tIns="0" rIns="0" bIns="0" rtlCol="0" anchor="t">
            <a:spAutoFit/>
          </a:bodyPr>
          <a:lstStyle/>
          <a:p>
            <a:pPr algn="l" indent="0" marL="0">
              <a:buNone/>
            </a:pPr>
            <a:r>
              <a:rPr lang="en-US" sz="1050" b="1" spc="150" kern="0" dirty="0">
                <a:solidFill>
                  <a:srgbClr val="00A99D"/>
                </a:solidFill>
                <a:latin typeface="Arial" pitchFamily="34" charset="0"/>
                <a:ea typeface="Arial" pitchFamily="34" charset="-122"/>
                <a:cs typeface="Arial" pitchFamily="34" charset="-120"/>
              </a:rPr>
              <a:t>REVIEWED GRID · nDCG@5</a:t>
            </a:r>
            <a:endParaRPr lang="en-US" sz="1050" dirty="0"/>
          </a:p>
        </p:txBody>
      </p:sp>
      <p:sp>
        <p:nvSpPr>
          <p:cNvPr id="7" name="Shape 11"/>
          <p:cNvSpPr/>
          <p:nvPr/>
        </p:nvSpPr>
        <p:spPr>
          <a:xfrm>
            <a:off x="977876" y="3238505"/>
            <a:ext cx="5714857" cy="2031949"/>
          </a:xfrm>
          <a:prstGeom prst="rect">
            <a:avLst/>
          </a:prstGeom>
          <a:noFill/>
          <a:ln/>
        </p:spPr>
      </p:sp>
      <p:pic>
        <p:nvPicPr>
          <p:cNvPr id="8" name="Picture 11" descr="__type_image">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977876" y="3238505"/>
            <a:ext cx="5714857" cy="2031949"/>
          </a:xfrm>
          <a:prstGeom prst="rect">
            <a:avLst/>
          </a:prstGeom>
        </p:spPr>
      </p:pic>
      <p:pic>
        <p:nvPicPr>
          <p:cNvPr id="9" name="Picture 13" descr="__type_image">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435064" y="3638545"/>
            <a:ext cx="634984" cy="1619210"/>
          </a:xfrm>
          <a:prstGeom prst="rect">
            <a:avLst/>
          </a:prstGeom>
        </p:spPr>
      </p:pic>
      <p:pic>
        <p:nvPicPr>
          <p:cNvPr id="10" name="Picture 13" descr="__type_image">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435064" y="3638545"/>
            <a:ext cx="634984" cy="1619210"/>
          </a:xfrm>
          <a:prstGeom prst="rect">
            <a:avLst/>
          </a:prstGeom>
        </p:spPr>
      </p:pic>
      <p:pic>
        <p:nvPicPr>
          <p:cNvPr id="11" name="Picture 13" descr="__type_image">    </p:cNvPr>
          <p:cNvPicPr>
            <a:picLocks noChangeAspect="1"/>
          </p:cNvPicPr>
          <p:nvPr/>
        </p:nvPicPr>
        <p:blipFill>
          <a:blip r:embed="rId7"/>
          <a:stretch>
            <a:fillRect/>
          </a:stretch>
        </p:blipFill>
        <p:spPr>
          <a:xfrm>
            <a:off x="1435064" y="3638545"/>
            <a:ext cx="634984" cy="1619210"/>
          </a:xfrm>
          <a:prstGeom prst="rect">
            <a:avLst/>
          </a:prstGeom>
        </p:spPr>
      </p:pic>
      <p:pic>
        <p:nvPicPr>
          <p:cNvPr id="12" name="Picture 15" descr="__type_image">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2482788" y="3543297"/>
            <a:ext cx="634984" cy="1714457"/>
          </a:xfrm>
          <a:prstGeom prst="rect">
            <a:avLst/>
          </a:prstGeom>
        </p:spPr>
      </p:pic>
      <p:pic>
        <p:nvPicPr>
          <p:cNvPr id="13" name="Picture 15" descr="__type_image">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2482788" y="3543297"/>
            <a:ext cx="634984" cy="1714457"/>
          </a:xfrm>
          <a:prstGeom prst="rect">
            <a:avLst/>
          </a:prstGeom>
        </p:spPr>
      </p:pic>
      <p:pic>
        <p:nvPicPr>
          <p:cNvPr id="14" name="Picture 15" descr="__type_image">    </p:cNvPr>
          <p:cNvPicPr>
            <a:picLocks noChangeAspect="1"/>
          </p:cNvPicPr>
          <p:nvPr/>
        </p:nvPicPr>
        <p:blipFill>
          <a:blip r:embed="rId12"/>
          <a:stretch>
            <a:fillRect/>
          </a:stretch>
        </p:blipFill>
        <p:spPr>
          <a:xfrm>
            <a:off x="2482788" y="3543297"/>
            <a:ext cx="634984" cy="1714457"/>
          </a:xfrm>
          <a:prstGeom prst="rect">
            <a:avLst/>
          </a:prstGeom>
        </p:spPr>
      </p:pic>
      <p:pic>
        <p:nvPicPr>
          <p:cNvPr id="15" name="Picture 17" descr="__type_image">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3530512" y="3568697"/>
            <a:ext cx="634984" cy="1689058"/>
          </a:xfrm>
          <a:prstGeom prst="rect">
            <a:avLst/>
          </a:prstGeom>
        </p:spPr>
      </p:pic>
      <p:pic>
        <p:nvPicPr>
          <p:cNvPr id="16" name="Picture 17" descr="__type_image">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3530512" y="3568697"/>
            <a:ext cx="634984" cy="1689058"/>
          </a:xfrm>
          <a:prstGeom prst="rect">
            <a:avLst/>
          </a:prstGeom>
        </p:spPr>
      </p:pic>
      <p:pic>
        <p:nvPicPr>
          <p:cNvPr id="17" name="Picture 17" descr="__type_image">    </p:cNvPr>
          <p:cNvPicPr>
            <a:picLocks noChangeAspect="1"/>
          </p:cNvPicPr>
          <p:nvPr/>
        </p:nvPicPr>
        <p:blipFill>
          <a:blip r:embed="rId17"/>
          <a:stretch>
            <a:fillRect/>
          </a:stretch>
        </p:blipFill>
        <p:spPr>
          <a:xfrm>
            <a:off x="3530512" y="3568697"/>
            <a:ext cx="634984" cy="1689058"/>
          </a:xfrm>
          <a:prstGeom prst="rect">
            <a:avLst/>
          </a:prstGeom>
        </p:spPr>
      </p:pic>
      <p:pic>
        <p:nvPicPr>
          <p:cNvPr id="18" name="Picture 19" descr="__type_image">    </p:cNvPr>
          <p:cNvPicPr>
            <a:picLocks noChangeAspect="1"/>
          </p:cNvPicPr>
          <p:nvPr/>
        </p:nvPicPr>
        <p:blipFill>
          <a:blip r:embed="rId18">
            <a:extLst>
              <a:ext uri="{96DAC541-7B7A-43D3-8B79-37D633B846F1}">
                <asvg:svgBlip xmlns:asvg="http://schemas.microsoft.com/office/drawing/2016/SVG/main" r:embed="rId19"/>
              </a:ext>
            </a:extLst>
          </a:blip>
          <a:stretch>
            <a:fillRect/>
          </a:stretch>
        </p:blipFill>
        <p:spPr>
          <a:xfrm>
            <a:off x="4578236" y="3708393"/>
            <a:ext cx="634984" cy="1549361"/>
          </a:xfrm>
          <a:prstGeom prst="rect">
            <a:avLst/>
          </a:prstGeom>
        </p:spPr>
      </p:pic>
      <p:pic>
        <p:nvPicPr>
          <p:cNvPr id="19" name="Picture 19" descr="__type_image">    </p:cNvPr>
          <p:cNvPicPr>
            <a:picLocks noChangeAspect="1"/>
          </p:cNvPicPr>
          <p:nvPr/>
        </p:nvPicPr>
        <p:blipFill>
          <a:blip r:embed="rId20">
            <a:extLst>
              <a:ext uri="{96DAC541-7B7A-43D3-8B79-37D633B846F1}">
                <asvg:svgBlip xmlns:asvg="http://schemas.microsoft.com/office/drawing/2016/SVG/main" r:embed="rId21"/>
              </a:ext>
            </a:extLst>
          </a:blip>
          <a:stretch>
            <a:fillRect/>
          </a:stretch>
        </p:blipFill>
        <p:spPr>
          <a:xfrm>
            <a:off x="4578236" y="3708393"/>
            <a:ext cx="634984" cy="1549361"/>
          </a:xfrm>
          <a:prstGeom prst="rect">
            <a:avLst/>
          </a:prstGeom>
        </p:spPr>
      </p:pic>
      <p:pic>
        <p:nvPicPr>
          <p:cNvPr id="20" name="Picture 19" descr="__type_image">    </p:cNvPr>
          <p:cNvPicPr>
            <a:picLocks noChangeAspect="1"/>
          </p:cNvPicPr>
          <p:nvPr/>
        </p:nvPicPr>
        <p:blipFill>
          <a:blip r:embed="rId22"/>
          <a:stretch>
            <a:fillRect/>
          </a:stretch>
        </p:blipFill>
        <p:spPr>
          <a:xfrm>
            <a:off x="4578236" y="3708393"/>
            <a:ext cx="634984" cy="1549361"/>
          </a:xfrm>
          <a:prstGeom prst="rect">
            <a:avLst/>
          </a:prstGeom>
        </p:spPr>
      </p:pic>
      <p:pic>
        <p:nvPicPr>
          <p:cNvPr id="21" name="Picture 21" descr="__type_image">    </p:cNvPr>
          <p:cNvPicPr>
            <a:picLocks noChangeAspect="1"/>
          </p:cNvPicPr>
          <p:nvPr/>
        </p:nvPicPr>
        <p:blipFill>
          <a:blip r:embed="rId23">
            <a:extLst>
              <a:ext uri="{96DAC541-7B7A-43D3-8B79-37D633B846F1}">
                <asvg:svgBlip xmlns:asvg="http://schemas.microsoft.com/office/drawing/2016/SVG/main" r:embed="rId24"/>
              </a:ext>
            </a:extLst>
          </a:blip>
          <a:stretch>
            <a:fillRect/>
          </a:stretch>
        </p:blipFill>
        <p:spPr>
          <a:xfrm>
            <a:off x="5625959" y="3892538"/>
            <a:ext cx="634984" cy="1365216"/>
          </a:xfrm>
          <a:prstGeom prst="rect">
            <a:avLst/>
          </a:prstGeom>
        </p:spPr>
      </p:pic>
      <p:pic>
        <p:nvPicPr>
          <p:cNvPr id="22" name="Picture 21" descr="__type_image">    </p:cNvPr>
          <p:cNvPicPr>
            <a:picLocks noChangeAspect="1"/>
          </p:cNvPicPr>
          <p:nvPr/>
        </p:nvPicPr>
        <p:blipFill>
          <a:blip r:embed="rId25">
            <a:extLst>
              <a:ext uri="{96DAC541-7B7A-43D3-8B79-37D633B846F1}">
                <asvg:svgBlip xmlns:asvg="http://schemas.microsoft.com/office/drawing/2016/SVG/main" r:embed="rId26"/>
              </a:ext>
            </a:extLst>
          </a:blip>
          <a:stretch>
            <a:fillRect/>
          </a:stretch>
        </p:blipFill>
        <p:spPr>
          <a:xfrm>
            <a:off x="5625959" y="3892538"/>
            <a:ext cx="634984" cy="1365216"/>
          </a:xfrm>
          <a:prstGeom prst="rect">
            <a:avLst/>
          </a:prstGeom>
        </p:spPr>
      </p:pic>
      <p:pic>
        <p:nvPicPr>
          <p:cNvPr id="23" name="Picture 21" descr="__type_image">    </p:cNvPr>
          <p:cNvPicPr>
            <a:picLocks noChangeAspect="1"/>
          </p:cNvPicPr>
          <p:nvPr/>
        </p:nvPicPr>
        <p:blipFill>
          <a:blip r:embed="rId27"/>
          <a:stretch>
            <a:fillRect/>
          </a:stretch>
        </p:blipFill>
        <p:spPr>
          <a:xfrm>
            <a:off x="5625959" y="3892538"/>
            <a:ext cx="634984" cy="1365216"/>
          </a:xfrm>
          <a:prstGeom prst="rect">
            <a:avLst/>
          </a:prstGeom>
        </p:spPr>
      </p:pic>
      <p:sp>
        <p:nvSpPr>
          <p:cNvPr id="24" name="TextBox 23"/>
          <p:cNvSpPr/>
          <p:nvPr/>
        </p:nvSpPr>
        <p:spPr>
          <a:xfrm>
            <a:off x="1333467" y="3378201"/>
            <a:ext cx="825479" cy="215895"/>
          </a:xfrm>
          <a:prstGeom prst="rect">
            <a:avLst/>
          </a:prstGeom>
          <a:noFill/>
          <a:ln/>
        </p:spPr>
        <p:txBody>
          <a:bodyPr wrap="square" lIns="0" tIns="0" rIns="0" bIns="0" rtlCol="0" anchor="t">
            <a:spAutoFit/>
          </a:bodyPr>
          <a:lstStyle/>
          <a:p>
            <a:pPr algn="ctr" indent="0" marL="0">
              <a:buNone/>
            </a:pPr>
            <a:r>
              <a:rPr lang="en-US" sz="1100" dirty="0">
                <a:solidFill>
                  <a:srgbClr val="162A2D"/>
                </a:solidFill>
                <a:latin typeface="Arial" pitchFamily="34" charset="0"/>
                <a:ea typeface="Arial" pitchFamily="34" charset="-122"/>
                <a:cs typeface="Arial" pitchFamily="34" charset="-120"/>
              </a:rPr>
              <a:t>.802</a:t>
            </a:r>
            <a:endParaRPr lang="en-US" sz="1100" dirty="0"/>
          </a:p>
        </p:txBody>
      </p:sp>
      <p:sp>
        <p:nvSpPr>
          <p:cNvPr id="25" name="TextBox 25"/>
          <p:cNvSpPr/>
          <p:nvPr/>
        </p:nvSpPr>
        <p:spPr>
          <a:xfrm>
            <a:off x="2381190" y="3282954"/>
            <a:ext cx="825479" cy="215895"/>
          </a:xfrm>
          <a:prstGeom prst="rect">
            <a:avLst/>
          </a:prstGeom>
          <a:noFill/>
          <a:ln/>
        </p:spPr>
        <p:txBody>
          <a:bodyPr wrap="square" lIns="0" tIns="0" rIns="0" bIns="0" rtlCol="0" anchor="t">
            <a:spAutoFit/>
          </a:bodyPr>
          <a:lstStyle/>
          <a:p>
            <a:pPr algn="ctr" indent="0" marL="0">
              <a:buNone/>
            </a:pPr>
            <a:r>
              <a:rPr lang="en-US" sz="1200" b="1" dirty="0">
                <a:solidFill>
                  <a:srgbClr val="00A99D"/>
                </a:solidFill>
                <a:latin typeface="Arial" pitchFamily="34" charset="0"/>
                <a:ea typeface="Arial" pitchFamily="34" charset="-122"/>
                <a:cs typeface="Arial" pitchFamily="34" charset="-120"/>
              </a:rPr>
              <a:t>.847</a:t>
            </a:r>
            <a:endParaRPr lang="en-US" sz="1200" dirty="0"/>
          </a:p>
        </p:txBody>
      </p:sp>
      <p:sp>
        <p:nvSpPr>
          <p:cNvPr id="26" name="TextBox 27"/>
          <p:cNvSpPr/>
          <p:nvPr/>
        </p:nvSpPr>
        <p:spPr>
          <a:xfrm>
            <a:off x="3428914" y="3308353"/>
            <a:ext cx="825479" cy="215895"/>
          </a:xfrm>
          <a:prstGeom prst="rect">
            <a:avLst/>
          </a:prstGeom>
          <a:noFill/>
          <a:ln/>
        </p:spPr>
        <p:txBody>
          <a:bodyPr wrap="square" lIns="0" tIns="0" rIns="0" bIns="0" rtlCol="0" anchor="t">
            <a:spAutoFit/>
          </a:bodyPr>
          <a:lstStyle/>
          <a:p>
            <a:pPr algn="ctr" indent="0" marL="0">
              <a:buNone/>
            </a:pPr>
            <a:r>
              <a:rPr lang="en-US" sz="1100" dirty="0">
                <a:solidFill>
                  <a:srgbClr val="162A2D"/>
                </a:solidFill>
                <a:latin typeface="Arial" pitchFamily="34" charset="0"/>
                <a:ea typeface="Arial" pitchFamily="34" charset="-122"/>
                <a:cs typeface="Arial" pitchFamily="34" charset="-120"/>
              </a:rPr>
              <a:t>.833</a:t>
            </a:r>
            <a:endParaRPr lang="en-US" sz="1100" dirty="0"/>
          </a:p>
        </p:txBody>
      </p:sp>
      <p:sp>
        <p:nvSpPr>
          <p:cNvPr id="27" name="TextBox 29"/>
          <p:cNvSpPr/>
          <p:nvPr/>
        </p:nvSpPr>
        <p:spPr>
          <a:xfrm>
            <a:off x="4476638" y="3448050"/>
            <a:ext cx="825479" cy="215895"/>
          </a:xfrm>
          <a:prstGeom prst="rect">
            <a:avLst/>
          </a:prstGeom>
          <a:noFill/>
          <a:ln/>
        </p:spPr>
        <p:txBody>
          <a:bodyPr wrap="square" lIns="0" tIns="0" rIns="0" bIns="0" rtlCol="0" anchor="t">
            <a:spAutoFit/>
          </a:bodyPr>
          <a:lstStyle/>
          <a:p>
            <a:pPr algn="ctr" indent="0" marL="0">
              <a:buNone/>
            </a:pPr>
            <a:r>
              <a:rPr lang="en-US" sz="1100" dirty="0">
                <a:solidFill>
                  <a:srgbClr val="162A2D"/>
                </a:solidFill>
                <a:latin typeface="Arial" pitchFamily="34" charset="0"/>
                <a:ea typeface="Arial" pitchFamily="34" charset="-122"/>
                <a:cs typeface="Arial" pitchFamily="34" charset="-120"/>
              </a:rPr>
              <a:t>.762</a:t>
            </a:r>
            <a:endParaRPr lang="en-US" sz="1100" dirty="0"/>
          </a:p>
        </p:txBody>
      </p:sp>
      <p:sp>
        <p:nvSpPr>
          <p:cNvPr id="28" name="TextBox 31"/>
          <p:cNvSpPr/>
          <p:nvPr/>
        </p:nvSpPr>
        <p:spPr>
          <a:xfrm>
            <a:off x="5524362" y="3632195"/>
            <a:ext cx="825479" cy="215895"/>
          </a:xfrm>
          <a:prstGeom prst="rect">
            <a:avLst/>
          </a:prstGeom>
          <a:noFill/>
          <a:ln/>
        </p:spPr>
        <p:txBody>
          <a:bodyPr wrap="square" lIns="0" tIns="0" rIns="0" bIns="0" rtlCol="0" anchor="t">
            <a:spAutoFit/>
          </a:bodyPr>
          <a:lstStyle/>
          <a:p>
            <a:pPr algn="ctr" indent="0" marL="0">
              <a:buNone/>
            </a:pPr>
            <a:r>
              <a:rPr lang="en-US" sz="1100" dirty="0">
                <a:solidFill>
                  <a:srgbClr val="162A2D"/>
                </a:solidFill>
                <a:latin typeface="Arial" pitchFamily="34" charset="0"/>
                <a:ea typeface="Arial" pitchFamily="34" charset="-122"/>
                <a:cs typeface="Arial" pitchFamily="34" charset="-120"/>
              </a:rPr>
              <a:t>.672</a:t>
            </a:r>
            <a:endParaRPr lang="en-US" sz="1100" dirty="0"/>
          </a:p>
        </p:txBody>
      </p:sp>
      <p:sp>
        <p:nvSpPr>
          <p:cNvPr id="29" name="TextBox 34"/>
          <p:cNvSpPr/>
          <p:nvPr/>
        </p:nvSpPr>
        <p:spPr>
          <a:xfrm>
            <a:off x="1168371" y="5346652"/>
            <a:ext cx="5143371" cy="279393"/>
          </a:xfrm>
          <a:prstGeom prst="rect">
            <a:avLst/>
          </a:prstGeom>
          <a:noFill/>
          <a:ln/>
        </p:spPr>
        <p:txBody>
          <a:bodyPr wrap="square" lIns="0" tIns="0" rIns="0" bIns="0" rtlCol="0" anchor="t">
            <a:spAutoFit/>
          </a:bodyPr>
          <a:lstStyle/>
          <a:p>
            <a:pPr algn="l" indent="0" marL="0">
              <a:buNone/>
            </a:pPr>
            <a:r>
              <a:rPr lang="en-US" sz="1150" dirty="0">
                <a:solidFill>
                  <a:srgbClr val="5E6D6C"/>
                </a:solidFill>
                <a:latin typeface="Arial" pitchFamily="34" charset="0"/>
                <a:ea typeface="Arial" pitchFamily="34" charset="-122"/>
                <a:cs typeface="Arial" pitchFamily="34" charset="-120"/>
              </a:rPr>
              <a:t>Character weight → 1.00 · </a:t>
            </a:r>
            <a:r>
              <a:rPr lang="en-US" sz="1150" b="1" dirty="0">
                <a:solidFill>
                  <a:srgbClr val="5E6D6C"/>
                </a:solidFill>
                <a:latin typeface="Arial" pitchFamily="34" charset="0"/>
                <a:ea typeface="Arial" pitchFamily="34" charset="-122"/>
                <a:cs typeface="Arial" pitchFamily="34" charset="-120"/>
              </a:rPr>
              <a:t>0.75</a:t>
            </a:r>
            <a:r>
              <a:rPr lang="en-US" sz="1150" dirty="0">
                <a:solidFill>
                  <a:srgbClr val="5E6D6C"/>
                </a:solidFill>
                <a:latin typeface="Arial" pitchFamily="34" charset="0"/>
                <a:ea typeface="Arial" pitchFamily="34" charset="-122"/>
                <a:cs typeface="Arial" pitchFamily="34" charset="-120"/>
              </a:rPr>
              <a:t> · 0.50 · 0.25 · 0.00</a:t>
            </a:r>
            <a:endParaRPr lang="en-US" sz="1150" dirty="0"/>
          </a:p>
        </p:txBody>
      </p:sp>
      <p:sp>
        <p:nvSpPr>
          <p:cNvPr id="30" name="Shape 37"/>
          <p:cNvSpPr/>
          <p:nvPr/>
        </p:nvSpPr>
        <p:spPr>
          <a:xfrm>
            <a:off x="7670608" y="2349527"/>
            <a:ext cx="3936902" cy="3479713"/>
          </a:xfrm>
          <a:prstGeom prst="roundRect">
            <a:avLst>
              <a:gd name="adj" fmla="val 7664"/>
            </a:avLst>
          </a:prstGeom>
          <a:solidFill>
            <a:srgbClr val="162A2D"/>
          </a:solidFill>
          <a:ln/>
        </p:spPr>
      </p:sp>
      <p:sp>
        <p:nvSpPr>
          <p:cNvPr id="31" name="TextBox 39"/>
          <p:cNvSpPr/>
          <p:nvPr/>
        </p:nvSpPr>
        <p:spPr>
          <a:xfrm>
            <a:off x="7937302" y="2616220"/>
            <a:ext cx="3403515" cy="152396"/>
          </a:xfrm>
          <a:prstGeom prst="rect">
            <a:avLst/>
          </a:prstGeom>
          <a:noFill/>
          <a:ln/>
        </p:spPr>
        <p:txBody>
          <a:bodyPr wrap="square" lIns="0" tIns="0" rIns="0" bIns="0" rtlCol="0" anchor="t">
            <a:spAutoFit/>
          </a:bodyPr>
          <a:lstStyle/>
          <a:p>
            <a:pPr algn="l" indent="0" marL="0">
              <a:buNone/>
            </a:pPr>
            <a:r>
              <a:rPr lang="en-US" sz="1050" b="1" spc="150" kern="0" dirty="0">
                <a:solidFill>
                  <a:srgbClr val="00A99D"/>
                </a:solidFill>
                <a:latin typeface="Arial" pitchFamily="34" charset="0"/>
                <a:ea typeface="Arial" pitchFamily="34" charset="-122"/>
                <a:cs typeface="Arial" pitchFamily="34" charset="-120"/>
              </a:rPr>
              <a:t>THE DATA CEILING</a:t>
            </a:r>
            <a:endParaRPr lang="en-US" sz="1050" dirty="0"/>
          </a:p>
        </p:txBody>
      </p:sp>
      <p:sp>
        <p:nvSpPr>
          <p:cNvPr id="32" name="TextBox 41"/>
          <p:cNvSpPr/>
          <p:nvPr/>
        </p:nvSpPr>
        <p:spPr>
          <a:xfrm>
            <a:off x="7937302" y="3111508"/>
            <a:ext cx="3403515" cy="675564"/>
          </a:xfrm>
          <a:prstGeom prst="rect">
            <a:avLst/>
          </a:prstGeom>
          <a:noFill/>
          <a:ln/>
        </p:spPr>
        <p:txBody>
          <a:bodyPr wrap="square" lIns="0" tIns="0" rIns="0" bIns="0" rtlCol="0" anchor="t">
            <a:spAutoFit/>
          </a:bodyPr>
          <a:lstStyle/>
          <a:p>
            <a:pPr algn="l" indent="0" marL="0">
              <a:lnSpc>
                <a:spcPts val="5320"/>
              </a:lnSpc>
              <a:buNone/>
            </a:pPr>
            <a:r>
              <a:rPr lang="en-US" sz="5600" b="1" dirty="0">
                <a:solidFill>
                  <a:srgbClr val="FFFFFF"/>
                </a:solidFill>
                <a:latin typeface="Arial" pitchFamily="34" charset="0"/>
                <a:ea typeface="Arial" pitchFamily="34" charset="-122"/>
                <a:cs typeface="Arial" pitchFamily="34" charset="-120"/>
              </a:rPr>
              <a:t>66.43%</a:t>
            </a:r>
            <a:endParaRPr lang="en-US" sz="5600" dirty="0"/>
          </a:p>
        </p:txBody>
      </p:sp>
      <p:sp>
        <p:nvSpPr>
          <p:cNvPr id="33" name="TextBox 43"/>
          <p:cNvSpPr/>
          <p:nvPr/>
        </p:nvSpPr>
        <p:spPr>
          <a:xfrm>
            <a:off x="7937302" y="3914068"/>
            <a:ext cx="3403515" cy="476238"/>
          </a:xfrm>
          <a:prstGeom prst="rect">
            <a:avLst/>
          </a:prstGeom>
          <a:noFill/>
          <a:ln/>
        </p:spPr>
        <p:txBody>
          <a:bodyPr wrap="square" lIns="0" tIns="0" rIns="0" bIns="0" rtlCol="0" anchor="t">
            <a:spAutoFit/>
          </a:bodyPr>
          <a:lstStyle/>
          <a:p>
            <a:pPr algn="l" indent="0" marL="0">
              <a:lnSpc>
                <a:spcPts val="1875"/>
              </a:lnSpc>
              <a:buNone/>
            </a:pPr>
            <a:r>
              <a:rPr lang="en-US" sz="1500" dirty="0">
                <a:solidFill>
                  <a:srgbClr val="B8C3C1"/>
                </a:solidFill>
                <a:latin typeface="Arial" pitchFamily="34" charset="0"/>
                <a:ea typeface="Arial" pitchFamily="34" charset="-122"/>
                <a:cs typeface="Arial" pitchFamily="34" charset="-120"/>
              </a:rPr>
              <a:t>text-backed catalog coverage</a:t>
            </a:r>
            <a:endParaRPr lang="en-US" sz="1500" dirty="0"/>
          </a:p>
          <a:p>
            <a:pPr algn="l" indent="0" marL="0">
              <a:lnSpc>
                <a:spcPts val="1875"/>
              </a:lnSpc>
              <a:buNone/>
            </a:pPr>
            <a:r>
              <a:rPr lang="en-US" sz="1500" dirty="0">
                <a:solidFill>
                  <a:srgbClr val="B8C3C1"/>
                </a:solidFill>
                <a:latin typeface="Arial" pitchFamily="34" charset="0"/>
                <a:ea typeface="Arial" pitchFamily="34" charset="-122"/>
                <a:cs typeface="Arial" pitchFamily="34" charset="-120"/>
              </a:rPr>
              <a:t>663 of 998 materials</a:t>
            </a:r>
            <a:endParaRPr lang="en-US" sz="1500" dirty="0"/>
          </a:p>
        </p:txBody>
      </p:sp>
      <p:sp>
        <p:nvSpPr>
          <p:cNvPr id="34" name="Shape 45"/>
          <p:cNvSpPr/>
          <p:nvPr/>
        </p:nvSpPr>
        <p:spPr>
          <a:xfrm>
            <a:off x="7937302" y="4707798"/>
            <a:ext cx="3403515" cy="88898"/>
          </a:xfrm>
          <a:prstGeom prst="roundRect">
            <a:avLst>
              <a:gd name="adj" fmla="val 50000"/>
            </a:avLst>
          </a:prstGeom>
          <a:solidFill>
            <a:srgbClr val="FFFFFF">
              <a:alpha val="18000"/>
            </a:srgbClr>
          </a:solidFill>
          <a:ln/>
        </p:spPr>
      </p:sp>
      <p:sp>
        <p:nvSpPr>
          <p:cNvPr id="35" name="Shape 47"/>
          <p:cNvSpPr/>
          <p:nvPr/>
        </p:nvSpPr>
        <p:spPr>
          <a:xfrm>
            <a:off x="7937302" y="4707798"/>
            <a:ext cx="2260543" cy="88898"/>
          </a:xfrm>
          <a:prstGeom prst="roundRect">
            <a:avLst>
              <a:gd name="adj" fmla="val 50000"/>
            </a:avLst>
          </a:prstGeom>
          <a:solidFill>
            <a:srgbClr val="00A99D"/>
          </a:solidFill>
          <a:ln/>
        </p:spPr>
      </p:sp>
      <p:pic>
        <p:nvPicPr>
          <p:cNvPr id="36" name="Picture 50" descr="__type_image">    </p:cNvPr>
          <p:cNvPicPr>
            <a:picLocks noChangeAspect="1"/>
          </p:cNvPicPr>
          <p:nvPr/>
        </p:nvPicPr>
        <p:blipFill>
          <a:blip r:embed="rId28">
            <a:extLst>
              <a:ext uri="{96DAC541-7B7A-43D3-8B79-37D633B846F1}">
                <asvg:svgBlip xmlns:asvg="http://schemas.microsoft.com/office/drawing/2016/SVG/main" r:embed="rId29"/>
              </a:ext>
            </a:extLst>
          </a:blip>
          <a:stretch>
            <a:fillRect/>
          </a:stretch>
        </p:blipFill>
        <p:spPr>
          <a:xfrm>
            <a:off x="7937302" y="4762467"/>
            <a:ext cx="3403515" cy="800080"/>
          </a:xfrm>
          <a:prstGeom prst="rect">
            <a:avLst/>
          </a:prstGeom>
        </p:spPr>
      </p:pic>
      <p:sp>
        <p:nvSpPr>
          <p:cNvPr id="37" name="TextBox 50"/>
          <p:cNvSpPr/>
          <p:nvPr/>
        </p:nvSpPr>
        <p:spPr>
          <a:xfrm>
            <a:off x="7937302" y="4762467"/>
            <a:ext cx="3403515" cy="800080"/>
          </a:xfrm>
          <a:prstGeom prst="rect">
            <a:avLst/>
          </a:prstGeom>
          <a:noFill/>
          <a:ln/>
        </p:spPr>
        <p:txBody>
          <a:bodyPr wrap="square" lIns="0" tIns="152396" rIns="0" bIns="0" rtlCol="0" anchor="t">
            <a:spAutoFit/>
          </a:bodyPr>
          <a:lstStyle/>
          <a:p>
            <a:pPr algn="l" indent="0" marL="0">
              <a:lnSpc>
                <a:spcPts val="1890"/>
              </a:lnSpc>
              <a:buNone/>
            </a:pPr>
            <a:r>
              <a:rPr lang="en-US" sz="1400" dirty="0">
                <a:solidFill>
                  <a:srgbClr val="FFFFFF"/>
                </a:solidFill>
                <a:latin typeface="Arial" pitchFamily="34" charset="0"/>
                <a:ea typeface="Arial" pitchFamily="34" charset="-122"/>
                <a:cs typeface="Arial" pitchFamily="34" charset="-120"/>
              </a:rPr>
              <a:t>335 blank descriptions → </a:t>
            </a:r>
            <a:r>
              <a:rPr lang="en-US" sz="1400" b="1" dirty="0">
                <a:solidFill>
                  <a:srgbClr val="00A99D"/>
                </a:solidFill>
                <a:latin typeface="Arial" pitchFamily="34" charset="0"/>
                <a:ea typeface="Arial" pitchFamily="34" charset="-122"/>
                <a:cs typeface="Arial" pitchFamily="34" charset="-120"/>
              </a:rPr>
              <a:t>explicit abstention</a:t>
            </a:r>
            <a:endParaRPr lang="en-US" sz="1400" dirty="0"/>
          </a:p>
        </p:txBody>
      </p:sp>
      <p:sp>
        <p:nvSpPr>
          <p:cNvPr id="38" name="TextBox 53"/>
          <p:cNvSpPr/>
          <p:nvPr/>
        </p:nvSpPr>
        <p:spPr>
          <a:xfrm>
            <a:off x="584185" y="6286429"/>
            <a:ext cx="8889778" cy="266693"/>
          </a:xfrm>
          <a:prstGeom prst="rect">
            <a:avLst/>
          </a:prstGeom>
          <a:noFill/>
          <a:ln/>
        </p:spPr>
        <p:txBody>
          <a:bodyPr wrap="square" lIns="0" tIns="0" rIns="0" bIns="0" rtlCol="0" anchor="t">
            <a:spAutoFit/>
          </a:bodyPr>
          <a:lstStyle/>
          <a:p>
            <a:pPr algn="l" indent="0" marL="0">
              <a:buNone/>
            </a:pPr>
            <a:r>
              <a:rPr lang="en-US" sz="1200" dirty="0">
                <a:solidFill>
                  <a:srgbClr val="5E6D6C"/>
                </a:solidFill>
                <a:latin typeface="Arial" pitchFamily="34" charset="0"/>
                <a:ea typeface="Arial" pitchFamily="34" charset="-122"/>
                <a:cs typeface="Arial" pitchFamily="34" charset="-120"/>
              </a:rPr>
              <a:t>A larger model cannot manufacture technical fitment data that is not present.</a:t>
            </a:r>
            <a:endParaRPr lang="en-US" sz="1200" dirty="0"/>
          </a:p>
        </p:txBody>
      </p:sp>
      <p:sp>
        <p:nvSpPr>
          <p:cNvPr id="39" name="TextBox 55"/>
          <p:cNvSpPr/>
          <p:nvPr/>
        </p:nvSpPr>
        <p:spPr>
          <a:xfrm>
            <a:off x="11099523" y="6324528"/>
            <a:ext cx="507987" cy="253994"/>
          </a:xfrm>
          <a:prstGeom prst="rect">
            <a:avLst/>
          </a:prstGeom>
          <a:noFill/>
          <a:ln/>
        </p:spPr>
        <p:txBody>
          <a:bodyPr wrap="square" lIns="0" tIns="0" rIns="0" bIns="0" rtlCol="0" anchor="t">
            <a:spAutoFit/>
          </a:bodyPr>
          <a:lstStyle/>
          <a:p>
            <a:pPr algn="r" indent="0" marL="0">
              <a:buNone/>
            </a:pPr>
            <a:r>
              <a:rPr lang="en-US" sz="1200" dirty="0">
                <a:solidFill>
                  <a:srgbClr val="00A99D"/>
                </a:solidFill>
                <a:latin typeface="Arial" pitchFamily="34" charset="0"/>
                <a:ea typeface="Arial" pitchFamily="34" charset="-122"/>
                <a:cs typeface="Arial" pitchFamily="34" charset="-120"/>
              </a:rPr>
              <a:t>12</a:t>
            </a:r>
            <a:endParaRPr lang="en-US" sz="1200" dirty="0"/>
          </a:p>
        </p:txBody>
      </p:sp>
    </p:spTree>
  </p:cSld>
  <p:clrMapOvr>
    <a:masterClrMapping/>
  </p:clrMapOvr>
  <p:transition spd="med">
    <p:fade/>
  </p:transition>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1"/>
          <p:cNvSpPr/>
          <p:nvPr/>
        </p:nvSpPr>
        <p:spPr>
          <a:xfrm>
            <a:off x="0" y="86"/>
            <a:ext cx="12191695" cy="6857829"/>
          </a:xfrm>
          <a:prstGeom prst="rect">
            <a:avLst/>
          </a:prstGeom>
          <a:solidFill>
            <a:srgbClr val="F4F1EA"/>
          </a:solidFill>
          <a:ln/>
        </p:spPr>
      </p:sp>
      <p:sp>
        <p:nvSpPr>
          <p:cNvPr id="3" name="TextBox 3"/>
          <p:cNvSpPr/>
          <p:nvPr/>
        </p:nvSpPr>
        <p:spPr>
          <a:xfrm>
            <a:off x="584185" y="457274"/>
            <a:ext cx="2984425" cy="215895"/>
          </a:xfrm>
          <a:prstGeom prst="rect">
            <a:avLst/>
          </a:prstGeom>
          <a:noFill/>
          <a:ln/>
        </p:spPr>
        <p:txBody>
          <a:bodyPr wrap="square" lIns="0" tIns="0" rIns="0" bIns="0" rtlCol="0" anchor="t">
            <a:spAutoFit/>
          </a:bodyPr>
          <a:lstStyle/>
          <a:p>
            <a:pPr algn="l" indent="0" marL="0">
              <a:buNone/>
            </a:pPr>
            <a:r>
              <a:rPr lang="en-US" sz="1000" b="1" spc="200" kern="0" dirty="0">
                <a:solidFill>
                  <a:srgbClr val="00A99D"/>
                </a:solidFill>
                <a:latin typeface="Arial" pitchFamily="34" charset="0"/>
                <a:ea typeface="Arial" pitchFamily="34" charset="-122"/>
                <a:cs typeface="Arial" pitchFamily="34" charset="-120"/>
              </a:rPr>
              <a:t>TASK 06 · CATEGORY CONSOLIDATION</a:t>
            </a:r>
            <a:endParaRPr lang="en-US" sz="1000" dirty="0"/>
          </a:p>
        </p:txBody>
      </p:sp>
      <p:sp>
        <p:nvSpPr>
          <p:cNvPr id="4" name="TextBox 5"/>
          <p:cNvSpPr/>
          <p:nvPr/>
        </p:nvSpPr>
        <p:spPr>
          <a:xfrm>
            <a:off x="584185" y="812865"/>
            <a:ext cx="9842254" cy="698483"/>
          </a:xfrm>
          <a:prstGeom prst="rect">
            <a:avLst/>
          </a:prstGeom>
          <a:noFill/>
          <a:ln/>
        </p:spPr>
        <p:txBody>
          <a:bodyPr wrap="square" lIns="0" tIns="0" rIns="0" bIns="0" rtlCol="0" anchor="t">
            <a:spAutoFit/>
          </a:bodyPr>
          <a:lstStyle/>
          <a:p>
            <a:pPr algn="l" indent="0" marL="0">
              <a:lnSpc>
                <a:spcPts val="3564"/>
              </a:lnSpc>
              <a:buNone/>
            </a:pPr>
            <a:r>
              <a:rPr lang="en-US" sz="3300" spc="-150" kern="0" dirty="0">
                <a:solidFill>
                  <a:srgbClr val="162A2D"/>
                </a:solidFill>
                <a:latin typeface="Arial" pitchFamily="34" charset="0"/>
                <a:ea typeface="Arial" pitchFamily="34" charset="-122"/>
                <a:cs typeface="Arial" pitchFamily="34" charset="-120"/>
              </a:rPr>
              <a:t>Learn on train. Freeze for inference.</a:t>
            </a:r>
            <a:endParaRPr lang="en-US" sz="3300" dirty="0"/>
          </a:p>
        </p:txBody>
      </p:sp>
      <p:sp>
        <p:nvSpPr>
          <p:cNvPr id="5" name="Shape 7"/>
          <p:cNvSpPr/>
          <p:nvPr/>
        </p:nvSpPr>
        <p:spPr>
          <a:xfrm>
            <a:off x="584185" y="2032035"/>
            <a:ext cx="4635384" cy="3873403"/>
          </a:xfrm>
          <a:prstGeom prst="roundRect">
            <a:avLst>
              <a:gd name="adj" fmla="val 6885"/>
            </a:avLst>
          </a:prstGeom>
          <a:solidFill>
            <a:srgbClr val="FFFFFF"/>
          </a:solidFill>
          <a:ln w="6350">
            <a:solidFill>
              <a:srgbClr val="C8D3D1"/>
            </a:solidFill>
            <a:prstDash val="solid"/>
          </a:ln>
        </p:spPr>
      </p:sp>
      <p:sp>
        <p:nvSpPr>
          <p:cNvPr id="6" name="TextBox 9"/>
          <p:cNvSpPr/>
          <p:nvPr/>
        </p:nvSpPr>
        <p:spPr>
          <a:xfrm>
            <a:off x="857229" y="2305078"/>
            <a:ext cx="4089298" cy="152396"/>
          </a:xfrm>
          <a:prstGeom prst="rect">
            <a:avLst/>
          </a:prstGeom>
          <a:noFill/>
          <a:ln/>
        </p:spPr>
        <p:txBody>
          <a:bodyPr wrap="square" lIns="0" tIns="0" rIns="0" bIns="0" rtlCol="0" anchor="t">
            <a:spAutoFit/>
          </a:bodyPr>
          <a:lstStyle/>
          <a:p>
            <a:pPr algn="l" indent="0" marL="0">
              <a:buNone/>
            </a:pPr>
            <a:r>
              <a:rPr lang="en-US" sz="1050" b="1" spc="150" kern="0" dirty="0">
                <a:solidFill>
                  <a:srgbClr val="00A99D"/>
                </a:solidFill>
                <a:latin typeface="Arial" pitchFamily="34" charset="0"/>
                <a:ea typeface="Arial" pitchFamily="34" charset="-122"/>
                <a:cs typeface="Arial" pitchFamily="34" charset="-120"/>
              </a:rPr>
              <a:t>FIT · OBSERVED LONG TAIL</a:t>
            </a:r>
            <a:endParaRPr lang="en-US" sz="1050" dirty="0"/>
          </a:p>
        </p:txBody>
      </p:sp>
      <p:sp>
        <p:nvSpPr>
          <p:cNvPr id="7" name="Shape 11"/>
          <p:cNvSpPr/>
          <p:nvPr/>
        </p:nvSpPr>
        <p:spPr>
          <a:xfrm>
            <a:off x="996925" y="2901963"/>
            <a:ext cx="3809905" cy="2285943"/>
          </a:xfrm>
          <a:prstGeom prst="rect">
            <a:avLst/>
          </a:prstGeom>
          <a:noFill/>
          <a:ln/>
        </p:spPr>
      </p:sp>
      <p:pic>
        <p:nvPicPr>
          <p:cNvPr id="8" name="Picture 11" descr="__type_image">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996925" y="2901963"/>
            <a:ext cx="3809905" cy="2285943"/>
          </a:xfrm>
          <a:prstGeom prst="rect">
            <a:avLst/>
          </a:prstGeom>
        </p:spPr>
      </p:pic>
      <p:pic>
        <p:nvPicPr>
          <p:cNvPr id="9" name="Picture 13" descr="__type_image">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263618" y="3175006"/>
            <a:ext cx="431789" cy="2000200"/>
          </a:xfrm>
          <a:prstGeom prst="rect">
            <a:avLst/>
          </a:prstGeom>
        </p:spPr>
      </p:pic>
      <p:pic>
        <p:nvPicPr>
          <p:cNvPr id="10" name="Picture 13" descr="__type_image">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263618" y="3175006"/>
            <a:ext cx="431789" cy="2000200"/>
          </a:xfrm>
          <a:prstGeom prst="rect">
            <a:avLst/>
          </a:prstGeom>
        </p:spPr>
      </p:pic>
      <p:pic>
        <p:nvPicPr>
          <p:cNvPr id="11" name="Picture 13" descr="__type_image">    </p:cNvPr>
          <p:cNvPicPr>
            <a:picLocks noChangeAspect="1"/>
          </p:cNvPicPr>
          <p:nvPr/>
        </p:nvPicPr>
        <p:blipFill>
          <a:blip r:embed="rId7"/>
          <a:stretch>
            <a:fillRect/>
          </a:stretch>
        </p:blipFill>
        <p:spPr>
          <a:xfrm>
            <a:off x="1263618" y="3175006"/>
            <a:ext cx="431789" cy="2000200"/>
          </a:xfrm>
          <a:prstGeom prst="rect">
            <a:avLst/>
          </a:prstGeom>
        </p:spPr>
      </p:pic>
      <p:pic>
        <p:nvPicPr>
          <p:cNvPr id="12" name="Picture 15" descr="__type_image">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03355" y="3651244"/>
            <a:ext cx="431789" cy="1523962"/>
          </a:xfrm>
          <a:prstGeom prst="rect">
            <a:avLst/>
          </a:prstGeom>
        </p:spPr>
      </p:pic>
      <p:pic>
        <p:nvPicPr>
          <p:cNvPr id="13" name="Picture 15" descr="__type_image">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1803355" y="3651244"/>
            <a:ext cx="431789" cy="1523962"/>
          </a:xfrm>
          <a:prstGeom prst="rect">
            <a:avLst/>
          </a:prstGeom>
        </p:spPr>
      </p:pic>
      <p:pic>
        <p:nvPicPr>
          <p:cNvPr id="14" name="Picture 15" descr="__type_image">    </p:cNvPr>
          <p:cNvPicPr>
            <a:picLocks noChangeAspect="1"/>
          </p:cNvPicPr>
          <p:nvPr/>
        </p:nvPicPr>
        <p:blipFill>
          <a:blip r:embed="rId12"/>
          <a:stretch>
            <a:fillRect/>
          </a:stretch>
        </p:blipFill>
        <p:spPr>
          <a:xfrm>
            <a:off x="1803355" y="3651244"/>
            <a:ext cx="431789" cy="1523962"/>
          </a:xfrm>
          <a:prstGeom prst="rect">
            <a:avLst/>
          </a:prstGeom>
        </p:spPr>
      </p:pic>
      <p:pic>
        <p:nvPicPr>
          <p:cNvPr id="15" name="Picture 17" descr="__type_image">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2343091" y="4190981"/>
            <a:ext cx="431789" cy="984225"/>
          </a:xfrm>
          <a:prstGeom prst="rect">
            <a:avLst/>
          </a:prstGeom>
        </p:spPr>
      </p:pic>
      <p:pic>
        <p:nvPicPr>
          <p:cNvPr id="16" name="Picture 17" descr="__type_image">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2343091" y="4190981"/>
            <a:ext cx="431789" cy="984225"/>
          </a:xfrm>
          <a:prstGeom prst="rect">
            <a:avLst/>
          </a:prstGeom>
        </p:spPr>
      </p:pic>
      <p:pic>
        <p:nvPicPr>
          <p:cNvPr id="17" name="Picture 17" descr="__type_image">    </p:cNvPr>
          <p:cNvPicPr>
            <a:picLocks noChangeAspect="1"/>
          </p:cNvPicPr>
          <p:nvPr/>
        </p:nvPicPr>
        <p:blipFill>
          <a:blip r:embed="rId17"/>
          <a:stretch>
            <a:fillRect/>
          </a:stretch>
        </p:blipFill>
        <p:spPr>
          <a:xfrm>
            <a:off x="2343091" y="4190981"/>
            <a:ext cx="431789" cy="984225"/>
          </a:xfrm>
          <a:prstGeom prst="rect">
            <a:avLst/>
          </a:prstGeom>
        </p:spPr>
      </p:pic>
      <p:pic>
        <p:nvPicPr>
          <p:cNvPr id="18" name="Picture 19" descr="__type_image">    </p:cNvPr>
          <p:cNvPicPr>
            <a:picLocks noChangeAspect="1"/>
          </p:cNvPicPr>
          <p:nvPr/>
        </p:nvPicPr>
        <p:blipFill>
          <a:blip r:embed="rId18">
            <a:extLst>
              <a:ext uri="{96DAC541-7B7A-43D3-8B79-37D633B846F1}">
                <asvg:svgBlip xmlns:asvg="http://schemas.microsoft.com/office/drawing/2016/SVG/main" r:embed="rId19"/>
              </a:ext>
            </a:extLst>
          </a:blip>
          <a:stretch>
            <a:fillRect/>
          </a:stretch>
        </p:blipFill>
        <p:spPr>
          <a:xfrm>
            <a:off x="2882828" y="4591021"/>
            <a:ext cx="431789" cy="584185"/>
          </a:xfrm>
          <a:prstGeom prst="rect">
            <a:avLst/>
          </a:prstGeom>
        </p:spPr>
      </p:pic>
      <p:pic>
        <p:nvPicPr>
          <p:cNvPr id="19" name="Picture 19" descr="__type_image">    </p:cNvPr>
          <p:cNvPicPr>
            <a:picLocks noChangeAspect="1"/>
          </p:cNvPicPr>
          <p:nvPr/>
        </p:nvPicPr>
        <p:blipFill>
          <a:blip r:embed="rId20">
            <a:extLst>
              <a:ext uri="{96DAC541-7B7A-43D3-8B79-37D633B846F1}">
                <asvg:svgBlip xmlns:asvg="http://schemas.microsoft.com/office/drawing/2016/SVG/main" r:embed="rId21"/>
              </a:ext>
            </a:extLst>
          </a:blip>
          <a:stretch>
            <a:fillRect/>
          </a:stretch>
        </p:blipFill>
        <p:spPr>
          <a:xfrm>
            <a:off x="2882828" y="4591021"/>
            <a:ext cx="431789" cy="584185"/>
          </a:xfrm>
          <a:prstGeom prst="rect">
            <a:avLst/>
          </a:prstGeom>
        </p:spPr>
      </p:pic>
      <p:pic>
        <p:nvPicPr>
          <p:cNvPr id="20" name="Picture 19" descr="__type_image">    </p:cNvPr>
          <p:cNvPicPr>
            <a:picLocks noChangeAspect="1"/>
          </p:cNvPicPr>
          <p:nvPr/>
        </p:nvPicPr>
        <p:blipFill>
          <a:blip r:embed="rId22"/>
          <a:stretch>
            <a:fillRect/>
          </a:stretch>
        </p:blipFill>
        <p:spPr>
          <a:xfrm>
            <a:off x="2882828" y="4591021"/>
            <a:ext cx="431789" cy="584185"/>
          </a:xfrm>
          <a:prstGeom prst="rect">
            <a:avLst/>
          </a:prstGeom>
        </p:spPr>
      </p:pic>
      <p:pic>
        <p:nvPicPr>
          <p:cNvPr id="21" name="Picture 21" descr="__type_image">    </p:cNvPr>
          <p:cNvPicPr>
            <a:picLocks noChangeAspect="1"/>
          </p:cNvPicPr>
          <p:nvPr/>
        </p:nvPicPr>
        <p:blipFill>
          <a:blip r:embed="rId23">
            <a:extLst>
              <a:ext uri="{96DAC541-7B7A-43D3-8B79-37D633B846F1}">
                <asvg:svgBlip xmlns:asvg="http://schemas.microsoft.com/office/drawing/2016/SVG/main" r:embed="rId24"/>
              </a:ext>
            </a:extLst>
          </a:blip>
          <a:stretch>
            <a:fillRect/>
          </a:stretch>
        </p:blipFill>
        <p:spPr>
          <a:xfrm>
            <a:off x="3422564" y="4832315"/>
            <a:ext cx="431789" cy="342891"/>
          </a:xfrm>
          <a:prstGeom prst="rect">
            <a:avLst/>
          </a:prstGeom>
        </p:spPr>
      </p:pic>
      <p:pic>
        <p:nvPicPr>
          <p:cNvPr id="22" name="Picture 21" descr="__type_image">    </p:cNvPr>
          <p:cNvPicPr>
            <a:picLocks noChangeAspect="1"/>
          </p:cNvPicPr>
          <p:nvPr/>
        </p:nvPicPr>
        <p:blipFill>
          <a:blip r:embed="rId25">
            <a:extLst>
              <a:ext uri="{96DAC541-7B7A-43D3-8B79-37D633B846F1}">
                <asvg:svgBlip xmlns:asvg="http://schemas.microsoft.com/office/drawing/2016/SVG/main" r:embed="rId26"/>
              </a:ext>
            </a:extLst>
          </a:blip>
          <a:stretch>
            <a:fillRect/>
          </a:stretch>
        </p:blipFill>
        <p:spPr>
          <a:xfrm>
            <a:off x="3422564" y="4832315"/>
            <a:ext cx="431789" cy="342891"/>
          </a:xfrm>
          <a:prstGeom prst="rect">
            <a:avLst/>
          </a:prstGeom>
        </p:spPr>
      </p:pic>
      <p:pic>
        <p:nvPicPr>
          <p:cNvPr id="23" name="Picture 21" descr="__type_image">    </p:cNvPr>
          <p:cNvPicPr>
            <a:picLocks noChangeAspect="1"/>
          </p:cNvPicPr>
          <p:nvPr/>
        </p:nvPicPr>
        <p:blipFill>
          <a:blip r:embed="rId27"/>
          <a:stretch>
            <a:fillRect/>
          </a:stretch>
        </p:blipFill>
        <p:spPr>
          <a:xfrm>
            <a:off x="3422564" y="4832315"/>
            <a:ext cx="431789" cy="342891"/>
          </a:xfrm>
          <a:prstGeom prst="rect">
            <a:avLst/>
          </a:prstGeom>
        </p:spPr>
      </p:pic>
      <p:pic>
        <p:nvPicPr>
          <p:cNvPr id="24" name="Picture 23" descr="__type_image">    </p:cNvPr>
          <p:cNvPicPr>
            <a:picLocks noChangeAspect="1"/>
          </p:cNvPicPr>
          <p:nvPr/>
        </p:nvPicPr>
        <p:blipFill>
          <a:blip r:embed="rId28">
            <a:extLst>
              <a:ext uri="{96DAC541-7B7A-43D3-8B79-37D633B846F1}">
                <asvg:svgBlip xmlns:asvg="http://schemas.microsoft.com/office/drawing/2016/SVG/main" r:embed="rId29"/>
              </a:ext>
            </a:extLst>
          </a:blip>
          <a:stretch>
            <a:fillRect/>
          </a:stretch>
        </p:blipFill>
        <p:spPr>
          <a:xfrm>
            <a:off x="3962301" y="4984711"/>
            <a:ext cx="431789" cy="190495"/>
          </a:xfrm>
          <a:prstGeom prst="rect">
            <a:avLst/>
          </a:prstGeom>
        </p:spPr>
      </p:pic>
      <p:pic>
        <p:nvPicPr>
          <p:cNvPr id="25" name="Picture 23" descr="__type_image">    </p:cNvPr>
          <p:cNvPicPr>
            <a:picLocks noChangeAspect="1"/>
          </p:cNvPicPr>
          <p:nvPr/>
        </p:nvPicPr>
        <p:blipFill>
          <a:blip r:embed="rId30">
            <a:extLst>
              <a:ext uri="{96DAC541-7B7A-43D3-8B79-37D633B846F1}">
                <asvg:svgBlip xmlns:asvg="http://schemas.microsoft.com/office/drawing/2016/SVG/main" r:embed="rId31"/>
              </a:ext>
            </a:extLst>
          </a:blip>
          <a:stretch>
            <a:fillRect/>
          </a:stretch>
        </p:blipFill>
        <p:spPr>
          <a:xfrm>
            <a:off x="3962301" y="4984711"/>
            <a:ext cx="431789" cy="190495"/>
          </a:xfrm>
          <a:prstGeom prst="rect">
            <a:avLst/>
          </a:prstGeom>
        </p:spPr>
      </p:pic>
      <p:pic>
        <p:nvPicPr>
          <p:cNvPr id="26" name="Picture 23" descr="__type_image">    </p:cNvPr>
          <p:cNvPicPr>
            <a:picLocks noChangeAspect="1"/>
          </p:cNvPicPr>
          <p:nvPr/>
        </p:nvPicPr>
        <p:blipFill>
          <a:blip r:embed="rId32"/>
          <a:stretch>
            <a:fillRect/>
          </a:stretch>
        </p:blipFill>
        <p:spPr>
          <a:xfrm>
            <a:off x="3962301" y="4984711"/>
            <a:ext cx="431789" cy="190495"/>
          </a:xfrm>
          <a:prstGeom prst="rect">
            <a:avLst/>
          </a:prstGeom>
        </p:spPr>
      </p:pic>
      <p:pic>
        <p:nvPicPr>
          <p:cNvPr id="27" name="Picture 25" descr="__type_image">    </p:cNvPr>
          <p:cNvPicPr>
            <a:picLocks noChangeAspect="1"/>
          </p:cNvPicPr>
          <p:nvPr/>
        </p:nvPicPr>
        <p:blipFill>
          <a:blip r:embed="rId33">
            <a:extLst>
              <a:ext uri="{96DAC541-7B7A-43D3-8B79-37D633B846F1}">
                <asvg:svgBlip xmlns:asvg="http://schemas.microsoft.com/office/drawing/2016/SVG/main" r:embed="rId34"/>
              </a:ext>
            </a:extLst>
          </a:blip>
          <a:stretch>
            <a:fillRect/>
          </a:stretch>
        </p:blipFill>
        <p:spPr>
          <a:xfrm>
            <a:off x="2254194" y="3765542"/>
            <a:ext cx="1396965" cy="292093"/>
          </a:xfrm>
          <a:prstGeom prst="rect">
            <a:avLst/>
          </a:prstGeom>
        </p:spPr>
      </p:pic>
      <p:sp>
        <p:nvSpPr>
          <p:cNvPr id="28" name="TextBox 25"/>
          <p:cNvSpPr/>
          <p:nvPr/>
        </p:nvSpPr>
        <p:spPr>
          <a:xfrm>
            <a:off x="2254194" y="3765542"/>
            <a:ext cx="1396965" cy="292093"/>
          </a:xfrm>
          <a:prstGeom prst="rect">
            <a:avLst/>
          </a:prstGeom>
          <a:noFill/>
          <a:ln/>
        </p:spPr>
        <p:txBody>
          <a:bodyPr wrap="square" lIns="0" tIns="50799" rIns="0" bIns="0" rtlCol="0" anchor="t">
            <a:spAutoFit/>
          </a:bodyPr>
          <a:lstStyle/>
          <a:p>
            <a:pPr algn="l" indent="0" marL="0">
              <a:buNone/>
            </a:pPr>
            <a:r>
              <a:rPr lang="en-US" sz="1050" dirty="0">
                <a:solidFill>
                  <a:srgbClr val="00A99D"/>
                </a:solidFill>
                <a:latin typeface="Arial" pitchFamily="34" charset="0"/>
                <a:ea typeface="Arial" pitchFamily="34" charset="-122"/>
                <a:cs typeface="Arial" pitchFamily="34" charset="-120"/>
              </a:rPr>
              <a:t>strictly below threshold</a:t>
            </a:r>
            <a:endParaRPr lang="en-US" sz="1050" dirty="0"/>
          </a:p>
        </p:txBody>
      </p:sp>
      <p:sp>
        <p:nvSpPr>
          <p:cNvPr id="29" name="TextBox 28"/>
          <p:cNvSpPr/>
          <p:nvPr/>
        </p:nvSpPr>
        <p:spPr>
          <a:xfrm>
            <a:off x="996925" y="5340302"/>
            <a:ext cx="3809905" cy="292093"/>
          </a:xfrm>
          <a:prstGeom prst="rect">
            <a:avLst/>
          </a:prstGeom>
          <a:noFill/>
          <a:ln/>
        </p:spPr>
        <p:txBody>
          <a:bodyPr wrap="square" lIns="0" tIns="0" rIns="0" bIns="0" rtlCol="0" anchor="t">
            <a:spAutoFit/>
          </a:bodyPr>
          <a:lstStyle/>
          <a:p>
            <a:pPr algn="l" indent="0" marL="0">
              <a:buNone/>
            </a:pPr>
            <a:r>
              <a:rPr lang="en-US" sz="1200" dirty="0">
                <a:solidFill>
                  <a:srgbClr val="5E6D6C"/>
                </a:solidFill>
                <a:latin typeface="Arial" pitchFamily="34" charset="0"/>
                <a:ea typeface="Arial" pitchFamily="34" charset="-122"/>
                <a:cs typeface="Arial" pitchFamily="34" charset="-120"/>
              </a:rPr>
              <a:t>Counts include validated missing sentinels.</a:t>
            </a:r>
            <a:endParaRPr lang="en-US" sz="1200" dirty="0"/>
          </a:p>
        </p:txBody>
      </p:sp>
      <p:sp>
        <p:nvSpPr>
          <p:cNvPr id="30" name="Shape 31"/>
          <p:cNvSpPr/>
          <p:nvPr/>
        </p:nvSpPr>
        <p:spPr>
          <a:xfrm>
            <a:off x="5651359" y="2794016"/>
            <a:ext cx="1396965" cy="1396965"/>
          </a:xfrm>
          <a:prstGeom prst="ellipse">
            <a:avLst/>
          </a:prstGeom>
          <a:solidFill>
            <a:srgbClr val="00A99D"/>
          </a:solidFill>
          <a:ln/>
        </p:spPr>
      </p:sp>
      <p:sp>
        <p:nvSpPr>
          <p:cNvPr id="31" name="TextBox 32"/>
          <p:cNvSpPr/>
          <p:nvPr/>
        </p:nvSpPr>
        <p:spPr>
          <a:xfrm>
            <a:off x="5961509" y="3273131"/>
            <a:ext cx="776566" cy="222244"/>
          </a:xfrm>
          <a:prstGeom prst="rect">
            <a:avLst/>
          </a:prstGeom>
          <a:noFill/>
          <a:ln/>
        </p:spPr>
        <p:txBody>
          <a:bodyPr wrap="square" lIns="0" tIns="0" rIns="0" bIns="0" rtlCol="0" anchor="ctr">
            <a:spAutoFit/>
          </a:bodyPr>
          <a:lstStyle/>
          <a:p>
            <a:pPr indent="0" marL="0">
              <a:lnSpc>
                <a:spcPts val="1627"/>
              </a:lnSpc>
              <a:buNone/>
            </a:pPr>
            <a:r>
              <a:rPr lang="en-US" sz="1550" b="1" dirty="0">
                <a:solidFill>
                  <a:srgbClr val="162A2D"/>
                </a:solidFill>
                <a:highlight>
                  <a:srgbClr val="00A99D"/>
                </a:highlight>
                <a:latin typeface="Arial" pitchFamily="34" charset="0"/>
                <a:ea typeface="Arial" pitchFamily="34" charset="-122"/>
                <a:cs typeface="Arial" pitchFamily="34" charset="-120"/>
              </a:rPr>
              <a:t>FREEZE</a:t>
            </a:r>
            <a:endParaRPr lang="en-US" sz="1550" dirty="0"/>
          </a:p>
        </p:txBody>
      </p:sp>
      <p:sp>
        <p:nvSpPr>
          <p:cNvPr id="32" name="TextBox 34"/>
          <p:cNvSpPr/>
          <p:nvPr/>
        </p:nvSpPr>
        <p:spPr>
          <a:xfrm>
            <a:off x="6041775" y="3479799"/>
            <a:ext cx="616034" cy="222244"/>
          </a:xfrm>
          <a:prstGeom prst="rect">
            <a:avLst/>
          </a:prstGeom>
          <a:noFill/>
          <a:ln/>
        </p:spPr>
        <p:txBody>
          <a:bodyPr wrap="square" lIns="0" tIns="0" rIns="0" bIns="0" rtlCol="0" anchor="ctr">
            <a:spAutoFit/>
          </a:bodyPr>
          <a:lstStyle/>
          <a:p>
            <a:pPr indent="0" marL="0">
              <a:lnSpc>
                <a:spcPts val="1627"/>
              </a:lnSpc>
              <a:buNone/>
            </a:pPr>
            <a:r>
              <a:rPr lang="en-US" sz="1550" b="1" dirty="0">
                <a:solidFill>
                  <a:srgbClr val="162A2D"/>
                </a:solidFill>
                <a:highlight>
                  <a:srgbClr val="00A99D"/>
                </a:highlight>
                <a:latin typeface="Arial" pitchFamily="34" charset="0"/>
                <a:ea typeface="Arial" pitchFamily="34" charset="-122"/>
                <a:cs typeface="Arial" pitchFamily="34" charset="-120"/>
              </a:rPr>
              <a:t>STATE</a:t>
            </a:r>
            <a:endParaRPr lang="en-US" sz="1550" dirty="0"/>
          </a:p>
        </p:txBody>
      </p:sp>
      <p:sp>
        <p:nvSpPr>
          <p:cNvPr id="33" name="TextBox 36"/>
          <p:cNvSpPr/>
          <p:nvPr/>
        </p:nvSpPr>
        <p:spPr>
          <a:xfrm>
            <a:off x="5854554" y="4406876"/>
            <a:ext cx="1079473" cy="634984"/>
          </a:xfrm>
          <a:prstGeom prst="rect">
            <a:avLst/>
          </a:prstGeom>
          <a:noFill/>
          <a:ln/>
        </p:spPr>
        <p:txBody>
          <a:bodyPr wrap="square" lIns="0" tIns="0" rIns="0" bIns="0" rtlCol="0" anchor="t">
            <a:spAutoFit/>
          </a:bodyPr>
          <a:lstStyle/>
          <a:p>
            <a:pPr algn="ctr" indent="0" marL="0">
              <a:lnSpc>
                <a:spcPts val="1500"/>
              </a:lnSpc>
              <a:buNone/>
            </a:pPr>
            <a:r>
              <a:rPr lang="en-US" sz="1200" dirty="0">
                <a:solidFill>
                  <a:srgbClr val="5E6D6C"/>
                </a:solidFill>
                <a:latin typeface="Arial" pitchFamily="34" charset="0"/>
                <a:ea typeface="Arial" pitchFamily="34" charset="-122"/>
                <a:cs typeface="Arial" pitchFamily="34" charset="-120"/>
              </a:rPr>
              <a:t>vocabulary</a:t>
            </a:r>
            <a:endParaRPr lang="en-US" sz="1200" dirty="0"/>
          </a:p>
          <a:p>
            <a:pPr algn="ctr" indent="0" marL="0">
              <a:lnSpc>
                <a:spcPts val="1500"/>
              </a:lnSpc>
              <a:buNone/>
            </a:pPr>
            <a:r>
              <a:rPr lang="en-US" sz="1200" dirty="0">
                <a:solidFill>
                  <a:srgbClr val="5E6D6C"/>
                </a:solidFill>
                <a:latin typeface="Arial" pitchFamily="34" charset="0"/>
                <a:ea typeface="Arial" pitchFamily="34" charset="-122"/>
                <a:cs typeface="Arial" pitchFamily="34" charset="-120"/>
              </a:rPr>
              <a:t>+ diagnostics</a:t>
            </a:r>
            <a:endParaRPr lang="en-US" sz="1200" dirty="0"/>
          </a:p>
        </p:txBody>
      </p:sp>
      <p:sp>
        <p:nvSpPr>
          <p:cNvPr id="34" name="Shape 38"/>
          <p:cNvSpPr/>
          <p:nvPr/>
        </p:nvSpPr>
        <p:spPr>
          <a:xfrm>
            <a:off x="6972126" y="2032035"/>
            <a:ext cx="4635384" cy="3873403"/>
          </a:xfrm>
          <a:prstGeom prst="roundRect">
            <a:avLst>
              <a:gd name="adj" fmla="val 6885"/>
            </a:avLst>
          </a:prstGeom>
          <a:solidFill>
            <a:srgbClr val="162A2D"/>
          </a:solidFill>
          <a:ln/>
        </p:spPr>
      </p:sp>
      <p:sp>
        <p:nvSpPr>
          <p:cNvPr id="35" name="TextBox 40"/>
          <p:cNvSpPr/>
          <p:nvPr/>
        </p:nvSpPr>
        <p:spPr>
          <a:xfrm>
            <a:off x="7238819" y="2298728"/>
            <a:ext cx="4101997" cy="152396"/>
          </a:xfrm>
          <a:prstGeom prst="rect">
            <a:avLst/>
          </a:prstGeom>
          <a:noFill/>
          <a:ln/>
        </p:spPr>
        <p:txBody>
          <a:bodyPr wrap="square" lIns="0" tIns="0" rIns="0" bIns="0" rtlCol="0" anchor="t">
            <a:spAutoFit/>
          </a:bodyPr>
          <a:lstStyle/>
          <a:p>
            <a:pPr algn="l" indent="0" marL="0">
              <a:buNone/>
            </a:pPr>
            <a:r>
              <a:rPr lang="en-US" sz="1050" b="1" spc="150" kern="0" dirty="0">
                <a:solidFill>
                  <a:srgbClr val="00A99D"/>
                </a:solidFill>
                <a:latin typeface="Arial" pitchFamily="34" charset="0"/>
                <a:ea typeface="Arial" pitchFamily="34" charset="-122"/>
                <a:cs typeface="Arial" pitchFamily="34" charset="-120"/>
              </a:rPr>
              <a:t>TRANSFORM · STABLE OUTPUT</a:t>
            </a:r>
            <a:endParaRPr lang="en-US" sz="1050" dirty="0"/>
          </a:p>
        </p:txBody>
      </p:sp>
      <p:sp>
        <p:nvSpPr>
          <p:cNvPr id="36" name="TextBox 44"/>
          <p:cNvSpPr/>
          <p:nvPr/>
        </p:nvSpPr>
        <p:spPr>
          <a:xfrm>
            <a:off x="7238819" y="2946412"/>
            <a:ext cx="1142971" cy="634984"/>
          </a:xfrm>
          <a:prstGeom prst="roundRect">
            <a:avLst>
              <a:gd name="adj" fmla="val 24000"/>
            </a:avLst>
          </a:prstGeom>
          <a:solidFill>
            <a:srgbClr val="FFFFFF"/>
          </a:solidFill>
          <a:ln/>
        </p:spPr>
        <p:txBody>
          <a:bodyPr wrap="square" lIns="0" tIns="0" rIns="0" bIns="0" rtlCol="0" anchor="ctr">
            <a:spAutoFit/>
          </a:bodyPr>
          <a:lstStyle/>
          <a:p>
            <a:pPr algn="ctr" indent="0" marL="0">
              <a:buNone/>
            </a:pPr>
            <a:r>
              <a:rPr lang="en-US" sz="1700" b="1" dirty="0">
                <a:solidFill>
                  <a:srgbClr val="162A2D"/>
                </a:solidFill>
                <a:latin typeface="Arial" pitchFamily="34" charset="0"/>
                <a:ea typeface="Arial" pitchFamily="34" charset="-122"/>
                <a:cs typeface="Arial" pitchFamily="34" charset="-120"/>
              </a:rPr>
              <a:t>A</a:t>
            </a:r>
            <a:endParaRPr lang="en-US" sz="1700" dirty="0"/>
          </a:p>
        </p:txBody>
      </p:sp>
      <p:sp>
        <p:nvSpPr>
          <p:cNvPr id="37" name="TextBox 46"/>
          <p:cNvSpPr/>
          <p:nvPr/>
        </p:nvSpPr>
        <p:spPr>
          <a:xfrm>
            <a:off x="8559586" y="2946412"/>
            <a:ext cx="1142971" cy="634984"/>
          </a:xfrm>
          <a:prstGeom prst="roundRect">
            <a:avLst>
              <a:gd name="adj" fmla="val 24000"/>
            </a:avLst>
          </a:prstGeom>
          <a:solidFill>
            <a:srgbClr val="FFFFFF"/>
          </a:solidFill>
          <a:ln/>
        </p:spPr>
        <p:txBody>
          <a:bodyPr wrap="square" lIns="0" tIns="0" rIns="0" bIns="0" rtlCol="0" anchor="ctr">
            <a:spAutoFit/>
          </a:bodyPr>
          <a:lstStyle/>
          <a:p>
            <a:pPr algn="ctr" indent="0" marL="0">
              <a:buNone/>
            </a:pPr>
            <a:r>
              <a:rPr lang="en-US" sz="1700" b="1" dirty="0">
                <a:solidFill>
                  <a:srgbClr val="162A2D"/>
                </a:solidFill>
                <a:latin typeface="Arial" pitchFamily="34" charset="0"/>
                <a:ea typeface="Arial" pitchFamily="34" charset="-122"/>
                <a:cs typeface="Arial" pitchFamily="34" charset="-120"/>
              </a:rPr>
              <a:t>B</a:t>
            </a:r>
            <a:endParaRPr lang="en-US" sz="1700" dirty="0"/>
          </a:p>
        </p:txBody>
      </p:sp>
      <p:sp>
        <p:nvSpPr>
          <p:cNvPr id="38" name="TextBox 48"/>
          <p:cNvSpPr/>
          <p:nvPr/>
        </p:nvSpPr>
        <p:spPr>
          <a:xfrm>
            <a:off x="9880353" y="2946412"/>
            <a:ext cx="1460463" cy="634984"/>
          </a:xfrm>
          <a:prstGeom prst="roundRect">
            <a:avLst>
              <a:gd name="adj" fmla="val 24000"/>
            </a:avLst>
          </a:prstGeom>
          <a:noFill/>
          <a:ln w="12700">
            <a:solidFill>
              <a:srgbClr val="00A99D"/>
            </a:solidFill>
            <a:prstDash val="solid"/>
          </a:ln>
        </p:spPr>
        <p:txBody>
          <a:bodyPr wrap="square" lIns="0" tIns="0" rIns="0" bIns="0" rtlCol="0" anchor="ctr">
            <a:spAutoFit/>
          </a:bodyPr>
          <a:lstStyle/>
          <a:p>
            <a:pPr algn="ctr" indent="0" marL="0">
              <a:buNone/>
            </a:pPr>
            <a:r>
              <a:rPr lang="en-US" sz="1500" b="1" dirty="0">
                <a:solidFill>
                  <a:srgbClr val="00A99D"/>
                </a:solidFill>
                <a:latin typeface="Arial" pitchFamily="34" charset="0"/>
                <a:ea typeface="Arial" pitchFamily="34" charset="-122"/>
                <a:cs typeface="Arial" pitchFamily="34" charset="-120"/>
              </a:rPr>
              <a:t>__RARE__</a:t>
            </a:r>
            <a:endParaRPr lang="en-US" sz="1500" dirty="0"/>
          </a:p>
        </p:txBody>
      </p:sp>
      <p:sp>
        <p:nvSpPr>
          <p:cNvPr id="39" name="Shape 51"/>
          <p:cNvSpPr/>
          <p:nvPr/>
        </p:nvSpPr>
        <p:spPr>
          <a:xfrm>
            <a:off x="7238819" y="3962387"/>
            <a:ext cx="4101997" cy="863578"/>
          </a:xfrm>
          <a:prstGeom prst="rect">
            <a:avLst/>
          </a:prstGeom>
          <a:noFill/>
          <a:ln/>
        </p:spPr>
      </p:sp>
      <p:pic>
        <p:nvPicPr>
          <p:cNvPr id="40" name="Picture 51" descr="__type_image">    </p:cNvPr>
          <p:cNvPicPr>
            <a:picLocks noChangeAspect="1"/>
          </p:cNvPicPr>
          <p:nvPr/>
        </p:nvPicPr>
        <p:blipFill>
          <a:blip r:embed="rId35">
            <a:extLst>
              <a:ext uri="{96DAC541-7B7A-43D3-8B79-37D633B846F1}">
                <asvg:svgBlip xmlns:asvg="http://schemas.microsoft.com/office/drawing/2016/SVG/main" r:embed="rId36"/>
              </a:ext>
            </a:extLst>
          </a:blip>
          <a:stretch>
            <a:fillRect/>
          </a:stretch>
        </p:blipFill>
        <p:spPr>
          <a:xfrm>
            <a:off x="7238819" y="3962387"/>
            <a:ext cx="4101997" cy="863578"/>
          </a:xfrm>
          <a:prstGeom prst="rect">
            <a:avLst/>
          </a:prstGeom>
        </p:spPr>
      </p:pic>
      <p:sp>
        <p:nvSpPr>
          <p:cNvPr id="41" name="TextBox 53"/>
          <p:cNvSpPr/>
          <p:nvPr/>
        </p:nvSpPr>
        <p:spPr>
          <a:xfrm>
            <a:off x="7238819" y="4159232"/>
            <a:ext cx="2031949" cy="666733"/>
          </a:xfrm>
          <a:prstGeom prst="rect">
            <a:avLst/>
          </a:prstGeom>
          <a:noFill/>
          <a:ln/>
        </p:spPr>
        <p:txBody>
          <a:bodyPr wrap="square" lIns="0" tIns="0" rIns="0" bIns="0" rtlCol="0" anchor="t">
            <a:spAutoFit/>
          </a:bodyPr>
          <a:lstStyle/>
          <a:p>
            <a:pPr algn="l" indent="0" marL="0">
              <a:lnSpc>
                <a:spcPts val="1820"/>
              </a:lnSpc>
              <a:buNone/>
            </a:pPr>
            <a:r>
              <a:rPr lang="en-US" sz="1400" dirty="0">
                <a:solidFill>
                  <a:srgbClr val="FFFFFF"/>
                </a:solidFill>
                <a:latin typeface="Arial" pitchFamily="34" charset="0"/>
                <a:ea typeface="Arial" pitchFamily="34" charset="-122"/>
                <a:cs typeface="Arial" pitchFamily="34" charset="-120"/>
              </a:rPr>
              <a:t>Seen rare values</a:t>
            </a:r>
            <a:endParaRPr lang="en-US" sz="1400" dirty="0"/>
          </a:p>
          <a:p>
            <a:pPr algn="l" indent="0" marL="0">
              <a:lnSpc>
                <a:spcPts val="1820"/>
              </a:lnSpc>
              <a:buNone/>
            </a:pPr>
            <a:r>
              <a:rPr lang="en-US" sz="1400" dirty="0">
                <a:solidFill>
                  <a:srgbClr val="FFFFFF"/>
                </a:solidFill>
                <a:latin typeface="Arial" pitchFamily="34" charset="0"/>
                <a:ea typeface="Arial" pitchFamily="34" charset="-122"/>
                <a:cs typeface="Arial" pitchFamily="34" charset="-120"/>
              </a:rPr>
              <a:t>map to fallback.</a:t>
            </a:r>
            <a:endParaRPr lang="en-US" sz="1400" dirty="0"/>
          </a:p>
        </p:txBody>
      </p:sp>
      <p:sp>
        <p:nvSpPr>
          <p:cNvPr id="42" name="TextBox 55"/>
          <p:cNvSpPr/>
          <p:nvPr/>
        </p:nvSpPr>
        <p:spPr>
          <a:xfrm>
            <a:off x="9270768" y="4159232"/>
            <a:ext cx="2070048" cy="666733"/>
          </a:xfrm>
          <a:prstGeom prst="rect">
            <a:avLst/>
          </a:prstGeom>
          <a:noFill/>
          <a:ln/>
        </p:spPr>
        <p:txBody>
          <a:bodyPr wrap="square" lIns="0" tIns="0" rIns="0" bIns="0" rtlCol="0" anchor="t">
            <a:spAutoFit/>
          </a:bodyPr>
          <a:lstStyle/>
          <a:p>
            <a:pPr algn="l" indent="0" marL="0">
              <a:lnSpc>
                <a:spcPts val="1820"/>
              </a:lnSpc>
              <a:buNone/>
            </a:pPr>
            <a:r>
              <a:rPr lang="en-US" sz="1400" dirty="0">
                <a:solidFill>
                  <a:srgbClr val="FFFFFF"/>
                </a:solidFill>
                <a:latin typeface="Arial" pitchFamily="34" charset="0"/>
                <a:ea typeface="Arial" pitchFamily="34" charset="-122"/>
                <a:cs typeface="Arial" pitchFamily="34" charset="-120"/>
              </a:rPr>
              <a:t>Unseen values</a:t>
            </a:r>
            <a:endParaRPr lang="en-US" sz="1400" dirty="0"/>
          </a:p>
          <a:p>
            <a:pPr algn="l" indent="0" marL="0">
              <a:lnSpc>
                <a:spcPts val="1820"/>
              </a:lnSpc>
              <a:buNone/>
            </a:pPr>
            <a:r>
              <a:rPr lang="en-US" sz="1400" dirty="0">
                <a:solidFill>
                  <a:srgbClr val="FFFFFF"/>
                </a:solidFill>
                <a:latin typeface="Arial" pitchFamily="34" charset="0"/>
                <a:ea typeface="Arial" pitchFamily="34" charset="-122"/>
                <a:cs typeface="Arial" pitchFamily="34" charset="-120"/>
              </a:rPr>
              <a:t>map the same way.</a:t>
            </a:r>
            <a:endParaRPr lang="en-US" sz="1400" dirty="0"/>
          </a:p>
        </p:txBody>
      </p:sp>
      <p:sp>
        <p:nvSpPr>
          <p:cNvPr id="43" name="TextBox 58"/>
          <p:cNvSpPr/>
          <p:nvPr/>
        </p:nvSpPr>
        <p:spPr>
          <a:xfrm>
            <a:off x="7238819" y="5029160"/>
            <a:ext cx="4101997" cy="609585"/>
          </a:xfrm>
          <a:prstGeom prst="roundRect">
            <a:avLst>
              <a:gd name="adj" fmla="val 25000"/>
            </a:avLst>
          </a:prstGeom>
          <a:solidFill>
            <a:srgbClr val="FFFFFF">
              <a:alpha val="8000"/>
            </a:srgbClr>
          </a:solidFill>
          <a:ln/>
        </p:spPr>
        <p:txBody>
          <a:bodyPr wrap="square" lIns="177796" tIns="0" rIns="177796" bIns="0" rtlCol="0" anchor="ctr">
            <a:spAutoFit/>
          </a:bodyPr>
          <a:lstStyle/>
          <a:p>
            <a:pPr algn="l" indent="0" marL="0">
              <a:buNone/>
            </a:pPr>
            <a:r>
              <a:rPr lang="en-US" sz="1300" dirty="0">
                <a:solidFill>
                  <a:srgbClr val="B8C3C1"/>
                </a:solidFill>
                <a:latin typeface="Arial" pitchFamily="34" charset="0"/>
                <a:ea typeface="Arial" pitchFamily="34" charset="-122"/>
                <a:cs typeface="Arial" pitchFamily="34" charset="-120"/>
              </a:rPr>
              <a:t>Fallback collisions produce a unique label at fit time.</a:t>
            </a:r>
            <a:endParaRPr lang="en-US" sz="1300" dirty="0"/>
          </a:p>
        </p:txBody>
      </p:sp>
      <p:sp>
        <p:nvSpPr>
          <p:cNvPr id="44" name="TextBox 61"/>
          <p:cNvSpPr/>
          <p:nvPr/>
        </p:nvSpPr>
        <p:spPr>
          <a:xfrm>
            <a:off x="584185" y="6311828"/>
            <a:ext cx="7683308" cy="266693"/>
          </a:xfrm>
          <a:prstGeom prst="rect">
            <a:avLst/>
          </a:prstGeom>
          <a:noFill/>
          <a:ln/>
        </p:spPr>
        <p:txBody>
          <a:bodyPr wrap="square" lIns="0" tIns="0" rIns="0" bIns="0" rtlCol="0" anchor="t">
            <a:spAutoFit/>
          </a:bodyPr>
          <a:lstStyle/>
          <a:p>
            <a:pPr algn="l" indent="0" marL="0">
              <a:buNone/>
            </a:pPr>
            <a:r>
              <a:rPr lang="en-US" sz="1200" dirty="0">
                <a:solidFill>
                  <a:srgbClr val="5E6D6C"/>
                </a:solidFill>
                <a:latin typeface="Arial" pitchFamily="34" charset="0"/>
                <a:ea typeface="Arial" pitchFamily="34" charset="-122"/>
                <a:cs typeface="Arial" pitchFamily="34" charset="-120"/>
              </a:rPr>
              <a:t>Simple preprocessing, explicit invariants, identical train/inference semantics.</a:t>
            </a:r>
            <a:endParaRPr lang="en-US" sz="1200" dirty="0"/>
          </a:p>
        </p:txBody>
      </p:sp>
      <p:sp>
        <p:nvSpPr>
          <p:cNvPr id="45" name="TextBox 63"/>
          <p:cNvSpPr/>
          <p:nvPr/>
        </p:nvSpPr>
        <p:spPr>
          <a:xfrm>
            <a:off x="11099523" y="6349927"/>
            <a:ext cx="507987" cy="253994"/>
          </a:xfrm>
          <a:prstGeom prst="rect">
            <a:avLst/>
          </a:prstGeom>
          <a:noFill/>
          <a:ln/>
        </p:spPr>
        <p:txBody>
          <a:bodyPr wrap="square" lIns="0" tIns="0" rIns="0" bIns="0" rtlCol="0" anchor="t">
            <a:spAutoFit/>
          </a:bodyPr>
          <a:lstStyle/>
          <a:p>
            <a:pPr algn="r" indent="0" marL="0">
              <a:buNone/>
            </a:pPr>
            <a:r>
              <a:rPr lang="en-US" sz="1200" dirty="0">
                <a:solidFill>
                  <a:srgbClr val="00A99D"/>
                </a:solidFill>
                <a:latin typeface="Arial" pitchFamily="34" charset="0"/>
                <a:ea typeface="Arial" pitchFamily="34" charset="-122"/>
                <a:cs typeface="Arial" pitchFamily="34" charset="-120"/>
              </a:rPr>
              <a:t>13</a:t>
            </a:r>
            <a:endParaRPr lang="en-US" sz="1200" dirty="0"/>
          </a:p>
        </p:txBody>
      </p:sp>
    </p:spTree>
  </p:cSld>
  <p:clrMapOvr>
    <a:masterClrMapping/>
  </p:clrMapOvr>
  <p:transition spd="med">
    <p:push dir="l"/>
  </p:transition>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1"/>
          <p:cNvSpPr/>
          <p:nvPr/>
        </p:nvSpPr>
        <p:spPr>
          <a:xfrm>
            <a:off x="0" y="86"/>
            <a:ext cx="12191695" cy="6857829"/>
          </a:xfrm>
          <a:prstGeom prst="rect">
            <a:avLst/>
          </a:prstGeom>
          <a:solidFill>
            <a:srgbClr val="FFFFFF"/>
          </a:solidFill>
          <a:ln/>
        </p:spPr>
      </p:sp>
      <p:sp>
        <p:nvSpPr>
          <p:cNvPr id="3" name="TextBox 3"/>
          <p:cNvSpPr/>
          <p:nvPr/>
        </p:nvSpPr>
        <p:spPr>
          <a:xfrm>
            <a:off x="584185" y="457274"/>
            <a:ext cx="2730432" cy="215895"/>
          </a:xfrm>
          <a:prstGeom prst="rect">
            <a:avLst/>
          </a:prstGeom>
          <a:noFill/>
          <a:ln/>
        </p:spPr>
        <p:txBody>
          <a:bodyPr wrap="square" lIns="0" tIns="0" rIns="0" bIns="0" rtlCol="0" anchor="t">
            <a:spAutoFit/>
          </a:bodyPr>
          <a:lstStyle/>
          <a:p>
            <a:pPr algn="l" indent="0" marL="0">
              <a:buNone/>
            </a:pPr>
            <a:r>
              <a:rPr lang="en-US" sz="1000" b="1" spc="200" kern="0" dirty="0">
                <a:solidFill>
                  <a:srgbClr val="00A99D"/>
                </a:solidFill>
                <a:latin typeface="Arial" pitchFamily="34" charset="0"/>
                <a:ea typeface="Arial" pitchFamily="34" charset="-122"/>
                <a:cs typeface="Arial" pitchFamily="34" charset="-120"/>
              </a:rPr>
              <a:t>REPRODUCIBILITY · REVIEW UX</a:t>
            </a:r>
            <a:endParaRPr lang="en-US" sz="1000" dirty="0"/>
          </a:p>
        </p:txBody>
      </p:sp>
      <p:sp>
        <p:nvSpPr>
          <p:cNvPr id="4" name="TextBox 5"/>
          <p:cNvSpPr/>
          <p:nvPr/>
        </p:nvSpPr>
        <p:spPr>
          <a:xfrm>
            <a:off x="584185" y="812865"/>
            <a:ext cx="8762781" cy="698483"/>
          </a:xfrm>
          <a:prstGeom prst="rect">
            <a:avLst/>
          </a:prstGeom>
          <a:noFill/>
          <a:ln/>
        </p:spPr>
        <p:txBody>
          <a:bodyPr wrap="square" lIns="0" tIns="0" rIns="0" bIns="0" rtlCol="0" anchor="t">
            <a:spAutoFit/>
          </a:bodyPr>
          <a:lstStyle/>
          <a:p>
            <a:pPr algn="l" indent="0" marL="0">
              <a:lnSpc>
                <a:spcPts val="3672"/>
              </a:lnSpc>
              <a:buNone/>
            </a:pPr>
            <a:r>
              <a:rPr lang="en-US" sz="3400" spc="-150" kern="0" dirty="0">
                <a:solidFill>
                  <a:srgbClr val="162A2D"/>
                </a:solidFill>
                <a:latin typeface="Arial" pitchFamily="34" charset="0"/>
                <a:ea typeface="Arial" pitchFamily="34" charset="-122"/>
                <a:cs typeface="Arial" pitchFamily="34" charset="-120"/>
              </a:rPr>
              <a:t>Reviewability is a feature</a:t>
            </a:r>
            <a:endParaRPr lang="en-US" sz="3400" dirty="0"/>
          </a:p>
        </p:txBody>
      </p:sp>
      <p:sp>
        <p:nvSpPr>
          <p:cNvPr id="5" name="TextBox 7"/>
          <p:cNvSpPr/>
          <p:nvPr/>
        </p:nvSpPr>
        <p:spPr>
          <a:xfrm>
            <a:off x="8877078" y="901763"/>
            <a:ext cx="2730432" cy="533387"/>
          </a:xfrm>
          <a:prstGeom prst="rect">
            <a:avLst/>
          </a:prstGeom>
          <a:noFill/>
          <a:ln/>
        </p:spPr>
        <p:txBody>
          <a:bodyPr wrap="square" lIns="0" tIns="0" rIns="0" bIns="0" rtlCol="0" anchor="t">
            <a:spAutoFit/>
          </a:bodyPr>
          <a:lstStyle/>
          <a:p>
            <a:pPr algn="l" indent="0" marL="0">
              <a:lnSpc>
                <a:spcPts val="1822"/>
              </a:lnSpc>
              <a:buNone/>
            </a:pPr>
            <a:r>
              <a:rPr lang="en-US" sz="1350" dirty="0">
                <a:solidFill>
                  <a:srgbClr val="5E6D6C"/>
                </a:solidFill>
                <a:latin typeface="Arial" pitchFamily="34" charset="0"/>
                <a:ea typeface="Arial" pitchFamily="34" charset="-122"/>
                <a:cs typeface="Arial" pitchFamily="34" charset="-120"/>
              </a:rPr>
              <a:t>The shortest path should also</a:t>
            </a:r>
            <a:endParaRPr lang="en-US" sz="1350" dirty="0"/>
          </a:p>
          <a:p>
            <a:pPr algn="l" indent="0" marL="0">
              <a:lnSpc>
                <a:spcPts val="1822"/>
              </a:lnSpc>
              <a:buNone/>
            </a:pPr>
            <a:r>
              <a:rPr lang="en-US" sz="1350" dirty="0">
                <a:solidFill>
                  <a:srgbClr val="5E6D6C"/>
                </a:solidFill>
                <a:latin typeface="Arial" pitchFamily="34" charset="0"/>
                <a:ea typeface="Arial" pitchFamily="34" charset="-122"/>
                <a:cs typeface="Arial" pitchFamily="34" charset="-120"/>
              </a:rPr>
              <a:t>be the most trustworthy.</a:t>
            </a:r>
            <a:endParaRPr lang="en-US" sz="1350" dirty="0"/>
          </a:p>
        </p:txBody>
      </p:sp>
      <p:sp>
        <p:nvSpPr>
          <p:cNvPr id="6" name="Shape 9"/>
          <p:cNvSpPr/>
          <p:nvPr/>
        </p:nvSpPr>
        <p:spPr>
          <a:xfrm>
            <a:off x="584185" y="2032035"/>
            <a:ext cx="7048324" cy="4127397"/>
          </a:xfrm>
          <a:prstGeom prst="roundRect">
            <a:avLst>
              <a:gd name="adj" fmla="val 6462"/>
            </a:avLst>
          </a:prstGeom>
          <a:solidFill>
            <a:srgbClr val="162A2D"/>
          </a:solidFill>
          <a:ln/>
        </p:spPr>
      </p:sp>
      <p:sp>
        <p:nvSpPr>
          <p:cNvPr id="7" name="TextBox 11"/>
          <p:cNvSpPr/>
          <p:nvPr/>
        </p:nvSpPr>
        <p:spPr>
          <a:xfrm>
            <a:off x="850879" y="2298728"/>
            <a:ext cx="6514937" cy="146046"/>
          </a:xfrm>
          <a:prstGeom prst="rect">
            <a:avLst/>
          </a:prstGeom>
          <a:noFill/>
          <a:ln/>
        </p:spPr>
        <p:txBody>
          <a:bodyPr wrap="square" lIns="0" tIns="0" rIns="0" bIns="0" rtlCol="0" anchor="t">
            <a:spAutoFit/>
          </a:bodyPr>
          <a:lstStyle/>
          <a:p>
            <a:pPr algn="l" indent="0" marL="0">
              <a:buNone/>
            </a:pPr>
            <a:r>
              <a:rPr lang="en-US" sz="1000" b="1" spc="150" kern="0" dirty="0">
                <a:solidFill>
                  <a:srgbClr val="00A99D"/>
                </a:solidFill>
                <a:latin typeface="Arial" pitchFamily="34" charset="0"/>
                <a:ea typeface="Arial" pitchFamily="34" charset="-122"/>
                <a:cs typeface="Arial" pitchFamily="34" charset="-120"/>
              </a:rPr>
              <a:t>CLEAN CLONE</a:t>
            </a:r>
            <a:endParaRPr lang="en-US" sz="1000" dirty="0"/>
          </a:p>
        </p:txBody>
      </p:sp>
      <p:sp>
        <p:nvSpPr>
          <p:cNvPr id="8" name="TextBox 13"/>
          <p:cNvSpPr/>
          <p:nvPr/>
        </p:nvSpPr>
        <p:spPr>
          <a:xfrm>
            <a:off x="850879" y="2736867"/>
            <a:ext cx="6514937" cy="317492"/>
          </a:xfrm>
          <a:prstGeom prst="rect">
            <a:avLst/>
          </a:prstGeom>
          <a:noFill/>
          <a:ln/>
        </p:spPr>
        <p:txBody>
          <a:bodyPr wrap="square" lIns="0" tIns="0" rIns="0" bIns="0" rtlCol="0" anchor="t">
            <a:spAutoFit/>
          </a:bodyPr>
          <a:lstStyle/>
          <a:p>
            <a:pPr algn="l" indent="0" marL="0">
              <a:lnSpc>
                <a:spcPts val="2500"/>
              </a:lnSpc>
              <a:buNone/>
            </a:pPr>
            <a:r>
              <a:rPr lang="en-US" sz="2000" dirty="0">
                <a:solidFill>
                  <a:srgbClr val="FFFFFF"/>
                </a:solidFill>
                <a:latin typeface="Courier New" pitchFamily="34" charset="0"/>
                <a:ea typeface="Courier New" pitchFamily="34" charset="-122"/>
                <a:cs typeface="Courier New" pitchFamily="34" charset="-120"/>
              </a:rPr>
              <a:t>$ make local-submission</a:t>
            </a:r>
            <a:endParaRPr lang="en-US" sz="2000" dirty="0"/>
          </a:p>
        </p:txBody>
      </p:sp>
      <p:sp>
        <p:nvSpPr>
          <p:cNvPr id="9" name="TextBox 15"/>
          <p:cNvSpPr/>
          <p:nvPr/>
        </p:nvSpPr>
        <p:spPr>
          <a:xfrm>
            <a:off x="850879" y="3333752"/>
            <a:ext cx="6514937" cy="1419785"/>
          </a:xfrm>
          <a:prstGeom prst="rect">
            <a:avLst/>
          </a:prstGeom>
          <a:noFill/>
          <a:ln/>
        </p:spPr>
        <p:txBody>
          <a:bodyPr wrap="square" lIns="0" tIns="0" rIns="0" bIns="0" rtlCol="0" anchor="t">
            <a:spAutoFit/>
          </a:bodyPr>
          <a:lstStyle/>
          <a:p>
            <a:pPr algn="l" indent="0" marL="0">
              <a:lnSpc>
                <a:spcPts val="2236"/>
              </a:lnSpc>
              <a:buNone/>
            </a:pPr>
            <a:r>
              <a:rPr lang="en-US" sz="1300" dirty="0">
                <a:solidFill>
                  <a:srgbClr val="B8C3C1"/>
                </a:solidFill>
                <a:latin typeface="Courier New" pitchFamily="34" charset="0"/>
                <a:ea typeface="Courier New" pitchFamily="34" charset="-122"/>
                <a:cs typeface="Courier New" pitchFamily="34" charset="-120"/>
              </a:rPr>
              <a:t>✓ locked dependency graph</a:t>
            </a:r>
            <a:endParaRPr lang="en-US" sz="1300" dirty="0"/>
          </a:p>
          <a:p>
            <a:pPr algn="l" indent="0" marL="0">
              <a:lnSpc>
                <a:spcPts val="2236"/>
              </a:lnSpc>
              <a:buNone/>
            </a:pPr>
            <a:r>
              <a:rPr lang="en-US" sz="1300" dirty="0">
                <a:solidFill>
                  <a:srgbClr val="B8C3C1"/>
                </a:solidFill>
                <a:latin typeface="Courier New" pitchFamily="34" charset="0"/>
                <a:ea typeface="Courier New" pitchFamily="34" charset="-122"/>
                <a:cs typeface="Courier New" pitchFamily="34" charset="-120"/>
              </a:rPr>
              <a:t>✓ format · lint · strict typing</a:t>
            </a:r>
            <a:endParaRPr lang="en-US" sz="1300" dirty="0"/>
          </a:p>
          <a:p>
            <a:pPr algn="l" indent="0" marL="0">
              <a:lnSpc>
                <a:spcPts val="2236"/>
              </a:lnSpc>
              <a:buNone/>
            </a:pPr>
            <a:r>
              <a:rPr lang="en-US" sz="1300" dirty="0">
                <a:solidFill>
                  <a:srgbClr val="B8C3C1"/>
                </a:solidFill>
                <a:latin typeface="Courier New" pitchFamily="34" charset="0"/>
                <a:ea typeface="Courier New" pitchFamily="34" charset="-122"/>
                <a:cs typeface="Courier New" pitchFamily="34" charset="-120"/>
              </a:rPr>
              <a:t>✓ tests across all six packages</a:t>
            </a:r>
            <a:endParaRPr lang="en-US" sz="1300" dirty="0"/>
          </a:p>
          <a:p>
            <a:pPr algn="l" indent="0" marL="0">
              <a:lnSpc>
                <a:spcPts val="2236"/>
              </a:lnSpc>
              <a:buNone/>
            </a:pPr>
            <a:r>
              <a:rPr lang="en-US" sz="1300" dirty="0">
                <a:solidFill>
                  <a:srgbClr val="B8C3C1"/>
                </a:solidFill>
                <a:latin typeface="Courier New" pitchFamily="34" charset="0"/>
                <a:ea typeface="Courier New" pitchFamily="34" charset="-122"/>
                <a:cs typeface="Courier New" pitchFamily="34" charset="-120"/>
              </a:rPr>
              <a:t>✓ submission boundary audit</a:t>
            </a:r>
            <a:endParaRPr lang="en-US" sz="1300" dirty="0"/>
          </a:p>
          <a:p>
            <a:pPr algn="l" indent="0" marL="0">
              <a:lnSpc>
                <a:spcPts val="2236"/>
              </a:lnSpc>
              <a:buNone/>
            </a:pPr>
            <a:r>
              <a:rPr lang="en-US" sz="1300" dirty="0">
                <a:solidFill>
                  <a:srgbClr val="B8C3C1"/>
                </a:solidFill>
                <a:latin typeface="Courier New" pitchFamily="34" charset="0"/>
                <a:ea typeface="Courier New" pitchFamily="34" charset="-122"/>
                <a:cs typeface="Courier New" pitchFamily="34" charset="-120"/>
              </a:rPr>
              <a:t>✓ two-tenant HTTP acceptance</a:t>
            </a:r>
            <a:endParaRPr lang="en-US" sz="1300" dirty="0"/>
          </a:p>
        </p:txBody>
      </p:sp>
      <p:sp>
        <p:nvSpPr>
          <p:cNvPr id="10" name="TextBox 17"/>
          <p:cNvSpPr/>
          <p:nvPr/>
        </p:nvSpPr>
        <p:spPr>
          <a:xfrm>
            <a:off x="850879" y="5295853"/>
            <a:ext cx="6514937" cy="596885"/>
          </a:xfrm>
          <a:prstGeom prst="roundRect">
            <a:avLst>
              <a:gd name="adj" fmla="val 25532"/>
            </a:avLst>
          </a:prstGeom>
          <a:solidFill>
            <a:srgbClr val="00A99D">
              <a:alpha val="13000"/>
            </a:srgbClr>
          </a:solidFill>
          <a:ln w="6350">
            <a:solidFill>
              <a:srgbClr val="00A99D"/>
            </a:solidFill>
            <a:prstDash val="solid"/>
          </a:ln>
        </p:spPr>
        <p:txBody>
          <a:bodyPr wrap="square" lIns="190495" tIns="0" rIns="190495" bIns="0" rtlCol="0" anchor="ctr">
            <a:spAutoFit/>
          </a:bodyPr>
          <a:lstStyle/>
          <a:p>
            <a:pPr algn="l" indent="0" marL="0">
              <a:buNone/>
            </a:pPr>
            <a:r>
              <a:rPr lang="en-US" sz="1400" dirty="0">
                <a:solidFill>
                  <a:srgbClr val="FFFFFF"/>
                </a:solidFill>
                <a:latin typeface="Arial" pitchFamily="34" charset="0"/>
                <a:ea typeface="Arial" pitchFamily="34" charset="-122"/>
                <a:cs typeface="Arial" pitchFamily="34" charset="-120"/>
              </a:rPr>
              <a:t>No cloud account · no external LLM · deterministic fixtures</a:t>
            </a:r>
            <a:endParaRPr lang="en-US" sz="1400" dirty="0"/>
          </a:p>
        </p:txBody>
      </p:sp>
      <p:sp>
        <p:nvSpPr>
          <p:cNvPr id="11" name="Shape 20"/>
          <p:cNvSpPr/>
          <p:nvPr/>
        </p:nvSpPr>
        <p:spPr>
          <a:xfrm>
            <a:off x="8102397" y="2032035"/>
            <a:ext cx="3505112" cy="4127397"/>
          </a:xfrm>
          <a:prstGeom prst="roundRect">
            <a:avLst>
              <a:gd name="adj" fmla="val 7609"/>
            </a:avLst>
          </a:prstGeom>
          <a:solidFill>
            <a:srgbClr val="F4F1EA"/>
          </a:solidFill>
          <a:ln w="6350">
            <a:solidFill>
              <a:srgbClr val="C8D3D1"/>
            </a:solidFill>
            <a:prstDash val="solid"/>
          </a:ln>
        </p:spPr>
      </p:sp>
      <p:sp>
        <p:nvSpPr>
          <p:cNvPr id="12" name="TextBox 22"/>
          <p:cNvSpPr/>
          <p:nvPr/>
        </p:nvSpPr>
        <p:spPr>
          <a:xfrm>
            <a:off x="8375441" y="2305078"/>
            <a:ext cx="2959026" cy="152396"/>
          </a:xfrm>
          <a:prstGeom prst="rect">
            <a:avLst/>
          </a:prstGeom>
          <a:noFill/>
          <a:ln/>
        </p:spPr>
        <p:txBody>
          <a:bodyPr wrap="square" lIns="0" tIns="0" rIns="0" bIns="0" rtlCol="0" anchor="t">
            <a:spAutoFit/>
          </a:bodyPr>
          <a:lstStyle/>
          <a:p>
            <a:pPr algn="l" indent="0" marL="0">
              <a:buNone/>
            </a:pPr>
            <a:r>
              <a:rPr lang="en-US" sz="1050" b="1" spc="150" kern="0" dirty="0">
                <a:solidFill>
                  <a:srgbClr val="00A99D"/>
                </a:solidFill>
                <a:latin typeface="Arial" pitchFamily="34" charset="0"/>
                <a:ea typeface="Arial" pitchFamily="34" charset="-122"/>
                <a:cs typeface="Arial" pitchFamily="34" charset="-120"/>
              </a:rPr>
              <a:t>REVIEWER EVIDENCE MAP</a:t>
            </a:r>
            <a:endParaRPr lang="en-US" sz="1050" dirty="0"/>
          </a:p>
        </p:txBody>
      </p:sp>
      <p:sp>
        <p:nvSpPr>
          <p:cNvPr id="13" name="TextBox 24"/>
          <p:cNvSpPr/>
          <p:nvPr/>
        </p:nvSpPr>
        <p:spPr>
          <a:xfrm>
            <a:off x="8375441" y="2762267"/>
            <a:ext cx="2959026" cy="232265"/>
          </a:xfrm>
          <a:prstGeom prst="rect">
            <a:avLst/>
          </a:prstGeom>
          <a:noFill/>
          <a:ln/>
        </p:spPr>
        <p:txBody>
          <a:bodyPr wrap="square" lIns="0" tIns="0" rIns="0" bIns="0" rtlCol="0" anchor="t">
            <a:spAutoFit/>
          </a:bodyPr>
          <a:lstStyle/>
          <a:p>
            <a:pPr algn="l" indent="0" marL="0">
              <a:lnSpc>
                <a:spcPts val="1829"/>
              </a:lnSpc>
              <a:buNone/>
            </a:pPr>
            <a:r>
              <a:rPr lang="en-US" sz="1550" b="1" dirty="0">
                <a:solidFill>
                  <a:srgbClr val="162A2D"/>
                </a:solidFill>
                <a:latin typeface="Arial" pitchFamily="34" charset="0"/>
                <a:ea typeface="Arial" pitchFamily="34" charset="-122"/>
                <a:cs typeface="Arial" pitchFamily="34" charset="-120"/>
              </a:rPr>
              <a:t>Claim</a:t>
            </a:r>
            <a:endParaRPr lang="en-US" sz="1550" dirty="0"/>
          </a:p>
        </p:txBody>
      </p:sp>
      <p:sp>
        <p:nvSpPr>
          <p:cNvPr id="14" name="TextBox 26"/>
          <p:cNvSpPr/>
          <p:nvPr/>
        </p:nvSpPr>
        <p:spPr>
          <a:xfrm>
            <a:off x="8375441" y="3045331"/>
            <a:ext cx="2959026" cy="184145"/>
          </a:xfrm>
          <a:prstGeom prst="rect">
            <a:avLst/>
          </a:prstGeom>
          <a:noFill/>
          <a:ln/>
        </p:spPr>
        <p:txBody>
          <a:bodyPr wrap="square" lIns="0" tIns="0" rIns="0" bIns="0" rtlCol="0" anchor="t">
            <a:spAutoFit/>
          </a:bodyPr>
          <a:lstStyle/>
          <a:p>
            <a:pPr algn="l" indent="0" marL="0">
              <a:buNone/>
            </a:pPr>
            <a:r>
              <a:rPr lang="en-US" sz="1250" dirty="0">
                <a:solidFill>
                  <a:srgbClr val="5E6D6C"/>
                </a:solidFill>
                <a:latin typeface="Arial" pitchFamily="34" charset="0"/>
                <a:ea typeface="Arial" pitchFamily="34" charset="-122"/>
                <a:cs typeface="Arial" pitchFamily="34" charset="-120"/>
              </a:rPr>
              <a:t>“Answers are grounded.”</a:t>
            </a:r>
            <a:endParaRPr lang="en-US" sz="1250" dirty="0"/>
          </a:p>
        </p:txBody>
      </p:sp>
      <p:sp>
        <p:nvSpPr>
          <p:cNvPr id="15" name="TextBox 28"/>
          <p:cNvSpPr/>
          <p:nvPr/>
        </p:nvSpPr>
        <p:spPr>
          <a:xfrm>
            <a:off x="8375441" y="3470770"/>
            <a:ext cx="2959026" cy="232265"/>
          </a:xfrm>
          <a:prstGeom prst="rect">
            <a:avLst/>
          </a:prstGeom>
          <a:noFill/>
          <a:ln/>
        </p:spPr>
        <p:txBody>
          <a:bodyPr wrap="square" lIns="0" tIns="0" rIns="0" bIns="0" rtlCol="0" anchor="t">
            <a:spAutoFit/>
          </a:bodyPr>
          <a:lstStyle/>
          <a:p>
            <a:pPr algn="l" indent="0" marL="0">
              <a:lnSpc>
                <a:spcPts val="1829"/>
              </a:lnSpc>
              <a:buNone/>
            </a:pPr>
            <a:r>
              <a:rPr lang="en-US" sz="1550" b="1" dirty="0">
                <a:solidFill>
                  <a:srgbClr val="162A2D"/>
                </a:solidFill>
                <a:latin typeface="Arial" pitchFamily="34" charset="0"/>
                <a:ea typeface="Arial" pitchFamily="34" charset="-122"/>
                <a:cs typeface="Arial" pitchFamily="34" charset="-120"/>
              </a:rPr>
              <a:t>Implementation</a:t>
            </a:r>
            <a:endParaRPr lang="en-US" sz="1550" dirty="0"/>
          </a:p>
        </p:txBody>
      </p:sp>
      <p:sp>
        <p:nvSpPr>
          <p:cNvPr id="16" name="TextBox 30"/>
          <p:cNvSpPr/>
          <p:nvPr/>
        </p:nvSpPr>
        <p:spPr>
          <a:xfrm>
            <a:off x="8375441" y="3753834"/>
            <a:ext cx="2959026" cy="198433"/>
          </a:xfrm>
          <a:prstGeom prst="rect">
            <a:avLst/>
          </a:prstGeom>
          <a:noFill/>
          <a:ln/>
        </p:spPr>
        <p:txBody>
          <a:bodyPr wrap="square" lIns="0" tIns="0" rIns="0" bIns="0" rtlCol="0" anchor="t">
            <a:spAutoFit/>
          </a:bodyPr>
          <a:lstStyle/>
          <a:p>
            <a:pPr algn="l" indent="0" marL="0">
              <a:lnSpc>
                <a:spcPts val="1562"/>
              </a:lnSpc>
              <a:buNone/>
            </a:pPr>
            <a:r>
              <a:rPr lang="en-US" sz="1250" dirty="0">
                <a:solidFill>
                  <a:srgbClr val="5E6D6C"/>
                </a:solidFill>
                <a:latin typeface="Arial" pitchFamily="34" charset="0"/>
                <a:ea typeface="Arial" pitchFamily="34" charset="-122"/>
                <a:cs typeface="Arial" pitchFamily="34" charset="-120"/>
              </a:rPr>
              <a:t>evidence.py · answering.py</a:t>
            </a:r>
            <a:endParaRPr lang="en-US" sz="1250" dirty="0"/>
          </a:p>
        </p:txBody>
      </p:sp>
      <p:sp>
        <p:nvSpPr>
          <p:cNvPr id="17" name="TextBox 32"/>
          <p:cNvSpPr/>
          <p:nvPr/>
        </p:nvSpPr>
        <p:spPr>
          <a:xfrm>
            <a:off x="8375441" y="4193561"/>
            <a:ext cx="2959026" cy="232265"/>
          </a:xfrm>
          <a:prstGeom prst="rect">
            <a:avLst/>
          </a:prstGeom>
          <a:noFill/>
          <a:ln/>
        </p:spPr>
        <p:txBody>
          <a:bodyPr wrap="square" lIns="0" tIns="0" rIns="0" bIns="0" rtlCol="0" anchor="t">
            <a:spAutoFit/>
          </a:bodyPr>
          <a:lstStyle/>
          <a:p>
            <a:pPr algn="l" indent="0" marL="0">
              <a:lnSpc>
                <a:spcPts val="1829"/>
              </a:lnSpc>
              <a:buNone/>
            </a:pPr>
            <a:r>
              <a:rPr lang="en-US" sz="1550" b="1" dirty="0">
                <a:solidFill>
                  <a:srgbClr val="162A2D"/>
                </a:solidFill>
                <a:latin typeface="Arial" pitchFamily="34" charset="0"/>
                <a:ea typeface="Arial" pitchFamily="34" charset="-122"/>
                <a:cs typeface="Arial" pitchFamily="34" charset="-120"/>
              </a:rPr>
              <a:t>Executable proof</a:t>
            </a:r>
            <a:endParaRPr lang="en-US" sz="1550" dirty="0"/>
          </a:p>
        </p:txBody>
      </p:sp>
      <p:sp>
        <p:nvSpPr>
          <p:cNvPr id="18" name="TextBox 34"/>
          <p:cNvSpPr/>
          <p:nvPr/>
        </p:nvSpPr>
        <p:spPr>
          <a:xfrm>
            <a:off x="8375441" y="4476625"/>
            <a:ext cx="2959026" cy="396865"/>
          </a:xfrm>
          <a:prstGeom prst="rect">
            <a:avLst/>
          </a:prstGeom>
          <a:noFill/>
          <a:ln/>
        </p:spPr>
        <p:txBody>
          <a:bodyPr wrap="square" lIns="0" tIns="0" rIns="0" bIns="0" rtlCol="0" anchor="t">
            <a:spAutoFit/>
          </a:bodyPr>
          <a:lstStyle/>
          <a:p>
            <a:pPr algn="l" indent="0" marL="0">
              <a:lnSpc>
                <a:spcPts val="1562"/>
              </a:lnSpc>
              <a:buNone/>
            </a:pPr>
            <a:r>
              <a:rPr lang="en-US" sz="1250" dirty="0">
                <a:solidFill>
                  <a:srgbClr val="5E6D6C"/>
                </a:solidFill>
                <a:latin typeface="Arial" pitchFamily="34" charset="0"/>
                <a:ea typeface="Arial" pitchFamily="34" charset="-122"/>
                <a:cs typeface="Arial" pitchFamily="34" charset="-120"/>
              </a:rPr>
              <a:t>test_evidence.py</a:t>
            </a:r>
            <a:endParaRPr lang="en-US" sz="1250" dirty="0"/>
          </a:p>
          <a:p>
            <a:pPr algn="l" indent="0" marL="0">
              <a:lnSpc>
                <a:spcPts val="1562"/>
              </a:lnSpc>
              <a:buNone/>
            </a:pPr>
            <a:r>
              <a:rPr lang="en-US" sz="1250" dirty="0">
                <a:solidFill>
                  <a:srgbClr val="5E6D6C"/>
                </a:solidFill>
                <a:latin typeface="Arial" pitchFamily="34" charset="0"/>
                <a:ea typeface="Arial" pitchFamily="34" charset="-122"/>
                <a:cs typeface="Arial" pitchFamily="34" charset="-120"/>
              </a:rPr>
              <a:t>test_answering.py</a:t>
            </a:r>
            <a:endParaRPr lang="en-US" sz="1250" dirty="0"/>
          </a:p>
        </p:txBody>
      </p:sp>
      <p:pic>
        <p:nvPicPr>
          <p:cNvPr id="19" name="Picture 36" descr="__type_image">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8375441" y="5302203"/>
            <a:ext cx="2971726" cy="584185"/>
          </a:xfrm>
          <a:prstGeom prst="rect">
            <a:avLst/>
          </a:prstGeom>
        </p:spPr>
      </p:pic>
      <p:sp>
        <p:nvSpPr>
          <p:cNvPr id="20" name="TextBox 36"/>
          <p:cNvSpPr/>
          <p:nvPr/>
        </p:nvSpPr>
        <p:spPr>
          <a:xfrm>
            <a:off x="8375441" y="5302203"/>
            <a:ext cx="2971726" cy="584185"/>
          </a:xfrm>
          <a:prstGeom prst="rect">
            <a:avLst/>
          </a:prstGeom>
          <a:noFill/>
          <a:ln/>
        </p:spPr>
        <p:txBody>
          <a:bodyPr wrap="square" lIns="0" tIns="152396" rIns="0" bIns="0" rtlCol="0" anchor="t">
            <a:spAutoFit/>
          </a:bodyPr>
          <a:lstStyle/>
          <a:p>
            <a:pPr algn="l" indent="0" marL="0">
              <a:lnSpc>
                <a:spcPts val="1500"/>
              </a:lnSpc>
              <a:buNone/>
            </a:pPr>
            <a:r>
              <a:rPr lang="en-US" sz="1200" dirty="0">
                <a:solidFill>
                  <a:srgbClr val="00A99D"/>
                </a:solidFill>
                <a:latin typeface="Arial" pitchFamily="34" charset="0"/>
                <a:ea typeface="Arial" pitchFamily="34" charset="-122"/>
                <a:cs typeface="Arial" pitchFamily="34" charset="-120"/>
              </a:rPr>
              <a:t>Every major claim has the same three-part trail.</a:t>
            </a:r>
            <a:endParaRPr lang="en-US" sz="1200" dirty="0"/>
          </a:p>
        </p:txBody>
      </p:sp>
      <p:sp>
        <p:nvSpPr>
          <p:cNvPr id="21" name="TextBox 39"/>
          <p:cNvSpPr/>
          <p:nvPr/>
        </p:nvSpPr>
        <p:spPr>
          <a:xfrm>
            <a:off x="11099523" y="6362627"/>
            <a:ext cx="507987" cy="253994"/>
          </a:xfrm>
          <a:prstGeom prst="rect">
            <a:avLst/>
          </a:prstGeom>
          <a:noFill/>
          <a:ln/>
        </p:spPr>
        <p:txBody>
          <a:bodyPr wrap="square" lIns="0" tIns="0" rIns="0" bIns="0" rtlCol="0" anchor="t">
            <a:spAutoFit/>
          </a:bodyPr>
          <a:lstStyle/>
          <a:p>
            <a:pPr algn="r" indent="0" marL="0">
              <a:buNone/>
            </a:pPr>
            <a:r>
              <a:rPr lang="en-US" sz="1200" dirty="0">
                <a:solidFill>
                  <a:srgbClr val="00A99D"/>
                </a:solidFill>
                <a:latin typeface="Arial" pitchFamily="34" charset="0"/>
                <a:ea typeface="Arial" pitchFamily="34" charset="-122"/>
                <a:cs typeface="Arial" pitchFamily="34" charset="-120"/>
              </a:rPr>
              <a:t>14</a:t>
            </a:r>
            <a:endParaRPr lang="en-US" sz="1200" dirty="0"/>
          </a:p>
        </p:txBody>
      </p:sp>
    </p:spTree>
  </p:cSld>
  <p:clrMapOvr>
    <a:masterClrMapping/>
  </p:clrMapOvr>
  <p:transition spd="med">
    <p:fade/>
  </p:transition>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1"/>
          <p:cNvSpPr/>
          <p:nvPr/>
        </p:nvSpPr>
        <p:spPr>
          <a:xfrm>
            <a:off x="0" y="86"/>
            <a:ext cx="12191695" cy="6857829"/>
          </a:xfrm>
          <a:prstGeom prst="rect">
            <a:avLst/>
          </a:prstGeom>
          <a:solidFill>
            <a:srgbClr val="F4F1EA"/>
          </a:solidFill>
          <a:ln/>
        </p:spPr>
      </p:sp>
      <p:sp>
        <p:nvSpPr>
          <p:cNvPr id="3" name="TextBox 3"/>
          <p:cNvSpPr/>
          <p:nvPr/>
        </p:nvSpPr>
        <p:spPr>
          <a:xfrm>
            <a:off x="584185" y="457274"/>
            <a:ext cx="2666933" cy="215895"/>
          </a:xfrm>
          <a:prstGeom prst="rect">
            <a:avLst/>
          </a:prstGeom>
          <a:noFill/>
          <a:ln/>
        </p:spPr>
        <p:txBody>
          <a:bodyPr wrap="square" lIns="0" tIns="0" rIns="0" bIns="0" rtlCol="0" anchor="t">
            <a:spAutoFit/>
          </a:bodyPr>
          <a:lstStyle/>
          <a:p>
            <a:pPr algn="l" indent="0" marL="0">
              <a:buNone/>
            </a:pPr>
            <a:r>
              <a:rPr lang="en-US" sz="1000" b="1" spc="200" kern="0" dirty="0">
                <a:solidFill>
                  <a:srgbClr val="00A99D"/>
                </a:solidFill>
                <a:latin typeface="Arial" pitchFamily="34" charset="0"/>
                <a:ea typeface="Arial" pitchFamily="34" charset="-122"/>
                <a:cs typeface="Arial" pitchFamily="34" charset="-120"/>
              </a:rPr>
              <a:t>PRODUCTION JUDGMENT</a:t>
            </a:r>
            <a:endParaRPr lang="en-US" sz="1000" dirty="0"/>
          </a:p>
        </p:txBody>
      </p:sp>
      <p:sp>
        <p:nvSpPr>
          <p:cNvPr id="4" name="TextBox 5"/>
          <p:cNvSpPr/>
          <p:nvPr/>
        </p:nvSpPr>
        <p:spPr>
          <a:xfrm>
            <a:off x="584185" y="812865"/>
            <a:ext cx="9588260" cy="698483"/>
          </a:xfrm>
          <a:prstGeom prst="rect">
            <a:avLst/>
          </a:prstGeom>
          <a:noFill/>
          <a:ln/>
        </p:spPr>
        <p:txBody>
          <a:bodyPr wrap="square" lIns="0" tIns="0" rIns="0" bIns="0" rtlCol="0" anchor="t">
            <a:spAutoFit/>
          </a:bodyPr>
          <a:lstStyle/>
          <a:p>
            <a:pPr algn="l" indent="0" marL="0">
              <a:lnSpc>
                <a:spcPts val="3672"/>
              </a:lnSpc>
              <a:buNone/>
            </a:pPr>
            <a:r>
              <a:rPr lang="en-US" sz="3400" spc="-150" kern="0" dirty="0">
                <a:solidFill>
                  <a:srgbClr val="162A2D"/>
                </a:solidFill>
                <a:latin typeface="Arial" pitchFamily="34" charset="0"/>
                <a:ea typeface="Arial" pitchFamily="34" charset="-122"/>
                <a:cs typeface="Arial" pitchFamily="34" charset="-120"/>
              </a:rPr>
              <a:t>Production-minded ≠ production-pretend</a:t>
            </a:r>
            <a:endParaRPr lang="en-US" sz="3400" dirty="0"/>
          </a:p>
        </p:txBody>
      </p:sp>
      <p:sp>
        <p:nvSpPr>
          <p:cNvPr id="5" name="Shape 7"/>
          <p:cNvSpPr/>
          <p:nvPr/>
        </p:nvSpPr>
        <p:spPr>
          <a:xfrm>
            <a:off x="584185" y="2032035"/>
            <a:ext cx="11023324" cy="4127397"/>
          </a:xfrm>
          <a:prstGeom prst="rect">
            <a:avLst/>
          </a:prstGeom>
          <a:noFill/>
          <a:ln/>
        </p:spPr>
      </p:sp>
      <p:pic>
        <p:nvPicPr>
          <p:cNvPr id="6" name="Picture 7" descr="__type_image">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584185" y="2032035"/>
            <a:ext cx="11023324" cy="4127397"/>
          </a:xfrm>
          <a:prstGeom prst="rect">
            <a:avLst/>
          </a:prstGeom>
        </p:spPr>
      </p:pic>
      <p:sp>
        <p:nvSpPr>
          <p:cNvPr id="7" name="Shape 9"/>
          <p:cNvSpPr/>
          <p:nvPr/>
        </p:nvSpPr>
        <p:spPr>
          <a:xfrm>
            <a:off x="584185" y="2044735"/>
            <a:ext cx="11023324" cy="1365216"/>
          </a:xfrm>
          <a:prstGeom prst="rect">
            <a:avLst/>
          </a:prstGeom>
          <a:solidFill>
            <a:srgbClr val="FFFFFF"/>
          </a:solidFill>
          <a:ln/>
        </p:spPr>
      </p:sp>
      <p:sp>
        <p:nvSpPr>
          <p:cNvPr id="8" name="TextBox 11"/>
          <p:cNvSpPr/>
          <p:nvPr/>
        </p:nvSpPr>
        <p:spPr>
          <a:xfrm>
            <a:off x="584185" y="2524148"/>
            <a:ext cx="2285943" cy="406390"/>
          </a:xfrm>
          <a:prstGeom prst="rect">
            <a:avLst/>
          </a:prstGeom>
          <a:noFill/>
          <a:ln/>
        </p:spPr>
        <p:txBody>
          <a:bodyPr wrap="square" lIns="241294" tIns="0" rIns="0" bIns="0" rtlCol="0" anchor="t">
            <a:spAutoFit/>
          </a:bodyPr>
          <a:lstStyle/>
          <a:p>
            <a:pPr algn="l" indent="0" marL="0">
              <a:buNone/>
            </a:pPr>
            <a:r>
              <a:rPr lang="en-US" sz="1400" b="1" spc="150" kern="0" dirty="0">
                <a:solidFill>
                  <a:srgbClr val="00A99D"/>
                </a:solidFill>
                <a:latin typeface="Arial" pitchFamily="34" charset="0"/>
                <a:ea typeface="Arial" pitchFamily="34" charset="-122"/>
                <a:cs typeface="Arial" pitchFamily="34" charset="-120"/>
              </a:rPr>
              <a:t>IMPLEMENTED NOW</a:t>
            </a:r>
            <a:endParaRPr lang="en-US" sz="1400" dirty="0"/>
          </a:p>
        </p:txBody>
      </p:sp>
      <p:sp>
        <p:nvSpPr>
          <p:cNvPr id="9" name="TextBox 13"/>
          <p:cNvSpPr/>
          <p:nvPr/>
        </p:nvSpPr>
        <p:spPr>
          <a:xfrm>
            <a:off x="2870128" y="2444477"/>
            <a:ext cx="8191295" cy="565731"/>
          </a:xfrm>
          <a:prstGeom prst="rect">
            <a:avLst/>
          </a:prstGeom>
          <a:noFill/>
          <a:ln/>
        </p:spPr>
        <p:txBody>
          <a:bodyPr wrap="square" lIns="0" tIns="0" rIns="0" bIns="0" rtlCol="0" anchor="t">
            <a:spAutoFit/>
          </a:bodyPr>
          <a:lstStyle/>
          <a:p>
            <a:pPr algn="l" indent="0" marL="0">
              <a:lnSpc>
                <a:spcPts val="2227"/>
              </a:lnSpc>
              <a:buNone/>
            </a:pPr>
            <a:r>
              <a:rPr lang="en-US" sz="1650" dirty="0">
                <a:solidFill>
                  <a:srgbClr val="162A2D"/>
                </a:solidFill>
                <a:latin typeface="Arial" pitchFamily="34" charset="0"/>
                <a:ea typeface="Arial" pitchFamily="34" charset="-122"/>
                <a:cs typeface="Arial" pitchFamily="34" charset="-120"/>
              </a:rPr>
              <a:t>Bounded evidence agent · durable tenant API · managed queue/state · Terraform · keyless delivery · reproducible ML packages</a:t>
            </a:r>
            <a:endParaRPr lang="en-US" sz="1650" dirty="0"/>
          </a:p>
        </p:txBody>
      </p:sp>
      <p:sp>
        <p:nvSpPr>
          <p:cNvPr id="10" name="TextBox 18"/>
          <p:cNvSpPr/>
          <p:nvPr/>
        </p:nvSpPr>
        <p:spPr>
          <a:xfrm>
            <a:off x="584185" y="3990961"/>
            <a:ext cx="2285943" cy="203195"/>
          </a:xfrm>
          <a:prstGeom prst="rect">
            <a:avLst/>
          </a:prstGeom>
          <a:noFill/>
          <a:ln/>
        </p:spPr>
        <p:txBody>
          <a:bodyPr wrap="square" lIns="241294" tIns="0" rIns="0" bIns="0" rtlCol="0" anchor="t">
            <a:spAutoFit/>
          </a:bodyPr>
          <a:lstStyle/>
          <a:p>
            <a:pPr algn="l" indent="0" marL="0">
              <a:buNone/>
            </a:pPr>
            <a:r>
              <a:rPr lang="en-US" sz="1400" b="1" spc="150" kern="0" dirty="0">
                <a:solidFill>
                  <a:srgbClr val="00A99D"/>
                </a:solidFill>
                <a:latin typeface="Arial" pitchFamily="34" charset="0"/>
                <a:ea typeface="Arial" pitchFamily="34" charset="-122"/>
                <a:cs typeface="Arial" pitchFamily="34" charset="-120"/>
              </a:rPr>
              <a:t>GATED NEXT</a:t>
            </a:r>
            <a:endParaRPr lang="en-US" sz="1400" dirty="0"/>
          </a:p>
        </p:txBody>
      </p:sp>
      <p:sp>
        <p:nvSpPr>
          <p:cNvPr id="11" name="TextBox 20"/>
          <p:cNvSpPr/>
          <p:nvPr/>
        </p:nvSpPr>
        <p:spPr>
          <a:xfrm>
            <a:off x="2870128" y="3809693"/>
            <a:ext cx="8191295" cy="565731"/>
          </a:xfrm>
          <a:prstGeom prst="rect">
            <a:avLst/>
          </a:prstGeom>
          <a:noFill/>
          <a:ln/>
        </p:spPr>
        <p:txBody>
          <a:bodyPr wrap="square" lIns="0" tIns="0" rIns="0" bIns="0" rtlCol="0" anchor="t">
            <a:spAutoFit/>
          </a:bodyPr>
          <a:lstStyle/>
          <a:p>
            <a:pPr algn="l" indent="0" marL="0">
              <a:lnSpc>
                <a:spcPts val="2227"/>
              </a:lnSpc>
              <a:buNone/>
            </a:pPr>
            <a:r>
              <a:rPr lang="en-US" sz="1650" dirty="0">
                <a:solidFill>
                  <a:srgbClr val="162A2D"/>
                </a:solidFill>
                <a:latin typeface="Arial" pitchFamily="34" charset="0"/>
                <a:ea typeface="Arial" pitchFamily="34" charset="-122"/>
                <a:cs typeface="Arial" pitchFamily="34" charset="-120"/>
              </a:rPr>
              <a:t>Approved model plane · business loss function · calibrated probabilities · structured fitment · SLOs · drift and quality monitoring</a:t>
            </a:r>
            <a:endParaRPr lang="en-US" sz="1650" dirty="0"/>
          </a:p>
        </p:txBody>
      </p:sp>
      <p:sp>
        <p:nvSpPr>
          <p:cNvPr id="12" name="Shape 23"/>
          <p:cNvSpPr/>
          <p:nvPr/>
        </p:nvSpPr>
        <p:spPr>
          <a:xfrm>
            <a:off x="584185" y="4775166"/>
            <a:ext cx="11023324" cy="1396965"/>
          </a:xfrm>
          <a:prstGeom prst="rect">
            <a:avLst/>
          </a:prstGeom>
          <a:solidFill>
            <a:srgbClr val="162A2D"/>
          </a:solidFill>
          <a:ln/>
        </p:spPr>
      </p:sp>
      <p:sp>
        <p:nvSpPr>
          <p:cNvPr id="13" name="TextBox 25"/>
          <p:cNvSpPr/>
          <p:nvPr/>
        </p:nvSpPr>
        <p:spPr>
          <a:xfrm>
            <a:off x="584185" y="5372051"/>
            <a:ext cx="2285943" cy="203195"/>
          </a:xfrm>
          <a:prstGeom prst="rect">
            <a:avLst/>
          </a:prstGeom>
          <a:noFill/>
          <a:ln/>
        </p:spPr>
        <p:txBody>
          <a:bodyPr wrap="square" lIns="241294" tIns="0" rIns="0" bIns="0" rtlCol="0" anchor="t">
            <a:spAutoFit/>
          </a:bodyPr>
          <a:lstStyle/>
          <a:p>
            <a:pPr algn="l" indent="0" marL="0">
              <a:buNone/>
            </a:pPr>
            <a:r>
              <a:rPr lang="en-US" sz="1400" b="1" spc="150" kern="0" dirty="0">
                <a:solidFill>
                  <a:srgbClr val="00A99D"/>
                </a:solidFill>
                <a:latin typeface="Arial" pitchFamily="34" charset="0"/>
                <a:ea typeface="Arial" pitchFamily="34" charset="-122"/>
                <a:cs typeface="Arial" pitchFamily="34" charset="-120"/>
              </a:rPr>
              <a:t>NOT CLAIMED</a:t>
            </a:r>
            <a:endParaRPr lang="en-US" sz="1400" dirty="0"/>
          </a:p>
        </p:txBody>
      </p:sp>
      <p:sp>
        <p:nvSpPr>
          <p:cNvPr id="14" name="TextBox 27"/>
          <p:cNvSpPr/>
          <p:nvPr/>
        </p:nvSpPr>
        <p:spPr>
          <a:xfrm>
            <a:off x="2870128" y="5190783"/>
            <a:ext cx="8191295" cy="565731"/>
          </a:xfrm>
          <a:prstGeom prst="rect">
            <a:avLst/>
          </a:prstGeom>
          <a:noFill/>
          <a:ln/>
        </p:spPr>
        <p:txBody>
          <a:bodyPr wrap="square" lIns="0" tIns="0" rIns="0" bIns="0" rtlCol="0" anchor="t">
            <a:spAutoFit/>
          </a:bodyPr>
          <a:lstStyle/>
          <a:p>
            <a:pPr algn="l" indent="0" marL="0">
              <a:lnSpc>
                <a:spcPts val="2227"/>
              </a:lnSpc>
              <a:buNone/>
            </a:pPr>
            <a:r>
              <a:rPr lang="en-US" sz="1650" dirty="0">
                <a:solidFill>
                  <a:srgbClr val="FFFFFF"/>
                </a:solidFill>
                <a:latin typeface="Arial" pitchFamily="34" charset="0"/>
                <a:ea typeface="Arial" pitchFamily="34" charset="-122"/>
                <a:cs typeface="Arial" pitchFamily="34" charset="-120"/>
              </a:rPr>
              <a:t>Enterprise load proof · production model approval · global HA · causal failure drivers · electrical compatibility from text alone</a:t>
            </a:r>
            <a:endParaRPr lang="en-US" sz="1650" dirty="0"/>
          </a:p>
        </p:txBody>
      </p:sp>
      <p:sp>
        <p:nvSpPr>
          <p:cNvPr id="15" name="TextBox 31"/>
          <p:cNvSpPr/>
          <p:nvPr/>
        </p:nvSpPr>
        <p:spPr>
          <a:xfrm>
            <a:off x="584185" y="6311828"/>
            <a:ext cx="8953276" cy="266693"/>
          </a:xfrm>
          <a:prstGeom prst="rect">
            <a:avLst/>
          </a:prstGeom>
          <a:noFill/>
          <a:ln/>
        </p:spPr>
        <p:txBody>
          <a:bodyPr wrap="square" lIns="0" tIns="0" rIns="0" bIns="0" rtlCol="0" anchor="t">
            <a:spAutoFit/>
          </a:bodyPr>
          <a:lstStyle/>
          <a:p>
            <a:pPr algn="l" indent="0" marL="0">
              <a:buNone/>
            </a:pPr>
            <a:r>
              <a:rPr lang="en-US" sz="1200" dirty="0">
                <a:solidFill>
                  <a:srgbClr val="5E6D6C"/>
                </a:solidFill>
                <a:latin typeface="Arial" pitchFamily="34" charset="0"/>
                <a:ea typeface="Arial" pitchFamily="34" charset="-122"/>
                <a:cs typeface="Arial" pitchFamily="34" charset="-120"/>
              </a:rPr>
              <a:t>A senior engineer protects the roadmap from claims the evidence cannot support.</a:t>
            </a:r>
            <a:endParaRPr lang="en-US" sz="1200" dirty="0"/>
          </a:p>
        </p:txBody>
      </p:sp>
      <p:sp>
        <p:nvSpPr>
          <p:cNvPr id="16" name="TextBox 33"/>
          <p:cNvSpPr/>
          <p:nvPr/>
        </p:nvSpPr>
        <p:spPr>
          <a:xfrm>
            <a:off x="11099523" y="6349927"/>
            <a:ext cx="507987" cy="253994"/>
          </a:xfrm>
          <a:prstGeom prst="rect">
            <a:avLst/>
          </a:prstGeom>
          <a:noFill/>
          <a:ln/>
        </p:spPr>
        <p:txBody>
          <a:bodyPr wrap="square" lIns="0" tIns="0" rIns="0" bIns="0" rtlCol="0" anchor="t">
            <a:spAutoFit/>
          </a:bodyPr>
          <a:lstStyle/>
          <a:p>
            <a:pPr algn="r" indent="0" marL="0">
              <a:buNone/>
            </a:pPr>
            <a:r>
              <a:rPr lang="en-US" sz="1200" dirty="0">
                <a:solidFill>
                  <a:srgbClr val="00A99D"/>
                </a:solidFill>
                <a:latin typeface="Arial" pitchFamily="34" charset="0"/>
                <a:ea typeface="Arial" pitchFamily="34" charset="-122"/>
                <a:cs typeface="Arial" pitchFamily="34" charset="-120"/>
              </a:rPr>
              <a:t>15</a:t>
            </a:r>
            <a:endParaRPr lang="en-US" sz="1200" dirty="0"/>
          </a:p>
        </p:txBody>
      </p:sp>
    </p:spTree>
  </p:cSld>
  <p:clrMapOvr>
    <a:masterClrMapping/>
  </p:clrMapOvr>
  <p:transition spd="med">
    <p:push dir="l"/>
  </p:transition>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1"/>
          <p:cNvSpPr/>
          <p:nvPr/>
        </p:nvSpPr>
        <p:spPr>
          <a:xfrm>
            <a:off x="0" y="86"/>
            <a:ext cx="12191695" cy="6857829"/>
          </a:xfrm>
          <a:prstGeom prst="rect">
            <a:avLst/>
          </a:prstGeom>
          <a:solidFill>
            <a:srgbClr val="162A2D"/>
          </a:solidFill>
          <a:ln/>
        </p:spPr>
      </p:sp>
      <p:sp>
        <p:nvSpPr>
          <p:cNvPr id="3" name="TextBox 3"/>
          <p:cNvSpPr/>
          <p:nvPr/>
        </p:nvSpPr>
        <p:spPr>
          <a:xfrm>
            <a:off x="584185" y="457274"/>
            <a:ext cx="2603435" cy="215895"/>
          </a:xfrm>
          <a:prstGeom prst="rect">
            <a:avLst/>
          </a:prstGeom>
          <a:noFill/>
          <a:ln/>
        </p:spPr>
        <p:txBody>
          <a:bodyPr wrap="square" lIns="0" tIns="0" rIns="0" bIns="0" rtlCol="0" anchor="t">
            <a:spAutoFit/>
          </a:bodyPr>
          <a:lstStyle/>
          <a:p>
            <a:pPr algn="l" indent="0" marL="0">
              <a:buNone/>
            </a:pPr>
            <a:r>
              <a:rPr lang="en-US" sz="1000" b="1" spc="200" kern="0" dirty="0">
                <a:solidFill>
                  <a:srgbClr val="00A99D"/>
                </a:solidFill>
                <a:latin typeface="Arial" pitchFamily="34" charset="0"/>
                <a:ea typeface="Arial" pitchFamily="34" charset="-122"/>
                <a:cs typeface="Arial" pitchFamily="34" charset="-120"/>
              </a:rPr>
              <a:t>WHY I WOULD HIRE THIS ENGINEER</a:t>
            </a:r>
            <a:endParaRPr lang="en-US" sz="1000" dirty="0"/>
          </a:p>
        </p:txBody>
      </p:sp>
      <p:sp>
        <p:nvSpPr>
          <p:cNvPr id="4" name="TextBox 7"/>
          <p:cNvSpPr/>
          <p:nvPr/>
        </p:nvSpPr>
        <p:spPr>
          <a:xfrm>
            <a:off x="584185" y="1079559"/>
            <a:ext cx="9016775" cy="1217582"/>
          </a:xfrm>
          <a:prstGeom prst="rect">
            <a:avLst/>
          </a:prstGeom>
          <a:noFill/>
          <a:ln/>
        </p:spPr>
        <p:txBody>
          <a:bodyPr wrap="square" lIns="0" tIns="0" rIns="0" bIns="0" rtlCol="0" anchor="t">
            <a:spAutoFit/>
          </a:bodyPr>
          <a:lstStyle/>
          <a:p>
            <a:pPr algn="l" indent="0" marL="0">
              <a:lnSpc>
                <a:spcPts val="4794"/>
              </a:lnSpc>
              <a:buNone/>
            </a:pPr>
            <a:r>
              <a:rPr lang="en-US" sz="4700" spc="-250" kern="0" dirty="0">
                <a:solidFill>
                  <a:srgbClr val="FFFFFF"/>
                </a:solidFill>
                <a:latin typeface="Arial" pitchFamily="34" charset="0"/>
                <a:ea typeface="Arial" pitchFamily="34" charset="-122"/>
                <a:cs typeface="Arial" pitchFamily="34" charset="-120"/>
              </a:rPr>
              <a:t>I build AI systems that earn trust before they ask for scale.</a:t>
            </a:r>
            <a:endParaRPr lang="en-US" sz="4700" dirty="0"/>
          </a:p>
        </p:txBody>
      </p:sp>
      <p:sp>
        <p:nvSpPr>
          <p:cNvPr id="5" name="Shape 10"/>
          <p:cNvSpPr/>
          <p:nvPr/>
        </p:nvSpPr>
        <p:spPr>
          <a:xfrm>
            <a:off x="584185" y="4190981"/>
            <a:ext cx="11023324" cy="1904952"/>
          </a:xfrm>
          <a:prstGeom prst="rect">
            <a:avLst/>
          </a:prstGeom>
          <a:noFill/>
          <a:ln/>
        </p:spPr>
      </p:sp>
      <p:pic>
        <p:nvPicPr>
          <p:cNvPr id="6" name="Picture 10" descr="__type_image">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584185" y="4190981"/>
            <a:ext cx="11023324" cy="1904952"/>
          </a:xfrm>
          <a:prstGeom prst="rect">
            <a:avLst/>
          </a:prstGeom>
        </p:spPr>
      </p:pic>
      <p:sp>
        <p:nvSpPr>
          <p:cNvPr id="7" name="Shape 12"/>
          <p:cNvSpPr/>
          <p:nvPr/>
        </p:nvSpPr>
        <p:spPr>
          <a:xfrm>
            <a:off x="584185" y="4203681"/>
            <a:ext cx="2755831" cy="1892253"/>
          </a:xfrm>
          <a:prstGeom prst="rect">
            <a:avLst/>
          </a:prstGeom>
          <a:noFill/>
          <a:ln/>
        </p:spPr>
      </p:sp>
      <p:pic>
        <p:nvPicPr>
          <p:cNvPr id="8" name="Picture 12" descr="__type_image">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84185" y="4203681"/>
            <a:ext cx="2755831" cy="1892253"/>
          </a:xfrm>
          <a:prstGeom prst="rect">
            <a:avLst/>
          </a:prstGeom>
        </p:spPr>
      </p:pic>
      <p:sp>
        <p:nvSpPr>
          <p:cNvPr id="9" name="TextBox 13"/>
          <p:cNvSpPr/>
          <p:nvPr/>
        </p:nvSpPr>
        <p:spPr>
          <a:xfrm>
            <a:off x="584185" y="4470374"/>
            <a:ext cx="2558986" cy="165096"/>
          </a:xfrm>
          <a:prstGeom prst="rect">
            <a:avLst/>
          </a:prstGeom>
          <a:noFill/>
          <a:ln/>
        </p:spPr>
        <p:txBody>
          <a:bodyPr wrap="square" lIns="0" tIns="0" rIns="0" bIns="0" rtlCol="0" anchor="t">
            <a:spAutoFit/>
          </a:bodyPr>
          <a:lstStyle/>
          <a:p>
            <a:pPr algn="l" indent="0" marL="0">
              <a:buNone/>
            </a:pPr>
            <a:r>
              <a:rPr lang="en-US" sz="1100" b="1" spc="100" kern="0" dirty="0">
                <a:solidFill>
                  <a:srgbClr val="00A99D"/>
                </a:solidFill>
                <a:latin typeface="Arial" pitchFamily="34" charset="0"/>
                <a:ea typeface="Arial" pitchFamily="34" charset="-122"/>
                <a:cs typeface="Arial" pitchFamily="34" charset="-120"/>
              </a:rPr>
              <a:t>01 · AMBIGUITY</a:t>
            </a:r>
            <a:endParaRPr lang="en-US" sz="1100" dirty="0"/>
          </a:p>
        </p:txBody>
      </p:sp>
      <p:sp>
        <p:nvSpPr>
          <p:cNvPr id="10" name="TextBox 14"/>
          <p:cNvSpPr/>
          <p:nvPr/>
        </p:nvSpPr>
        <p:spPr>
          <a:xfrm>
            <a:off x="584185" y="4787866"/>
            <a:ext cx="2558986" cy="487549"/>
          </a:xfrm>
          <a:prstGeom prst="rect">
            <a:avLst/>
          </a:prstGeom>
          <a:noFill/>
          <a:ln/>
        </p:spPr>
        <p:txBody>
          <a:bodyPr wrap="square" lIns="0" tIns="0" rIns="0" bIns="0" rtlCol="0" anchor="t">
            <a:spAutoFit/>
          </a:bodyPr>
          <a:lstStyle/>
          <a:p>
            <a:pPr algn="l" indent="0" marL="0">
              <a:lnSpc>
                <a:spcPts val="1920"/>
              </a:lnSpc>
              <a:buNone/>
            </a:pPr>
            <a:r>
              <a:rPr lang="en-US" sz="1600" dirty="0">
                <a:solidFill>
                  <a:srgbClr val="FFFFFF"/>
                </a:solidFill>
                <a:latin typeface="Arial" pitchFamily="34" charset="0"/>
                <a:ea typeface="Arial" pitchFamily="34" charset="-122"/>
                <a:cs typeface="Arial" pitchFamily="34" charset="-120"/>
              </a:rPr>
              <a:t>Turn it into explicit contracts.</a:t>
            </a:r>
            <a:endParaRPr lang="en-US" sz="1600" dirty="0"/>
          </a:p>
        </p:txBody>
      </p:sp>
      <p:sp>
        <p:nvSpPr>
          <p:cNvPr id="11" name="Shape 16"/>
          <p:cNvSpPr/>
          <p:nvPr/>
        </p:nvSpPr>
        <p:spPr>
          <a:xfrm>
            <a:off x="3340016" y="4203681"/>
            <a:ext cx="2755831" cy="1892253"/>
          </a:xfrm>
          <a:prstGeom prst="rect">
            <a:avLst/>
          </a:prstGeom>
          <a:noFill/>
          <a:ln/>
        </p:spPr>
      </p:sp>
      <p:pic>
        <p:nvPicPr>
          <p:cNvPr id="12" name="Picture 16" descr="__type_image">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340016" y="4203681"/>
            <a:ext cx="2755831" cy="1892253"/>
          </a:xfrm>
          <a:prstGeom prst="rect">
            <a:avLst/>
          </a:prstGeom>
        </p:spPr>
      </p:pic>
      <p:sp>
        <p:nvSpPr>
          <p:cNvPr id="13" name="TextBox 17"/>
          <p:cNvSpPr/>
          <p:nvPr/>
        </p:nvSpPr>
        <p:spPr>
          <a:xfrm>
            <a:off x="3555911" y="4470374"/>
            <a:ext cx="2343091" cy="165096"/>
          </a:xfrm>
          <a:prstGeom prst="rect">
            <a:avLst/>
          </a:prstGeom>
          <a:noFill/>
          <a:ln/>
        </p:spPr>
        <p:txBody>
          <a:bodyPr wrap="square" lIns="0" tIns="0" rIns="0" bIns="0" rtlCol="0" anchor="t">
            <a:spAutoFit/>
          </a:bodyPr>
          <a:lstStyle/>
          <a:p>
            <a:pPr algn="l" indent="0" marL="0">
              <a:buNone/>
            </a:pPr>
            <a:r>
              <a:rPr lang="en-US" sz="1100" b="1" spc="100" kern="0" dirty="0">
                <a:solidFill>
                  <a:srgbClr val="00A99D"/>
                </a:solidFill>
                <a:latin typeface="Arial" pitchFamily="34" charset="0"/>
                <a:ea typeface="Arial" pitchFamily="34" charset="-122"/>
                <a:cs typeface="Arial" pitchFamily="34" charset="-120"/>
              </a:rPr>
              <a:t>02 · AI</a:t>
            </a:r>
            <a:endParaRPr lang="en-US" sz="1100" dirty="0"/>
          </a:p>
        </p:txBody>
      </p:sp>
      <p:sp>
        <p:nvSpPr>
          <p:cNvPr id="14" name="TextBox 18"/>
          <p:cNvSpPr/>
          <p:nvPr/>
        </p:nvSpPr>
        <p:spPr>
          <a:xfrm>
            <a:off x="3555911" y="4787866"/>
            <a:ext cx="2343091" cy="487549"/>
          </a:xfrm>
          <a:prstGeom prst="rect">
            <a:avLst/>
          </a:prstGeom>
          <a:noFill/>
          <a:ln/>
        </p:spPr>
        <p:txBody>
          <a:bodyPr wrap="square" lIns="0" tIns="0" rIns="0" bIns="0" rtlCol="0" anchor="t">
            <a:spAutoFit/>
          </a:bodyPr>
          <a:lstStyle/>
          <a:p>
            <a:pPr algn="l" indent="0" marL="0">
              <a:lnSpc>
                <a:spcPts val="1920"/>
              </a:lnSpc>
              <a:buNone/>
            </a:pPr>
            <a:r>
              <a:rPr lang="en-US" sz="1600" dirty="0">
                <a:solidFill>
                  <a:srgbClr val="FFFFFF"/>
                </a:solidFill>
                <a:latin typeface="Arial" pitchFamily="34" charset="0"/>
                <a:ea typeface="Arial" pitchFamily="34" charset="-122"/>
                <a:cs typeface="Arial" pitchFamily="34" charset="-120"/>
              </a:rPr>
              <a:t>Bound it with deterministic policy.</a:t>
            </a:r>
            <a:endParaRPr lang="en-US" sz="1600" dirty="0"/>
          </a:p>
        </p:txBody>
      </p:sp>
      <p:sp>
        <p:nvSpPr>
          <p:cNvPr id="15" name="Shape 20"/>
          <p:cNvSpPr/>
          <p:nvPr/>
        </p:nvSpPr>
        <p:spPr>
          <a:xfrm>
            <a:off x="6095848" y="4203681"/>
            <a:ext cx="2755831" cy="1892253"/>
          </a:xfrm>
          <a:prstGeom prst="rect">
            <a:avLst/>
          </a:prstGeom>
          <a:noFill/>
          <a:ln/>
        </p:spPr>
      </p:sp>
      <p:pic>
        <p:nvPicPr>
          <p:cNvPr id="16" name="Picture 20" descr="__type_image">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6095848" y="4203681"/>
            <a:ext cx="2755831" cy="1892253"/>
          </a:xfrm>
          <a:prstGeom prst="rect">
            <a:avLst/>
          </a:prstGeom>
        </p:spPr>
      </p:pic>
      <p:sp>
        <p:nvSpPr>
          <p:cNvPr id="17" name="TextBox 21"/>
          <p:cNvSpPr/>
          <p:nvPr/>
        </p:nvSpPr>
        <p:spPr>
          <a:xfrm>
            <a:off x="6311742" y="4470374"/>
            <a:ext cx="2343091" cy="165096"/>
          </a:xfrm>
          <a:prstGeom prst="rect">
            <a:avLst/>
          </a:prstGeom>
          <a:noFill/>
          <a:ln/>
        </p:spPr>
        <p:txBody>
          <a:bodyPr wrap="square" lIns="0" tIns="0" rIns="0" bIns="0" rtlCol="0" anchor="t">
            <a:spAutoFit/>
          </a:bodyPr>
          <a:lstStyle/>
          <a:p>
            <a:pPr algn="l" indent="0" marL="0">
              <a:buNone/>
            </a:pPr>
            <a:r>
              <a:rPr lang="en-US" sz="1100" b="1" spc="100" kern="0" dirty="0">
                <a:solidFill>
                  <a:srgbClr val="00A99D"/>
                </a:solidFill>
                <a:latin typeface="Arial" pitchFamily="34" charset="0"/>
                <a:ea typeface="Arial" pitchFamily="34" charset="-122"/>
                <a:cs typeface="Arial" pitchFamily="34" charset="-120"/>
              </a:rPr>
              <a:t>03 · DELIVERY</a:t>
            </a:r>
            <a:endParaRPr lang="en-US" sz="1100" dirty="0"/>
          </a:p>
        </p:txBody>
      </p:sp>
      <p:sp>
        <p:nvSpPr>
          <p:cNvPr id="18" name="TextBox 22"/>
          <p:cNvSpPr/>
          <p:nvPr/>
        </p:nvSpPr>
        <p:spPr>
          <a:xfrm>
            <a:off x="6311742" y="4787866"/>
            <a:ext cx="2343091" cy="487549"/>
          </a:xfrm>
          <a:prstGeom prst="rect">
            <a:avLst/>
          </a:prstGeom>
          <a:noFill/>
          <a:ln/>
        </p:spPr>
        <p:txBody>
          <a:bodyPr wrap="square" lIns="0" tIns="0" rIns="0" bIns="0" rtlCol="0" anchor="t">
            <a:spAutoFit/>
          </a:bodyPr>
          <a:lstStyle/>
          <a:p>
            <a:pPr algn="l" indent="0" marL="0">
              <a:lnSpc>
                <a:spcPts val="1920"/>
              </a:lnSpc>
              <a:buNone/>
            </a:pPr>
            <a:r>
              <a:rPr lang="en-US" sz="1600" dirty="0">
                <a:solidFill>
                  <a:srgbClr val="FFFFFF"/>
                </a:solidFill>
                <a:latin typeface="Arial" pitchFamily="34" charset="0"/>
                <a:ea typeface="Arial" pitchFamily="34" charset="-122"/>
                <a:cs typeface="Arial" pitchFamily="34" charset="-120"/>
              </a:rPr>
              <a:t>Promote only tested evidence.</a:t>
            </a:r>
            <a:endParaRPr lang="en-US" sz="1600" dirty="0"/>
          </a:p>
        </p:txBody>
      </p:sp>
      <p:sp>
        <p:nvSpPr>
          <p:cNvPr id="19" name="TextBox 25"/>
          <p:cNvSpPr/>
          <p:nvPr/>
        </p:nvSpPr>
        <p:spPr>
          <a:xfrm>
            <a:off x="9067573" y="4470374"/>
            <a:ext cx="2539936" cy="165096"/>
          </a:xfrm>
          <a:prstGeom prst="rect">
            <a:avLst/>
          </a:prstGeom>
          <a:noFill/>
          <a:ln/>
        </p:spPr>
        <p:txBody>
          <a:bodyPr wrap="square" lIns="0" tIns="0" rIns="0" bIns="0" rtlCol="0" anchor="t">
            <a:spAutoFit/>
          </a:bodyPr>
          <a:lstStyle/>
          <a:p>
            <a:pPr algn="l" indent="0" marL="0">
              <a:buNone/>
            </a:pPr>
            <a:r>
              <a:rPr lang="en-US" sz="1100" b="1" spc="100" kern="0" dirty="0">
                <a:solidFill>
                  <a:srgbClr val="00A99D"/>
                </a:solidFill>
                <a:latin typeface="Arial" pitchFamily="34" charset="0"/>
                <a:ea typeface="Arial" pitchFamily="34" charset="-122"/>
                <a:cs typeface="Arial" pitchFamily="34" charset="-120"/>
              </a:rPr>
              <a:t>04 · JUDGMENT</a:t>
            </a:r>
            <a:endParaRPr lang="en-US" sz="1100" dirty="0"/>
          </a:p>
        </p:txBody>
      </p:sp>
      <p:sp>
        <p:nvSpPr>
          <p:cNvPr id="20" name="TextBox 26"/>
          <p:cNvSpPr/>
          <p:nvPr/>
        </p:nvSpPr>
        <p:spPr>
          <a:xfrm>
            <a:off x="9067573" y="4787866"/>
            <a:ext cx="2539936" cy="487549"/>
          </a:xfrm>
          <a:prstGeom prst="rect">
            <a:avLst/>
          </a:prstGeom>
          <a:noFill/>
          <a:ln/>
        </p:spPr>
        <p:txBody>
          <a:bodyPr wrap="square" lIns="0" tIns="0" rIns="0" bIns="0" rtlCol="0" anchor="t">
            <a:spAutoFit/>
          </a:bodyPr>
          <a:lstStyle/>
          <a:p>
            <a:pPr algn="l" indent="0" marL="0">
              <a:lnSpc>
                <a:spcPts val="1920"/>
              </a:lnSpc>
              <a:buNone/>
            </a:pPr>
            <a:r>
              <a:rPr lang="en-US" sz="1600" dirty="0">
                <a:solidFill>
                  <a:srgbClr val="FFFFFF"/>
                </a:solidFill>
                <a:latin typeface="Arial" pitchFamily="34" charset="0"/>
                <a:ea typeface="Arial" pitchFamily="34" charset="-122"/>
                <a:cs typeface="Arial" pitchFamily="34" charset="-120"/>
              </a:rPr>
              <a:t>State the limit before the claim.</a:t>
            </a:r>
            <a:endParaRPr lang="en-US" sz="1600" dirty="0"/>
          </a:p>
        </p:txBody>
      </p:sp>
      <p:sp>
        <p:nvSpPr>
          <p:cNvPr id="21" name="TextBox 29"/>
          <p:cNvSpPr/>
          <p:nvPr/>
        </p:nvSpPr>
        <p:spPr>
          <a:xfrm>
            <a:off x="584185" y="6286429"/>
            <a:ext cx="4444889" cy="241294"/>
          </a:xfrm>
          <a:prstGeom prst="rect">
            <a:avLst/>
          </a:prstGeom>
          <a:noFill/>
          <a:ln/>
        </p:spPr>
        <p:txBody>
          <a:bodyPr wrap="square" lIns="0" tIns="0" rIns="0" bIns="0" rtlCol="0" anchor="t">
            <a:spAutoFit/>
          </a:bodyPr>
          <a:lstStyle/>
          <a:p>
            <a:pPr algn="l" indent="0" marL="0">
              <a:buNone/>
            </a:pPr>
            <a:r>
              <a:rPr lang="en-US" sz="1250" dirty="0">
                <a:solidFill>
                  <a:srgbClr val="B8C3C1"/>
                </a:solidFill>
                <a:latin typeface="Arial" pitchFamily="34" charset="0"/>
                <a:ea typeface="Arial" pitchFamily="34" charset="-122"/>
                <a:cs typeface="Arial" pitchFamily="34" charset="-120"/>
              </a:rPr>
              <a:t>Maksim Blekhshtein · Senior AI Engineer</a:t>
            </a:r>
            <a:endParaRPr lang="en-US" sz="1250" dirty="0"/>
          </a:p>
        </p:txBody>
      </p:sp>
      <p:sp>
        <p:nvSpPr>
          <p:cNvPr id="22" name="TextBox 31"/>
          <p:cNvSpPr/>
          <p:nvPr/>
        </p:nvSpPr>
        <p:spPr>
          <a:xfrm>
            <a:off x="9004075" y="6248330"/>
            <a:ext cx="2603435" cy="330192"/>
          </a:xfrm>
          <a:prstGeom prst="rect">
            <a:avLst/>
          </a:prstGeom>
          <a:noFill/>
          <a:ln/>
        </p:spPr>
        <p:txBody>
          <a:bodyPr wrap="square" lIns="0" tIns="0" rIns="0" bIns="0" rtlCol="0" anchor="t">
            <a:spAutoFit/>
          </a:bodyPr>
          <a:lstStyle/>
          <a:p>
            <a:pPr algn="r" indent="0" marL="0">
              <a:buNone/>
            </a:pPr>
            <a:r>
              <a:rPr lang="en-US" sz="1200" dirty="0">
                <a:solidFill>
                  <a:srgbClr val="00A99D"/>
                </a:solidFill>
                <a:latin typeface="Arial" pitchFamily="34" charset="0"/>
                <a:ea typeface="Arial" pitchFamily="34" charset="-122"/>
                <a:cs typeface="Arial" pitchFamily="34" charset="-120"/>
              </a:rPr>
              <a:t>REPOSITORY READY TO REVIEW →</a:t>
            </a:r>
            <a:endParaRPr lang="en-US" sz="1200" dirty="0"/>
          </a:p>
        </p:txBody>
      </p:sp>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2026-08-30T17:01:31Z</dcterms:created>
  <dcterms:modified xsi:type="dcterms:W3CDTF">2026-08-30T17:01:31Z</dcterms:modified>
</cp:coreProperties>
</file>