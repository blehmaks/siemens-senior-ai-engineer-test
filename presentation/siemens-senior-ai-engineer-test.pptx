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4b94f57a8430f" /><Relationship Type="http://schemas.openxmlformats.org/officeDocument/2006/relationships/extended-properties" Target="/docProps/app.xml" Id="Rd6ef05badf374866" /><Relationship Type="http://schemas.openxmlformats.org/officeDocument/2006/relationships/officeDocument" Target="/ppt/presentation.xml" Id="R2853c4c286cc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1630a7f5945cc"/>
  </p:sldMasterIdLst>
  <p:notesMasterIdLst>
    <p:notesMasterId xmlns:r="http://schemas.openxmlformats.org/officeDocument/2006/relationships" r:id="Rb680f17014e84be4"/>
  </p:notesMasterIdLst>
  <p:sldIdLst>
    <p:sldId xmlns:r="http://schemas.openxmlformats.org/officeDocument/2006/relationships" id="256" r:id="R3db6a312b3a74a3c"/>
    <p:sldId xmlns:r="http://schemas.openxmlformats.org/officeDocument/2006/relationships" id="257" r:id="R74ad444a8d40463a"/>
    <p:sldId xmlns:r="http://schemas.openxmlformats.org/officeDocument/2006/relationships" id="258" r:id="Ra139c5d7b73147a8"/>
    <p:sldId xmlns:r="http://schemas.openxmlformats.org/officeDocument/2006/relationships" id="259" r:id="R43d0b23e4533412c"/>
    <p:sldId xmlns:r="http://schemas.openxmlformats.org/officeDocument/2006/relationships" id="260" r:id="R1db663d8c85f4cf6"/>
    <p:sldId xmlns:r="http://schemas.openxmlformats.org/officeDocument/2006/relationships" id="261" r:id="R412ea2f425fa4013"/>
    <p:sldId xmlns:r="http://schemas.openxmlformats.org/officeDocument/2006/relationships" id="262" r:id="Raf4c34f931e2404f"/>
    <p:sldId xmlns:r="http://schemas.openxmlformats.org/officeDocument/2006/relationships" id="263" r:id="R9c37c7add0bf4a81"/>
    <p:sldId xmlns:r="http://schemas.openxmlformats.org/officeDocument/2006/relationships" id="264" r:id="R5129dbe11f1e4892"/>
    <p:sldId xmlns:r="http://schemas.openxmlformats.org/officeDocument/2006/relationships" id="265" r:id="R3aedf9f9ce9f4554"/>
    <p:sldId xmlns:r="http://schemas.openxmlformats.org/officeDocument/2006/relationships" id="266" r:id="R12b74ccc4cdc457f"/>
    <p:sldId xmlns:r="http://schemas.openxmlformats.org/officeDocument/2006/relationships" id="267" r:id="R94996b0036ef41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489b67824d44ca" /><Relationship Type="http://schemas.openxmlformats.org/officeDocument/2006/relationships/slideMaster" Target="/ppt/slideMasters/slideMaster1.xml" Id="Rd921630a7f5945cc" /><Relationship Type="http://schemas.openxmlformats.org/officeDocument/2006/relationships/notesMaster" Target="/ppt/notesMasters/notesMaster1.xml" Id="Rb680f17014e84be4" /><Relationship Type="http://schemas.openxmlformats.org/officeDocument/2006/relationships/presProps" Target="/ppt/presProps.xml" Id="R8b329d0cf7ae4dd2" /><Relationship Type="http://schemas.openxmlformats.org/officeDocument/2006/relationships/tableStyles" Target="/ppt/tableStyles.xml" Id="Rf7e2d1e780734d3e" /><Relationship Type="http://schemas.openxmlformats.org/officeDocument/2006/relationships/slide" Target="/ppt/slides/slide1.xml" Id="R3db6a312b3a74a3c" /><Relationship Type="http://schemas.openxmlformats.org/officeDocument/2006/relationships/slide" Target="/ppt/slides/slide2.xml" Id="R74ad444a8d40463a" /><Relationship Type="http://schemas.openxmlformats.org/officeDocument/2006/relationships/slide" Target="/ppt/slides/slide3.xml" Id="Ra139c5d7b73147a8" /><Relationship Type="http://schemas.openxmlformats.org/officeDocument/2006/relationships/slide" Target="/ppt/slides/slide4.xml" Id="R43d0b23e4533412c" /><Relationship Type="http://schemas.openxmlformats.org/officeDocument/2006/relationships/slide" Target="/ppt/slides/slide5.xml" Id="R1db663d8c85f4cf6" /><Relationship Type="http://schemas.openxmlformats.org/officeDocument/2006/relationships/slide" Target="/ppt/slides/slide6.xml" Id="R412ea2f425fa4013" /><Relationship Type="http://schemas.openxmlformats.org/officeDocument/2006/relationships/slide" Target="/ppt/slides/slide7.xml" Id="Raf4c34f931e2404f" /><Relationship Type="http://schemas.openxmlformats.org/officeDocument/2006/relationships/slide" Target="/ppt/slides/slide8.xml" Id="R9c37c7add0bf4a81" /><Relationship Type="http://schemas.openxmlformats.org/officeDocument/2006/relationships/slide" Target="/ppt/slides/slide9.xml" Id="R5129dbe11f1e4892" /><Relationship Type="http://schemas.openxmlformats.org/officeDocument/2006/relationships/slide" Target="/ppt/slides/slide10.xml" Id="R3aedf9f9ce9f4554" /><Relationship Type="http://schemas.openxmlformats.org/officeDocument/2006/relationships/slide" Target="/ppt/slides/slide11.xml" Id="R12b74ccc4cdc457f" /><Relationship Type="http://schemas.openxmlformats.org/officeDocument/2006/relationships/slide" Target="/ppt/slides/slide12.xml" Id="R94996b0036ef41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862520a97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385f66553410c" /><Relationship Type="http://schemas.openxmlformats.org/officeDocument/2006/relationships/notesMaster" Target="/ppt/notesMasters/notesMaster1.xml" Id="Rf485c180f5b149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b34c2c0d54109" /><Relationship Type="http://schemas.openxmlformats.org/officeDocument/2006/relationships/notesMaster" Target="/ppt/notesMasters/notesMaster1.xml" Id="Rddd32d6dc63e4b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855746368e4745" /><Relationship Type="http://schemas.openxmlformats.org/officeDocument/2006/relationships/notesMaster" Target="/ppt/notesMasters/notesMaster1.xml" Id="Rf8340582c151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65dfca6715450d" /><Relationship Type="http://schemas.openxmlformats.org/officeDocument/2006/relationships/notesMaster" Target="/ppt/notesMasters/notesMaster1.xml" Id="Rd14543cca9d24d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5d605601d9444f" /><Relationship Type="http://schemas.openxmlformats.org/officeDocument/2006/relationships/notesMaster" Target="/ppt/notesMasters/notesMaster1.xml" Id="R075e76c23eb5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d3537e1e5e4207" /><Relationship Type="http://schemas.openxmlformats.org/officeDocument/2006/relationships/notesMaster" Target="/ppt/notesMasters/notesMaster1.xml" Id="R633934fec64d43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fd01454564e42" /><Relationship Type="http://schemas.openxmlformats.org/officeDocument/2006/relationships/notesMaster" Target="/ppt/notesMasters/notesMaster1.xml" Id="R59b03cd59ae94c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9f2d7681ce4ef2" /><Relationship Type="http://schemas.openxmlformats.org/officeDocument/2006/relationships/notesMaster" Target="/ppt/notesMasters/notesMaster1.xml" Id="R10d879866819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b58e82fa541ab" /><Relationship Type="http://schemas.openxmlformats.org/officeDocument/2006/relationships/notesMaster" Target="/ppt/notesMasters/notesMaster1.xml" Id="Rc475dfcd1c0446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87628b24944997" /><Relationship Type="http://schemas.openxmlformats.org/officeDocument/2006/relationships/notesMaster" Target="/ppt/notesMasters/notesMaster1.xml" Id="Red5cd4fce4f845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f9eed3af544f28" /><Relationship Type="http://schemas.openxmlformats.org/officeDocument/2006/relationships/notesMaster" Target="/ppt/notesMasters/notesMaster1.xml" Id="R1cf6e6e1eb4b48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d93af5c0204781" /><Relationship Type="http://schemas.openxmlformats.org/officeDocument/2006/relationships/notesMaster" Target="/ppt/notesMasters/notesMaster1.xml" Id="Rc39ad1763698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docs/release-and-operations.md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task-01-search-agent/src/search_agent/planning.py</a:t>
            </a:r>
          </a:p>
          <a:p xmlns:a="http://schemas.openxmlformats.org/drawingml/2006/main">
            <a:r>
              <a:t>- task-01-search-agent/src/search_agent/contracts.py</a:t>
            </a:r>
          </a:p>
          <a:p xmlns:a="http://schemas.openxmlformats.org/drawingml/2006/main">
            <a:r>
              <a:t>- task-01-search-agent/tests/test_planning.py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task-01-search-agent/src/search_agent/security/url_guard.py</a:t>
            </a:r>
          </a:p>
          <a:p xmlns:a="http://schemas.openxmlformats.org/drawingml/2006/main">
            <a:r>
              <a:t>- task-01-search-agent/src/search_agent/tools/fetch.py</a:t>
            </a:r>
          </a:p>
          <a:p xmlns:a="http://schemas.openxmlformats.org/drawingml/2006/main">
            <a:r>
              <a:t>- task-01-search-agent/src/search_agent/evidence.py</a:t>
            </a:r>
          </a:p>
          <a:p xmlns:a="http://schemas.openxmlformats.org/drawingml/2006/main">
            <a:r>
              <a:t>- task-01-search-agent/src/search_agent/answering.py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task-02-agent-api/docs/api.md</a:t>
            </a:r>
          </a:p>
          <a:p xmlns:a="http://schemas.openxmlformats.org/drawingml/2006/main">
            <a:r>
              <a:t>- task-02-agent-api/src/agent_api/routes/runs.py</a:t>
            </a:r>
          </a:p>
          <a:p xmlns:a="http://schemas.openxmlformats.org/drawingml/2006/main">
            <a:r>
              <a:t>- task-02-agent-api/src/agent_api/storage/repositories.py</a:t>
            </a:r>
          </a:p>
          <a:p xmlns:a="http://schemas.openxmlformats.org/drawingml/2006/main">
            <a:r>
              <a:t>- task-02-agent-api/src/agent_api/workers/lifecycle.py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task-02-agent-api/src/agent_api/security/auth.py</a:t>
            </a:r>
          </a:p>
          <a:p xmlns:a="http://schemas.openxmlformats.org/drawingml/2006/main">
            <a:r>
              <a:t>- task-02-agent-api/src/agent_api/security/limits.py</a:t>
            </a:r>
          </a:p>
          <a:p xmlns:a="http://schemas.openxmlformats.org/drawingml/2006/main">
            <a:r>
              <a:t>- task-02-agent-api/tests/security/</a:t>
            </a:r>
          </a:p>
          <a:p xmlns:a="http://schemas.openxmlformats.org/drawingml/2006/main">
            <a:r>
              <a:t>- task-02-agent-api/tests/routes/test_cancellation.py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scripts/local_submission_check.sh</a:t>
            </a:r>
          </a:p>
          <a:p xmlns:a="http://schemas.openxmlformats.org/drawingml/2006/main">
            <a:r>
              <a:t>- task-03-deployment-strategy/scripts/local_acceptance.sh</a:t>
            </a:r>
          </a:p>
          <a:p xmlns:a="http://schemas.openxmlformats.org/drawingml/2006/main">
            <a:r>
              <a:t>- docs/release-and-operations.md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task-03-deployment-strategy/architecture/strategy.md</a:t>
            </a:r>
          </a:p>
          <a:p xmlns:a="http://schemas.openxmlformats.org/drawingml/2006/main">
            <a:r>
              <a:t>- task-03-deployment-strategy/terraform/environments/dev/main.tf</a:t>
            </a:r>
          </a:p>
          <a:p xmlns:a="http://schemas.openxmlformats.org/drawingml/2006/main">
            <a:r>
              <a:t>- task-03-deployment-strategy/terraform/modules/run_services/main.tf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task-03-deployment-strategy/scripts/bootstrap.sh</a:t>
            </a:r>
          </a:p>
          <a:p xmlns:a="http://schemas.openxmlformats.org/drawingml/2006/main">
            <a:r>
              <a:t>- task-03-deployment-strategy/terraform/state_bucket/</a:t>
            </a:r>
          </a:p>
          <a:p xmlns:a="http://schemas.openxmlformats.org/drawingml/2006/main">
            <a:r>
              <a:t>- task-03-deployment-strategy/terraform/bootstrap/</a:t>
            </a:r>
          </a:p>
          <a:p xmlns:a="http://schemas.openxmlformats.org/drawingml/2006/main">
            <a:r>
              <a:t>- task-03-deployment-strategy/scripts/seed_secret_version.sh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.github/workflows/deploy.yml</a:t>
            </a:r>
          </a:p>
          <a:p xmlns:a="http://schemas.openxmlformats.org/drawingml/2006/main">
            <a:r>
              <a:t>- task-03-deployment-strategy/operations/ci-cd.md</a:t>
            </a:r>
          </a:p>
          <a:p xmlns:a="http://schemas.openxmlformats.org/drawingml/2006/main">
            <a:r>
              <a:t>- task-03-deployment-strategy/terraform/bootstrap/github.tf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task-03-deployment-strategy/architecture/capacity-load-proof.sample.json</a:t>
            </a:r>
          </a:p>
          <a:p xmlns:a="http://schemas.openxmlformats.org/drawingml/2006/main">
            <a:r>
              <a:t>- task-03-deployment-strategy/architecture/capacity-model.md</a:t>
            </a:r>
          </a:p>
          <a:p xmlns:a="http://schemas.openxmlformats.org/drawingml/2006/main">
            <a:r>
              <a:t>- task-03-deployment-strategy/architecture/production-scale.md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docs/release-and-operations.md</a:t>
            </a:r>
          </a:p>
          <a:p xmlns:a="http://schemas.openxmlformats.org/drawingml/2006/main">
            <a:r>
              <a:t>- docs/reviewer-guide.md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3f554e966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f56c2f15b461b" /><Relationship Type="http://schemas.openxmlformats.org/officeDocument/2006/relationships/slideLayout" Target="/ppt/slideLayouts/slideLayout1.xml" Id="Rf9468d75ee484f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468d75ee484f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a7998157c487f" /><Relationship Type="http://schemas.openxmlformats.org/officeDocument/2006/relationships/notesSlide" Target="/ppt/notesSlides/notesSlide1.xml" Id="R3f2375d5a08844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d8d043496467a" /><Relationship Type="http://schemas.openxmlformats.org/officeDocument/2006/relationships/notesSlide" Target="/ppt/notesSlides/notesSlide2.xml" Id="R84f320973e6441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7753f155d4505" /><Relationship Type="http://schemas.openxmlformats.org/officeDocument/2006/relationships/notesSlide" Target="/ppt/notesSlides/notesSlide3.xml" Id="Rf36b3949b3284d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f13f53c9a42a1" /><Relationship Type="http://schemas.openxmlformats.org/officeDocument/2006/relationships/notesSlide" Target="/ppt/notesSlides/notesSlide4.xml" Id="Rb23750fbe6204d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126f8a72c4827" /><Relationship Type="http://schemas.openxmlformats.org/officeDocument/2006/relationships/notesSlide" Target="/ppt/notesSlides/notesSlide5.xml" Id="Rb523340009614f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06cb1429442a0" /><Relationship Type="http://schemas.openxmlformats.org/officeDocument/2006/relationships/notesSlide" Target="/ppt/notesSlides/notesSlide6.xml" Id="Reb629c1994f746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196945fc245f7" /><Relationship Type="http://schemas.openxmlformats.org/officeDocument/2006/relationships/notesSlide" Target="/ppt/notesSlides/notesSlide7.xml" Id="R1ff0925d1834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c4420118a4ecb" /><Relationship Type="http://schemas.openxmlformats.org/officeDocument/2006/relationships/notesSlide" Target="/ppt/notesSlides/notesSlide8.xml" Id="R1b76fcefc4404f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96b8297144a44" /><Relationship Type="http://schemas.openxmlformats.org/officeDocument/2006/relationships/notesSlide" Target="/ppt/notesSlides/notesSlide9.xml" Id="Rc64011daf2b941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c8bcf4e3d48ff" /><Relationship Type="http://schemas.openxmlformats.org/officeDocument/2006/relationships/notesSlide" Target="/ppt/notesSlides/notesSlide10.xml" Id="Rdfb1de0c757049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5f1df36b6467b" /><Relationship Type="http://schemas.openxmlformats.org/officeDocument/2006/relationships/notesSlide" Target="/ppt/notesSlides/notesSlide11.xml" Id="R81af3cd9f38a43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c8db8878543dd" /><Relationship Type="http://schemas.openxmlformats.org/officeDocument/2006/relationships/notesSlide" Target="/ppt/notesSlides/notesSlide12.xml" Id="R190a5b49537d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AA6D0-5243-4B9C-A453-543193CA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857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009C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AD69B-FF37-41AD-AB12-0F02114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FED"/>
                </a:solidFill>
              </a:defRPr>
            </a:pPr>
            <a:r>
              <a:rPr sz="1125" b="1">
                <a:solidFill>
                  <a:srgbClr val="DCEFED"/>
                </a:solidFill>
              </a:rPr>
              <a:t>SIEMENS SENIOR AI ENGINEER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11B7D-9581-4A79-98B6-05ECED55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6210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Research agent, API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and cloud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F1AEB-FE76-4D3C-98C8-3DE92BE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4E2"/>
                </a:solidFill>
              </a:defRPr>
            </a:pPr>
            <a:r>
              <a:rPr sz="1800" b="0">
                <a:solidFill>
                  <a:srgbClr val="D7E4E2"/>
                </a:solidFill>
              </a:rPr>
              <a:t>Tasks 1 to 3 deployable. Tasks 1 to 6 reproducible locally.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E488F-891A-40D2-9CDA-5F678F9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75"/>
                </a:solidFill>
              </a:defRPr>
            </a:pPr>
            <a:r>
              <a:rPr sz="1275" b="1">
                <a:solidFill>
                  <a:srgbClr val="007A75"/>
                </a:solidFill>
              </a:rPr>
              <a:t>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B78E-21C9-4CE3-9CAC-EE3555A7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956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ASYNC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D5D10-4AA7-4C30-A51D-386B2BE6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243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6B1A"/>
                </a:solidFill>
              </a:defRPr>
            </a:pPr>
            <a:r>
              <a:rPr sz="1275" b="1">
                <a:solidFill>
                  <a:srgbClr val="C96B1A"/>
                </a:solidFill>
              </a:rPr>
              <a:t>GCP DELIVERY</a:t>
            </a:r>
          </a:p>
        </p:txBody>
      </p: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696450" y="21336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EC5C1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696450" y="35623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AA8E8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7162A-06F7-4DAF-99D0-994FBBA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5B2"/>
                </a:solidFill>
              </a:defRPr>
            </a:pPr>
            <a:r>
              <a:rPr sz="1125" b="0">
                <a:solidFill>
                  <a:srgbClr val="9FB5B2"/>
                </a:solidFill>
              </a:rPr>
              <a:t>Technical assignment | August 2026</a:t>
            </a:r>
          </a:p>
        </p:txBody>
      </p:sp>
    </p:spTree>
    <p:extLst>
      <p:ext uri="{BB962C8B-B14F-4D97-AF65-F5344CB8AC3E}">
        <p14:creationId xmlns:p14="http://schemas.microsoft.com/office/powerpoint/2010/main" val="835522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F6DFD-AE20-462A-B42E-13293432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SUBMISSION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184F8-5318-4828-8C02-1ED6C81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Six tasks. Two operational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C0CBD-A148-4C07-8D71-0E795B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704B4-712D-4420-AA8F-64FE0E0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12227-3B4B-45AE-914C-219E0EB1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Reviewer or operator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B4D3A-CC57-4F93-A655-ADA771C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A75"/>
                </a:solidFill>
              </a:defRPr>
            </a:pPr>
            <a:r>
              <a:rPr sz="1425" b="1">
                <a:solidFill>
                  <a:srgbClr val="007A75"/>
                </a:solidFill>
              </a:rPr>
              <a:t>Local submission</a:t>
            </a:r>
          </a:p>
          <a:p xmlns:a="http://schemas.openxmlformats.org/drawingml/2006/main">
            <a:pPr algn="ctr">
              <a:defRPr sz="1425" b="1">
                <a:solidFill>
                  <a:srgbClr val="007A75"/>
                </a:solidFill>
              </a:defRPr>
            </a:pPr>
            <a:r>
              <a:rPr sz="1425" b="1">
                <a:solidFill>
                  <a:srgbClr val="007A75"/>
                </a:solidFill>
              </a:rPr>
              <a:t>Tasks 1 to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4A815-9F6D-43A4-8467-ABC914F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Cloud service</a:t>
            </a:r>
          </a:p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Tasks 1 to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D477B-ACF2-44A3-A3EB-C205CB9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Agent + API +</a:t>
            </a:r>
          </a:p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Tasks 4, 5,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C7E2A-7A61-4FE8-B55A-E4F11106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238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Agent + API + worker +</a:t>
            </a:r>
          </a:p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managed GCP services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552700" y="2266950"/>
            <a:ext cx="11620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52700" y="2905125"/>
            <a:ext cx="1162050" cy="1266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10250" y="22669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41719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85ADE-4997-422B-A3BA-3AB99BF3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859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A75"/>
                </a:solidFill>
              </a:defRPr>
            </a:pPr>
            <a:r>
              <a:rPr sz="1050" b="1">
                <a:solidFill>
                  <a:srgbClr val="007A75"/>
                </a:solidFill>
              </a:rPr>
              <a:t>make local-submission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589DD-30C1-4AD6-9760-2C03B13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Terraform + protected GitHub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DD521-4839-45C0-ADDE-49FBFEE3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6B1A"/>
                </a:solidFill>
              </a:defRPr>
            </a:pPr>
            <a:r>
              <a:rPr sz="1350" b="1">
                <a:solidFill>
                  <a:srgbClr val="C96B1A"/>
                </a:solidFill>
              </a:rPr>
              <a:t>The LLM engine remains external in both paths.</a:t>
            </a:r>
          </a:p>
        </p:txBody>
      </p:sp>
    </p:spTree>
    <p:extLst>
      <p:ext uri="{BB962C8B-B14F-4D97-AF65-F5344CB8AC3E}">
        <p14:creationId xmlns:p14="http://schemas.microsoft.com/office/powerpoint/2010/main" val="1357363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53354-DE22-407A-AC55-21E89A74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1 | REQUEST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C738E-C490-4BAA-9839-A8BB49FC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Task 1 starts with a bounded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6421B-194E-4897-9F83-D997F73B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F4F56-4C57-45E0-9430-A30267DF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D77AF-D9B1-451B-8AD4-DAC7ADD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User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7D4B0-75F1-4EBE-8638-0C75E331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57450"/>
            <a:ext cx="1428750" cy="1066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A75"/>
                </a:solidFill>
              </a:defRPr>
            </a:pPr>
            <a:r>
              <a:rPr sz="1275" b="1">
                <a:solidFill>
                  <a:srgbClr val="007A75"/>
                </a:solidFill>
              </a:rPr>
              <a:t>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43A83-96ED-4888-878E-F6F4965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FC0B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Direct reply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BB40-11D2-40F7-94E0-0D8E1FF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479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FC0B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Clarification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B44DF-43F4-4DE7-B453-C307A0D1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Company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D5C74-C77F-4CBD-826B-DE31DBC3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766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Query plan</a:t>
            </a:r>
          </a:p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max 8 searches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908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43A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591050" y="1952625"/>
            <a:ext cx="1162050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AFC0BD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591050" y="2981325"/>
            <a:ext cx="1162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FC0BD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591050" y="2990850"/>
            <a:ext cx="116205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62850" y="40100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E727A-0A6E-46E9-89DB-A88FFDD0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19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579"/>
                </a:solidFill>
              </a:defRPr>
            </a:pPr>
            <a:r>
              <a:rPr sz="1050" b="1">
                <a:solidFill>
                  <a:srgbClr val="627579"/>
                </a:solidFill>
              </a:rPr>
              <a:t>No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75B95-1F1A-4E2C-B81A-535176B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579"/>
                </a:solidFill>
              </a:defRPr>
            </a:pPr>
            <a:r>
              <a:rPr sz="1050" b="1">
                <a:solidFill>
                  <a:srgbClr val="627579"/>
                </a:solidFill>
              </a:rPr>
              <a:t>No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F1B85-CBA9-4BE3-AE68-EF160DC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863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579"/>
                </a:solidFill>
              </a:defRPr>
            </a:pPr>
            <a:r>
              <a:rPr sz="1350" b="0">
                <a:solidFill>
                  <a:srgbClr val="627579"/>
                </a:solidFill>
              </a:rPr>
              <a:t>The planner cannot create a search plan for a no-search category.</a:t>
            </a:r>
          </a:p>
        </p:txBody>
      </p:sp>
    </p:spTree>
    <p:extLst>
      <p:ext uri="{BB962C8B-B14F-4D97-AF65-F5344CB8AC3E}">
        <p14:creationId xmlns:p14="http://schemas.microsoft.com/office/powerpoint/2010/main" val="308351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FC05D-E898-4102-BC07-438388C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1 | TRUST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58985-D35B-4CBF-AA1B-4B889AE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Untrusted web content must become cited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73DE6-5E88-4020-97F0-27D7FE05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ABB1-BA0C-4D4D-BEFC-947B41B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9F7C8-CF7A-4A16-ABCB-D233F91E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Search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DDCA5-8189-44C7-9173-38E61E8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URL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D996-1227-430D-ABD9-C93F7D1B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24125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Bounded fetch</a:t>
            </a:r>
          </a:p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and 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B47AA-B724-4347-8D13-ED3E3E47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Evidence</a:t>
            </a:r>
          </a:p>
          <a:p xmlns:a="http://schemas.openxmlformats.org/drawingml/2006/main">
            <a:pPr algn="ctr">
              <a:defRPr sz="1275" b="1">
                <a:solidFill>
                  <a:srgbClr val="17343A"/>
                </a:solidFill>
              </a:defRPr>
            </a:pPr>
            <a:r>
              <a:rPr sz="1275" b="1">
                <a:solidFill>
                  <a:srgbClr val="17343A"/>
                </a:solidFill>
              </a:rPr>
              <a:t>ev-...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34041-169E-4BBA-BA93-2AB0123C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Cited answer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86250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19875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63000" y="2886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9E375-4164-46FC-82E6-9AE63D66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E7E5"/>
          </a:solidFill>
          <a:ln xmlns:a="http://schemas.openxmlformats.org/drawingml/2006/main" w="14288">
            <a:solidFill>
              <a:srgbClr val="B445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4545"/>
                </a:solidFill>
              </a:defRPr>
            </a:pPr>
            <a:r>
              <a:rPr sz="1200" b="1">
                <a:solidFill>
                  <a:srgbClr val="B44545"/>
                </a:solidFill>
              </a:rPr>
              <a:t>Block</a:t>
            </a:r>
          </a:p>
          <a:p xmlns:a="http://schemas.openxmlformats.org/drawingml/2006/main">
            <a:pPr algn="ctr">
              <a:defRPr sz="1200" b="1">
                <a:solidFill>
                  <a:srgbClr val="B44545"/>
                </a:solidFill>
              </a:defRPr>
            </a:pPr>
            <a:r>
              <a:rPr sz="1200" b="1">
                <a:solidFill>
                  <a:srgbClr val="B44545"/>
                </a:solidFill>
              </a:rPr>
              <a:t>private IP, metadata,</a:t>
            </a:r>
          </a:p>
          <a:p xmlns:a="http://schemas.openxmlformats.org/drawingml/2006/main">
            <a:pPr algn="ctr">
              <a:defRPr sz="1200" b="1">
                <a:solidFill>
                  <a:srgbClr val="B44545"/>
                </a:solidFill>
              </a:defRPr>
            </a:pPr>
            <a:r>
              <a:rPr sz="1200" b="1">
                <a:solidFill>
                  <a:srgbClr val="B44545"/>
                </a:solidFill>
              </a:rPr>
              <a:t>unsafe redirect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F3523-956E-4D49-BC43-19DA7C7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Abstain</a:t>
            </a:r>
          </a:p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when evidence or citations fail</a:t>
            </a:r>
          </a:p>
        </p:txBody>
      </p: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476625" y="3248025"/>
            <a:ext cx="1905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4545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953375" y="3248025"/>
            <a:ext cx="7620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25C9C-8E6B-45B4-A737-09035CA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864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43A"/>
                </a:solidFill>
              </a:defRPr>
            </a:pPr>
            <a:r>
              <a:rPr sz="1425" b="1">
                <a:solidFill>
                  <a:srgbClr val="17343A"/>
                </a:solidFill>
              </a:rPr>
              <a:t>Validation is deterministic even when search results and model output are not.</a:t>
            </a:r>
          </a:p>
        </p:txBody>
      </p:sp>
    </p:spTree>
    <p:extLst>
      <p:ext uri="{BB962C8B-B14F-4D97-AF65-F5344CB8AC3E}">
        <p14:creationId xmlns:p14="http://schemas.microsoft.com/office/powerpoint/2010/main" val="1682160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EF510-086A-4653-9DA8-98B040C3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2 | DURABLE ASYNC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28752-3076-475D-8A81-0937187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Task 2 keeps long work out of the HTTP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397BC-9811-4FE4-B041-560A8DB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CF24-4774-4E61-BDAB-065D92C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D1D82-85FC-469E-A75C-F6D28FA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API admission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EF102-7B58-4599-8DC9-0A436722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A75"/>
                </a:solidFill>
              </a:defRPr>
            </a:pPr>
            <a:r>
              <a:rPr sz="1050" b="1">
                <a:solidFill>
                  <a:srgbClr val="007A75"/>
                </a:solidFill>
              </a:rPr>
              <a:t>Worker 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A09A0-F662-42D7-9B1F-EBD1C371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F5E90-945B-4373-B1AB-24C11266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9C9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C0160-17B7-406A-A13A-F9A24A4B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POST run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+ Idempotency-Key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BD3FF-83D5-41F9-A93E-EDFE83E0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Persist queued run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and idempotency 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C62C3-0F90-47A2-9886-9296AF53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619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Enqueue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100A6-ABD6-43F3-9D1C-4B99DF9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202 Accepted</a:t>
            </a:r>
          </a:p>
        </p:txBody>
      </p: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67000" y="26574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76875" y="26574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10500" y="26574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5A00C-A62C-4B5F-9D95-47E63EAD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Cloud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56D3B-7F69-4025-BE40-6A3E539D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Acquire 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71FF4-D139-4D07-85FB-21E723C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Run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10C1E-2D6D-45AA-904A-35B5CE8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577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Compare and set</a:t>
            </a:r>
          </a:p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terminal state</a:t>
            </a:r>
          </a:p>
        </p:txBody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29000" y="52101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53125" y="52101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477250" y="52101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2571750" y="3028950"/>
            <a:ext cx="4429125" cy="1828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627579"/>
            </a:solidFill>
            <a:prstDash val="dash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719583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F3EAF-F366-416D-8125-F92734E0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2 | TENANT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C1B4C-890E-47B9-B1C6-059E7789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Security and cost controls are separate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AEF36-F0F8-454A-96DF-B4CAE0C4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18C70-59E6-4611-8202-E84EC855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593D7-C57F-4C18-BF6B-D1F6E65B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52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Bearer 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24AB9-6056-4B59-81C3-4150AD5B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Tenant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F5F5A-9E99-4D01-B6F2-48FCA3EA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Scope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3DFC0-8FCC-407C-BC05-0859CBF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Quota admission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80F2A-EEBC-4106-9314-6E97E72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Run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47875" y="2914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238625" y="2914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914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20125" y="29146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8D0BF-BD2A-418B-9449-E373EAB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142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BE7E5"/>
          </a:solidFill>
          <a:ln xmlns:a="http://schemas.openxmlformats.org/drawingml/2006/main" w="14288">
            <a:solidFill>
              <a:srgbClr val="B4454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4545"/>
                </a:solidFill>
              </a:defRPr>
            </a:pPr>
            <a:r>
              <a:rPr sz="1200" b="1">
                <a:solidFill>
                  <a:srgbClr val="B44545"/>
                </a:solidFill>
              </a:rPr>
              <a:t>401 / 403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F49B0-548A-4150-AC3E-EFEDA28C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190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429 + Retry-After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B9E78-E785-451B-BB1E-3E11243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1905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Persist cancel flag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worker observes it</a:t>
            </a:r>
          </a:p>
        </p:txBody>
      </p: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857625" y="3257550"/>
            <a:ext cx="17145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4545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7524750" y="3257550"/>
            <a:ext cx="2381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953625" y="3257550"/>
            <a:ext cx="1428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dash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714ED-3D1B-4037-ABF5-C8D5358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43A"/>
                </a:solidFill>
              </a:defRPr>
            </a:pPr>
            <a:r>
              <a:rPr sz="1425" b="1">
                <a:solidFill>
                  <a:srgbClr val="17343A"/>
                </a:solidFill>
              </a:rPr>
              <a:t>Keys, audit records and quotas are shared in Firestore across replicas.</a:t>
            </a:r>
          </a:p>
        </p:txBody>
      </p:sp>
    </p:spTree>
    <p:extLst>
      <p:ext uri="{BB962C8B-B14F-4D97-AF65-F5344CB8AC3E}">
        <p14:creationId xmlns:p14="http://schemas.microsoft.com/office/powerpoint/2010/main" val="1652133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DB538-6159-4A6C-B52C-EB43DA2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TASKS 1 TO 6 | CLEAN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D7B0E-7852-4029-B2EC-7E242A30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One local command verifies the full submission.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BCD51-46C0-4C04-828A-AD78D768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82CC-B193-47A3-8969-F9347401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45989-3944-43B0-8152-4390E326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make local-submission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D0852-8449-41C0-B503-9FC7C02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Isolated uv env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locked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504C7-52F1-4F30-AD3B-7C17F1F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Format + lint + type</a:t>
            </a:r>
          </a:p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all six test suites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6E7CA-81AB-4F77-BC4A-AC8D2FA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Tasks 1 to 3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HTTP smoke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048000" y="2162175"/>
            <a:ext cx="7620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3019425"/>
            <a:ext cx="7620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3019425"/>
            <a:ext cx="762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148B5-462F-479C-AE34-EB186B0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2286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Task 4 tables</a:t>
            </a:r>
          </a:p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optional local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4D442-1BDB-44D8-96AB-9434CA8D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2286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Task 5 Fuse.csv</a:t>
            </a:r>
          </a:p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optional local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7A2F0-B508-4855-97E6-08DEA433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2286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Task 6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no external data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21621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dash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0250" y="33528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dash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10250" y="45434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EE04D-3630-4FD9-AF94-7C44D05A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579"/>
                </a:solidFill>
              </a:defRPr>
            </a:pPr>
            <a:r>
              <a:rPr sz="1350" b="0">
                <a:solidFill>
                  <a:srgbClr val="627579"/>
                </a:solidFill>
              </a:rPr>
              <a:t>Private inputs enable the data-dependent tests; they are not copied into Git.</a:t>
            </a:r>
          </a:p>
        </p:txBody>
      </p:sp>
    </p:spTree>
    <p:extLst>
      <p:ext uri="{BB962C8B-B14F-4D97-AF65-F5344CB8AC3E}">
        <p14:creationId xmlns:p14="http://schemas.microsoft.com/office/powerpoint/2010/main" val="823034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2D51E-2F82-4574-937B-EB8E2C6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3 | GCP ASSESSMENT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927E5-383F-47AF-95CD-1E62DBA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A small, replaceable GCP assessment cell.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E2D20-2B56-4CBF-8F81-E8D5A13B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BC9BC-2E96-4BCC-A3CB-6A2C9D2F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5383-6F2F-47BA-96AD-AD126100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1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GitHub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3033A-E027-4CB4-ADDF-30C8669E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WIF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553B7-81B4-4490-87E0-DF06AA62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Artifact Registry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4D00B-F56F-4EA6-8431-6E090A94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171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Cloud Run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A15EF-46B8-48DE-93C8-C32BAB4E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Cloud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C9DC6-0002-48D2-AAE7-4E457DD1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171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Cloud Run 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015FB-69DA-4312-AAB7-8EC3B15D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6687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Firestore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32037-68DE-4DEB-9E02-1BD47FE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Secret Manager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33625" y="2428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2000250"/>
            <a:ext cx="666750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72250" y="20002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5667375" y="2333625"/>
            <a:ext cx="280987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72250" y="3667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34500" y="2000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8477250" y="2333625"/>
            <a:ext cx="214312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2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8477250" y="2333625"/>
            <a:ext cx="2143125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C96B1A"/>
            </a:solidFill>
            <a:prstDash val="dash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3667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dash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0AED2-D734-4098-990D-A0BA841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Tasks 1 to 3 only | scale to zero | max 1 each | EUR 5 alerts</a:t>
            </a:r>
          </a:p>
        </p:txBody>
      </p:sp>
    </p:spTree>
    <p:extLst>
      <p:ext uri="{BB962C8B-B14F-4D97-AF65-F5344CB8AC3E}">
        <p14:creationId xmlns:p14="http://schemas.microsoft.com/office/powerpoint/2010/main" val="863260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BBB8A-4E41-4E32-B831-4583C463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3 | PROVISIONING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4F9BF-5448-4549-A368-6CD27670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Terraform owns the first run from state to CI/CD.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6AAB1-61D7-4BF3-8A0B-20B95D65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23C4E-1FEC-431C-A289-6BA8D9C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E0755-CFA7-4093-883E-D240EBA0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571750"/>
            <a:ext cx="13811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Operator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04408-01C5-42A6-BCA6-B8BF1F4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bootstrap.sh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8DBBA-0F86-42FA-877A-714C819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1  state_bucket root</a:t>
            </a:r>
          </a:p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2 private GCS backends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A967E-BCA4-4016-958A-3B7BDDA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2  bootstrap root</a:t>
            </a:r>
          </a:p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APIs + IAM + WIF +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2F8F-3A6A-4D8D-AF3F-889BA16F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GitHub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environment +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66B9-BADB-4BE1-B7DF-EFC98273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GCP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identities + secrets +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E6098-B470-4780-9E9C-2B952216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3  deploy.yml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0975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43A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905250" y="2181225"/>
            <a:ext cx="619125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619750" y="2600325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715125" y="2181225"/>
            <a:ext cx="904875" cy="1762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715125" y="39433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715500" y="2181225"/>
            <a:ext cx="57150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715500" y="2914650"/>
            <a:ext cx="571500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1B844-35A5-48EE-957C-6708EB7B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43A"/>
                </a:solidFill>
              </a:defRPr>
            </a:pPr>
            <a:r>
              <a:rPr sz="1425" b="1">
                <a:solidFill>
                  <a:srgbClr val="17343A"/>
                </a:solidFill>
              </a:rPr>
              <a:t>Secret payloads stay out of state; cost caps are verified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6188343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B05B7-7584-4836-A8B6-44BBF3F7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TASK 3 | KEYLESS IMMUTABLE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36288-E620-43A8-9456-AE01B888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A release moves one tested artifact forward.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35B99-78B1-450F-B54D-678B21B3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07C1B-C766-4FCB-B691-46AF826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38C9B-CF2A-4876-A575-67E5C4EE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12858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4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Pushed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3952C-F4BE-455F-AE8E-BF0F4CCF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24125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Test +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735D6-42AD-4CE9-9D3A-EC26946E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Image + SBOM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C1BAB-8E69-4292-9A6C-251EBE4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Protected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C54F0-C47A-43E9-B5B0-2633890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24125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Digest +</a:t>
            </a:r>
          </a:p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D8432-0E8E-49AB-8F91-2DA21FC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24125"/>
            <a:ext cx="138112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Protected</a:t>
            </a:r>
          </a:p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879BA-3865-45C0-BEC4-92983CBB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1143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Ready</a:t>
            </a:r>
          </a:p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revisions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685925" y="2876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09950" y="2876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81600" y="2876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876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77275" y="2876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401300" y="28765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C53B9-FA4B-4F16-B020-C75D49F3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38625"/>
            <a:ext cx="2571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Short-lived OIDC credential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684B3-2E03-44DD-84A3-1B3ED25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38625"/>
            <a:ext cx="2571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Exact binary plan artifact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4F310-A2F0-4C8D-86B5-817200F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2571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A75"/>
                </a:solidFill>
              </a:defRPr>
            </a:pPr>
            <a:r>
              <a:rPr sz="1200" b="1">
                <a:solidFill>
                  <a:srgbClr val="007A75"/>
                </a:solidFill>
              </a:rPr>
              <a:t>No mutable tag fallback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719388" y="3228975"/>
            <a:ext cx="614363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dash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572250" y="3228975"/>
            <a:ext cx="13906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dash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810750" y="3228975"/>
            <a:ext cx="15049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dash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304821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8756F-C5BD-4A93-A20E-131FA753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CAPACITY | EVIDENCE AND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D31A5-C421-470D-A2CA-572280A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Measured pilot evidence is not an enterprise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32E87-47FF-44C3-938B-DF635E97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CF26-582A-418E-A57D-249DEF9D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EA457-93A4-46CC-99D9-8CDF319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75"/>
                </a:solidFill>
              </a:defRPr>
            </a:pPr>
            <a:r>
              <a:rPr sz="1500" b="1">
                <a:solidFill>
                  <a:srgbClr val="007A75"/>
                </a:solidFill>
              </a:rPr>
              <a:t>Local fake-provider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D3D16-1489-4414-81A9-3A66B4BC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52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12 submitted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D2478-C62C-4EBF-AE21-4BF4281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81250"/>
            <a:ext cx="152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8 accepted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3DD49-3673-442F-A76A-EC15CF62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52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8 drained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90750" y="2724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38625" y="2724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A75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19C99-C847-4FD2-AE55-DC50263C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p95 submit</a:t>
            </a:r>
          </a:p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116.339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248FA-3FDF-4C2F-B1C0-FFC01999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p95 first SSE</a:t>
            </a:r>
          </a:p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264.403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08D30-488C-4329-97A6-1B92958C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recovery</a:t>
            </a:r>
          </a:p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18.194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EEFE-0C52-4A8A-8DE7-1B5356AE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668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657F2-965C-4BAC-AFC0-2CE3DD08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Path to production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BACB1-E494-4B9F-8C19-6B2AF27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43A"/>
                </a:solidFill>
              </a:defRPr>
            </a:pPr>
            <a:r>
              <a:rPr sz="1350" b="1">
                <a:solidFill>
                  <a:srgbClr val="17343A"/>
                </a:solidFill>
              </a:rPr>
              <a:t>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FE08F-5193-448D-BE92-A454409A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43A"/>
                </a:solidFill>
              </a:defRPr>
            </a:pPr>
            <a:r>
              <a:rPr sz="1200" b="1">
                <a:solidFill>
                  <a:srgbClr val="17343A"/>
                </a:solidFill>
              </a:rPr>
              <a:t>Business unit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F6933-B358-4675-B765-AC6649F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910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6B1A"/>
                </a:solidFill>
              </a:defRPr>
            </a:pPr>
            <a:r>
              <a:rPr sz="1200" b="1">
                <a:solidFill>
                  <a:srgbClr val="C96B1A"/>
                </a:solidFill>
              </a:rPr>
              <a:t>Enterprise</a:t>
            </a:r>
          </a:p>
        </p:txBody>
      </p:sp>
      <p:cxnSp>
        <p:nvCxnSpPr>
          <p:cNvPr id="4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953500" y="2628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191750" y="2924175"/>
            <a:ext cx="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6B1A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EB327-A377-459D-9FFB-104F445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81375"/>
            <a:ext cx="161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579"/>
                </a:solidFill>
              </a:defRPr>
            </a:pPr>
            <a:r>
              <a:rPr sz="1275" b="0">
                <a:solidFill>
                  <a:srgbClr val="627579"/>
                </a:solidFill>
              </a:rPr>
              <a:t>Load shape</a:t>
            </a:r>
          </a:p>
          <a:p xmlns:a="http://schemas.openxmlformats.org/drawingml/2006/main">
            <a:pPr algn="ctr">
              <a:defRPr sz="1275" b="0">
                <a:solidFill>
                  <a:srgbClr val="627579"/>
                </a:solidFill>
              </a:defRPr>
            </a:pPr>
            <a:r>
              <a:rPr sz="1275" b="0">
                <a:solidFill>
                  <a:srgbClr val="627579"/>
                </a:solidFill>
              </a:rPr>
              <a:t>Residency</a:t>
            </a:r>
          </a:p>
          <a:p xmlns:a="http://schemas.openxmlformats.org/drawingml/2006/main">
            <a:pPr algn="ctr">
              <a:defRPr sz="1275" b="0">
                <a:solidFill>
                  <a:srgbClr val="627579"/>
                </a:solidFill>
              </a:defRPr>
            </a:pPr>
            <a:r>
              <a:rPr sz="1275" b="0">
                <a:solidFill>
                  <a:srgbClr val="627579"/>
                </a:solidFill>
              </a:rPr>
              <a:t>SLO and recovery</a:t>
            </a:r>
          </a:p>
          <a:p xmlns:a="http://schemas.openxmlformats.org/drawingml/2006/main">
            <a:pPr algn="ctr">
              <a:defRPr sz="1275" b="0">
                <a:solidFill>
                  <a:srgbClr val="627579"/>
                </a:solidFill>
              </a:defRPr>
            </a:pPr>
            <a:r>
              <a:rPr sz="1275" b="0">
                <a:solidFill>
                  <a:srgbClr val="627579"/>
                </a:solidFill>
              </a:rPr>
              <a:t>Cost and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2300A-6DFE-48BB-891F-11357375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38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6B1A"/>
                </a:solidFill>
              </a:defRPr>
            </a:pPr>
            <a:r>
              <a:rPr sz="1350" b="1">
                <a:solidFill>
                  <a:srgbClr val="C96B1A"/>
                </a:solidFill>
              </a:rPr>
              <a:t>20 and 100 runs/s are unmeasured.</a:t>
            </a:r>
          </a:p>
        </p:txBody>
      </p:sp>
    </p:spTree>
    <p:extLst>
      <p:ext uri="{BB962C8B-B14F-4D97-AF65-F5344CB8AC3E}">
        <p14:creationId xmlns:p14="http://schemas.microsoft.com/office/powerpoint/2010/main" val="11833789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A8E43-E1AF-4A1F-8133-0E3F10C6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75"/>
                </a:solidFill>
              </a:defRPr>
            </a:pPr>
            <a:r>
              <a:rPr sz="975" b="1">
                <a:solidFill>
                  <a:srgbClr val="007A75"/>
                </a:solidFill>
              </a:rPr>
              <a:t>REVIEWER STARTING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C4402-2031-41C4-ABAC-29540323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43A"/>
                </a:solidFill>
              </a:defRPr>
            </a:pPr>
            <a:r>
              <a:rPr sz="2850" b="1">
                <a:solidFill>
                  <a:srgbClr val="17343A"/>
                </a:solidFill>
              </a:rPr>
              <a:t>One repository. Three repeatable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310E4-7E37-4F19-BE69-431397B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0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DC6F7-0037-4C5D-86CB-64F77607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579"/>
                </a:solidFill>
              </a:defRPr>
            </a:pPr>
            <a:r>
              <a:rPr sz="900" b="1">
                <a:solidFill>
                  <a:srgbClr val="62757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A2A2A-CA45-4E20-8309-F953913B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009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A75"/>
                </a:solidFill>
              </a:defRPr>
            </a:pPr>
            <a:r>
              <a:rPr sz="1350" b="1">
                <a:solidFill>
                  <a:srgbClr val="007A75"/>
                </a:solidFill>
              </a:rPr>
              <a:t>make local-submission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96AFA-C751-43F4-AFC5-6CD5974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5ED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make local-acceptance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1EE32-2669-4873-B21C-20C5CFA8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4288">
            <a:solidFill>
              <a:srgbClr val="C96B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6B1A"/>
                </a:solidFill>
              </a:defRPr>
            </a:pPr>
            <a:r>
              <a:rPr sz="1350" b="1">
                <a:solidFill>
                  <a:srgbClr val="C96B1A"/>
                </a:solidFill>
              </a:rPr>
              <a:t>bootstrap.sh deploy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047C-F37B-4E87-977C-64ED3B8E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43A"/>
                </a:solidFill>
              </a:defRPr>
            </a:pPr>
            <a:r>
              <a:rPr sz="1500" b="1">
                <a:solidFill>
                  <a:srgbClr val="17343A"/>
                </a:solidFill>
              </a:rPr>
              <a:t>All six tasks</a:t>
            </a:r>
          </a:p>
          <a:p xmlns:a="http://schemas.openxmlformats.org/drawingml/2006/main">
            <a:pPr algn="ctr">
              <a:defRPr sz="1500" b="1">
                <a:solidFill>
                  <a:srgbClr val="17343A"/>
                </a:solidFill>
              </a:defRPr>
            </a:pPr>
            <a:r>
              <a:rPr sz="1500" b="1">
                <a:solidFill>
                  <a:srgbClr val="17343A"/>
                </a:solidFill>
              </a:rPr>
              <a:t>clean-machine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A2DF9-C0B5-44B9-A075-63BE3EF6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43A"/>
                </a:solidFill>
              </a:defRPr>
            </a:pPr>
            <a:r>
              <a:rPr sz="1500" b="1">
                <a:solidFill>
                  <a:srgbClr val="17343A"/>
                </a:solidFill>
              </a:rPr>
              <a:t>Tasks 1 to 3</a:t>
            </a:r>
          </a:p>
          <a:p xmlns:a="http://schemas.openxmlformats.org/drawingml/2006/main">
            <a:pPr algn="ctr">
              <a:defRPr sz="1500" b="1">
                <a:solidFill>
                  <a:srgbClr val="17343A"/>
                </a:solidFill>
              </a:defRPr>
            </a:pPr>
            <a:r>
              <a:rPr sz="1500" b="1">
                <a:solidFill>
                  <a:srgbClr val="17343A"/>
                </a:solidFill>
              </a:rPr>
              <a:t>running HTTP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AB9FD-1E0F-4DF6-95DF-3C4EA1C7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43A"/>
                </a:solidFill>
              </a:defRPr>
            </a:pPr>
            <a:r>
              <a:rPr sz="1500" b="1">
                <a:solidFill>
                  <a:srgbClr val="17343A"/>
                </a:solidFill>
              </a:rPr>
              <a:t>Tasks 1 to 3</a:t>
            </a:r>
          </a:p>
          <a:p xmlns:a="http://schemas.openxmlformats.org/drawingml/2006/main">
            <a:pPr algn="ctr">
              <a:defRPr sz="1500" b="1">
                <a:solidFill>
                  <a:srgbClr val="17343A"/>
                </a:solidFill>
              </a:defRPr>
            </a:pPr>
            <a:r>
              <a:rPr sz="1500" b="1">
                <a:solidFill>
                  <a:srgbClr val="17343A"/>
                </a:solidFill>
              </a:rPr>
              <a:t>Terraform + CI/CD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E8D09-CA57-44CE-80B1-473BED4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03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0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1A29A-40EA-40E2-BEE6-EE773169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03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0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598FE-4979-4876-8687-5B01B40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482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43A"/>
                </a:solidFill>
              </a:defRPr>
            </a:pPr>
            <a:r>
              <a:rPr sz="1650" b="1">
                <a:solidFill>
                  <a:srgbClr val="17343A"/>
                </a:solidFill>
              </a:rPr>
              <a:t>Tasks 4 to 6 stay local. The LLM engine stays external.</a:t>
            </a:r>
          </a:p>
        </p:txBody>
      </p:sp>
    </p:spTree>
    <p:extLst>
      <p:ext uri="{BB962C8B-B14F-4D97-AF65-F5344CB8AC3E}">
        <p14:creationId xmlns:p14="http://schemas.microsoft.com/office/powerpoint/2010/main" val="309986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2026-08-29T22:47:20.0980000Z</dcterms:created>
  <dcterms:modified xsi:type="dcterms:W3CDTF">2026-08-29T22:47:20.0980000Z</dcterms:modified>
</coreProperties>
</file>