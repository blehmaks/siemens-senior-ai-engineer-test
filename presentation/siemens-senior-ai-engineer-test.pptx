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8d0e0fd8314b68" /><Relationship Type="http://schemas.openxmlformats.org/officeDocument/2006/relationships/extended-properties" Target="/docProps/app.xml" Id="Re6af9b55e123480f" /><Relationship Type="http://schemas.openxmlformats.org/officeDocument/2006/relationships/officeDocument" Target="/ppt/presentation.xml" Id="R61adab3492684a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022ed30ebe43d6"/>
  </p:sldMasterIdLst>
  <p:notesMasterIdLst>
    <p:notesMasterId xmlns:r="http://schemas.openxmlformats.org/officeDocument/2006/relationships" r:id="R7af35c60c6394900"/>
  </p:notesMasterIdLst>
  <p:sldIdLst>
    <p:sldId xmlns:r="http://schemas.openxmlformats.org/officeDocument/2006/relationships" id="256" r:id="R51e1b3ea0f904cb2"/>
    <p:sldId xmlns:r="http://schemas.openxmlformats.org/officeDocument/2006/relationships" id="257" r:id="R6c403a3d21f84ca0"/>
    <p:sldId xmlns:r="http://schemas.openxmlformats.org/officeDocument/2006/relationships" id="258" r:id="R0588af88cc054ed9"/>
    <p:sldId xmlns:r="http://schemas.openxmlformats.org/officeDocument/2006/relationships" id="259" r:id="R00e66864cf3c499d"/>
    <p:sldId xmlns:r="http://schemas.openxmlformats.org/officeDocument/2006/relationships" id="260" r:id="R9f06c31f79764287"/>
    <p:sldId xmlns:r="http://schemas.openxmlformats.org/officeDocument/2006/relationships" id="261" r:id="R2b84b73040894f5d"/>
    <p:sldId xmlns:r="http://schemas.openxmlformats.org/officeDocument/2006/relationships" id="262" r:id="R97222b0b2e0d4d26"/>
    <p:sldId xmlns:r="http://schemas.openxmlformats.org/officeDocument/2006/relationships" id="263" r:id="R5fc60d8726214c4a"/>
    <p:sldId xmlns:r="http://schemas.openxmlformats.org/officeDocument/2006/relationships" id="264" r:id="R0f97099d88504068"/>
    <p:sldId xmlns:r="http://schemas.openxmlformats.org/officeDocument/2006/relationships" id="265" r:id="R1e8e217b042f40a8"/>
    <p:sldId xmlns:r="http://schemas.openxmlformats.org/officeDocument/2006/relationships" id="266" r:id="R43f6431847af439e"/>
    <p:sldId xmlns:r="http://schemas.openxmlformats.org/officeDocument/2006/relationships" id="267" r:id="R0ece4a0b61ec4c5d"/>
    <p:sldId xmlns:r="http://schemas.openxmlformats.org/officeDocument/2006/relationships" id="268" r:id="Rdbb558098a5b49fc"/>
    <p:sldId xmlns:r="http://schemas.openxmlformats.org/officeDocument/2006/relationships" id="269" r:id="R48579265a73e4d79"/>
    <p:sldId xmlns:r="http://schemas.openxmlformats.org/officeDocument/2006/relationships" id="270" r:id="R5d0462c5b4dc4668"/>
    <p:sldId xmlns:r="http://schemas.openxmlformats.org/officeDocument/2006/relationships" id="271" r:id="Rc332a6cf7a6046e5"/>
    <p:sldId xmlns:r="http://schemas.openxmlformats.org/officeDocument/2006/relationships" id="272" r:id="Rfcc65d950bbf4a57"/>
    <p:sldId xmlns:r="http://schemas.openxmlformats.org/officeDocument/2006/relationships" id="273" r:id="R7ce1c47816ad42e0"/>
    <p:sldId xmlns:r="http://schemas.openxmlformats.org/officeDocument/2006/relationships" id="274" r:id="Re806ebfee6e34e0f"/>
    <p:sldId xmlns:r="http://schemas.openxmlformats.org/officeDocument/2006/relationships" id="275" r:id="R26342296acac404f"/>
    <p:sldId xmlns:r="http://schemas.openxmlformats.org/officeDocument/2006/relationships" id="276" r:id="R83536110b63d4945"/>
    <p:sldId xmlns:r="http://schemas.openxmlformats.org/officeDocument/2006/relationships" id="277" r:id="R0b5aeef7f3ff4df2"/>
    <p:sldId xmlns:r="http://schemas.openxmlformats.org/officeDocument/2006/relationships" id="278" r:id="R8fc8de8dcaa844a4"/>
    <p:sldId xmlns:r="http://schemas.openxmlformats.org/officeDocument/2006/relationships" id="279" r:id="R6ba7b265730244c3"/>
    <p:sldId xmlns:r="http://schemas.openxmlformats.org/officeDocument/2006/relationships" id="280" r:id="R0996541d46ab4762"/>
    <p:sldId xmlns:r="http://schemas.openxmlformats.org/officeDocument/2006/relationships" id="281" r:id="R2c6cb92e32ca43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16b233c7974ffe" /><Relationship Type="http://schemas.openxmlformats.org/officeDocument/2006/relationships/slideMaster" Target="/ppt/slideMasters/slideMaster1.xml" Id="Rb6022ed30ebe43d6" /><Relationship Type="http://schemas.openxmlformats.org/officeDocument/2006/relationships/notesMaster" Target="/ppt/notesMasters/notesMaster1.xml" Id="R7af35c60c6394900" /><Relationship Type="http://schemas.openxmlformats.org/officeDocument/2006/relationships/presProps" Target="/ppt/presProps.xml" Id="R373fcb1d98434bde" /><Relationship Type="http://schemas.openxmlformats.org/officeDocument/2006/relationships/tableStyles" Target="/ppt/tableStyles.xml" Id="Rd7986b0fe652408b" /><Relationship Type="http://schemas.openxmlformats.org/officeDocument/2006/relationships/slide" Target="/ppt/slides/slide1.xml" Id="R51e1b3ea0f904cb2" /><Relationship Type="http://schemas.openxmlformats.org/officeDocument/2006/relationships/slide" Target="/ppt/slides/slide2.xml" Id="R6c403a3d21f84ca0" /><Relationship Type="http://schemas.openxmlformats.org/officeDocument/2006/relationships/slide" Target="/ppt/slides/slide3.xml" Id="R0588af88cc054ed9" /><Relationship Type="http://schemas.openxmlformats.org/officeDocument/2006/relationships/slide" Target="/ppt/slides/slide4.xml" Id="R00e66864cf3c499d" /><Relationship Type="http://schemas.openxmlformats.org/officeDocument/2006/relationships/slide" Target="/ppt/slides/slide5.xml" Id="R9f06c31f79764287" /><Relationship Type="http://schemas.openxmlformats.org/officeDocument/2006/relationships/slide" Target="/ppt/slides/slide6.xml" Id="R2b84b73040894f5d" /><Relationship Type="http://schemas.openxmlformats.org/officeDocument/2006/relationships/slide" Target="/ppt/slides/slide7.xml" Id="R97222b0b2e0d4d26" /><Relationship Type="http://schemas.openxmlformats.org/officeDocument/2006/relationships/slide" Target="/ppt/slides/slide8.xml" Id="R5fc60d8726214c4a" /><Relationship Type="http://schemas.openxmlformats.org/officeDocument/2006/relationships/slide" Target="/ppt/slides/slide9.xml" Id="R0f97099d88504068" /><Relationship Type="http://schemas.openxmlformats.org/officeDocument/2006/relationships/slide" Target="/ppt/slides/slide10.xml" Id="R1e8e217b042f40a8" /><Relationship Type="http://schemas.openxmlformats.org/officeDocument/2006/relationships/slide" Target="/ppt/slides/slide11.xml" Id="R43f6431847af439e" /><Relationship Type="http://schemas.openxmlformats.org/officeDocument/2006/relationships/slide" Target="/ppt/slides/slide12.xml" Id="R0ece4a0b61ec4c5d" /><Relationship Type="http://schemas.openxmlformats.org/officeDocument/2006/relationships/slide" Target="/ppt/slides/slide13.xml" Id="Rdbb558098a5b49fc" /><Relationship Type="http://schemas.openxmlformats.org/officeDocument/2006/relationships/slide" Target="/ppt/slides/slide14.xml" Id="R48579265a73e4d79" /><Relationship Type="http://schemas.openxmlformats.org/officeDocument/2006/relationships/slide" Target="/ppt/slides/slide15.xml" Id="R5d0462c5b4dc4668" /><Relationship Type="http://schemas.openxmlformats.org/officeDocument/2006/relationships/slide" Target="/ppt/slides/slide16.xml" Id="Rc332a6cf7a6046e5" /><Relationship Type="http://schemas.openxmlformats.org/officeDocument/2006/relationships/slide" Target="/ppt/slides/slide17.xml" Id="Rfcc65d950bbf4a57" /><Relationship Type="http://schemas.openxmlformats.org/officeDocument/2006/relationships/slide" Target="/ppt/slides/slide18.xml" Id="R7ce1c47816ad42e0" /><Relationship Type="http://schemas.openxmlformats.org/officeDocument/2006/relationships/slide" Target="/ppt/slides/slide19.xml" Id="Re806ebfee6e34e0f" /><Relationship Type="http://schemas.openxmlformats.org/officeDocument/2006/relationships/slide" Target="/ppt/slides/slide20.xml" Id="R26342296acac404f" /><Relationship Type="http://schemas.openxmlformats.org/officeDocument/2006/relationships/slide" Target="/ppt/slides/slide21.xml" Id="R83536110b63d4945" /><Relationship Type="http://schemas.openxmlformats.org/officeDocument/2006/relationships/slide" Target="/ppt/slides/slide22.xml" Id="R0b5aeef7f3ff4df2" /><Relationship Type="http://schemas.openxmlformats.org/officeDocument/2006/relationships/slide" Target="/ppt/slides/slide23.xml" Id="R8fc8de8dcaa844a4" /><Relationship Type="http://schemas.openxmlformats.org/officeDocument/2006/relationships/slide" Target="/ppt/slides/slide24.xml" Id="R6ba7b265730244c3" /><Relationship Type="http://schemas.openxmlformats.org/officeDocument/2006/relationships/slide" Target="/ppt/slides/slide25.xml" Id="R0996541d46ab4762" /><Relationship Type="http://schemas.openxmlformats.org/officeDocument/2006/relationships/slide" Target="/ppt/slides/slide26.xml" Id="R2c6cb92e32ca43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f7e53c12934e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fb343c06c64270" /><Relationship Type="http://schemas.openxmlformats.org/officeDocument/2006/relationships/notesMaster" Target="/ppt/notesMasters/notesMaster1.xml" Id="R726abe3bb77741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222a1e333248e5" /><Relationship Type="http://schemas.openxmlformats.org/officeDocument/2006/relationships/notesMaster" Target="/ppt/notesMasters/notesMaster1.xml" Id="R3d78259c401e45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4f600d24c84717" /><Relationship Type="http://schemas.openxmlformats.org/officeDocument/2006/relationships/notesMaster" Target="/ppt/notesMasters/notesMaster1.xml" Id="Rc5c17b6278f146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40e5e88ee14428" /><Relationship Type="http://schemas.openxmlformats.org/officeDocument/2006/relationships/notesMaster" Target="/ppt/notesMasters/notesMaster1.xml" Id="R7aabab47b25f45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efd68b82b6478a" /><Relationship Type="http://schemas.openxmlformats.org/officeDocument/2006/relationships/notesMaster" Target="/ppt/notesMasters/notesMaster1.xml" Id="R9cdf3bf427724b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c0c31651e34b19" /><Relationship Type="http://schemas.openxmlformats.org/officeDocument/2006/relationships/notesMaster" Target="/ppt/notesMasters/notesMaster1.xml" Id="Rb3934de8861540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3679a3e0dc45a3" /><Relationship Type="http://schemas.openxmlformats.org/officeDocument/2006/relationships/notesMaster" Target="/ppt/notesMasters/notesMaster1.xml" Id="Rcc95f361786b48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1c38619456418f" /><Relationship Type="http://schemas.openxmlformats.org/officeDocument/2006/relationships/notesMaster" Target="/ppt/notesMasters/notesMaster1.xml" Id="R5da130bbe91248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af499ed24f447b" /><Relationship Type="http://schemas.openxmlformats.org/officeDocument/2006/relationships/notesMaster" Target="/ppt/notesMasters/notesMaster1.xml" Id="Rd728ee8084f84e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b92b5559564cce" /><Relationship Type="http://schemas.openxmlformats.org/officeDocument/2006/relationships/notesMaster" Target="/ppt/notesMasters/notesMaster1.xml" Id="R223c6d824d314f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d22156ceb340ea" /><Relationship Type="http://schemas.openxmlformats.org/officeDocument/2006/relationships/notesMaster" Target="/ppt/notesMasters/notesMaster1.xml" Id="R23614f6fe11847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94687938954786" /><Relationship Type="http://schemas.openxmlformats.org/officeDocument/2006/relationships/notesMaster" Target="/ppt/notesMasters/notesMaster1.xml" Id="R48fddc6a342f4c6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2574e6850e4b85" /><Relationship Type="http://schemas.openxmlformats.org/officeDocument/2006/relationships/notesMaster" Target="/ppt/notesMasters/notesMaster1.xml" Id="R8c866137ec624e0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13fa4b50bfd427f" /><Relationship Type="http://schemas.openxmlformats.org/officeDocument/2006/relationships/notesMaster" Target="/ppt/notesMasters/notesMaster1.xml" Id="R93413ffa00f64c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72efce8da4457f" /><Relationship Type="http://schemas.openxmlformats.org/officeDocument/2006/relationships/notesMaster" Target="/ppt/notesMasters/notesMaster1.xml" Id="R58d99b475ba94e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dc3cf4fd8144f6" /><Relationship Type="http://schemas.openxmlformats.org/officeDocument/2006/relationships/notesMaster" Target="/ppt/notesMasters/notesMaster1.xml" Id="R6d926c0f9f5343b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b6f41802199405b" /><Relationship Type="http://schemas.openxmlformats.org/officeDocument/2006/relationships/notesMaster" Target="/ppt/notesMasters/notesMaster1.xml" Id="R5d2b4bd0b0ad423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9e9b986295547f4" /><Relationship Type="http://schemas.openxmlformats.org/officeDocument/2006/relationships/notesMaster" Target="/ppt/notesMasters/notesMaster1.xml" Id="R4632c613c579472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54bf725a37440e" /><Relationship Type="http://schemas.openxmlformats.org/officeDocument/2006/relationships/notesMaster" Target="/ppt/notesMasters/notesMaster1.xml" Id="R3b10ef4a36e24c1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c03a19f4b174609" /><Relationship Type="http://schemas.openxmlformats.org/officeDocument/2006/relationships/notesMaster" Target="/ppt/notesMasters/notesMaster1.xml" Id="R3a70b485bcc144e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b62a6ea56e74c15" /><Relationship Type="http://schemas.openxmlformats.org/officeDocument/2006/relationships/notesMaster" Target="/ppt/notesMasters/notesMaster1.xml" Id="R13db83d9230d49e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e80c840bfd849a6" /><Relationship Type="http://schemas.openxmlformats.org/officeDocument/2006/relationships/notesMaster" Target="/ppt/notesMasters/notesMaster1.xml" Id="Rd85d5f6eb6e9416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5404f9c092d45bf" /><Relationship Type="http://schemas.openxmlformats.org/officeDocument/2006/relationships/notesMaster" Target="/ppt/notesMasters/notesMaster1.xml" Id="Rd30187a699354c4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05fa0af32de4952" /><Relationship Type="http://schemas.openxmlformats.org/officeDocument/2006/relationships/notesMaster" Target="/ppt/notesMasters/notesMaster1.xml" Id="R1ef389656459424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52c114d2e24e1e" /><Relationship Type="http://schemas.openxmlformats.org/officeDocument/2006/relationships/notesMaster" Target="/ppt/notesMasters/notesMaster1.xml" Id="R606930761f4d467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f343707b9e485e" /><Relationship Type="http://schemas.openxmlformats.org/officeDocument/2006/relationships/notesMaster" Target="/ppt/notesMasters/notesMaster1.xml" Id="Ra0200a872ab34c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thesis: the submission is not six isolated notebooks. Each task has an explicit operating boundary and a reproducible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docs/release-and-operations.md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packaging boundary before the technical detail. The cloud service contains only the agent and its supporting control plane.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docs/task-scope-and-data-policy.md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separates online serving, evidence generation, delivery controls and offline analytical tasks. That makes scaling decisions explicit.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task-01-ai-agent/README.md</a:t>
            </a:r>
          </a:p>
          <a:p xmlns:a="http://schemas.openxmlformats.org/drawingml/2006/main">
            <a:r>
              <a:t>- task-02-agent-api/README.md</a:t>
            </a:r>
          </a:p>
          <a:p xmlns:a="http://schemas.openxmlformats.org/drawingml/2006/main">
            <a:r>
              <a:t>- task-03-deployment-strategy/README.md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design choice is selective routing. It reduces unnecessary model calls while preserving a full research path for evidence-dependent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task-01-ai-agent/src/research_agent</a:t>
            </a:r>
          </a:p>
          <a:p xmlns:a="http://schemas.openxmlformats.org/drawingml/2006/main">
            <a:r>
              <a:t>- task-01-ai-agent/README.md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agent never treats model prose as evidence. The final gate checks whether the answer is actually supported by retrieved passages.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task-01-ai-agent/src/research_agent</a:t>
            </a:r>
          </a:p>
          <a:p xmlns:a="http://schemas.openxmlformats.org/drawingml/2006/main">
            <a:r>
              <a:t>- task-01-ai-agent/tests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operational contracts, not tuning hints. They bound latency and cost and give the API a predictable failure mode.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task-01-ai-agent/src/research_agent/config.py</a:t>
            </a:r>
          </a:p>
          <a:p xmlns:a="http://schemas.openxmlformats.org/drawingml/2006/main">
            <a:r>
              <a:t>- task-01-ai-agent/README.md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API is intentionally asynchronous. That decouples HTTP latency from research latency and gives cancellation and retry semantics a durable home.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task-02-agent-api/app</a:t>
            </a:r>
          </a:p>
          <a:p xmlns:a="http://schemas.openxmlformats.org/drawingml/2006/main">
            <a:r>
              <a:t>- task-02-agent-api/openapi.yaml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lifecycle is the concurrency contract. Leases prevent duplicate execution while allowing recovery after a worker disappears.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task-02-agent-api/app</a:t>
            </a:r>
          </a:p>
          <a:p xmlns:a="http://schemas.openxmlformats.org/drawingml/2006/main">
            <a:r>
              <a:t>- task-02-agent-api/tests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Tenant isolation is not a middleware-only concern. The tenant identifier is carried into repository queries and all lifecycle operations.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task-02-agent-api/app/security.py</a:t>
            </a:r>
          </a:p>
          <a:p xmlns:a="http://schemas.openxmlformats.org/drawingml/2006/main">
            <a:r>
              <a:t>- task-02-agent-api/tests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topology targets a low-cost assessment while preserving production separation between API, worker, queue and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task-03-deployment-strategy/terraform/foundation</a:t>
            </a:r>
          </a:p>
          <a:p xmlns:a="http://schemas.openxmlformats.org/drawingml/2006/main">
            <a:r>
              <a:t>- task-03-deployment-strategy/README.md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CLI is only a verification aid. The documented operator path starts with the bootstrap script and continues through Terraform in GitHub 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task-03-deployment-strategy/scripts/bootstrap.sh</a:t>
            </a:r>
          </a:p>
          <a:p xmlns:a="http://schemas.openxmlformats.org/drawingml/2006/main">
            <a:r>
              <a:t>- docs/release-and-operations.md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tested tarball becomes the promoted digest. The protected plan is bound to both commit and image so apply cannot silently switch inputs.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.github/workflows/deploy.yml</a:t>
            </a:r>
          </a:p>
          <a:p xmlns:a="http://schemas.openxmlformats.org/drawingml/2006/main">
            <a:r>
              <a:t>- task-03-deployment-strategy/docs/iam-and-resources.md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deliberate test assumption, not the production recommendation. In production, inference gets its own scaling, security and budget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task-03-deployment-strategy/docs/production-architecture.md</a:t>
            </a:r>
          </a:p>
          <a:p xmlns:a="http://schemas.openxmlformats.org/drawingml/2006/main">
            <a:r>
              <a:t>- task-03-deployment-strategy/terraform/foundation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modeling story begins with duplicates, imbalance and missingness. Those facts determine the split strategy and the metric.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task-04-ml-failure-prediction/README.md</a:t>
            </a:r>
          </a:p>
          <a:p xmlns:a="http://schemas.openxmlformats.org/drawingml/2006/main">
            <a:r>
              <a:t>- task-04-ml-failure-prediction/notebooks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pipeline uses weighted logistic regression for a transparent baseline. PR-AUC chooses the model, and out-of-fold predictions choose the operating threshold.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task-04-ml-failure-prediction/src</a:t>
            </a:r>
          </a:p>
          <a:p xmlns:a="http://schemas.openxmlformats.org/drawingml/2006/main">
            <a:r>
              <a:t>- task-04-ml-failure-prediction/README.md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lead with accuracy. The holdout reaches high recall but pays for it with moderate precision, which is appropriate only if missed failures are expensive.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task-04-ml-failure-prediction/README.md</a:t>
            </a:r>
          </a:p>
          <a:p xmlns:a="http://schemas.openxmlformats.org/drawingml/2006/main">
            <a:r>
              <a:t>- task-04-ml-failure-prediction/artifacts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boundary is important. Similar descriptions support retrieval, but they cannot prove that a spare part fits a machine.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task-05-spare-parts-recommendation/README.md</a:t>
            </a:r>
          </a:p>
          <a:p xmlns:a="http://schemas.openxmlformats.org/drawingml/2006/main">
            <a:r>
              <a:t>- task-05-spare-parts-recommendation/src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hybrid representation balances semantic words with robust character patterns. Empty queries abstain, and ties remain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task-05-spare-parts-recommendation/src</a:t>
            </a:r>
          </a:p>
          <a:p xmlns:a="http://schemas.openxmlformats.org/drawingml/2006/main">
            <a:r>
              <a:t>- task-05-spare-parts-recommendation/tests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ranking metrics are strong on judged queries, while full-catalog coverage exposes the data ceiling. This is where better source data matters more than a larger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task-05-spare-parts-recommendation/README.md</a:t>
            </a:r>
          </a:p>
          <a:p xmlns:a="http://schemas.openxmlformats.org/drawingml/2006/main">
            <a:r>
              <a:t>- task-05-spare-parts-recommendation/artifacts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encoder behaves like a real estimator: fit learns the vocabulary and threshold, transform applies that frozen state to new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task-06-categorical-encoding/README.md</a:t>
            </a:r>
          </a:p>
          <a:p xmlns:a="http://schemas.openxmlformats.org/drawingml/2006/main">
            <a:r>
              <a:t>- task-06-categorical-encoding/src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output contract is stable across training and inference. The transformer never learns from the transform batch.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task-06-categorical-encoding/src</a:t>
            </a:r>
          </a:p>
          <a:p xmlns:a="http://schemas.openxmlformats.org/drawingml/2006/main">
            <a:r>
              <a:t>- task-06-categorical-encoding/tests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simple frequency encoder is deliberate. More expressive encodings are valid next steps only if they preserve group-aware, train-only estimation.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task-06-categorical-encoding/README.md</a:t>
            </a:r>
          </a:p>
          <a:p xmlns:a="http://schemas.openxmlformats.org/drawingml/2006/main">
            <a:r>
              <a:t>- task-06-categorical-encoding/tests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Make target is the shortest reproducibility proof. It installs from the lock, runs all task tests and exercises the API over HTTP.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Makefile</a:t>
            </a:r>
          </a:p>
          <a:p xmlns:a="http://schemas.openxmlformats.org/drawingml/2006/main">
            <a:r>
              <a:t>- docs/local-deployment.md</a:t>
            </a:r>
          </a:p>
          <a:p xmlns:a="http://schemas.openxmlformats.org/drawingml/2006/main">
            <a:r>
              <a:t>- .gitignore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numbers come from a fresh clone at the release candidate revision. The protected cloud workflow rebuilds and verifies the same commit.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Makefile</a:t>
            </a:r>
          </a:p>
          <a:p xmlns:a="http://schemas.openxmlformats.org/drawingml/2006/main">
            <a:r>
              <a:t>- .github/workflows/deploy.yml</a:t>
            </a:r>
          </a:p>
          <a:p xmlns:a="http://schemas.openxmlformats.org/drawingml/2006/main">
            <a:r>
              <a:t>- docs/release-and-operations.md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 about what is production-minded and what still needs production traffic and governance. The seams are already separated so those additions do not require a rewrite.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task-03-deployment-strategy/docs/production-architecture.md</a:t>
            </a:r>
          </a:p>
          <a:p xmlns:a="http://schemas.openxmlformats.org/drawingml/2006/main">
            <a:r>
              <a:t>- docs/release-and-operations.md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operating principle: predictable limits make both AI behavior and infrastructure behavior easier to trust.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docs/release-and-operations.md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c13538940249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eba34b5767492b" /><Relationship Type="http://schemas.openxmlformats.org/officeDocument/2006/relationships/slideLayout" Target="/ppt/slideLayouts/slideLayout1.xml" Id="Rdf82eec056b941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82eec056b941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892f69f534087" /><Relationship Type="http://schemas.openxmlformats.org/officeDocument/2006/relationships/notesSlide" Target="/ppt/notesSlides/notesSlide1.xml" Id="R5cdd3482449445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58c88cf7945ae" /><Relationship Type="http://schemas.openxmlformats.org/officeDocument/2006/relationships/notesSlide" Target="/ppt/notesSlides/notesSlide2.xml" Id="Rc56502b582ee47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6c3d96c9f451b" /><Relationship Type="http://schemas.openxmlformats.org/officeDocument/2006/relationships/notesSlide" Target="/ppt/notesSlides/notesSlide3.xml" Id="R9d7cd4d5ed0241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ae1244adb40aa" /><Relationship Type="http://schemas.openxmlformats.org/officeDocument/2006/relationships/notesSlide" Target="/ppt/notesSlides/notesSlide4.xml" Id="R7a2def1042c940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e345652fa449c" /><Relationship Type="http://schemas.openxmlformats.org/officeDocument/2006/relationships/notesSlide" Target="/ppt/notesSlides/notesSlide5.xml" Id="Rccfd4d7380fd44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3c4cd5e5c496a" /><Relationship Type="http://schemas.openxmlformats.org/officeDocument/2006/relationships/notesSlide" Target="/ppt/notesSlides/notesSlide6.xml" Id="R41b17d3a04fb47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3b7298e354d9b" /><Relationship Type="http://schemas.openxmlformats.org/officeDocument/2006/relationships/notesSlide" Target="/ppt/notesSlides/notesSlide7.xml" Id="Rf62dbfd8218a47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eb9707a914e0d" /><Relationship Type="http://schemas.openxmlformats.org/officeDocument/2006/relationships/notesSlide" Target="/ppt/notesSlides/notesSlide8.xml" Id="R398c58a39c9448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b9a637e4346e0" /><Relationship Type="http://schemas.openxmlformats.org/officeDocument/2006/relationships/notesSlide" Target="/ppt/notesSlides/notesSlide9.xml" Id="R6b1053fdfa7640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e88de521d41bf" /><Relationship Type="http://schemas.openxmlformats.org/officeDocument/2006/relationships/notesSlide" Target="/ppt/notesSlides/notesSlide10.xml" Id="Rb0e4a96d9f8e4a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625bcc42f44e1" /><Relationship Type="http://schemas.openxmlformats.org/officeDocument/2006/relationships/notesSlide" Target="/ppt/notesSlides/notesSlide11.xml" Id="R6b74f2b730ef4c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99775aedb4c14" /><Relationship Type="http://schemas.openxmlformats.org/officeDocument/2006/relationships/notesSlide" Target="/ppt/notesSlides/notesSlide12.xml" Id="R6d6aa07c3a9445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181fcb33546dd" /><Relationship Type="http://schemas.openxmlformats.org/officeDocument/2006/relationships/notesSlide" Target="/ppt/notesSlides/notesSlide13.xml" Id="Rc97e475b09254dd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5a44852a24116" /><Relationship Type="http://schemas.openxmlformats.org/officeDocument/2006/relationships/notesSlide" Target="/ppt/notesSlides/notesSlide14.xml" Id="Re961d2c2e91240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bf387058a46f8" /><Relationship Type="http://schemas.openxmlformats.org/officeDocument/2006/relationships/notesSlide" Target="/ppt/notesSlides/notesSlide15.xml" Id="R8db3c97cffc84d0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19d8414154aaa" /><Relationship Type="http://schemas.openxmlformats.org/officeDocument/2006/relationships/notesSlide" Target="/ppt/notesSlides/notesSlide16.xml" Id="R8aca5b92a0a849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8cc116ab340bf" /><Relationship Type="http://schemas.openxmlformats.org/officeDocument/2006/relationships/notesSlide" Target="/ppt/notesSlides/notesSlide17.xml" Id="Rb455614239ab4bc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4a5abd8234b86" /><Relationship Type="http://schemas.openxmlformats.org/officeDocument/2006/relationships/notesSlide" Target="/ppt/notesSlides/notesSlide18.xml" Id="R022a1a513e0a42d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70a05bacd41fd" /><Relationship Type="http://schemas.openxmlformats.org/officeDocument/2006/relationships/notesSlide" Target="/ppt/notesSlides/notesSlide19.xml" Id="R1f2d6163d9fe42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fcbb582714f70" /><Relationship Type="http://schemas.openxmlformats.org/officeDocument/2006/relationships/notesSlide" Target="/ppt/notesSlides/notesSlide20.xml" Id="R2365f4fddb0d4e0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cbfefb13b41a3" /><Relationship Type="http://schemas.openxmlformats.org/officeDocument/2006/relationships/notesSlide" Target="/ppt/notesSlides/notesSlide21.xml" Id="R2b9950ef237d4d8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10770b94742b1" /><Relationship Type="http://schemas.openxmlformats.org/officeDocument/2006/relationships/notesSlide" Target="/ppt/notesSlides/notesSlide22.xml" Id="Rd68b81f427434ed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95fd367014d49" /><Relationship Type="http://schemas.openxmlformats.org/officeDocument/2006/relationships/notesSlide" Target="/ppt/notesSlides/notesSlide23.xml" Id="R282af9187f8b45b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f35ed32bc4795" /><Relationship Type="http://schemas.openxmlformats.org/officeDocument/2006/relationships/notesSlide" Target="/ppt/notesSlides/notesSlide24.xml" Id="R70e3336cd877406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d0358ed71499d" /><Relationship Type="http://schemas.openxmlformats.org/officeDocument/2006/relationships/notesSlide" Target="/ppt/notesSlides/notesSlide25.xml" Id="Rc058cb4bcd0d44c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89ca597364a56" /><Relationship Type="http://schemas.openxmlformats.org/officeDocument/2006/relationships/notesSlide" Target="/ppt/notesSlides/notesSlide26.xml" Id="R94cfa9b2356846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AA6D0-5243-4B9C-A453-543193CA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85725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25">
            <a:solidFill>
              <a:srgbClr val="009C9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AD69B-FF37-41AD-AB12-0F02114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90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SIEMENS SENIOR AI 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11B7D-9581-4A79-98B6-05ECED55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62100"/>
            <a:ext cx="685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Six tasks. One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production-minded system.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F1AEB-FE76-4D3C-98C8-3DE92BEB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CBC8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B9CBC8"/>
                </a:solidFill>
                <a:latin typeface="Calibri"/>
                <a:ea typeface="Calibri"/>
                <a:cs typeface="Calibri"/>
              </a:rPr>
              <a:t>Evidence-first research, a durable API, repeatable cloud delivery and applied ML.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E488F-891A-40D2-9CDA-5F678F9A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466850"/>
            <a:ext cx="209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CEFED"/>
          </a:solidFill>
          <a:ln xmlns:a="http://schemas.openxmlformats.org/drawingml/2006/main" w="14288">
            <a:solidFill>
              <a:srgbClr val="009C9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REASON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B78E-21C9-4CE3-9CAC-EE3555A7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95600"/>
            <a:ext cx="209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5ED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SERVE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D5D10-4AA7-4C30-A51D-386B2BE6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24350"/>
            <a:ext cx="209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0DE"/>
          </a:solidFill>
          <a:ln xmlns:a="http://schemas.openxmlformats.org/drawingml/2006/main" w="14288">
            <a:solidFill>
              <a:srgbClr val="C96B1A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DEPLOY</a:t>
            </a:r>
          </a:p>
        </p:txBody>
      </p:sp>
      <p:cxnSp>
        <p:nvCxnSpPr>
          <p:cNvPr id="36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696450" y="213360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EC5C1"/>
            </a:solidFill>
            <a:prstDash val="solid"/>
            <a:tailEnd type="arrow" w="med" len="med"/>
          </a:ln>
        </p:spPr>
      </p:cxnSp>
      <p:cxnSp>
        <p:nvCxnSpPr>
          <p:cNvPr id="37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696450" y="356235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AA8E8"/>
            </a:solidFill>
            <a:prstDash val="solid"/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7162A-06F7-4DAF-99D0-994FBBA9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055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8CA3A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8CA3A0"/>
                </a:solidFill>
                <a:latin typeface="Calibri"/>
                <a:ea typeface="Calibri"/>
                <a:cs typeface="Calibri"/>
              </a:rPr>
              <a:t>Technical conference deck | August 2026</a:t>
            </a:r>
          </a:p>
        </p:txBody>
      </p:sp>
    </p:spTree>
    <p:extLst>
      <p:ext uri="{BB962C8B-B14F-4D97-AF65-F5344CB8AC3E}">
        <p14:creationId xmlns:p14="http://schemas.microsoft.com/office/powerpoint/2010/main" val="8355227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CF6DFD-AE20-462A-B42E-1329343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SOLUTION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184F8-5318-4828-8C02-1ED6C8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How the six tasks fit 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C0CBD-A148-4C07-8D71-0E795B8B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704B4-712D-4420-AA8F-64FE0E05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flow-1">
            <a:extLst xmlns:a="http://schemas.openxmlformats.org/drawingml/2006/main">
              <a:ext uri="{FF2B5EF4-FFF2-40B4-BE49-F238E27FC236}">
                <a16:creationId xmlns:a16="http://schemas.microsoft.com/office/drawing/2014/main" id="{4702002C-78AA-479E-82F5-4761D12C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576513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A5A3CF-B065-4C53-80BD-B9D24A58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666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0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AB175ABE-A209-4D7C-B9B8-4A15E79D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38400"/>
            <a:ext cx="231933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 1</a:t>
            </a:r>
          </a:p>
        </p:txBody>
      </p:sp>
      <p:sp>
        <p:nvSpPr>
          <p:cNvPr id="21" name="flow-1-body">
            <a:extLst xmlns:a="http://schemas.openxmlformats.org/drawingml/2006/main">
              <a:ext uri="{FF2B5EF4-FFF2-40B4-BE49-F238E27FC236}">
                <a16:creationId xmlns:a16="http://schemas.microsoft.com/office/drawing/2014/main" id="{B8CF31D5-0C41-475B-A930-81464942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24150"/>
            <a:ext cx="23193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Bounded research</a:t>
            </a:r>
          </a:p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and cited answers</a:t>
            </a:r>
          </a:p>
        </p:txBody>
      </p:sp>
      <p:sp>
        <p:nvSpPr>
          <p:cNvPr id="22" name="flow-2">
            <a:extLst xmlns:a="http://schemas.openxmlformats.org/drawingml/2006/main">
              <a:ext uri="{FF2B5EF4-FFF2-40B4-BE49-F238E27FC236}">
                <a16:creationId xmlns:a16="http://schemas.microsoft.com/office/drawing/2014/main" id="{67B3D235-2BC7-4080-8414-D999FBFD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62200"/>
            <a:ext cx="2576513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B8D1E5-AB9A-429E-A54B-C69DDB15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362200"/>
            <a:ext cx="666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4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A0D7C991-21E1-4251-BF84-A68A4F0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638" y="2438400"/>
            <a:ext cx="231933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 2</a:t>
            </a:r>
          </a:p>
        </p:txBody>
      </p:sp>
      <p:sp>
        <p:nvSpPr>
          <p:cNvPr id="25" name="flow-2-body">
            <a:extLst xmlns:a="http://schemas.openxmlformats.org/drawingml/2006/main">
              <a:ext uri="{FF2B5EF4-FFF2-40B4-BE49-F238E27FC236}">
                <a16:creationId xmlns:a16="http://schemas.microsoft.com/office/drawing/2014/main" id="{CB03D814-F9AA-4F21-871B-6CDE0D1E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638" y="2724150"/>
            <a:ext cx="23193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Asynchronous API</a:t>
            </a:r>
          </a:p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and job lifecycle</a:t>
            </a:r>
          </a:p>
        </p:txBody>
      </p:sp>
      <p:sp>
        <p:nvSpPr>
          <p:cNvPr id="26" name="flow-3">
            <a:extLst xmlns:a="http://schemas.openxmlformats.org/drawingml/2006/main">
              <a:ext uri="{FF2B5EF4-FFF2-40B4-BE49-F238E27FC236}">
                <a16:creationId xmlns:a16="http://schemas.microsoft.com/office/drawing/2014/main" id="{1E6B7853-9D98-4903-B2FF-DABA2F1E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62200"/>
            <a:ext cx="2576513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18622F-52ED-42EA-9364-169427E2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62200"/>
            <a:ext cx="666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28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FEFFD18E-38AA-4BCC-AD71-E0BCFEE1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38400"/>
            <a:ext cx="231933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 3</a:t>
            </a:r>
          </a:p>
        </p:txBody>
      </p:sp>
      <p:sp>
        <p:nvSpPr>
          <p:cNvPr id="29" name="flow-3-body">
            <a:extLst xmlns:a="http://schemas.openxmlformats.org/drawingml/2006/main">
              <a:ext uri="{FF2B5EF4-FFF2-40B4-BE49-F238E27FC236}">
                <a16:creationId xmlns:a16="http://schemas.microsoft.com/office/drawing/2014/main" id="{9D10B1B0-D24E-4A1E-AE8A-737BB112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24150"/>
            <a:ext cx="23193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Terraform, CI/CD</a:t>
            </a:r>
          </a:p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and cloud runtime</a:t>
            </a:r>
          </a:p>
        </p:txBody>
      </p:sp>
      <p:sp>
        <p:nvSpPr>
          <p:cNvPr id="30" name="flow-4">
            <a:extLst xmlns:a="http://schemas.openxmlformats.org/drawingml/2006/main">
              <a:ext uri="{FF2B5EF4-FFF2-40B4-BE49-F238E27FC236}">
                <a16:creationId xmlns:a16="http://schemas.microsoft.com/office/drawing/2014/main" id="{04B5C62E-63D7-4AF1-A251-BDA8AE00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62200"/>
            <a:ext cx="2576513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CF2B26-4E5A-42E7-BC0E-F125A340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362200"/>
            <a:ext cx="666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32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1E70E4EA-EB5C-4670-8069-CC774335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38400"/>
            <a:ext cx="231933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TASKS 4 TO 6</a:t>
            </a:r>
          </a:p>
        </p:txBody>
      </p:sp>
      <p:sp>
        <p:nvSpPr>
          <p:cNvPr id="33" name="flow-4-body">
            <a:extLst xmlns:a="http://schemas.openxmlformats.org/drawingml/2006/main">
              <a:ext uri="{FF2B5EF4-FFF2-40B4-BE49-F238E27FC236}">
                <a16:creationId xmlns:a16="http://schemas.microsoft.com/office/drawing/2014/main" id="{EC3C1923-56CE-4296-8E89-031A20C5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724150"/>
            <a:ext cx="23193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Failure risk, retrieval</a:t>
            </a:r>
          </a:p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and category encoding</a:t>
            </a:r>
          </a:p>
        </p:txBody>
      </p:sp>
      <p:cxnSp>
        <p:nvCxnSpPr>
          <p:cNvPr id="58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3262313" y="308610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59" name=""/>
          <p:cNvCxnSpPr>
            <a:stCxn xmlns:a="http://schemas.openxmlformats.org/drawingml/2006/main" id="22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6010276" y="3086100"/>
            <a:ext cx="171449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26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8758238" y="308610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37" name="callout">
            <a:extLst xmlns:a="http://schemas.openxmlformats.org/drawingml/2006/main">
              <a:ext uri="{FF2B5EF4-FFF2-40B4-BE49-F238E27FC236}">
                <a16:creationId xmlns:a16="http://schemas.microsoft.com/office/drawing/2014/main" id="{01EB5AC8-ADAE-4F9F-A7DC-2DEFC205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Tasks 1 to 3 form the deployable service. All six tasks remain reproducible on a clean local machine.</a:t>
            </a:r>
          </a:p>
        </p:txBody>
      </p:sp>
    </p:spTree>
    <p:extLst>
      <p:ext uri="{BB962C8B-B14F-4D97-AF65-F5344CB8AC3E}">
        <p14:creationId xmlns:p14="http://schemas.microsoft.com/office/powerpoint/2010/main" val="1357363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72D51E-2F82-4574-937B-EB8E2C67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SYSTEM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927E5-383F-47AF-95CD-1E62DBA8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One boundary from request to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E2D20-2B56-4CBF-8F81-E8D5A13B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BC9BC-2E96-4BCC-A3CB-6A2C9D2F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4" name="lane">
            <a:extLst xmlns:a="http://schemas.openxmlformats.org/drawingml/2006/main">
              <a:ext uri="{FF2B5EF4-FFF2-40B4-BE49-F238E27FC236}">
                <a16:creationId xmlns:a16="http://schemas.microsoft.com/office/drawing/2014/main" id="{EA075BC1-ECF7-49E4-8FF5-AE01A767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21145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5" name="pill">
            <a:extLst xmlns:a="http://schemas.openxmlformats.org/drawingml/2006/main">
              <a:ext uri="{FF2B5EF4-FFF2-40B4-BE49-F238E27FC236}">
                <a16:creationId xmlns:a16="http://schemas.microsoft.com/office/drawing/2014/main" id="{8ADD1087-EA53-460A-A526-C125A901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ONLINE SERVICE</a:t>
            </a:r>
          </a:p>
        </p:txBody>
      </p:sp>
      <p:sp>
        <p:nvSpPr>
          <p:cNvPr id="26" name="request">
            <a:extLst xmlns:a="http://schemas.openxmlformats.org/drawingml/2006/main">
              <a:ext uri="{FF2B5EF4-FFF2-40B4-BE49-F238E27FC236}">
                <a16:creationId xmlns:a16="http://schemas.microsoft.com/office/drawing/2014/main" id="{F8128585-1DA1-4015-B92C-3575C479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1524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8EFED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E62F03-D82F-4232-9E43-15FA1BBB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8" name="request-title">
            <a:extLst xmlns:a="http://schemas.openxmlformats.org/drawingml/2006/main">
              <a:ext uri="{FF2B5EF4-FFF2-40B4-BE49-F238E27FC236}">
                <a16:creationId xmlns:a16="http://schemas.microsoft.com/office/drawing/2014/main" id="{4C155E75-DFAF-4162-8170-2AEFAC99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4574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Request</a:t>
            </a:r>
          </a:p>
        </p:txBody>
      </p:sp>
      <p:sp>
        <p:nvSpPr>
          <p:cNvPr id="29" name="request-body">
            <a:extLst xmlns:a="http://schemas.openxmlformats.org/drawingml/2006/main">
              <a:ext uri="{FF2B5EF4-FFF2-40B4-BE49-F238E27FC236}">
                <a16:creationId xmlns:a16="http://schemas.microsoft.com/office/drawing/2014/main" id="{89510619-50CD-4A47-B826-5D7A8065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743200"/>
            <a:ext cx="1266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Question + tenant</a:t>
            </a:r>
          </a:p>
        </p:txBody>
      </p:sp>
      <p:sp>
        <p:nvSpPr>
          <p:cNvPr id="30" name="api">
            <a:extLst xmlns:a="http://schemas.openxmlformats.org/drawingml/2006/main">
              <a:ext uri="{FF2B5EF4-FFF2-40B4-BE49-F238E27FC236}">
                <a16:creationId xmlns:a16="http://schemas.microsoft.com/office/drawing/2014/main" id="{1B20EA95-163A-4412-85A2-D7886218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1714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52A9FF-3DBB-4779-A03E-5DDA573F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2" name="api-title">
            <a:extLst xmlns:a="http://schemas.openxmlformats.org/drawingml/2006/main">
              <a:ext uri="{FF2B5EF4-FFF2-40B4-BE49-F238E27FC236}">
                <a16:creationId xmlns:a16="http://schemas.microsoft.com/office/drawing/2014/main" id="{4889332C-9E26-47AC-B2B1-B8A79795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457450"/>
            <a:ext cx="1457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Async API</a:t>
            </a:r>
          </a:p>
        </p:txBody>
      </p:sp>
      <p:sp>
        <p:nvSpPr>
          <p:cNvPr id="33" name="api-body">
            <a:extLst xmlns:a="http://schemas.openxmlformats.org/drawingml/2006/main">
              <a:ext uri="{FF2B5EF4-FFF2-40B4-BE49-F238E27FC236}">
                <a16:creationId xmlns:a16="http://schemas.microsoft.com/office/drawing/2014/main" id="{032FDDF5-7C5C-417C-AD75-DEBDAFBF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743200"/>
            <a:ext cx="1457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Lifecycle + policy</a:t>
            </a:r>
          </a:p>
        </p:txBody>
      </p:sp>
      <p:sp>
        <p:nvSpPr>
          <p:cNvPr id="34" name="agent">
            <a:extLst xmlns:a="http://schemas.openxmlformats.org/drawingml/2006/main">
              <a:ext uri="{FF2B5EF4-FFF2-40B4-BE49-F238E27FC236}">
                <a16:creationId xmlns:a16="http://schemas.microsoft.com/office/drawing/2014/main" id="{CF54AEBA-8306-457A-9537-30088F5A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1809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EC00DC-D036-43B3-B1C4-B687AC08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6" name="agent-title">
            <a:extLst xmlns:a="http://schemas.openxmlformats.org/drawingml/2006/main">
              <a:ext uri="{FF2B5EF4-FFF2-40B4-BE49-F238E27FC236}">
                <a16:creationId xmlns:a16="http://schemas.microsoft.com/office/drawing/2014/main" id="{3A46173C-D689-4F32-9E55-7B17255C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4574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Research agent</a:t>
            </a:r>
          </a:p>
        </p:txBody>
      </p:sp>
      <p:sp>
        <p:nvSpPr>
          <p:cNvPr id="37" name="agent-body">
            <a:extLst xmlns:a="http://schemas.openxmlformats.org/drawingml/2006/main">
              <a:ext uri="{FF2B5EF4-FFF2-40B4-BE49-F238E27FC236}">
                <a16:creationId xmlns:a16="http://schemas.microsoft.com/office/drawing/2014/main" id="{8ACB4985-2330-4182-94F1-F2F719EC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743200"/>
            <a:ext cx="1552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Plan + retrieve</a:t>
            </a:r>
          </a:p>
        </p:txBody>
      </p:sp>
      <p:sp>
        <p:nvSpPr>
          <p:cNvPr id="38" name="evidence">
            <a:extLst xmlns:a="http://schemas.openxmlformats.org/drawingml/2006/main">
              <a:ext uri="{FF2B5EF4-FFF2-40B4-BE49-F238E27FC236}">
                <a16:creationId xmlns:a16="http://schemas.microsoft.com/office/drawing/2014/main" id="{2FE9E396-1F1D-4F51-BBEB-B4395DE7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81250"/>
            <a:ext cx="1714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710805-7B77-49E3-A334-B0C57A9E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812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40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EE2E57EA-CA35-45EB-854E-F232901D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457450"/>
            <a:ext cx="1457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41" name="evidence-body">
            <a:extLst xmlns:a="http://schemas.openxmlformats.org/drawingml/2006/main">
              <a:ext uri="{FF2B5EF4-FFF2-40B4-BE49-F238E27FC236}">
                <a16:creationId xmlns:a16="http://schemas.microsoft.com/office/drawing/2014/main" id="{5B5517FA-ADE9-4577-99BB-4EF48404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43200"/>
            <a:ext cx="1457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Citations + checks</a:t>
            </a:r>
          </a:p>
        </p:txBody>
      </p:sp>
      <p:sp>
        <p:nvSpPr>
          <p:cNvPr id="42" name="delivery">
            <a:extLst xmlns:a="http://schemas.openxmlformats.org/drawingml/2006/main">
              <a:ext uri="{FF2B5EF4-FFF2-40B4-BE49-F238E27FC236}">
                <a16:creationId xmlns:a16="http://schemas.microsoft.com/office/drawing/2014/main" id="{933ED273-604A-4C9D-A532-AE7727DE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81250"/>
            <a:ext cx="15430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87D5AD-88CE-4DE0-B9FD-7BF6D3C4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812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4" name="delivery-title">
            <a:extLst xmlns:a="http://schemas.openxmlformats.org/drawingml/2006/main">
              <a:ext uri="{FF2B5EF4-FFF2-40B4-BE49-F238E27FC236}">
                <a16:creationId xmlns:a16="http://schemas.microsoft.com/office/drawing/2014/main" id="{60D59DF8-C8B6-4347-92A0-C71D40A6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57450"/>
            <a:ext cx="1285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Delivery plane</a:t>
            </a:r>
          </a:p>
        </p:txBody>
      </p:sp>
      <p:sp>
        <p:nvSpPr>
          <p:cNvPr id="45" name="delivery-body">
            <a:extLst xmlns:a="http://schemas.openxmlformats.org/drawingml/2006/main">
              <a:ext uri="{FF2B5EF4-FFF2-40B4-BE49-F238E27FC236}">
                <a16:creationId xmlns:a16="http://schemas.microsoft.com/office/drawing/2014/main" id="{1221F11A-39DF-45FC-9014-A20F384B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743200"/>
            <a:ext cx="1285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Terraform + digest</a:t>
            </a:r>
          </a:p>
        </p:txBody>
      </p:sp>
      <p:cxnSp>
        <p:nvCxnSpPr>
          <p:cNvPr id="81" name=""/>
          <p:cNvCxnSpPr>
            <a:stCxn xmlns:a="http://schemas.openxmlformats.org/drawingml/2006/main" id="26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514600" y="28575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30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4705350" y="28575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3" name=""/>
          <p:cNvCxnSpPr>
            <a:stCxn xmlns:a="http://schemas.openxmlformats.org/drawingml/2006/main" id="34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6991350" y="28575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38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9182100" y="28575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0" name="lane">
            <a:extLst xmlns:a="http://schemas.openxmlformats.org/drawingml/2006/main">
              <a:ext uri="{FF2B5EF4-FFF2-40B4-BE49-F238E27FC236}">
                <a16:creationId xmlns:a16="http://schemas.microsoft.com/office/drawing/2014/main" id="{5E822DEB-DB00-4D22-B873-84FB2ECC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51" name="pill">
            <a:extLst xmlns:a="http://schemas.openxmlformats.org/drawingml/2006/main">
              <a:ext uri="{FF2B5EF4-FFF2-40B4-BE49-F238E27FC236}">
                <a16:creationId xmlns:a16="http://schemas.microsoft.com/office/drawing/2014/main" id="{D9EAC78D-46B1-4C66-9022-8C426A18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OFFLINE ANALYTICS</a:t>
            </a:r>
          </a:p>
        </p:txBody>
      </p:sp>
      <p:sp>
        <p:nvSpPr>
          <p:cNvPr id="52" name="text">
            <a:extLst xmlns:a="http://schemas.openxmlformats.org/drawingml/2006/main">
              <a:ext uri="{FF2B5EF4-FFF2-40B4-BE49-F238E27FC236}">
                <a16:creationId xmlns:a16="http://schemas.microsoft.com/office/drawing/2014/main" id="{6085A9A9-2D01-4640-813D-8B8A0003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958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 4</a:t>
            </a:r>
          </a:p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Failure risk</a:t>
            </a:r>
          </a:p>
        </p:txBody>
      </p:sp>
      <p:sp>
        <p:nvSpPr>
          <p:cNvPr id="53" name="text">
            <a:extLst xmlns:a="http://schemas.openxmlformats.org/drawingml/2006/main">
              <a:ext uri="{FF2B5EF4-FFF2-40B4-BE49-F238E27FC236}">
                <a16:creationId xmlns:a16="http://schemas.microsoft.com/office/drawing/2014/main" id="{7E2149B0-E17F-4913-AF2B-BC200AB1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958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 5</a:t>
            </a:r>
          </a:p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Lexical retrieval</a:t>
            </a:r>
          </a:p>
        </p:txBody>
      </p:sp>
      <p:sp>
        <p:nvSpPr>
          <p:cNvPr id="54" name="text">
            <a:extLst xmlns:a="http://schemas.openxmlformats.org/drawingml/2006/main">
              <a:ext uri="{FF2B5EF4-FFF2-40B4-BE49-F238E27FC236}">
                <a16:creationId xmlns:a16="http://schemas.microsoft.com/office/drawing/2014/main" id="{C054F644-B739-411A-B7C1-BA68A1B2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4958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 6</a:t>
            </a:r>
          </a:p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Rare categories</a:t>
            </a:r>
          </a:p>
        </p:txBody>
      </p:sp>
    </p:spTree>
    <p:extLst>
      <p:ext uri="{BB962C8B-B14F-4D97-AF65-F5344CB8AC3E}">
        <p14:creationId xmlns:p14="http://schemas.microsoft.com/office/powerpoint/2010/main" val="863260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53354-DE22-407A-AC55-21E89A74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1 | RESEARCH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C738E-C490-4BAA-9839-A8BB49FC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Route before spending model budget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6421B-194E-4897-9F83-D997F73B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F4F56-4C57-45E0-9430-A30267DF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0" name="q">
            <a:extLst xmlns:a="http://schemas.openxmlformats.org/drawingml/2006/main">
              <a:ext uri="{FF2B5EF4-FFF2-40B4-BE49-F238E27FC236}">
                <a16:creationId xmlns:a16="http://schemas.microsoft.com/office/drawing/2014/main" id="{027A704B-002F-4586-BBD0-2342DA2D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18097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335AEA-A625-4D77-B2A6-3758E37E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2" name="q-title">
            <a:extLst xmlns:a="http://schemas.openxmlformats.org/drawingml/2006/main">
              <a:ext uri="{FF2B5EF4-FFF2-40B4-BE49-F238E27FC236}">
                <a16:creationId xmlns:a16="http://schemas.microsoft.com/office/drawing/2014/main" id="{B54FBBF3-F621-4848-A26B-721DEF2B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09825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Incoming question</a:t>
            </a:r>
          </a:p>
        </p:txBody>
      </p:sp>
      <p:sp>
        <p:nvSpPr>
          <p:cNvPr id="23" name="q-body">
            <a:extLst xmlns:a="http://schemas.openxmlformats.org/drawingml/2006/main">
              <a:ext uri="{FF2B5EF4-FFF2-40B4-BE49-F238E27FC236}">
                <a16:creationId xmlns:a16="http://schemas.microsoft.com/office/drawing/2014/main" id="{629001F8-AC67-4769-B3E4-7EECA44E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95575"/>
            <a:ext cx="15525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Intent + constraints</a:t>
            </a:r>
          </a:p>
        </p:txBody>
      </p:sp>
      <p:sp>
        <p:nvSpPr>
          <p:cNvPr id="24" name="router">
            <a:extLst xmlns:a="http://schemas.openxmlformats.org/drawingml/2006/main">
              <a:ext uri="{FF2B5EF4-FFF2-40B4-BE49-F238E27FC236}">
                <a16:creationId xmlns:a16="http://schemas.microsoft.com/office/drawing/2014/main" id="{936510BB-7341-49F0-A5CF-5774DB4D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33625"/>
            <a:ext cx="1905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901670-FD30-4904-9B03-4A14FFCC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33625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6" name="router-title">
            <a:extLst xmlns:a="http://schemas.openxmlformats.org/drawingml/2006/main">
              <a:ext uri="{FF2B5EF4-FFF2-40B4-BE49-F238E27FC236}">
                <a16:creationId xmlns:a16="http://schemas.microsoft.com/office/drawing/2014/main" id="{0DCE8964-C592-471E-A355-8A0EA7E1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Selective router</a:t>
            </a:r>
          </a:p>
        </p:txBody>
      </p:sp>
      <p:sp>
        <p:nvSpPr>
          <p:cNvPr id="27" name="router-body">
            <a:extLst xmlns:a="http://schemas.openxmlformats.org/drawingml/2006/main">
              <a:ext uri="{FF2B5EF4-FFF2-40B4-BE49-F238E27FC236}">
                <a16:creationId xmlns:a16="http://schemas.microsoft.com/office/drawing/2014/main" id="{29FE2C3E-C006-4AB2-9D77-3262B304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95575"/>
            <a:ext cx="16478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Lookup or research?</a:t>
            </a:r>
          </a:p>
        </p:txBody>
      </p:sp>
      <p:sp>
        <p:nvSpPr>
          <p:cNvPr id="28" name="direct">
            <a:extLst xmlns:a="http://schemas.openxmlformats.org/drawingml/2006/main">
              <a:ext uri="{FF2B5EF4-FFF2-40B4-BE49-F238E27FC236}">
                <a16:creationId xmlns:a16="http://schemas.microsoft.com/office/drawing/2014/main" id="{128CC2B3-478A-4C08-BA92-B8535CC8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0002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8FA373-D46E-4715-AFC4-DEC24626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0" name="direct-title">
            <a:extLst xmlns:a="http://schemas.openxmlformats.org/drawingml/2006/main">
              <a:ext uri="{FF2B5EF4-FFF2-40B4-BE49-F238E27FC236}">
                <a16:creationId xmlns:a16="http://schemas.microsoft.com/office/drawing/2014/main" id="{17AD8C0F-6DC1-41B6-AC81-3A45210E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85950"/>
            <a:ext cx="1743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Direct answer</a:t>
            </a:r>
          </a:p>
        </p:txBody>
      </p:sp>
      <p:sp>
        <p:nvSpPr>
          <p:cNvPr id="31" name="direct-body">
            <a:extLst xmlns:a="http://schemas.openxmlformats.org/drawingml/2006/main">
              <a:ext uri="{FF2B5EF4-FFF2-40B4-BE49-F238E27FC236}">
                <a16:creationId xmlns:a16="http://schemas.microsoft.com/office/drawing/2014/main" id="{073D84BD-9F2B-4FA1-8FA6-8D71FD5E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71700"/>
            <a:ext cx="1743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Known, bounded lookup</a:t>
            </a:r>
          </a:p>
        </p:txBody>
      </p:sp>
      <p:sp>
        <p:nvSpPr>
          <p:cNvPr id="32" name="research">
            <a:extLst xmlns:a="http://schemas.openxmlformats.org/drawingml/2006/main">
              <a:ext uri="{FF2B5EF4-FFF2-40B4-BE49-F238E27FC236}">
                <a16:creationId xmlns:a16="http://schemas.microsoft.com/office/drawing/2014/main" id="{35B880DF-A476-4379-AF96-10E7A5DE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20002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BD053E-8A7E-4040-8CC2-8E7F1CD9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4" name="research-title">
            <a:extLst xmlns:a="http://schemas.openxmlformats.org/drawingml/2006/main">
              <a:ext uri="{FF2B5EF4-FFF2-40B4-BE49-F238E27FC236}">
                <a16:creationId xmlns:a16="http://schemas.microsoft.com/office/drawing/2014/main" id="{52D9DAF3-FC8A-44AF-A1A2-30DA40DC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19450"/>
            <a:ext cx="1743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Research plan</a:t>
            </a:r>
          </a:p>
        </p:txBody>
      </p:sp>
      <p:sp>
        <p:nvSpPr>
          <p:cNvPr id="35" name="research-body">
            <a:extLst xmlns:a="http://schemas.openxmlformats.org/drawingml/2006/main">
              <a:ext uri="{FF2B5EF4-FFF2-40B4-BE49-F238E27FC236}">
                <a16:creationId xmlns:a16="http://schemas.microsoft.com/office/drawing/2014/main" id="{6D78E345-90CA-40B9-A1FC-BDA1172E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05200"/>
            <a:ext cx="1743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Search, fetch, extract</a:t>
            </a:r>
          </a:p>
        </p:txBody>
      </p:sp>
      <p:sp>
        <p:nvSpPr>
          <p:cNvPr id="36" name="answer">
            <a:extLst xmlns:a="http://schemas.openxmlformats.org/drawingml/2006/main">
              <a:ext uri="{FF2B5EF4-FFF2-40B4-BE49-F238E27FC236}">
                <a16:creationId xmlns:a16="http://schemas.microsoft.com/office/drawing/2014/main" id="{DAA82EAA-5FE4-43DC-8B47-2E74C4F9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33625"/>
            <a:ext cx="2095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03F433-8733-4418-9BD5-2B9AA32E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33625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38" name="answer-title">
            <a:extLst xmlns:a="http://schemas.openxmlformats.org/drawingml/2006/main">
              <a:ext uri="{FF2B5EF4-FFF2-40B4-BE49-F238E27FC236}">
                <a16:creationId xmlns:a16="http://schemas.microsoft.com/office/drawing/2014/main" id="{00A0421B-AA7F-4210-B7A7-DFE88E5D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409825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Validated response</a:t>
            </a:r>
          </a:p>
        </p:txBody>
      </p:sp>
      <p:sp>
        <p:nvSpPr>
          <p:cNvPr id="39" name="answer-body">
            <a:extLst xmlns:a="http://schemas.openxmlformats.org/drawingml/2006/main">
              <a:ext uri="{FF2B5EF4-FFF2-40B4-BE49-F238E27FC236}">
                <a16:creationId xmlns:a16="http://schemas.microsoft.com/office/drawing/2014/main" id="{815A77F6-13C9-4A19-B42C-E45E9BCC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95575"/>
            <a:ext cx="18383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Evidence or abstain</a:t>
            </a:r>
          </a:p>
        </p:txBody>
      </p:sp>
      <p:cxnSp>
        <p:nvCxnSpPr>
          <p:cNvPr id="70" name=""/>
          <p:cNvCxnSpPr>
            <a:stCxn xmlns:a="http://schemas.openxmlformats.org/drawingml/2006/main" id="2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667000" y="28575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5238750" y="2286000"/>
            <a:ext cx="952500" cy="571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463EB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24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5238750" y="2857500"/>
            <a:ext cx="952500" cy="762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C66A19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28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8191500" y="2286000"/>
            <a:ext cx="952500" cy="571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32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 flipV="1">
            <a:off x="8191500" y="2857500"/>
            <a:ext cx="952500" cy="762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5" name="callout">
            <a:extLst xmlns:a="http://schemas.openxmlformats.org/drawingml/2006/main">
              <a:ext uri="{FF2B5EF4-FFF2-40B4-BE49-F238E27FC236}">
                <a16:creationId xmlns:a16="http://schemas.microsoft.com/office/drawing/2014/main" id="{40EF8254-5626-433B-BAA0-66A12CF5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38225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router keeps simple requests cheap and reserves the bounded research loop for questions that need external evidence.</a:t>
            </a:r>
          </a:p>
        </p:txBody>
      </p:sp>
    </p:spTree>
    <p:extLst>
      <p:ext uri="{BB962C8B-B14F-4D97-AF65-F5344CB8AC3E}">
        <p14:creationId xmlns:p14="http://schemas.microsoft.com/office/powerpoint/2010/main" val="3083517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9FC05D-E898-4102-BC07-438388C0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1 |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58985-D35B-4CBF-AA1B-4B889AE0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Make every claim traceable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73DE6-5E88-4020-97F0-27D7FE05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DABB1-BA0C-4D4D-BEFC-947B41B7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0" name="flow-1">
            <a:extLst xmlns:a="http://schemas.openxmlformats.org/drawingml/2006/main">
              <a:ext uri="{FF2B5EF4-FFF2-40B4-BE49-F238E27FC236}">
                <a16:creationId xmlns:a16="http://schemas.microsoft.com/office/drawing/2014/main" id="{7A92E2E7-002A-4394-A372-2E91968D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7081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8DD978-F2F8-4F6D-8672-EC549FAC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2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A103A115-6E21-4434-A8F8-C0432D37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384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23" name="flow-1-body">
            <a:extLst xmlns:a="http://schemas.openxmlformats.org/drawingml/2006/main">
              <a:ext uri="{FF2B5EF4-FFF2-40B4-BE49-F238E27FC236}">
                <a16:creationId xmlns:a16="http://schemas.microsoft.com/office/drawing/2014/main" id="{35055680-06A3-496B-ACBC-FE1C4B89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24150"/>
            <a:ext cx="1450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Queries + limits</a:t>
            </a:r>
          </a:p>
        </p:txBody>
      </p:sp>
      <p:sp>
        <p:nvSpPr>
          <p:cNvPr id="24" name="flow-2">
            <a:extLst xmlns:a="http://schemas.openxmlformats.org/drawingml/2006/main">
              <a:ext uri="{FF2B5EF4-FFF2-40B4-BE49-F238E27FC236}">
                <a16:creationId xmlns:a16="http://schemas.microsoft.com/office/drawing/2014/main" id="{0FA89449-1141-43F4-A93A-1C7476C5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362200"/>
            <a:ext cx="17081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86E44C-ABB6-4FD9-8FE5-4272C2D3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3622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6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8B28F9CC-D293-408B-A861-BBFA2630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4384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SEARCH</a:t>
            </a:r>
          </a:p>
        </p:txBody>
      </p:sp>
      <p:sp>
        <p:nvSpPr>
          <p:cNvPr id="27" name="flow-2-body">
            <a:extLst xmlns:a="http://schemas.openxmlformats.org/drawingml/2006/main">
              <a:ext uri="{FF2B5EF4-FFF2-40B4-BE49-F238E27FC236}">
                <a16:creationId xmlns:a16="http://schemas.microsoft.com/office/drawing/2014/main" id="{3E939004-5BA9-4C5D-8217-63BAD5C1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724150"/>
            <a:ext cx="1450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Candidate sources</a:t>
            </a:r>
          </a:p>
        </p:txBody>
      </p:sp>
      <p:sp>
        <p:nvSpPr>
          <p:cNvPr id="28" name="flow-3">
            <a:extLst xmlns:a="http://schemas.openxmlformats.org/drawingml/2006/main">
              <a:ext uri="{FF2B5EF4-FFF2-40B4-BE49-F238E27FC236}">
                <a16:creationId xmlns:a16="http://schemas.microsoft.com/office/drawing/2014/main" id="{F518E217-A5BA-45C5-BBD2-0112C501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362200"/>
            <a:ext cx="17081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085FD1-91D1-4120-BD19-4FC7355C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3622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0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1D93151D-14DD-4A38-BC50-839F5B30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4384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FETCH</a:t>
            </a:r>
          </a:p>
        </p:txBody>
      </p:sp>
      <p:sp>
        <p:nvSpPr>
          <p:cNvPr id="31" name="flow-3-body">
            <a:extLst xmlns:a="http://schemas.openxmlformats.org/drawingml/2006/main">
              <a:ext uri="{FF2B5EF4-FFF2-40B4-BE49-F238E27FC236}">
                <a16:creationId xmlns:a16="http://schemas.microsoft.com/office/drawing/2014/main" id="{19D61B8B-386F-4C68-B79D-8D1650D6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724150"/>
            <a:ext cx="1450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Safe retrieval</a:t>
            </a:r>
          </a:p>
        </p:txBody>
      </p:sp>
      <p:sp>
        <p:nvSpPr>
          <p:cNvPr id="32" name="flow-4">
            <a:extLst xmlns:a="http://schemas.openxmlformats.org/drawingml/2006/main">
              <a:ext uri="{FF2B5EF4-FFF2-40B4-BE49-F238E27FC236}">
                <a16:creationId xmlns:a16="http://schemas.microsoft.com/office/drawing/2014/main" id="{ADC32A52-A92F-4AAA-A2A4-422B8626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17081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6C395B-434E-450D-9BFB-86FC8913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4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A397DB6B-4482-4C6A-8EF6-69BDAF47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4384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EXTRACT</a:t>
            </a:r>
          </a:p>
        </p:txBody>
      </p:sp>
      <p:sp>
        <p:nvSpPr>
          <p:cNvPr id="35" name="flow-4-body">
            <a:extLst xmlns:a="http://schemas.openxmlformats.org/drawingml/2006/main">
              <a:ext uri="{FF2B5EF4-FFF2-40B4-BE49-F238E27FC236}">
                <a16:creationId xmlns:a16="http://schemas.microsoft.com/office/drawing/2014/main" id="{490F2D94-D055-4DF8-B251-8C0D68D7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724150"/>
            <a:ext cx="1450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Relevant passages</a:t>
            </a:r>
          </a:p>
        </p:txBody>
      </p:sp>
      <p:sp>
        <p:nvSpPr>
          <p:cNvPr id="36" name="flow-5">
            <a:extLst xmlns:a="http://schemas.openxmlformats.org/drawingml/2006/main">
              <a:ext uri="{FF2B5EF4-FFF2-40B4-BE49-F238E27FC236}">
                <a16:creationId xmlns:a16="http://schemas.microsoft.com/office/drawing/2014/main" id="{28AF5ACD-3E6E-4065-B2AB-4FD3E8C7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362200"/>
            <a:ext cx="17081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7B5D0E-AD64-4F28-971D-5EB1A828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3622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8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29CB629C-A4B1-4A2C-9061-AA73D965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4384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SYNTHESIZE</a:t>
            </a:r>
          </a:p>
        </p:txBody>
      </p:sp>
      <p:sp>
        <p:nvSpPr>
          <p:cNvPr id="39" name="flow-5-body">
            <a:extLst xmlns:a="http://schemas.openxmlformats.org/drawingml/2006/main">
              <a:ext uri="{FF2B5EF4-FFF2-40B4-BE49-F238E27FC236}">
                <a16:creationId xmlns:a16="http://schemas.microsoft.com/office/drawing/2014/main" id="{D145D878-41B2-4C0E-A524-7DD8012F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724150"/>
            <a:ext cx="1450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Draft with citations</a:t>
            </a:r>
          </a:p>
        </p:txBody>
      </p:sp>
      <p:sp>
        <p:nvSpPr>
          <p:cNvPr id="40" name="flow-6">
            <a:extLst xmlns:a="http://schemas.openxmlformats.org/drawingml/2006/main">
              <a:ext uri="{FF2B5EF4-FFF2-40B4-BE49-F238E27FC236}">
                <a16:creationId xmlns:a16="http://schemas.microsoft.com/office/drawing/2014/main" id="{9B5B4020-770B-4486-A2E3-DFA7003A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362200"/>
            <a:ext cx="17081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424647-1D63-4844-BCCF-1DB128B9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3622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2" name="flow-6-title">
            <a:extLst xmlns:a="http://schemas.openxmlformats.org/drawingml/2006/main">
              <a:ext uri="{FF2B5EF4-FFF2-40B4-BE49-F238E27FC236}">
                <a16:creationId xmlns:a16="http://schemas.microsoft.com/office/drawing/2014/main" id="{78474503-4085-4916-9E53-29CDE53F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4384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43" name="flow-6-body">
            <a:extLst xmlns:a="http://schemas.openxmlformats.org/drawingml/2006/main">
              <a:ext uri="{FF2B5EF4-FFF2-40B4-BE49-F238E27FC236}">
                <a16:creationId xmlns:a16="http://schemas.microsoft.com/office/drawing/2014/main" id="{48B39104-418D-4883-B056-F3CD946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724150"/>
            <a:ext cx="1450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Support or abstain</a:t>
            </a:r>
          </a:p>
        </p:txBody>
      </p:sp>
      <p:cxnSp>
        <p:nvCxnSpPr>
          <p:cNvPr id="78" name=""/>
          <p:cNvCxnSpPr>
            <a:stCxn xmlns:a="http://schemas.openxmlformats.org/drawingml/2006/main" id="2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39395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9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421640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0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603885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32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786130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36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968375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9" name="callout">
            <a:extLst xmlns:a="http://schemas.openxmlformats.org/drawingml/2006/main">
              <a:ext uri="{FF2B5EF4-FFF2-40B4-BE49-F238E27FC236}">
                <a16:creationId xmlns:a16="http://schemas.microsoft.com/office/drawing/2014/main" id="{0C3E12CA-B0F7-4715-B158-B9EF0A41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 response is accepted only when the cited evidence survives coverage and consistency checks.</a:t>
            </a:r>
          </a:p>
        </p:txBody>
      </p:sp>
    </p:spTree>
    <p:extLst>
      <p:ext uri="{BB962C8B-B14F-4D97-AF65-F5344CB8AC3E}">
        <p14:creationId xmlns:p14="http://schemas.microsoft.com/office/powerpoint/2010/main" val="16821607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F3EAF-F366-416D-8125-F92734E0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1 | GUARDRAILS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C1B4C-890E-47B9-B1C6-059E778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Bound the work, then fail closed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AEF36-F0F8-454A-96DF-B4CAE0C4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18C70-59E6-4611-8202-E84EC855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22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AF26D1E8-72F8-4E74-8F62-C97F98BB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60 s</a:t>
            </a:r>
          </a:p>
        </p:txBody>
      </p:sp>
      <p:sp>
        <p:nvSpPr>
          <p:cNvPr id="23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B7F3121-CFD0-4FDB-AFBF-D118604D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Wall-clock budget</a:t>
            </a:r>
          </a:p>
        </p:txBody>
      </p:sp>
      <p:sp>
        <p:nvSpPr>
          <p:cNvPr id="24" name="metric-note">
            <a:extLst xmlns:a="http://schemas.openxmlformats.org/drawingml/2006/main">
              <a:ext uri="{FF2B5EF4-FFF2-40B4-BE49-F238E27FC236}">
                <a16:creationId xmlns:a16="http://schemas.microsoft.com/office/drawing/2014/main" id="{550B3720-BD70-4934-90CA-7C10CA39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One request cannot run forever.</a:t>
            </a:r>
          </a:p>
        </p:txBody>
      </p:sp>
      <p:sp>
        <p:nvSpPr>
          <p:cNvPr id="2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0A53AE46-07E1-47BB-98CF-DC287A02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1E086A3-1DFB-4E2B-92D8-EEDB27FE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86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Search queries</a:t>
            </a:r>
          </a:p>
        </p:txBody>
      </p:sp>
      <p:sp>
        <p:nvSpPr>
          <p:cNvPr id="27" name="metric-note">
            <a:extLst xmlns:a="http://schemas.openxmlformats.org/drawingml/2006/main">
              <a:ext uri="{FF2B5EF4-FFF2-40B4-BE49-F238E27FC236}">
                <a16:creationId xmlns:a16="http://schemas.microsoft.com/office/drawing/2014/main" id="{226925E7-13D9-4F0E-AE32-E347B8C7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289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Exploration stays finite.</a:t>
            </a:r>
          </a:p>
        </p:txBody>
      </p:sp>
      <p:sp>
        <p:nvSpPr>
          <p:cNvPr id="28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8E1DF34F-CCFB-4E8E-A57D-8DADC0B6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7645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2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E239F8E6-EDBC-42D2-B799-E9D4D6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86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Pages fetched</a:t>
            </a:r>
          </a:p>
        </p:txBody>
      </p:sp>
      <p:sp>
        <p:nvSpPr>
          <p:cNvPr id="30" name="metric-note">
            <a:extLst xmlns:a="http://schemas.openxmlformats.org/drawingml/2006/main">
              <a:ext uri="{FF2B5EF4-FFF2-40B4-BE49-F238E27FC236}">
                <a16:creationId xmlns:a16="http://schemas.microsoft.com/office/drawing/2014/main" id="{C78B04B1-85ED-4EFC-AE67-3DB63CF3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289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Retrieval has a hard ceiling.</a:t>
            </a:r>
          </a:p>
        </p:txBody>
      </p:sp>
      <p:sp>
        <p:nvSpPr>
          <p:cNvPr id="3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4A9A991-83F9-4D64-B066-118498AA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7645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8EC89863-6258-4937-8390-FB0EB074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86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Model calls</a:t>
            </a:r>
          </a:p>
        </p:txBody>
      </p:sp>
      <p:sp>
        <p:nvSpPr>
          <p:cNvPr id="3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FEF21BF4-6065-4769-B1C4-5264F34C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289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Planning and synthesis only.</a:t>
            </a:r>
          </a:p>
        </p:txBody>
      </p:sp>
      <p:sp>
        <p:nvSpPr>
          <p:cNvPr id="34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57DDFF23-AFEC-427C-9538-84841252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83A3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B83A3A"/>
                </a:solidFill>
                <a:latin typeface="Calibri"/>
                <a:ea typeface="Calibri"/>
                <a:cs typeface="Calibri"/>
              </a:rPr>
              <a:t>64k</a:t>
            </a:r>
          </a:p>
        </p:txBody>
      </p:sp>
      <p:sp>
        <p:nvSpPr>
          <p:cNvPr id="35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60BCAC39-16EE-4346-BD50-7D864822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86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Token ceiling</a:t>
            </a:r>
          </a:p>
        </p:txBody>
      </p:sp>
      <p:sp>
        <p:nvSpPr>
          <p:cNvPr id="36" name="metric-note">
            <a:extLst xmlns:a="http://schemas.openxmlformats.org/drawingml/2006/main">
              <a:ext uri="{FF2B5EF4-FFF2-40B4-BE49-F238E27FC236}">
                <a16:creationId xmlns:a16="http://schemas.microsoft.com/office/drawing/2014/main" id="{91FBC0A9-0E07-40D4-B870-8E7DAB15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289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Oversized context is rejected.</a:t>
            </a:r>
          </a:p>
        </p:txBody>
      </p:sp>
      <p:sp>
        <p:nvSpPr>
          <p:cNvPr id="37" name="callout">
            <a:extLst xmlns:a="http://schemas.openxmlformats.org/drawingml/2006/main">
              <a:ext uri="{FF2B5EF4-FFF2-40B4-BE49-F238E27FC236}">
                <a16:creationId xmlns:a16="http://schemas.microsoft.com/office/drawing/2014/main" id="{54ECD565-A6C5-4CD2-988B-57BACD98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Other limits: 24 MB fetched content, safe URL handling and explicit abstention when evidence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652133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4EF510-086A-4653-9DA8-98B040C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2 | AGENT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8752-3076-475D-8A81-0937187E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Return control before the work finishes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397BC-9811-4FE4-B041-560A8DB9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7CF24-4774-4E61-BDAB-065D92C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25" name="flow-1">
            <a:extLst xmlns:a="http://schemas.openxmlformats.org/drawingml/2006/main">
              <a:ext uri="{FF2B5EF4-FFF2-40B4-BE49-F238E27FC236}">
                <a16:creationId xmlns:a16="http://schemas.microsoft.com/office/drawing/2014/main" id="{54B9AEF4-4E45-4083-B258-6D0FC6CC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2D9202-AB24-47FF-B516-80551CF8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7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C4CE8497-16EE-463D-B43A-37C1817B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003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POST /jobs</a:t>
            </a:r>
          </a:p>
        </p:txBody>
      </p:sp>
      <p:sp>
        <p:nvSpPr>
          <p:cNvPr id="28" name="flow-1-body">
            <a:extLst xmlns:a="http://schemas.openxmlformats.org/drawingml/2006/main">
              <a:ext uri="{FF2B5EF4-FFF2-40B4-BE49-F238E27FC236}">
                <a16:creationId xmlns:a16="http://schemas.microsoft.com/office/drawing/2014/main" id="{26DD0158-C88C-4B1E-BA24-E3B98E39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68605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Validate + scope</a:t>
            </a:r>
          </a:p>
        </p:txBody>
      </p:sp>
      <p:sp>
        <p:nvSpPr>
          <p:cNvPr id="29" name="flow-2">
            <a:extLst xmlns:a="http://schemas.openxmlformats.org/drawingml/2006/main">
              <a:ext uri="{FF2B5EF4-FFF2-40B4-BE49-F238E27FC236}">
                <a16:creationId xmlns:a16="http://schemas.microsoft.com/office/drawing/2014/main" id="{B54EB9BF-4484-4915-B484-51A4559D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32410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D21F86-10EE-4027-AD94-AD37E5B6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3241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1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ECC9A44D-C39D-4244-9078-6E61EA43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4003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202 ACCEPTED</a:t>
            </a:r>
          </a:p>
        </p:txBody>
      </p:sp>
      <p:sp>
        <p:nvSpPr>
          <p:cNvPr id="32" name="flow-2-body">
            <a:extLst xmlns:a="http://schemas.openxmlformats.org/drawingml/2006/main">
              <a:ext uri="{FF2B5EF4-FFF2-40B4-BE49-F238E27FC236}">
                <a16:creationId xmlns:a16="http://schemas.microsoft.com/office/drawing/2014/main" id="{FFFE7955-AF56-4730-A616-F56CC370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68605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Stable job ID</a:t>
            </a:r>
          </a:p>
        </p:txBody>
      </p:sp>
      <p:sp>
        <p:nvSpPr>
          <p:cNvPr id="33" name="flow-3">
            <a:extLst xmlns:a="http://schemas.openxmlformats.org/drawingml/2006/main">
              <a:ext uri="{FF2B5EF4-FFF2-40B4-BE49-F238E27FC236}">
                <a16:creationId xmlns:a16="http://schemas.microsoft.com/office/drawing/2014/main" id="{667CAC8A-91B7-4181-8039-78FAC3D3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32410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81A389-8384-4D56-A012-5B809926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3241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5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83E60F5B-B75C-42E9-B88B-7A271B4C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4003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PERSIST</a:t>
            </a:r>
          </a:p>
        </p:txBody>
      </p:sp>
      <p:sp>
        <p:nvSpPr>
          <p:cNvPr id="36" name="flow-3-body">
            <a:extLst xmlns:a="http://schemas.openxmlformats.org/drawingml/2006/main">
              <a:ext uri="{FF2B5EF4-FFF2-40B4-BE49-F238E27FC236}">
                <a16:creationId xmlns:a16="http://schemas.microsoft.com/office/drawing/2014/main" id="{CD964F6C-4B63-4678-8ABC-DDC834B4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68605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Job + idempotency</a:t>
            </a:r>
          </a:p>
        </p:txBody>
      </p:sp>
      <p:sp>
        <p:nvSpPr>
          <p:cNvPr id="37" name="flow-4">
            <a:extLst xmlns:a="http://schemas.openxmlformats.org/drawingml/2006/main">
              <a:ext uri="{FF2B5EF4-FFF2-40B4-BE49-F238E27FC236}">
                <a16:creationId xmlns:a16="http://schemas.microsoft.com/office/drawing/2014/main" id="{C228FD7A-EA31-4DC9-88AB-3CE80140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2410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0D14CD-AB5B-4D56-A650-36936635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241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9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042B3500-2398-44D6-9A0C-E0C7EC6C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4003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QUEUE</a:t>
            </a:r>
          </a:p>
        </p:txBody>
      </p:sp>
      <p:sp>
        <p:nvSpPr>
          <p:cNvPr id="40" name="flow-4-body">
            <a:extLst xmlns:a="http://schemas.openxmlformats.org/drawingml/2006/main">
              <a:ext uri="{FF2B5EF4-FFF2-40B4-BE49-F238E27FC236}">
                <a16:creationId xmlns:a16="http://schemas.microsoft.com/office/drawing/2014/main" id="{AC72BDB0-E5EB-4586-AFF3-BE8714A6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8605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Durable work claim</a:t>
            </a:r>
          </a:p>
        </p:txBody>
      </p:sp>
      <p:sp>
        <p:nvSpPr>
          <p:cNvPr id="41" name="flow-5">
            <a:extLst xmlns:a="http://schemas.openxmlformats.org/drawingml/2006/main">
              <a:ext uri="{FF2B5EF4-FFF2-40B4-BE49-F238E27FC236}">
                <a16:creationId xmlns:a16="http://schemas.microsoft.com/office/drawing/2014/main" id="{BEC78AEC-D940-4497-A589-65FA3EAF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32410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917266-57A4-4EA4-8470-AC9894EF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3241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43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EFC429AE-C4F2-4EB1-B537-CF6FB988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4003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WORKER</a:t>
            </a:r>
          </a:p>
        </p:txBody>
      </p:sp>
      <p:sp>
        <p:nvSpPr>
          <p:cNvPr id="44" name="flow-5-body">
            <a:extLst xmlns:a="http://schemas.openxmlformats.org/drawingml/2006/main">
              <a:ext uri="{FF2B5EF4-FFF2-40B4-BE49-F238E27FC236}">
                <a16:creationId xmlns:a16="http://schemas.microsoft.com/office/drawing/2014/main" id="{D9BC3881-1206-487F-A28B-FCFBD4AA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68605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Runs the agent</a:t>
            </a:r>
          </a:p>
        </p:txBody>
      </p:sp>
      <p:sp>
        <p:nvSpPr>
          <p:cNvPr id="45" name="flow-6">
            <a:extLst xmlns:a="http://schemas.openxmlformats.org/drawingml/2006/main">
              <a:ext uri="{FF2B5EF4-FFF2-40B4-BE49-F238E27FC236}">
                <a16:creationId xmlns:a16="http://schemas.microsoft.com/office/drawing/2014/main" id="{DEAC4CC2-EC4C-4907-91EA-7D4A13E4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32410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17354E-FB44-4685-AB7E-78A2E318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3241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7" name="flow-6-title">
            <a:extLst xmlns:a="http://schemas.openxmlformats.org/drawingml/2006/main">
              <a:ext uri="{FF2B5EF4-FFF2-40B4-BE49-F238E27FC236}">
                <a16:creationId xmlns:a16="http://schemas.microsoft.com/office/drawing/2014/main" id="{F61615A6-AF6D-4E72-8EB1-C760098B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4003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48" name="flow-6-body">
            <a:extLst xmlns:a="http://schemas.openxmlformats.org/drawingml/2006/main">
              <a:ext uri="{FF2B5EF4-FFF2-40B4-BE49-F238E27FC236}">
                <a16:creationId xmlns:a16="http://schemas.microsoft.com/office/drawing/2014/main" id="{F6270393-31DF-45CB-AFC5-9B8944CF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68605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Status or stream</a:t>
            </a:r>
          </a:p>
        </p:txBody>
      </p:sp>
      <p:cxnSp>
        <p:nvCxnSpPr>
          <p:cNvPr id="83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39395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421640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33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603885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37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786130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41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83750" y="3038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4" name="callout">
            <a:extLst xmlns:a="http://schemas.openxmlformats.org/drawingml/2006/main">
              <a:ext uri="{FF2B5EF4-FFF2-40B4-BE49-F238E27FC236}">
                <a16:creationId xmlns:a16="http://schemas.microsoft.com/office/drawing/2014/main" id="{231AAE9D-3799-424D-AB4C-BD20B0E9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Clients can poll status, subscribe over SSE, cancel work and inspect readiness without holding the request open.</a:t>
            </a:r>
          </a:p>
        </p:txBody>
      </p:sp>
    </p:spTree>
    <p:extLst>
      <p:ext uri="{BB962C8B-B14F-4D97-AF65-F5344CB8AC3E}">
        <p14:creationId xmlns:p14="http://schemas.microsoft.com/office/powerpoint/2010/main" val="7195831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4EF510-086A-4653-9DA8-98B040C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2 |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8752-3076-475D-8A81-0937187E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Treat job state as a 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397BC-9811-4FE4-B041-560A8DB9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7CF24-4774-4E61-BDAB-065D92C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25" name="queued">
            <a:extLst xmlns:a="http://schemas.openxmlformats.org/drawingml/2006/main">
              <a:ext uri="{FF2B5EF4-FFF2-40B4-BE49-F238E27FC236}">
                <a16:creationId xmlns:a16="http://schemas.microsoft.com/office/drawing/2014/main" id="{CFC3D76E-4C65-4EF0-8DA3-1168DB82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812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8EFED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8FC374-DCB4-42A4-9AB5-E4BC9B40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81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7" name="queued-title">
            <a:extLst xmlns:a="http://schemas.openxmlformats.org/drawingml/2006/main">
              <a:ext uri="{FF2B5EF4-FFF2-40B4-BE49-F238E27FC236}">
                <a16:creationId xmlns:a16="http://schemas.microsoft.com/office/drawing/2014/main" id="{719982B4-E0D5-44EA-8A8D-D0E392B4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574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QUEUED</a:t>
            </a:r>
          </a:p>
        </p:txBody>
      </p:sp>
      <p:sp>
        <p:nvSpPr>
          <p:cNvPr id="28" name="queued-body">
            <a:extLst xmlns:a="http://schemas.openxmlformats.org/drawingml/2006/main">
              <a:ext uri="{FF2B5EF4-FFF2-40B4-BE49-F238E27FC236}">
                <a16:creationId xmlns:a16="http://schemas.microsoft.com/office/drawing/2014/main" id="{6B0D8407-7980-49F4-B292-07468957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43200"/>
            <a:ext cx="15525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Persisted, not claimed</a:t>
            </a:r>
          </a:p>
        </p:txBody>
      </p:sp>
      <p:sp>
        <p:nvSpPr>
          <p:cNvPr id="29" name="running">
            <a:extLst xmlns:a="http://schemas.openxmlformats.org/drawingml/2006/main">
              <a:ext uri="{FF2B5EF4-FFF2-40B4-BE49-F238E27FC236}">
                <a16:creationId xmlns:a16="http://schemas.microsoft.com/office/drawing/2014/main" id="{AAC09DAB-D581-414D-AE83-1D6F9467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3812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342EBB-311C-44F7-BDA1-5B6E4A3A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381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1" name="running-title">
            <a:extLst xmlns:a="http://schemas.openxmlformats.org/drawingml/2006/main">
              <a:ext uri="{FF2B5EF4-FFF2-40B4-BE49-F238E27FC236}">
                <a16:creationId xmlns:a16="http://schemas.microsoft.com/office/drawing/2014/main" id="{CC673064-5D8B-4A96-A6D8-16E5106C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574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RUNNING</a:t>
            </a:r>
          </a:p>
        </p:txBody>
      </p:sp>
      <p:sp>
        <p:nvSpPr>
          <p:cNvPr id="32" name="running-body">
            <a:extLst xmlns:a="http://schemas.openxmlformats.org/drawingml/2006/main">
              <a:ext uri="{FF2B5EF4-FFF2-40B4-BE49-F238E27FC236}">
                <a16:creationId xmlns:a16="http://schemas.microsoft.com/office/drawing/2014/main" id="{06B03B45-6806-4AE1-A5D1-0A8DFA6E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43200"/>
            <a:ext cx="15525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Lease held by worker</a:t>
            </a:r>
          </a:p>
        </p:txBody>
      </p:sp>
      <p:sp>
        <p:nvSpPr>
          <p:cNvPr id="33" name="done">
            <a:extLst xmlns:a="http://schemas.openxmlformats.org/drawingml/2006/main">
              <a:ext uri="{FF2B5EF4-FFF2-40B4-BE49-F238E27FC236}">
                <a16:creationId xmlns:a16="http://schemas.microsoft.com/office/drawing/2014/main" id="{371CBF84-6E98-4EC5-B071-B185861D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09750"/>
            <a:ext cx="1905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D3E9B0-18D2-4876-93EA-3F8D1C90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097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35" name="done-title">
            <a:extLst xmlns:a="http://schemas.openxmlformats.org/drawingml/2006/main">
              <a:ext uri="{FF2B5EF4-FFF2-40B4-BE49-F238E27FC236}">
                <a16:creationId xmlns:a16="http://schemas.microsoft.com/office/drawing/2014/main" id="{937CB893-F3CE-4390-B549-C6BF6D47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1885950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SUCCEEDED</a:t>
            </a:r>
          </a:p>
        </p:txBody>
      </p:sp>
      <p:sp>
        <p:nvSpPr>
          <p:cNvPr id="36" name="done-body">
            <a:extLst xmlns:a="http://schemas.openxmlformats.org/drawingml/2006/main">
              <a:ext uri="{FF2B5EF4-FFF2-40B4-BE49-F238E27FC236}">
                <a16:creationId xmlns:a16="http://schemas.microsoft.com/office/drawing/2014/main" id="{9EC12327-C634-4CE5-BE1B-70C2AAA0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171700"/>
            <a:ext cx="16478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Result is immutable</a:t>
            </a:r>
          </a:p>
        </p:txBody>
      </p:sp>
      <p:sp>
        <p:nvSpPr>
          <p:cNvPr id="37" name="failed">
            <a:extLst xmlns:a="http://schemas.openxmlformats.org/drawingml/2006/main">
              <a:ext uri="{FF2B5EF4-FFF2-40B4-BE49-F238E27FC236}">
                <a16:creationId xmlns:a16="http://schemas.microsoft.com/office/drawing/2014/main" id="{3A943E9E-32AC-4545-98A6-BBF26DD6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43250"/>
            <a:ext cx="1905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B83A3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1A97AC-ACCA-40DD-A260-794EE49E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432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A3A"/>
          </a:solidFill>
          <a:ln xmlns:a="http://schemas.openxmlformats.org/drawingml/2006/main" w="0">
            <a:solidFill>
              <a:srgbClr val="B83A3A"/>
            </a:solidFill>
            <a:prstDash val="solid"/>
          </a:ln>
        </p:spPr>
      </p:sp>
      <p:sp>
        <p:nvSpPr>
          <p:cNvPr id="39" name="failed-title">
            <a:extLst xmlns:a="http://schemas.openxmlformats.org/drawingml/2006/main">
              <a:ext uri="{FF2B5EF4-FFF2-40B4-BE49-F238E27FC236}">
                <a16:creationId xmlns:a16="http://schemas.microsoft.com/office/drawing/2014/main" id="{6E74D0F0-0E3C-44CB-81ED-1C937EAF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219450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FAILED</a:t>
            </a:r>
          </a:p>
        </p:txBody>
      </p:sp>
      <p:sp>
        <p:nvSpPr>
          <p:cNvPr id="40" name="failed-body">
            <a:extLst xmlns:a="http://schemas.openxmlformats.org/drawingml/2006/main">
              <a:ext uri="{FF2B5EF4-FFF2-40B4-BE49-F238E27FC236}">
                <a16:creationId xmlns:a16="http://schemas.microsoft.com/office/drawing/2014/main" id="{FFB8A7ED-D201-4786-A7F5-3C035926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505200"/>
            <a:ext cx="16478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Typed error recorded</a:t>
            </a:r>
          </a:p>
        </p:txBody>
      </p:sp>
      <p:sp>
        <p:nvSpPr>
          <p:cNvPr id="41" name="cancelled">
            <a:extLst xmlns:a="http://schemas.openxmlformats.org/drawingml/2006/main">
              <a:ext uri="{FF2B5EF4-FFF2-40B4-BE49-F238E27FC236}">
                <a16:creationId xmlns:a16="http://schemas.microsoft.com/office/drawing/2014/main" id="{FFF1D7D5-66CE-44EE-82EA-628A1EC1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E8DD44-C916-4C45-B188-DE927AEB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43" name="cancelled-title">
            <a:extLst xmlns:a="http://schemas.openxmlformats.org/drawingml/2006/main">
              <a:ext uri="{FF2B5EF4-FFF2-40B4-BE49-F238E27FC236}">
                <a16:creationId xmlns:a16="http://schemas.microsoft.com/office/drawing/2014/main" id="{681B2C35-B2E5-47F9-AC0B-6AB97A29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4574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CANCELLED</a:t>
            </a:r>
          </a:p>
        </p:txBody>
      </p:sp>
      <p:sp>
        <p:nvSpPr>
          <p:cNvPr id="44" name="cancelled-body">
            <a:extLst xmlns:a="http://schemas.openxmlformats.org/drawingml/2006/main">
              <a:ext uri="{FF2B5EF4-FFF2-40B4-BE49-F238E27FC236}">
                <a16:creationId xmlns:a16="http://schemas.microsoft.com/office/drawing/2014/main" id="{162D88A0-CD1C-4249-A28C-E95C76DE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43200"/>
            <a:ext cx="15525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Cooperative stop</a:t>
            </a:r>
          </a:p>
        </p:txBody>
      </p:sp>
      <p:cxnSp>
        <p:nvCxnSpPr>
          <p:cNvPr id="74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838450" y="2914650"/>
            <a:ext cx="10191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 flipV="1">
            <a:off x="5667375" y="2305050"/>
            <a:ext cx="1019175" cy="609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67A53"/>
            </a:solidFill>
            <a:prstDash val="solid"/>
            <a:tailEnd type="triangle" w="sm" len="sm"/>
          </a:ln>
        </p:spPr>
      </p:cxnSp>
      <p:cxnSp>
        <p:nvCxnSpPr>
          <p:cNvPr id="76" name=""/>
          <p:cNvCxnSpPr>
            <a:stCxn xmlns:a="http://schemas.openxmlformats.org/drawingml/2006/main" id="29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667375" y="2914650"/>
            <a:ext cx="1019175" cy="7239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B83A3A"/>
            </a:solidFill>
            <a:prstDash val="solid"/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2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5667375" y="2914650"/>
            <a:ext cx="395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6A19"/>
            </a:solidFill>
            <a:prstDash val="dash"/>
            <a:tailEnd type="triangle" w="sm" len="sm"/>
          </a:ln>
        </p:spPr>
      </p:cxnSp>
      <p:sp>
        <p:nvSpPr>
          <p:cNvPr id="49" name="callout">
            <a:extLst xmlns:a="http://schemas.openxmlformats.org/drawingml/2006/main">
              <a:ext uri="{FF2B5EF4-FFF2-40B4-BE49-F238E27FC236}">
                <a16:creationId xmlns:a16="http://schemas.microsoft.com/office/drawing/2014/main" id="{9873DFD7-E977-40EB-80ED-61C5D5EC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104013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Expired leases can be reclaimed. Terminal states cannot move backwards.</a:t>
            </a:r>
          </a:p>
        </p:txBody>
      </p:sp>
    </p:spTree>
    <p:extLst>
      <p:ext uri="{BB962C8B-B14F-4D97-AF65-F5344CB8AC3E}">
        <p14:creationId xmlns:p14="http://schemas.microsoft.com/office/powerpoint/2010/main" val="7195831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F3EAF-F366-416D-8125-F92734E0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2 | SECURITY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C1B4C-890E-47B9-B1C6-059E778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Keep tenant boundaries inside every query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AEF36-F0F8-454A-96DF-B4CAE0C4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18C70-59E6-4611-8202-E84EC855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22" name="lane">
            <a:extLst xmlns:a="http://schemas.openxmlformats.org/drawingml/2006/main">
              <a:ext uri="{FF2B5EF4-FFF2-40B4-BE49-F238E27FC236}">
                <a16:creationId xmlns:a16="http://schemas.microsoft.com/office/drawing/2014/main" id="{AF433331-87C0-410F-8522-2C365F81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3" name="pill">
            <a:extLst xmlns:a="http://schemas.openxmlformats.org/drawingml/2006/main">
              <a:ext uri="{FF2B5EF4-FFF2-40B4-BE49-F238E27FC236}">
                <a16:creationId xmlns:a16="http://schemas.microsoft.com/office/drawing/2014/main" id="{6DFF0731-429E-457E-937D-AF42CC3F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REQUEST POLICY</a:t>
            </a:r>
          </a:p>
        </p:txBody>
      </p:sp>
      <p:sp>
        <p:nvSpPr>
          <p:cNvPr id="24" name="flow-1">
            <a:extLst xmlns:a="http://schemas.openxmlformats.org/drawingml/2006/main">
              <a:ext uri="{FF2B5EF4-FFF2-40B4-BE49-F238E27FC236}">
                <a16:creationId xmlns:a16="http://schemas.microsoft.com/office/drawing/2014/main" id="{796DC444-1BD4-4665-8D79-97626B28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191262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24F3C6-C743-491C-9145-4DE35EBE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6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D656C571-DCDF-49DF-8564-1D3F3317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266950"/>
            <a:ext cx="165544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API KEY</a:t>
            </a:r>
          </a:p>
        </p:txBody>
      </p:sp>
      <p:sp>
        <p:nvSpPr>
          <p:cNvPr id="27" name="flow-1-body">
            <a:extLst xmlns:a="http://schemas.openxmlformats.org/drawingml/2006/main">
              <a:ext uri="{FF2B5EF4-FFF2-40B4-BE49-F238E27FC236}">
                <a16:creationId xmlns:a16="http://schemas.microsoft.com/office/drawing/2014/main" id="{B08E7155-0036-418F-B6AD-66CC6826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52700"/>
            <a:ext cx="165544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Authenticate</a:t>
            </a:r>
          </a:p>
        </p:txBody>
      </p:sp>
      <p:sp>
        <p:nvSpPr>
          <p:cNvPr id="28" name="flow-2">
            <a:extLst xmlns:a="http://schemas.openxmlformats.org/drawingml/2006/main">
              <a:ext uri="{FF2B5EF4-FFF2-40B4-BE49-F238E27FC236}">
                <a16:creationId xmlns:a16="http://schemas.microsoft.com/office/drawing/2014/main" id="{1FA6FA03-6571-4C42-8344-99543C7D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190750"/>
            <a:ext cx="191262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2123B-012F-49AD-BAE5-3DB278B6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1907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0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2CE51C1F-5FE7-4AA4-B34D-8D4F4949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495" y="2266950"/>
            <a:ext cx="165544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TENANT SCOPE</a:t>
            </a:r>
          </a:p>
        </p:txBody>
      </p:sp>
      <p:sp>
        <p:nvSpPr>
          <p:cNvPr id="31" name="flow-2-body">
            <a:extLst xmlns:a="http://schemas.openxmlformats.org/drawingml/2006/main">
              <a:ext uri="{FF2B5EF4-FFF2-40B4-BE49-F238E27FC236}">
                <a16:creationId xmlns:a16="http://schemas.microsoft.com/office/drawing/2014/main" id="{01B26375-1250-49DA-B09B-EB2D4A63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495" y="2552700"/>
            <a:ext cx="165544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Bind identity</a:t>
            </a:r>
          </a:p>
        </p:txBody>
      </p:sp>
      <p:sp>
        <p:nvSpPr>
          <p:cNvPr id="32" name="flow-3">
            <a:extLst xmlns:a="http://schemas.openxmlformats.org/drawingml/2006/main">
              <a:ext uri="{FF2B5EF4-FFF2-40B4-BE49-F238E27FC236}">
                <a16:creationId xmlns:a16="http://schemas.microsoft.com/office/drawing/2014/main" id="{9358B5E8-F98C-4D9B-AE1D-1687D22C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9690" y="2190750"/>
            <a:ext cx="191262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E8D6B9-D471-444E-AE4E-8CE61E99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9690" y="21907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4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8FF1FCA8-2B53-41A5-A024-D35380F6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565" y="2266950"/>
            <a:ext cx="165544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IDEMPOTENCY</a:t>
            </a:r>
          </a:p>
        </p:txBody>
      </p:sp>
      <p:sp>
        <p:nvSpPr>
          <p:cNvPr id="35" name="flow-3-body">
            <a:extLst xmlns:a="http://schemas.openxmlformats.org/drawingml/2006/main">
              <a:ext uri="{FF2B5EF4-FFF2-40B4-BE49-F238E27FC236}">
                <a16:creationId xmlns:a16="http://schemas.microsoft.com/office/drawing/2014/main" id="{72F8546C-EA53-4186-8B6E-35766890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565" y="2552700"/>
            <a:ext cx="165544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Deduplicate</a:t>
            </a:r>
          </a:p>
        </p:txBody>
      </p:sp>
      <p:sp>
        <p:nvSpPr>
          <p:cNvPr id="36" name="flow-4">
            <a:extLst xmlns:a="http://schemas.openxmlformats.org/drawingml/2006/main">
              <a:ext uri="{FF2B5EF4-FFF2-40B4-BE49-F238E27FC236}">
                <a16:creationId xmlns:a16="http://schemas.microsoft.com/office/drawing/2014/main" id="{7FBC8F56-3362-4E3D-9B6A-1243F57C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190750"/>
            <a:ext cx="191262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5E0821-2004-43B1-BDA0-D21C5ED9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1907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8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532E85E3-2588-4CB9-9D01-3473936C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635" y="2266950"/>
            <a:ext cx="165544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QUOTA</a:t>
            </a:r>
          </a:p>
        </p:txBody>
      </p:sp>
      <p:sp>
        <p:nvSpPr>
          <p:cNvPr id="39" name="flow-4-body">
            <a:extLst xmlns:a="http://schemas.openxmlformats.org/drawingml/2006/main">
              <a:ext uri="{FF2B5EF4-FFF2-40B4-BE49-F238E27FC236}">
                <a16:creationId xmlns:a16="http://schemas.microsoft.com/office/drawing/2014/main" id="{56662533-8E89-4E83-92A4-0D40448C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635" y="2552700"/>
            <a:ext cx="165544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Bound usage</a:t>
            </a:r>
          </a:p>
        </p:txBody>
      </p:sp>
      <p:sp>
        <p:nvSpPr>
          <p:cNvPr id="40" name="flow-5">
            <a:extLst xmlns:a="http://schemas.openxmlformats.org/drawingml/2006/main">
              <a:ext uri="{FF2B5EF4-FFF2-40B4-BE49-F238E27FC236}">
                <a16:creationId xmlns:a16="http://schemas.microsoft.com/office/drawing/2014/main" id="{CA7DA70D-A8FA-4A19-9706-EF12058E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830" y="2190750"/>
            <a:ext cx="191262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213DA8-915D-4318-9EE6-499956BA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830" y="21907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2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0C1FF844-CCBF-4DAB-B7CD-711D457C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0705" y="2266950"/>
            <a:ext cx="165544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REPOSITORY</a:t>
            </a:r>
          </a:p>
        </p:txBody>
      </p:sp>
      <p:sp>
        <p:nvSpPr>
          <p:cNvPr id="43" name="flow-5-body">
            <a:extLst xmlns:a="http://schemas.openxmlformats.org/drawingml/2006/main">
              <a:ext uri="{FF2B5EF4-FFF2-40B4-BE49-F238E27FC236}">
                <a16:creationId xmlns:a16="http://schemas.microsoft.com/office/drawing/2014/main" id="{1BC92E8A-CE02-4708-957E-A959C5E8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0705" y="2552700"/>
            <a:ext cx="165544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Filter every access</a:t>
            </a:r>
          </a:p>
        </p:txBody>
      </p:sp>
      <p:cxnSp>
        <p:nvCxnSpPr>
          <p:cNvPr id="80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2884170" y="25812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4968240" y="25812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32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7052310" y="25812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3" name=""/>
          <p:cNvCxnSpPr>
            <a:stCxn xmlns:a="http://schemas.openxmlformats.org/drawingml/2006/main" id="36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9136380" y="25812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8" name="lane">
            <a:extLst xmlns:a="http://schemas.openxmlformats.org/drawingml/2006/main">
              <a:ext uri="{FF2B5EF4-FFF2-40B4-BE49-F238E27FC236}">
                <a16:creationId xmlns:a16="http://schemas.microsoft.com/office/drawing/2014/main" id="{A99005CB-50FD-4E1E-A103-8D2E7A14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8204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49" name="pill">
            <a:extLst xmlns:a="http://schemas.openxmlformats.org/drawingml/2006/main">
              <a:ext uri="{FF2B5EF4-FFF2-40B4-BE49-F238E27FC236}">
                <a16:creationId xmlns:a16="http://schemas.microsoft.com/office/drawing/2014/main" id="{C552C01D-359F-4A70-8BFF-E8AD62C4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ISOLATION OUTCOME</a:t>
            </a:r>
          </a:p>
        </p:txBody>
      </p:sp>
      <p:sp>
        <p:nvSpPr>
          <p:cNvPr id="50" name="text">
            <a:extLst xmlns:a="http://schemas.openxmlformats.org/drawingml/2006/main">
              <a:ext uri="{FF2B5EF4-FFF2-40B4-BE49-F238E27FC236}">
                <a16:creationId xmlns:a16="http://schemas.microsoft.com/office/drawing/2014/main" id="{7C4B99F0-261F-4B4C-A40A-B290652C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43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Tenant A</a:t>
            </a:r>
          </a:p>
        </p:txBody>
      </p:sp>
      <p:sp>
        <p:nvSpPr>
          <p:cNvPr id="51" name="text">
            <a:extLst xmlns:a="http://schemas.openxmlformats.org/drawingml/2006/main">
              <a:ext uri="{FF2B5EF4-FFF2-40B4-BE49-F238E27FC236}">
                <a16:creationId xmlns:a16="http://schemas.microsoft.com/office/drawing/2014/main" id="{08446925-8EE6-49A0-AE55-1AD11C9C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83A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B83A3A"/>
                </a:solidFill>
                <a:latin typeface="Calibri"/>
                <a:ea typeface="Calibri"/>
                <a:cs typeface="Calibri"/>
              </a:rPr>
              <a:t>404 across boundary</a:t>
            </a:r>
          </a:p>
        </p:txBody>
      </p:sp>
      <p:sp>
        <p:nvSpPr>
          <p:cNvPr id="52" name="text">
            <a:extLst xmlns:a="http://schemas.openxmlformats.org/drawingml/2006/main">
              <a:ext uri="{FF2B5EF4-FFF2-40B4-BE49-F238E27FC236}">
                <a16:creationId xmlns:a16="http://schemas.microsoft.com/office/drawing/2014/main" id="{A8852276-3699-45B6-899A-CFC9891C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43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Tenant B</a:t>
            </a:r>
          </a:p>
        </p:txBody>
      </p:sp>
      <p:sp>
        <p:nvSpPr>
          <p:cNvPr id="53" name="callout">
            <a:extLst xmlns:a="http://schemas.openxmlformats.org/drawingml/2006/main">
              <a:ext uri="{FF2B5EF4-FFF2-40B4-BE49-F238E27FC236}">
                <a16:creationId xmlns:a16="http://schemas.microsoft.com/office/drawing/2014/main" id="{C029E52B-2C25-4B47-8177-431CEEBB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same scope applies to status, events, cancellation and result retrieval.</a:t>
            </a:r>
          </a:p>
        </p:txBody>
      </p:sp>
    </p:spTree>
    <p:extLst>
      <p:ext uri="{BB962C8B-B14F-4D97-AF65-F5344CB8AC3E}">
        <p14:creationId xmlns:p14="http://schemas.microsoft.com/office/powerpoint/2010/main" val="16521334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72D51E-2F82-4574-937B-EB8E2C67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3 | CLOUD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927E5-383F-47AF-95CD-1E62DBA8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Serverless where idle should cost nothing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E2D20-2B56-4CBF-8F81-E8D5A13B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BC9BC-2E96-4BCC-A3CB-6A2C9D2F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24" name="gh">
            <a:extLst xmlns:a="http://schemas.openxmlformats.org/drawingml/2006/main">
              <a:ext uri="{FF2B5EF4-FFF2-40B4-BE49-F238E27FC236}">
                <a16:creationId xmlns:a16="http://schemas.microsoft.com/office/drawing/2014/main" id="{321F20E4-9B5B-4272-B016-458865A0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71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8EFED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E1A52C-B72F-47A0-A981-229BDE66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6" name="gh-title">
            <a:extLst xmlns:a="http://schemas.openxmlformats.org/drawingml/2006/main">
              <a:ext uri="{FF2B5EF4-FFF2-40B4-BE49-F238E27FC236}">
                <a16:creationId xmlns:a16="http://schemas.microsoft.com/office/drawing/2014/main" id="{52AC97A4-488E-4638-8CF3-30BFA62F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1457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GitHub Actions</a:t>
            </a:r>
          </a:p>
        </p:txBody>
      </p:sp>
      <p:sp>
        <p:nvSpPr>
          <p:cNvPr id="27" name="gh-body">
            <a:extLst xmlns:a="http://schemas.openxmlformats.org/drawingml/2006/main">
              <a:ext uri="{FF2B5EF4-FFF2-40B4-BE49-F238E27FC236}">
                <a16:creationId xmlns:a16="http://schemas.microsoft.com/office/drawing/2014/main" id="{B4F0CCD9-0382-4AB4-B5FF-BE4D0379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67000"/>
            <a:ext cx="14573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OIDC, no static key</a:t>
            </a:r>
          </a:p>
        </p:txBody>
      </p:sp>
      <p:sp>
        <p:nvSpPr>
          <p:cNvPr id="28" name="registry">
            <a:extLst xmlns:a="http://schemas.openxmlformats.org/drawingml/2006/main">
              <a:ext uri="{FF2B5EF4-FFF2-40B4-BE49-F238E27FC236}">
                <a16:creationId xmlns:a16="http://schemas.microsoft.com/office/drawing/2014/main" id="{87DF6092-D913-4442-B6AF-91FE8D26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050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511E4B-3111-4205-B1A9-FAEF6CCE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050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0" name="registry-title">
            <a:extLst xmlns:a="http://schemas.openxmlformats.org/drawingml/2006/main">
              <a:ext uri="{FF2B5EF4-FFF2-40B4-BE49-F238E27FC236}">
                <a16:creationId xmlns:a16="http://schemas.microsoft.com/office/drawing/2014/main" id="{77B0086E-4014-468A-B81A-E7299ACE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3812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Artifact Registry</a:t>
            </a:r>
          </a:p>
        </p:txBody>
      </p:sp>
      <p:sp>
        <p:nvSpPr>
          <p:cNvPr id="31" name="registry-body">
            <a:extLst xmlns:a="http://schemas.openxmlformats.org/drawingml/2006/main">
              <a:ext uri="{FF2B5EF4-FFF2-40B4-BE49-F238E27FC236}">
                <a16:creationId xmlns:a16="http://schemas.microsoft.com/office/drawing/2014/main" id="{46B19C83-FB40-4934-AC1E-46ADE667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67000"/>
            <a:ext cx="15525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Immutable digest</a:t>
            </a:r>
          </a:p>
        </p:txBody>
      </p:sp>
      <p:sp>
        <p:nvSpPr>
          <p:cNvPr id="32" name="cloud-api">
            <a:extLst xmlns:a="http://schemas.openxmlformats.org/drawingml/2006/main">
              <a:ext uri="{FF2B5EF4-FFF2-40B4-BE49-F238E27FC236}">
                <a16:creationId xmlns:a16="http://schemas.microsoft.com/office/drawing/2014/main" id="{EF354F2F-251C-4DC7-9349-7640EB3B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0975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1ECF57-FEBD-432E-A845-34E03788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097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4" name="cloud-api-title">
            <a:extLst xmlns:a="http://schemas.openxmlformats.org/drawingml/2006/main">
              <a:ext uri="{FF2B5EF4-FFF2-40B4-BE49-F238E27FC236}">
                <a16:creationId xmlns:a16="http://schemas.microsoft.com/office/drawing/2014/main" id="{693BE97C-0250-4132-AC1F-5DF1B9EE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8859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Cloud Run API</a:t>
            </a:r>
          </a:p>
        </p:txBody>
      </p:sp>
      <p:sp>
        <p:nvSpPr>
          <p:cNvPr id="35" name="cloud-api-body">
            <a:extLst xmlns:a="http://schemas.openxmlformats.org/drawingml/2006/main">
              <a:ext uri="{FF2B5EF4-FFF2-40B4-BE49-F238E27FC236}">
                <a16:creationId xmlns:a16="http://schemas.microsoft.com/office/drawing/2014/main" id="{C0DA5C77-92E0-49F2-999F-7009376B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171700"/>
            <a:ext cx="15525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min 0, max 1</a:t>
            </a:r>
          </a:p>
        </p:txBody>
      </p:sp>
      <p:sp>
        <p:nvSpPr>
          <p:cNvPr id="36" name="cloud-worker">
            <a:extLst xmlns:a="http://schemas.openxmlformats.org/drawingml/2006/main">
              <a:ext uri="{FF2B5EF4-FFF2-40B4-BE49-F238E27FC236}">
                <a16:creationId xmlns:a16="http://schemas.microsoft.com/office/drawing/2014/main" id="{3DFF6D4D-CF01-4AB6-99DD-33518C08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38500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316D68-D5F7-4ADF-A318-B5914011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385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8" name="cloud-worker-title">
            <a:extLst xmlns:a="http://schemas.openxmlformats.org/drawingml/2006/main">
              <a:ext uri="{FF2B5EF4-FFF2-40B4-BE49-F238E27FC236}">
                <a16:creationId xmlns:a16="http://schemas.microsoft.com/office/drawing/2014/main" id="{F54A347C-300D-4B09-8B32-4A713487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1470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Cloud Run worker</a:t>
            </a:r>
          </a:p>
        </p:txBody>
      </p:sp>
      <p:sp>
        <p:nvSpPr>
          <p:cNvPr id="39" name="cloud-worker-body">
            <a:extLst xmlns:a="http://schemas.openxmlformats.org/drawingml/2006/main">
              <a:ext uri="{FF2B5EF4-FFF2-40B4-BE49-F238E27FC236}">
                <a16:creationId xmlns:a16="http://schemas.microsoft.com/office/drawing/2014/main" id="{14779C39-D6C4-4A0E-B825-584E74FC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600450"/>
            <a:ext cx="15525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Task target</a:t>
            </a:r>
          </a:p>
        </p:txBody>
      </p:sp>
      <p:sp>
        <p:nvSpPr>
          <p:cNvPr id="40" name="tasks">
            <a:extLst xmlns:a="http://schemas.openxmlformats.org/drawingml/2006/main">
              <a:ext uri="{FF2B5EF4-FFF2-40B4-BE49-F238E27FC236}">
                <a16:creationId xmlns:a16="http://schemas.microsoft.com/office/drawing/2014/main" id="{9B00AAF3-9FD0-4894-AC92-4F156B44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6668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BA4B7D-6EA0-4A1E-A521-9FFEF1BF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42" name="tasks-title">
            <a:extLst xmlns:a="http://schemas.openxmlformats.org/drawingml/2006/main">
              <a:ext uri="{FF2B5EF4-FFF2-40B4-BE49-F238E27FC236}">
                <a16:creationId xmlns:a16="http://schemas.microsoft.com/office/drawing/2014/main" id="{99D23382-F704-4957-8B17-200688C9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381250"/>
            <a:ext cx="1409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Cloud Tasks</a:t>
            </a:r>
          </a:p>
        </p:txBody>
      </p:sp>
      <p:sp>
        <p:nvSpPr>
          <p:cNvPr id="43" name="tasks-body">
            <a:extLst xmlns:a="http://schemas.openxmlformats.org/drawingml/2006/main">
              <a:ext uri="{FF2B5EF4-FFF2-40B4-BE49-F238E27FC236}">
                <a16:creationId xmlns:a16="http://schemas.microsoft.com/office/drawing/2014/main" id="{BE2EBB28-A401-4137-A376-5FDF77B2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66700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Concurrency 1</a:t>
            </a:r>
          </a:p>
        </p:txBody>
      </p:sp>
      <p:sp>
        <p:nvSpPr>
          <p:cNvPr id="44" name="data">
            <a:extLst xmlns:a="http://schemas.openxmlformats.org/drawingml/2006/main">
              <a:ext uri="{FF2B5EF4-FFF2-40B4-BE49-F238E27FC236}">
                <a16:creationId xmlns:a16="http://schemas.microsoft.com/office/drawing/2014/main" id="{77A91574-FCEB-4372-BB65-3606A2E1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305050"/>
            <a:ext cx="171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E474C4-CB09-43BC-BA59-1E62AD7B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3050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6" name="data-title">
            <a:extLst xmlns:a="http://schemas.openxmlformats.org/drawingml/2006/main">
              <a:ext uri="{FF2B5EF4-FFF2-40B4-BE49-F238E27FC236}">
                <a16:creationId xmlns:a16="http://schemas.microsoft.com/office/drawing/2014/main" id="{A66A4B07-2237-4934-A44E-C6D8CBE9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81250"/>
            <a:ext cx="1457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Firestore + secrets</a:t>
            </a:r>
          </a:p>
        </p:txBody>
      </p:sp>
      <p:sp>
        <p:nvSpPr>
          <p:cNvPr id="47" name="data-body">
            <a:extLst xmlns:a="http://schemas.openxmlformats.org/drawingml/2006/main">
              <a:ext uri="{FF2B5EF4-FFF2-40B4-BE49-F238E27FC236}">
                <a16:creationId xmlns:a16="http://schemas.microsoft.com/office/drawing/2014/main" id="{2A3C4640-AFE6-4142-947F-0184B5C2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67000"/>
            <a:ext cx="14573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State and config</a:t>
            </a:r>
          </a:p>
        </p:txBody>
      </p:sp>
      <p:cxnSp>
        <p:nvCxnSpPr>
          <p:cNvPr id="83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2476500" y="28384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 flipV="1">
            <a:off x="4762500" y="2305050"/>
            <a:ext cx="476250" cy="5334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463EB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28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4762500" y="2838450"/>
            <a:ext cx="476250" cy="895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07A75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32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7048500" y="2305050"/>
            <a:ext cx="571500" cy="5334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40" idx="1"/>
            <a:endCxn xmlns:a="http://schemas.openxmlformats.org/drawingml/2006/main" id="36" idx="3"/>
          </p:cNvCxnSpPr>
          <p:nvPr/>
        </p:nvCxnSpPr>
        <p:spPr>
          <a:xfrm xmlns:a="http://schemas.openxmlformats.org/drawingml/2006/main" flipH="1">
            <a:off x="7048500" y="2838450"/>
            <a:ext cx="571500" cy="895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C66A19"/>
            </a:solidFill>
            <a:prstDash val="solid"/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40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9286875" y="28384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4" name="callout">
            <a:extLst xmlns:a="http://schemas.openxmlformats.org/drawingml/2006/main">
              <a:ext uri="{FF2B5EF4-FFF2-40B4-BE49-F238E27FC236}">
                <a16:creationId xmlns:a16="http://schemas.microsoft.com/office/drawing/2014/main" id="{A0AF2419-204D-45EB-A85B-4587244D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0715625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Logging and monitoring span both services. The assessment deployment contains no LLM runtime and no GPU resources.</a:t>
            </a:r>
          </a:p>
        </p:txBody>
      </p:sp>
    </p:spTree>
    <p:extLst>
      <p:ext uri="{BB962C8B-B14F-4D97-AF65-F5344CB8AC3E}">
        <p14:creationId xmlns:p14="http://schemas.microsoft.com/office/powerpoint/2010/main" val="8632606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72D51E-2F82-4574-937B-EB8E2C67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3 | PROVISIONING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927E5-383F-47AF-95CD-1E62DBA8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Terraform owns the first deployment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E2D20-2B56-4CBF-8F81-E8D5A13B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BC9BC-2E96-4BCC-A3CB-6A2C9D2F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24" name="flow-1">
            <a:extLst xmlns:a="http://schemas.openxmlformats.org/drawingml/2006/main">
              <a:ext uri="{FF2B5EF4-FFF2-40B4-BE49-F238E27FC236}">
                <a16:creationId xmlns:a16="http://schemas.microsoft.com/office/drawing/2014/main" id="{EC3EFCE6-D9FC-4CE6-B38F-F98D5B1A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C2F430-D55F-4088-9427-C682C7A4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6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744915BC-4048-4C78-B6FD-E02ED0A8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PREREQUISITES</a:t>
            </a:r>
          </a:p>
        </p:txBody>
      </p:sp>
      <p:sp>
        <p:nvSpPr>
          <p:cNvPr id="27" name="flow-1-body">
            <a:extLst xmlns:a="http://schemas.openxmlformats.org/drawingml/2006/main">
              <a:ext uri="{FF2B5EF4-FFF2-40B4-BE49-F238E27FC236}">
                <a16:creationId xmlns:a16="http://schemas.microsoft.com/office/drawing/2014/main" id="{B17296E5-E7AA-447E-B9A1-FBA9CDD6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Accounts + ADC</a:t>
            </a:r>
          </a:p>
        </p:txBody>
      </p:sp>
      <p:sp>
        <p:nvSpPr>
          <p:cNvPr id="28" name="flow-2">
            <a:extLst xmlns:a="http://schemas.openxmlformats.org/drawingml/2006/main">
              <a:ext uri="{FF2B5EF4-FFF2-40B4-BE49-F238E27FC236}">
                <a16:creationId xmlns:a16="http://schemas.microsoft.com/office/drawing/2014/main" id="{26A638E0-0ACF-4D35-894B-A5AECB04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B3C246-DBFC-4187-B796-37FB3145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0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AB3D42B4-FAB4-4EAE-9781-632FE7C5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bootstrap.sh</a:t>
            </a:r>
          </a:p>
        </p:txBody>
      </p:sp>
      <p:sp>
        <p:nvSpPr>
          <p:cNvPr id="31" name="flow-2-body">
            <a:extLst xmlns:a="http://schemas.openxmlformats.org/drawingml/2006/main">
              <a:ext uri="{FF2B5EF4-FFF2-40B4-BE49-F238E27FC236}">
                <a16:creationId xmlns:a16="http://schemas.microsoft.com/office/drawing/2014/main" id="{617DA6A9-7ED0-40BD-959D-25E26B99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Single operator entry</a:t>
            </a:r>
          </a:p>
        </p:txBody>
      </p:sp>
      <p:sp>
        <p:nvSpPr>
          <p:cNvPr id="32" name="flow-3">
            <a:extLst xmlns:a="http://schemas.openxmlformats.org/drawingml/2006/main">
              <a:ext uri="{FF2B5EF4-FFF2-40B4-BE49-F238E27FC236}">
                <a16:creationId xmlns:a16="http://schemas.microsoft.com/office/drawing/2014/main" id="{C467EDC6-E3D4-4EE4-9C6D-028F313B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B4482F-4D89-4B35-B7F6-F174E6A5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4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AC19EC22-04E1-4385-A2E5-EAD2A199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STATE ROOT</a:t>
            </a:r>
          </a:p>
        </p:txBody>
      </p:sp>
      <p:sp>
        <p:nvSpPr>
          <p:cNvPr id="35" name="flow-3-body">
            <a:extLst xmlns:a="http://schemas.openxmlformats.org/drawingml/2006/main">
              <a:ext uri="{FF2B5EF4-FFF2-40B4-BE49-F238E27FC236}">
                <a16:creationId xmlns:a16="http://schemas.microsoft.com/office/drawing/2014/main" id="{01784D40-78F1-4E10-8E44-C50C1607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Private GCS backends</a:t>
            </a:r>
          </a:p>
        </p:txBody>
      </p:sp>
      <p:sp>
        <p:nvSpPr>
          <p:cNvPr id="36" name="flow-4">
            <a:extLst xmlns:a="http://schemas.openxmlformats.org/drawingml/2006/main">
              <a:ext uri="{FF2B5EF4-FFF2-40B4-BE49-F238E27FC236}">
                <a16:creationId xmlns:a16="http://schemas.microsoft.com/office/drawing/2014/main" id="{F1800FBF-4E04-4535-AB2C-F0B0CADB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BC092D-951B-4F79-A97E-2C2592F1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8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2E69AA7B-1497-49EA-99C0-2A268316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BOOTSTRAP ROOT</a:t>
            </a:r>
          </a:p>
        </p:txBody>
      </p:sp>
      <p:sp>
        <p:nvSpPr>
          <p:cNvPr id="39" name="flow-4-body">
            <a:extLst xmlns:a="http://schemas.openxmlformats.org/drawingml/2006/main">
              <a:ext uri="{FF2B5EF4-FFF2-40B4-BE49-F238E27FC236}">
                <a16:creationId xmlns:a16="http://schemas.microsoft.com/office/drawing/2014/main" id="{DF3866E1-C6F0-4C55-B322-F4439C9C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APIs, IAM, WIF</a:t>
            </a:r>
          </a:p>
        </p:txBody>
      </p:sp>
      <p:sp>
        <p:nvSpPr>
          <p:cNvPr id="40" name="flow-5">
            <a:extLst xmlns:a="http://schemas.openxmlformats.org/drawingml/2006/main">
              <a:ext uri="{FF2B5EF4-FFF2-40B4-BE49-F238E27FC236}">
                <a16:creationId xmlns:a16="http://schemas.microsoft.com/office/drawing/2014/main" id="{1E03918C-7F62-4D3A-B0AA-4719C3AB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F575D8-5755-42F4-B046-2091F6E4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42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27D51959-F332-4839-B6C2-64BF107D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GITHUB</a:t>
            </a:r>
          </a:p>
        </p:txBody>
      </p:sp>
      <p:sp>
        <p:nvSpPr>
          <p:cNvPr id="43" name="flow-5-body">
            <a:extLst xmlns:a="http://schemas.openxmlformats.org/drawingml/2006/main">
              <a:ext uri="{FF2B5EF4-FFF2-40B4-BE49-F238E27FC236}">
                <a16:creationId xmlns:a16="http://schemas.microsoft.com/office/drawing/2014/main" id="{68082E8D-F2CD-4866-97BE-7C08CE65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Environment + variables</a:t>
            </a:r>
          </a:p>
        </p:txBody>
      </p:sp>
      <p:sp>
        <p:nvSpPr>
          <p:cNvPr id="44" name="flow-6">
            <a:extLst xmlns:a="http://schemas.openxmlformats.org/drawingml/2006/main">
              <a:ext uri="{FF2B5EF4-FFF2-40B4-BE49-F238E27FC236}">
                <a16:creationId xmlns:a16="http://schemas.microsoft.com/office/drawing/2014/main" id="{09AC825F-0B20-467F-8577-CA4AB134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C07E62-A583-434C-89E8-A9C7BBC8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46" name="flow-6-title">
            <a:extLst xmlns:a="http://schemas.openxmlformats.org/drawingml/2006/main">
              <a:ext uri="{FF2B5EF4-FFF2-40B4-BE49-F238E27FC236}">
                <a16:creationId xmlns:a16="http://schemas.microsoft.com/office/drawing/2014/main" id="{1A0A27CF-5CFF-4A2E-AECE-B86AF5AF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7673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DEPLOY WORKFLOW</a:t>
            </a:r>
          </a:p>
        </p:txBody>
      </p:sp>
      <p:sp>
        <p:nvSpPr>
          <p:cNvPr id="47" name="flow-6-body">
            <a:extLst xmlns:a="http://schemas.openxmlformats.org/drawingml/2006/main">
              <a:ext uri="{FF2B5EF4-FFF2-40B4-BE49-F238E27FC236}">
                <a16:creationId xmlns:a16="http://schemas.microsoft.com/office/drawing/2014/main" id="{CB5EBEA0-9C63-45C1-B0EC-03B43179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Foundation plan/apply</a:t>
            </a:r>
          </a:p>
        </p:txBody>
      </p:sp>
      <p:cxnSp>
        <p:nvCxnSpPr>
          <p:cNvPr id="83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239395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421640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32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603885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36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786130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40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968375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3" name="callout">
            <a:extLst xmlns:a="http://schemas.openxmlformats.org/drawingml/2006/main">
              <a:ext uri="{FF2B5EF4-FFF2-40B4-BE49-F238E27FC236}">
                <a16:creationId xmlns:a16="http://schemas.microsoft.com/office/drawing/2014/main" id="{A59D63A0-F090-42DB-809B-B03FDDBB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FFF0D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Required manual gate: Review deployments → gcp-dev → Approve and deploy. Terraform still performs the provisioning.</a:t>
            </a:r>
          </a:p>
        </p:txBody>
      </p:sp>
      <p:sp>
        <p:nvSpPr>
          <p:cNvPr id="54" name="text">
            <a:extLst xmlns:a="http://schemas.openxmlformats.org/drawingml/2006/main">
              <a:ext uri="{FF2B5EF4-FFF2-40B4-BE49-F238E27FC236}">
                <a16:creationId xmlns:a16="http://schemas.microsoft.com/office/drawing/2014/main" id="{669B81D5-95EC-4E4F-AAA9-966E0018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No gcloud command appears in the deployment path.</a:t>
            </a:r>
          </a:p>
        </p:txBody>
      </p:sp>
    </p:spTree>
    <p:extLst>
      <p:ext uri="{BB962C8B-B14F-4D97-AF65-F5344CB8AC3E}">
        <p14:creationId xmlns:p14="http://schemas.microsoft.com/office/powerpoint/2010/main" val="8632606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B05B7-7584-4836-A8B6-44BBF3F7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3 | 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36288-E620-43A8-9456-AE01B888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Promote the artifact that passed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35B99-78B1-450F-B54D-678B21B3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07C1B-C766-4FCB-B691-46AF826D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25" name="flow-1">
            <a:extLst xmlns:a="http://schemas.openxmlformats.org/drawingml/2006/main">
              <a:ext uri="{FF2B5EF4-FFF2-40B4-BE49-F238E27FC236}">
                <a16:creationId xmlns:a16="http://schemas.microsoft.com/office/drawing/2014/main" id="{E8B11AAC-0D9E-4F2E-8C66-71329876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F4FF2D-2FD7-406C-A2DA-C62D5D0E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7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F5A892BA-BD25-4B3A-8800-825D521E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COMMIT SHA</a:t>
            </a:r>
          </a:p>
        </p:txBody>
      </p:sp>
      <p:sp>
        <p:nvSpPr>
          <p:cNvPr id="28" name="flow-1-body">
            <a:extLst xmlns:a="http://schemas.openxmlformats.org/drawingml/2006/main">
              <a:ext uri="{FF2B5EF4-FFF2-40B4-BE49-F238E27FC236}">
                <a16:creationId xmlns:a16="http://schemas.microsoft.com/office/drawing/2014/main" id="{A2710858-AD39-4214-8ABD-7F3FC5EF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Protected master</a:t>
            </a:r>
          </a:p>
        </p:txBody>
      </p:sp>
      <p:sp>
        <p:nvSpPr>
          <p:cNvPr id="29" name="flow-2">
            <a:extLst xmlns:a="http://schemas.openxmlformats.org/drawingml/2006/main">
              <a:ext uri="{FF2B5EF4-FFF2-40B4-BE49-F238E27FC236}">
                <a16:creationId xmlns:a16="http://schemas.microsoft.com/office/drawing/2014/main" id="{4872F148-A10F-4CA0-9200-E0432366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62D0C4-789E-4707-B440-8E99BA65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1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4E59F12F-6617-4D25-9928-790E4EB5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VERIFY</a:t>
            </a:r>
          </a:p>
        </p:txBody>
      </p:sp>
      <p:sp>
        <p:nvSpPr>
          <p:cNvPr id="32" name="flow-2-body">
            <a:extLst xmlns:a="http://schemas.openxmlformats.org/drawingml/2006/main">
              <a:ext uri="{FF2B5EF4-FFF2-40B4-BE49-F238E27FC236}">
                <a16:creationId xmlns:a16="http://schemas.microsoft.com/office/drawing/2014/main" id="{A1227D98-22CD-4490-85B1-FD89C666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Tests + contracts</a:t>
            </a:r>
          </a:p>
        </p:txBody>
      </p:sp>
      <p:sp>
        <p:nvSpPr>
          <p:cNvPr id="33" name="flow-3">
            <a:extLst xmlns:a="http://schemas.openxmlformats.org/drawingml/2006/main">
              <a:ext uri="{FF2B5EF4-FFF2-40B4-BE49-F238E27FC236}">
                <a16:creationId xmlns:a16="http://schemas.microsoft.com/office/drawing/2014/main" id="{DBD08145-60FF-497F-80B3-33EAA423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B83A3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BC1572-ABEA-4F5B-9D6D-1D819B9B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A3A"/>
          </a:solidFill>
          <a:ln xmlns:a="http://schemas.openxmlformats.org/drawingml/2006/main" w="0">
            <a:solidFill>
              <a:srgbClr val="B83A3A"/>
            </a:solidFill>
            <a:prstDash val="solid"/>
          </a:ln>
        </p:spPr>
      </p:sp>
      <p:sp>
        <p:nvSpPr>
          <p:cNvPr id="35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556B1B3B-0A25-4AC4-83CC-D8B06A43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SCAN</a:t>
            </a:r>
          </a:p>
        </p:txBody>
      </p:sp>
      <p:sp>
        <p:nvSpPr>
          <p:cNvPr id="36" name="flow-3-body">
            <a:extLst xmlns:a="http://schemas.openxmlformats.org/drawingml/2006/main">
              <a:ext uri="{FF2B5EF4-FFF2-40B4-BE49-F238E27FC236}">
                <a16:creationId xmlns:a16="http://schemas.microsoft.com/office/drawing/2014/main" id="{09CCFBFD-6529-4649-B18D-0F33357B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Trivy + SBOM</a:t>
            </a:r>
          </a:p>
        </p:txBody>
      </p:sp>
      <p:sp>
        <p:nvSpPr>
          <p:cNvPr id="37" name="flow-4">
            <a:extLst xmlns:a="http://schemas.openxmlformats.org/drawingml/2006/main">
              <a:ext uri="{FF2B5EF4-FFF2-40B4-BE49-F238E27FC236}">
                <a16:creationId xmlns:a16="http://schemas.microsoft.com/office/drawing/2014/main" id="{7E219913-18DF-4D79-A84E-AEDB2768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6713A0-BE17-4D60-8E7E-7578ABEE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9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FBEE23DA-544A-4943-972C-4867F5D4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PUSH DIGEST</a:t>
            </a:r>
          </a:p>
        </p:txBody>
      </p:sp>
      <p:sp>
        <p:nvSpPr>
          <p:cNvPr id="40" name="flow-4-body">
            <a:extLst xmlns:a="http://schemas.openxmlformats.org/drawingml/2006/main">
              <a:ext uri="{FF2B5EF4-FFF2-40B4-BE49-F238E27FC236}">
                <a16:creationId xmlns:a16="http://schemas.microsoft.com/office/drawing/2014/main" id="{94773219-C4F3-4F5E-B4A9-FCE61179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Exact tested image</a:t>
            </a:r>
          </a:p>
        </p:txBody>
      </p:sp>
      <p:sp>
        <p:nvSpPr>
          <p:cNvPr id="41" name="flow-5">
            <a:extLst xmlns:a="http://schemas.openxmlformats.org/drawingml/2006/main">
              <a:ext uri="{FF2B5EF4-FFF2-40B4-BE49-F238E27FC236}">
                <a16:creationId xmlns:a16="http://schemas.microsoft.com/office/drawing/2014/main" id="{54CBC2A9-8B96-4870-9B15-D05093AF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CFC611-6957-4D9A-9CDD-F3910992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43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13D87695-478C-4298-90B5-7829496F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PLAN REVIEW</a:t>
            </a:r>
          </a:p>
        </p:txBody>
      </p:sp>
      <p:sp>
        <p:nvSpPr>
          <p:cNvPr id="44" name="flow-5-body">
            <a:extLst xmlns:a="http://schemas.openxmlformats.org/drawingml/2006/main">
              <a:ext uri="{FF2B5EF4-FFF2-40B4-BE49-F238E27FC236}">
                <a16:creationId xmlns:a16="http://schemas.microsoft.com/office/drawing/2014/main" id="{9B067E49-F32D-4A7B-B5C3-0E75FB59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Digest-bound plan</a:t>
            </a:r>
          </a:p>
        </p:txBody>
      </p:sp>
      <p:sp>
        <p:nvSpPr>
          <p:cNvPr id="45" name="flow-6">
            <a:extLst xmlns:a="http://schemas.openxmlformats.org/drawingml/2006/main">
              <a:ext uri="{FF2B5EF4-FFF2-40B4-BE49-F238E27FC236}">
                <a16:creationId xmlns:a16="http://schemas.microsoft.com/office/drawing/2014/main" id="{D2A3B767-7BC4-424B-AA26-2356965F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4790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E9E1F6-68AC-40D3-A0F1-873A10D6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4790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7" name="flow-6-title">
            <a:extLst xmlns:a="http://schemas.openxmlformats.org/drawingml/2006/main">
              <a:ext uri="{FF2B5EF4-FFF2-40B4-BE49-F238E27FC236}">
                <a16:creationId xmlns:a16="http://schemas.microsoft.com/office/drawing/2014/main" id="{FC332380-62DD-4E2F-9C31-76F8C7BD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32410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APPLY + VERIFY</a:t>
            </a:r>
          </a:p>
        </p:txBody>
      </p:sp>
      <p:sp>
        <p:nvSpPr>
          <p:cNvPr id="48" name="flow-6-body">
            <a:extLst xmlns:a="http://schemas.openxmlformats.org/drawingml/2006/main">
              <a:ext uri="{FF2B5EF4-FFF2-40B4-BE49-F238E27FC236}">
                <a16:creationId xmlns:a16="http://schemas.microsoft.com/office/drawing/2014/main" id="{CB9F7CE8-9E90-463A-9296-366B6E08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60985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Runtime checks</a:t>
            </a:r>
          </a:p>
        </p:txBody>
      </p:sp>
      <p:cxnSp>
        <p:nvCxnSpPr>
          <p:cNvPr id="83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39395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421640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33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603885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37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786130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41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83750" y="2952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4" name="callout">
            <a:extLst xmlns:a="http://schemas.openxmlformats.org/drawingml/2006/main">
              <a:ext uri="{FF2B5EF4-FFF2-40B4-BE49-F238E27FC236}">
                <a16:creationId xmlns:a16="http://schemas.microsoft.com/office/drawing/2014/main" id="{072E55EE-D730-48C6-B5C0-643B5EE6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Workload Identity Federation issues short-lived credentials. The pipeline stores neither service-account keys nor floating image tags.</a:t>
            </a:r>
          </a:p>
        </p:txBody>
      </p:sp>
    </p:spTree>
    <p:extLst>
      <p:ext uri="{BB962C8B-B14F-4D97-AF65-F5344CB8AC3E}">
        <p14:creationId xmlns:p14="http://schemas.microsoft.com/office/powerpoint/2010/main" val="10304821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CF6DFD-AE20-462A-B42E-1329343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3 | PRODUCTION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184F8-5318-4828-8C02-1ED6C8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Keep inference outside the assessment plane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C0CBD-A148-4C07-8D71-0E795B8B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704B4-712D-4420-AA8F-64FE0E05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18" name="lane">
            <a:extLst xmlns:a="http://schemas.openxmlformats.org/drawingml/2006/main">
              <a:ext uri="{FF2B5EF4-FFF2-40B4-BE49-F238E27FC236}">
                <a16:creationId xmlns:a16="http://schemas.microsoft.com/office/drawing/2014/main" id="{3915B07D-2624-4984-B366-C56530CC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19" name="pill">
            <a:extLst xmlns:a="http://schemas.openxmlformats.org/drawingml/2006/main">
              <a:ext uri="{FF2B5EF4-FFF2-40B4-BE49-F238E27FC236}">
                <a16:creationId xmlns:a16="http://schemas.microsoft.com/office/drawing/2014/main" id="{67FB54E0-8394-4075-BCF8-856DBE6D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ASSESSMENT PLANE | DEPLOYED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390B7B68-95A8-4E39-AB39-4681EE95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24100"/>
            <a:ext cx="3905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Agent API</a:t>
            </a:r>
          </a:p>
          <a:p xmlns:a="http://schemas.openxmlformats.org/drawingml/2006/main">
            <a:pPr algn="ctr">
              <a:defRPr sz="18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Worker</a:t>
            </a:r>
          </a:p>
          <a:p xmlns:a="http://schemas.openxmlformats.org/drawingml/2006/main">
            <a:pPr algn="ctr">
              <a:defRPr sz="18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Queue and state</a:t>
            </a:r>
          </a:p>
          <a:p xmlns:a="http://schemas.openxmlformats.org/drawingml/2006/main">
            <a:pPr algn="ctr">
              <a:defRPr sz="18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Observability</a:t>
            </a:r>
          </a:p>
        </p:txBody>
      </p:sp>
      <p:sp>
        <p:nvSpPr>
          <p:cNvPr id="21" name="pill">
            <a:extLst xmlns:a="http://schemas.openxmlformats.org/drawingml/2006/main">
              <a:ext uri="{FF2B5EF4-FFF2-40B4-BE49-F238E27FC236}">
                <a16:creationId xmlns:a16="http://schemas.microsoft.com/office/drawing/2014/main" id="{E982F4D0-B3D2-4F3F-AEDB-21F519B5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05300"/>
            <a:ext cx="2686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B83A3A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B83A3A"/>
                </a:solidFill>
                <a:latin typeface="Calibri"/>
                <a:ea typeface="Calibri"/>
                <a:cs typeface="Calibri"/>
              </a:rPr>
              <a:t>NO GPU | NO HOSTED LLM</a:t>
            </a:r>
          </a:p>
        </p:txBody>
      </p:sp>
      <p:sp>
        <p:nvSpPr>
          <p:cNvPr id="22" name="lane">
            <a:extLst xmlns:a="http://schemas.openxmlformats.org/drawingml/2006/main">
              <a:ext uri="{FF2B5EF4-FFF2-40B4-BE49-F238E27FC236}">
                <a16:creationId xmlns:a16="http://schemas.microsoft.com/office/drawing/2014/main" id="{65DAEF62-C03A-426B-9F31-BF441610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14500"/>
            <a:ext cx="56388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3" name="pill">
            <a:extLst xmlns:a="http://schemas.openxmlformats.org/drawingml/2006/main">
              <a:ext uri="{FF2B5EF4-FFF2-40B4-BE49-F238E27FC236}">
                <a16:creationId xmlns:a16="http://schemas.microsoft.com/office/drawing/2014/main" id="{8249B0EC-DD74-4E3C-8588-BF9A4F15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288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55554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PRODUCTION MODEL PLANE | PREPARED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7B093238-FE06-4824-A8FD-1F7F441B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468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893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Managed model API or isolated GPU endpoint</a:t>
            </a:r>
          </a:p>
        </p:txBody>
      </p:sp>
      <p:sp>
        <p:nvSpPr>
          <p:cNvPr id="25" name="flow-1">
            <a:extLst xmlns:a="http://schemas.openxmlformats.org/drawingml/2006/main">
              <a:ext uri="{FF2B5EF4-FFF2-40B4-BE49-F238E27FC236}">
                <a16:creationId xmlns:a16="http://schemas.microsoft.com/office/drawing/2014/main" id="{B958E9BE-27BC-494A-8F08-66B22743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05150"/>
            <a:ext cx="15240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E2C60-CBE3-4687-8F60-4C54560D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051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7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E25198BE-1911-42AE-ACE0-BB1BEB99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1813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28" name="flow-1-body">
            <a:extLst xmlns:a="http://schemas.openxmlformats.org/drawingml/2006/main">
              <a:ext uri="{FF2B5EF4-FFF2-40B4-BE49-F238E27FC236}">
                <a16:creationId xmlns:a16="http://schemas.microsoft.com/office/drawing/2014/main" id="{514A026F-D136-4644-927A-3CA10A91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67100"/>
            <a:ext cx="1266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Model routing</a:t>
            </a:r>
          </a:p>
        </p:txBody>
      </p:sp>
      <p:sp>
        <p:nvSpPr>
          <p:cNvPr id="29" name="flow-2">
            <a:extLst xmlns:a="http://schemas.openxmlformats.org/drawingml/2006/main">
              <a:ext uri="{FF2B5EF4-FFF2-40B4-BE49-F238E27FC236}">
                <a16:creationId xmlns:a16="http://schemas.microsoft.com/office/drawing/2014/main" id="{C4076774-2171-437A-A871-BC83381F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15240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79C216-BF49-4071-B7B4-8E753BF1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1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D05CF571-873D-4136-9356-45DDBFC3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1813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SAFETY</a:t>
            </a:r>
          </a:p>
        </p:txBody>
      </p:sp>
      <p:sp>
        <p:nvSpPr>
          <p:cNvPr id="32" name="flow-2-body">
            <a:extLst xmlns:a="http://schemas.openxmlformats.org/drawingml/2006/main">
              <a:ext uri="{FF2B5EF4-FFF2-40B4-BE49-F238E27FC236}">
                <a16:creationId xmlns:a16="http://schemas.microsoft.com/office/drawing/2014/main" id="{6F501B17-1F10-43A3-9110-DA79B3A2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467100"/>
            <a:ext cx="1266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Evaluation gates</a:t>
            </a:r>
          </a:p>
        </p:txBody>
      </p:sp>
      <p:sp>
        <p:nvSpPr>
          <p:cNvPr id="33" name="flow-3">
            <a:extLst xmlns:a="http://schemas.openxmlformats.org/drawingml/2006/main">
              <a:ext uri="{FF2B5EF4-FFF2-40B4-BE49-F238E27FC236}">
                <a16:creationId xmlns:a16="http://schemas.microsoft.com/office/drawing/2014/main" id="{53122FBB-298F-4B0F-9BDE-2019B917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5240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281948-2605-4EE5-8D10-32C2B03F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5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F2BFE4C1-AC03-4D8E-9DB4-0EAE169C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1813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SCALE</a:t>
            </a:r>
          </a:p>
        </p:txBody>
      </p:sp>
      <p:sp>
        <p:nvSpPr>
          <p:cNvPr id="36" name="flow-3-body">
            <a:extLst xmlns:a="http://schemas.openxmlformats.org/drawingml/2006/main">
              <a:ext uri="{FF2B5EF4-FFF2-40B4-BE49-F238E27FC236}">
                <a16:creationId xmlns:a16="http://schemas.microsoft.com/office/drawing/2014/main" id="{EB4EDF03-4801-4EFC-94DD-03CA569B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467100"/>
            <a:ext cx="1266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Independent budget</a:t>
            </a:r>
          </a:p>
        </p:txBody>
      </p:sp>
      <p:cxnSp>
        <p:nvCxnSpPr>
          <p:cNvPr id="63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7810500" y="36195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9448800" y="36195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39" name="callout">
            <a:extLst xmlns:a="http://schemas.openxmlformats.org/drawingml/2006/main">
              <a:ext uri="{FF2B5EF4-FFF2-40B4-BE49-F238E27FC236}">
                <a16:creationId xmlns:a16="http://schemas.microsoft.com/office/drawing/2014/main" id="{9D8EB2C5-F169-4FCE-A118-B29361E9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submission keeps interfaces and secrets ready, but disables the expensive runtime for the cost-capped test deployment.</a:t>
            </a:r>
          </a:p>
        </p:txBody>
      </p:sp>
    </p:spTree>
    <p:extLst>
      <p:ext uri="{BB962C8B-B14F-4D97-AF65-F5344CB8AC3E}">
        <p14:creationId xmlns:p14="http://schemas.microsoft.com/office/powerpoint/2010/main" val="13573637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CF6DFD-AE20-462A-B42E-1329343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4 | FAILURE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184F8-5318-4828-8C02-1ED6C8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Start with the data pathology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C0CBD-A148-4C07-8D71-0E795B8B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704B4-712D-4420-AA8F-64FE0E05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18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1B988F8E-DD8B-45D8-BFB2-EF12F3B5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952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4,070</a:t>
            </a:r>
          </a:p>
        </p:txBody>
      </p:sp>
      <p:sp>
        <p:nvSpPr>
          <p:cNvPr id="1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970A0A6D-06C8-439E-8835-1079CB9B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Rows per source</a:t>
            </a:r>
          </a:p>
        </p:txBody>
      </p:sp>
      <p:sp>
        <p:nvSpPr>
          <p:cNvPr id="20" name="metric-note">
            <a:extLst xmlns:a="http://schemas.openxmlformats.org/drawingml/2006/main">
              <a:ext uri="{FF2B5EF4-FFF2-40B4-BE49-F238E27FC236}">
                <a16:creationId xmlns:a16="http://schemas.microsoft.com/office/drawing/2014/main" id="{4753D791-C55A-43FC-95F3-E8479D7B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Sensor and failure tables.</a:t>
            </a:r>
          </a:p>
        </p:txBody>
      </p:sp>
      <p:sp>
        <p:nvSpPr>
          <p:cNvPr id="2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8091F21F-9508-4464-9D77-6CCE5320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0250"/>
            <a:ext cx="1952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3,700</a:t>
            </a:r>
          </a:p>
        </p:txBody>
      </p:sp>
      <p:sp>
        <p:nvSpPr>
          <p:cNvPr id="2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95F3C3EE-AD1F-4912-9849-D129D112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0985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Unique machine IDs</a:t>
            </a:r>
          </a:p>
        </p:txBody>
      </p:sp>
      <p:sp>
        <p:nvSpPr>
          <p:cNvPr id="2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1C8A4A10-F00C-4F82-90CB-849B5357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527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Grouping unit for splits.</a:t>
            </a:r>
          </a:p>
        </p:txBody>
      </p:sp>
      <p:sp>
        <p:nvSpPr>
          <p:cNvPr id="24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6D1FBD59-0B0A-4F38-B002-064E87E3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00250"/>
            <a:ext cx="1952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370</a:t>
            </a:r>
          </a:p>
        </p:txBody>
      </p:sp>
      <p:sp>
        <p:nvSpPr>
          <p:cNvPr id="25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85E5686F-4D1C-4B59-9734-0DC05CEA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0985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Duplicate IDs</a:t>
            </a:r>
          </a:p>
        </p:txBody>
      </p:sp>
      <p:sp>
        <p:nvSpPr>
          <p:cNvPr id="26" name="metric-note">
            <a:extLst xmlns:a="http://schemas.openxmlformats.org/drawingml/2006/main">
              <a:ext uri="{FF2B5EF4-FFF2-40B4-BE49-F238E27FC236}">
                <a16:creationId xmlns:a16="http://schemas.microsoft.com/office/drawing/2014/main" id="{081D8FF8-2F3B-4B02-9FF5-77CBD0AF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Leakage risk across folds.</a:t>
            </a:r>
          </a:p>
        </p:txBody>
      </p:sp>
      <p:sp>
        <p:nvSpPr>
          <p:cNvPr id="27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06B7A389-5625-4FB0-BE8E-291E82C5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00250"/>
            <a:ext cx="1952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83A3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B83A3A"/>
                </a:solidFill>
                <a:latin typeface="Calibri"/>
                <a:ea typeface="Calibri"/>
                <a:cs typeface="Calibri"/>
              </a:rPr>
              <a:t>306</a:t>
            </a:r>
          </a:p>
        </p:txBody>
      </p:sp>
      <p:sp>
        <p:nvSpPr>
          <p:cNvPr id="2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290CC47B-773B-4854-862F-DC39D0CE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Positive labels</a:t>
            </a:r>
          </a:p>
        </p:txBody>
      </p:sp>
      <p:sp>
        <p:nvSpPr>
          <p:cNvPr id="29" name="metric-note">
            <a:extLst xmlns:a="http://schemas.openxmlformats.org/drawingml/2006/main">
              <a:ext uri="{FF2B5EF4-FFF2-40B4-BE49-F238E27FC236}">
                <a16:creationId xmlns:a16="http://schemas.microsoft.com/office/drawing/2014/main" id="{FE4AC78A-1253-4D76-B08E-25C5415B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Minority class versus 3,764.</a:t>
            </a:r>
          </a:p>
        </p:txBody>
      </p:sp>
      <p:sp>
        <p:nvSpPr>
          <p:cNvPr id="30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EE0219F8-DFA0-49A5-A90E-85F6E715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000250"/>
            <a:ext cx="133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2,365</a:t>
            </a:r>
          </a:p>
        </p:txBody>
      </p:sp>
      <p:sp>
        <p:nvSpPr>
          <p:cNvPr id="31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7AC95BD0-5FF5-4BBF-A478-51365EF2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098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8272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RAS values missing</a:t>
            </a:r>
          </a:p>
        </p:txBody>
      </p:sp>
      <p:sp>
        <p:nvSpPr>
          <p:cNvPr id="32" name="metric-note">
            <a:extLst xmlns:a="http://schemas.openxmlformats.org/drawingml/2006/main">
              <a:ext uri="{FF2B5EF4-FFF2-40B4-BE49-F238E27FC236}">
                <a16:creationId xmlns:a16="http://schemas.microsoft.com/office/drawing/2014/main" id="{044F84CF-2B76-47F7-B8E2-394EB0AE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527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Missingness is signal.</a:t>
            </a:r>
          </a:p>
        </p:txBody>
      </p:sp>
      <p:sp>
        <p:nvSpPr>
          <p:cNvPr id="33" name="callout">
            <a:extLst xmlns:a="http://schemas.openxmlformats.org/drawingml/2006/main">
              <a:ext uri="{FF2B5EF4-FFF2-40B4-BE49-F238E27FC236}">
                <a16:creationId xmlns:a16="http://schemas.microsoft.com/office/drawing/2014/main" id="{285C8498-4D1D-4B30-B25C-46861E2A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 random row split would overstate performance. Machines are grouped before cross-validation and holdout evaluation.</a:t>
            </a:r>
          </a:p>
        </p:txBody>
      </p:sp>
    </p:spTree>
    <p:extLst>
      <p:ext uri="{BB962C8B-B14F-4D97-AF65-F5344CB8AC3E}">
        <p14:creationId xmlns:p14="http://schemas.microsoft.com/office/powerpoint/2010/main" val="13573637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4EF510-086A-4653-9DA8-98B040C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4 | MODEL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8752-3076-475D-8A81-0937187E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Tune without leaking machines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397BC-9811-4FE4-B041-560A8DB9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7CF24-4774-4E61-BDAB-065D92C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25" name="flow-1">
            <a:extLst xmlns:a="http://schemas.openxmlformats.org/drawingml/2006/main">
              <a:ext uri="{FF2B5EF4-FFF2-40B4-BE49-F238E27FC236}">
                <a16:creationId xmlns:a16="http://schemas.microsoft.com/office/drawing/2014/main" id="{93948C49-0CC4-4289-BDC0-E8BECFE5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B83A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2F5C41-F3C8-4877-8823-EEE982E5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A3A"/>
          </a:solidFill>
          <a:ln xmlns:a="http://schemas.openxmlformats.org/drawingml/2006/main" w="0">
            <a:solidFill>
              <a:srgbClr val="B83A3A"/>
            </a:solidFill>
            <a:prstDash val="solid"/>
          </a:ln>
        </p:spPr>
      </p:sp>
      <p:sp>
        <p:nvSpPr>
          <p:cNvPr id="27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C427A211-2762-453F-86FA-2368E11F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GROUP SPLIT</a:t>
            </a:r>
          </a:p>
        </p:txBody>
      </p:sp>
      <p:sp>
        <p:nvSpPr>
          <p:cNvPr id="28" name="flow-1-body">
            <a:extLst xmlns:a="http://schemas.openxmlformats.org/drawingml/2006/main">
              <a:ext uri="{FF2B5EF4-FFF2-40B4-BE49-F238E27FC236}">
                <a16:creationId xmlns:a16="http://schemas.microsoft.com/office/drawing/2014/main" id="{021DE2B2-9771-4A0F-A27F-96B04F1F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62890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Machine ID boundary</a:t>
            </a:r>
          </a:p>
        </p:txBody>
      </p:sp>
      <p:sp>
        <p:nvSpPr>
          <p:cNvPr id="29" name="flow-2">
            <a:extLst xmlns:a="http://schemas.openxmlformats.org/drawingml/2006/main">
              <a:ext uri="{FF2B5EF4-FFF2-40B4-BE49-F238E27FC236}">
                <a16:creationId xmlns:a16="http://schemas.microsoft.com/office/drawing/2014/main" id="{EB4F5FAA-E02E-403F-92B7-5F37B03A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6695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B89D5-674C-4659-BBCE-FA63AC45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669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1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785D7D1D-B9EF-484E-9F8D-FACD51B7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PREPROCESS</a:t>
            </a:r>
          </a:p>
        </p:txBody>
      </p:sp>
      <p:sp>
        <p:nvSpPr>
          <p:cNvPr id="32" name="flow-2-body">
            <a:extLst xmlns:a="http://schemas.openxmlformats.org/drawingml/2006/main">
              <a:ext uri="{FF2B5EF4-FFF2-40B4-BE49-F238E27FC236}">
                <a16:creationId xmlns:a16="http://schemas.microsoft.com/office/drawing/2014/main" id="{12130CAD-D2B7-4BC5-94FD-879756FD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62890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Train-fold statistics</a:t>
            </a:r>
          </a:p>
        </p:txBody>
      </p:sp>
      <p:sp>
        <p:nvSpPr>
          <p:cNvPr id="33" name="flow-3">
            <a:extLst xmlns:a="http://schemas.openxmlformats.org/drawingml/2006/main">
              <a:ext uri="{FF2B5EF4-FFF2-40B4-BE49-F238E27FC236}">
                <a16:creationId xmlns:a16="http://schemas.microsoft.com/office/drawing/2014/main" id="{E5E2F1D6-40F2-480D-8AB2-808C277E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6695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EBDBBA-5E54-4756-BE79-649CF515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669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5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68FD45C3-9560-42E9-85CE-64B820BE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WEIGHTED LOGIT</a:t>
            </a:r>
          </a:p>
        </p:txBody>
      </p:sp>
      <p:sp>
        <p:nvSpPr>
          <p:cNvPr id="36" name="flow-3-body">
            <a:extLst xmlns:a="http://schemas.openxmlformats.org/drawingml/2006/main">
              <a:ext uri="{FF2B5EF4-FFF2-40B4-BE49-F238E27FC236}">
                <a16:creationId xmlns:a16="http://schemas.microsoft.com/office/drawing/2014/main" id="{71EA44CD-40B0-4D2B-BC8D-C02247F5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62890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Interpretable baseline</a:t>
            </a:r>
          </a:p>
        </p:txBody>
      </p:sp>
      <p:sp>
        <p:nvSpPr>
          <p:cNvPr id="37" name="flow-4">
            <a:extLst xmlns:a="http://schemas.openxmlformats.org/drawingml/2006/main">
              <a:ext uri="{FF2B5EF4-FFF2-40B4-BE49-F238E27FC236}">
                <a16:creationId xmlns:a16="http://schemas.microsoft.com/office/drawing/2014/main" id="{CA621B67-185C-465B-9820-D8E6E1B4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002163-3496-4D32-A62A-59E1A952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9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7DE4ADCF-E745-43EB-9139-DC5D8114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GROUPED CV</a:t>
            </a:r>
          </a:p>
        </p:txBody>
      </p:sp>
      <p:sp>
        <p:nvSpPr>
          <p:cNvPr id="40" name="flow-4-body">
            <a:extLst xmlns:a="http://schemas.openxmlformats.org/drawingml/2006/main">
              <a:ext uri="{FF2B5EF4-FFF2-40B4-BE49-F238E27FC236}">
                <a16:creationId xmlns:a16="http://schemas.microsoft.com/office/drawing/2014/main" id="{7BA62F02-4F28-4F4D-8A5C-25214EDD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2890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Select by PR-AUC</a:t>
            </a:r>
          </a:p>
        </p:txBody>
      </p:sp>
      <p:sp>
        <p:nvSpPr>
          <p:cNvPr id="41" name="flow-5">
            <a:extLst xmlns:a="http://schemas.openxmlformats.org/drawingml/2006/main">
              <a:ext uri="{FF2B5EF4-FFF2-40B4-BE49-F238E27FC236}">
                <a16:creationId xmlns:a16="http://schemas.microsoft.com/office/drawing/2014/main" id="{60E8839A-978F-4CA5-8DFA-EE8D6EE5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6695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E4271C-9459-498B-A2FC-D9A65EB1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669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43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C48C5614-8083-4051-A533-A846C879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THRESHOLD</a:t>
            </a:r>
          </a:p>
        </p:txBody>
      </p:sp>
      <p:sp>
        <p:nvSpPr>
          <p:cNvPr id="44" name="flow-5-body">
            <a:extLst xmlns:a="http://schemas.openxmlformats.org/drawingml/2006/main">
              <a:ext uri="{FF2B5EF4-FFF2-40B4-BE49-F238E27FC236}">
                <a16:creationId xmlns:a16="http://schemas.microsoft.com/office/drawing/2014/main" id="{3EAAA8B4-49F0-43B2-8050-9AC49C61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62890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0.6713 on OOF</a:t>
            </a:r>
          </a:p>
        </p:txBody>
      </p:sp>
      <p:sp>
        <p:nvSpPr>
          <p:cNvPr id="45" name="flow-6">
            <a:extLst xmlns:a="http://schemas.openxmlformats.org/drawingml/2006/main">
              <a:ext uri="{FF2B5EF4-FFF2-40B4-BE49-F238E27FC236}">
                <a16:creationId xmlns:a16="http://schemas.microsoft.com/office/drawing/2014/main" id="{922156BB-2D19-4C0F-8C1C-07C4845F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66950"/>
            <a:ext cx="1708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D72CEAC-9980-4626-B626-E5A22387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669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7" name="flow-6-title">
            <a:extLst xmlns:a="http://schemas.openxmlformats.org/drawingml/2006/main">
              <a:ext uri="{FF2B5EF4-FFF2-40B4-BE49-F238E27FC236}">
                <a16:creationId xmlns:a16="http://schemas.microsoft.com/office/drawing/2014/main" id="{F21C7EC7-C1AC-4F79-BE0E-6C42D848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LOCKED HOLDOUT</a:t>
            </a:r>
          </a:p>
        </p:txBody>
      </p:sp>
      <p:sp>
        <p:nvSpPr>
          <p:cNvPr id="48" name="flow-6-body">
            <a:extLst xmlns:a="http://schemas.openxmlformats.org/drawingml/2006/main">
              <a:ext uri="{FF2B5EF4-FFF2-40B4-BE49-F238E27FC236}">
                <a16:creationId xmlns:a16="http://schemas.microsoft.com/office/drawing/2014/main" id="{0ED24C5C-57A8-49C1-9BDC-6F546B4D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628900"/>
            <a:ext cx="14509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One final estimate</a:t>
            </a:r>
          </a:p>
        </p:txBody>
      </p:sp>
      <p:cxnSp>
        <p:nvCxnSpPr>
          <p:cNvPr id="83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2393950" y="29813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4216400" y="29813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33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6038850" y="29813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37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7861300" y="29813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41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83750" y="29813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4" name="callout">
            <a:extLst xmlns:a="http://schemas.openxmlformats.org/drawingml/2006/main">
              <a:ext uri="{FF2B5EF4-FFF2-40B4-BE49-F238E27FC236}">
                <a16:creationId xmlns:a16="http://schemas.microsoft.com/office/drawing/2014/main" id="{B168B63A-C99F-422E-943D-06517E2B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Class weighting and threshold selection target useful recall instead of optimizing accuracy on the majority class.</a:t>
            </a:r>
          </a:p>
        </p:txBody>
      </p:sp>
    </p:spTree>
    <p:extLst>
      <p:ext uri="{BB962C8B-B14F-4D97-AF65-F5344CB8AC3E}">
        <p14:creationId xmlns:p14="http://schemas.microsoft.com/office/powerpoint/2010/main" val="7195831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C8756F-C5BD-4A93-A20E-131FA753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4 |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D31A5-C421-470D-A2CA-572280A4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Recall is strong; precision is the tradeoff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32E87-47FF-44C3-938B-DF635E97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BCF26-582A-418E-A57D-249DEF9D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24" name="lane">
            <a:extLst xmlns:a="http://schemas.openxmlformats.org/drawingml/2006/main">
              <a:ext uri="{FF2B5EF4-FFF2-40B4-BE49-F238E27FC236}">
                <a16:creationId xmlns:a16="http://schemas.microsoft.com/office/drawing/2014/main" id="{C973727D-2B48-4548-8881-4BB7FA1D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1435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5" name="pill">
            <a:extLst xmlns:a="http://schemas.openxmlformats.org/drawingml/2006/main">
              <a:ext uri="{FF2B5EF4-FFF2-40B4-BE49-F238E27FC236}">
                <a16:creationId xmlns:a16="http://schemas.microsoft.com/office/drawing/2014/main" id="{243F3591-D4D9-4D51-B632-AABE9B0C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CROSS-VALIDATION</a:t>
            </a:r>
          </a:p>
        </p:txBody>
      </p:sp>
      <p:sp>
        <p:nvSpPr>
          <p:cNvPr id="2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36C05159-00D3-494E-B53D-C99D92D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0.5626</a:t>
            </a:r>
          </a:p>
        </p:txBody>
      </p:sp>
      <p:sp>
        <p:nvSpPr>
          <p:cNvPr id="2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4AA5DB88-4198-43B1-AD3E-730C365F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PR-AUC</a:t>
            </a:r>
          </a:p>
        </p:txBody>
      </p:sp>
      <p:sp>
        <p:nvSpPr>
          <p:cNvPr id="28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70FFB91-8BA1-4B24-BB6C-3831C9E0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956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Grouped folds.</a:t>
            </a:r>
          </a:p>
        </p:txBody>
      </p:sp>
      <p:sp>
        <p:nvSpPr>
          <p:cNvPr id="2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91C17F08-3C4D-493E-8CB8-B0A221FF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4315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0.8507</a:t>
            </a:r>
          </a:p>
        </p:txBody>
      </p:sp>
      <p:sp>
        <p:nvSpPr>
          <p:cNvPr id="3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325C66ED-8256-43EB-9C6C-F44460AC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52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OOF recall</a:t>
            </a:r>
          </a:p>
        </p:txBody>
      </p:sp>
      <p:sp>
        <p:nvSpPr>
          <p:cNvPr id="31" name="metric-note">
            <a:extLst xmlns:a="http://schemas.openxmlformats.org/drawingml/2006/main">
              <a:ext uri="{FF2B5EF4-FFF2-40B4-BE49-F238E27FC236}">
                <a16:creationId xmlns:a16="http://schemas.microsoft.com/office/drawing/2014/main" id="{F6F965C6-1458-473B-BA89-2AC1920A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956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At threshold 0.6713.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935F7CBF-E910-47FA-80F7-3D097EC6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6200"/>
            <a:ext cx="4438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OOF precision 0.3381</a:t>
            </a:r>
          </a:p>
        </p:txBody>
      </p:sp>
      <p:sp>
        <p:nvSpPr>
          <p:cNvPr id="33" name="lane">
            <a:extLst xmlns:a="http://schemas.openxmlformats.org/drawingml/2006/main">
              <a:ext uri="{FF2B5EF4-FFF2-40B4-BE49-F238E27FC236}">
                <a16:creationId xmlns:a16="http://schemas.microsoft.com/office/drawing/2014/main" id="{CD3C12A1-207E-44F6-A240-C1CE2B90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52600"/>
            <a:ext cx="54483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34" name="pill">
            <a:extLst xmlns:a="http://schemas.openxmlformats.org/drawingml/2006/main">
              <a:ext uri="{FF2B5EF4-FFF2-40B4-BE49-F238E27FC236}">
                <a16:creationId xmlns:a16="http://schemas.microsoft.com/office/drawing/2014/main" id="{4175E17D-CE49-4FC5-ABA9-296A6858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LOCKED HOLDOUT</a:t>
            </a:r>
          </a:p>
        </p:txBody>
      </p:sp>
      <p:sp>
        <p:nvSpPr>
          <p:cNvPr id="3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E336E9E6-6045-4E77-99DF-243C4670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431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0.4230</a:t>
            </a:r>
          </a:p>
        </p:txBody>
      </p:sp>
      <p:sp>
        <p:nvSpPr>
          <p:cNvPr id="3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6BFC0ED4-DB9D-47C0-9CA6-4A062960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527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PR-AUC</a:t>
            </a:r>
          </a:p>
        </p:txBody>
      </p:sp>
      <p:sp>
        <p:nvSpPr>
          <p:cNvPr id="37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4DBC7083-E46B-4767-AD29-7F1D5F18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431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0.8545</a:t>
            </a:r>
          </a:p>
        </p:txBody>
      </p:sp>
      <p:sp>
        <p:nvSpPr>
          <p:cNvPr id="3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48B908C9-B43D-4B54-A0EB-64F38013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527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A9B1312-C62C-4F75-A8A2-4AEADACB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431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0.4234</a:t>
            </a:r>
          </a:p>
        </p:txBody>
      </p:sp>
      <p:sp>
        <p:nvSpPr>
          <p:cNvPr id="4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6D50C24B-E1D3-495A-92C0-44FAD80A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527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B15F601D-755E-4630-BBFA-B4777BFA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86200"/>
            <a:ext cx="470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F1 0.5663  |  Accuracy 0.9031  |  Brier 0.1194</a:t>
            </a:r>
          </a:p>
        </p:txBody>
      </p:sp>
      <p:sp>
        <p:nvSpPr>
          <p:cNvPr id="42" name="callout">
            <a:extLst xmlns:a="http://schemas.openxmlformats.org/drawingml/2006/main">
              <a:ext uri="{FF2B5EF4-FFF2-40B4-BE49-F238E27FC236}">
                <a16:creationId xmlns:a16="http://schemas.microsoft.com/office/drawing/2014/main" id="{70FE36C3-CD2C-4443-8B61-597D7011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FFF0D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result is a screening model. Production use still needs cost-sensitive calibration and drift monitoring.</a:t>
            </a:r>
          </a:p>
        </p:txBody>
      </p:sp>
    </p:spTree>
    <p:extLst>
      <p:ext uri="{BB962C8B-B14F-4D97-AF65-F5344CB8AC3E}">
        <p14:creationId xmlns:p14="http://schemas.microsoft.com/office/powerpoint/2010/main" val="11833789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53354-DE22-407A-AC55-21E89A74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5 | SPARE-PART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C738E-C490-4BAA-9839-A8BB49FC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Rank parts by lexical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6421B-194E-4897-9F83-D997F73B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F4F56-4C57-45E0-9430-A30267DF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20" name="query">
            <a:extLst xmlns:a="http://schemas.openxmlformats.org/drawingml/2006/main">
              <a:ext uri="{FF2B5EF4-FFF2-40B4-BE49-F238E27FC236}">
                <a16:creationId xmlns:a16="http://schemas.microsoft.com/office/drawing/2014/main" id="{52ED6A3F-64A5-4037-81D4-CB6EEC9C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1809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EFED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31650-CD21-4423-89F8-32C1A3F0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2" name="query-title">
            <a:extLst xmlns:a="http://schemas.openxmlformats.org/drawingml/2006/main">
              <a:ext uri="{FF2B5EF4-FFF2-40B4-BE49-F238E27FC236}">
                <a16:creationId xmlns:a16="http://schemas.microsoft.com/office/drawing/2014/main" id="{1DF865EC-2202-49A8-AA61-EB0B989D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4193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New text</a:t>
            </a:r>
          </a:p>
        </p:txBody>
      </p:sp>
      <p:sp>
        <p:nvSpPr>
          <p:cNvPr id="23" name="query-body">
            <a:extLst xmlns:a="http://schemas.openxmlformats.org/drawingml/2006/main">
              <a:ext uri="{FF2B5EF4-FFF2-40B4-BE49-F238E27FC236}">
                <a16:creationId xmlns:a16="http://schemas.microsoft.com/office/drawing/2014/main" id="{6013F687-8451-440D-9E57-B5716B23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705100"/>
            <a:ext cx="15525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No trusted part ID</a:t>
            </a:r>
          </a:p>
        </p:txBody>
      </p:sp>
      <p:sp>
        <p:nvSpPr>
          <p:cNvPr id="24" name="catalog">
            <a:extLst xmlns:a="http://schemas.openxmlformats.org/drawingml/2006/main">
              <a:ext uri="{FF2B5EF4-FFF2-40B4-BE49-F238E27FC236}">
                <a16:creationId xmlns:a16="http://schemas.microsoft.com/office/drawing/2014/main" id="{FCE550C1-E811-420D-9B80-C8F385A3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1905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7BC3EE-E874-4B7C-856B-564980FF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6" name="catalog-title">
            <a:extLst xmlns:a="http://schemas.openxmlformats.org/drawingml/2006/main">
              <a:ext uri="{FF2B5EF4-FFF2-40B4-BE49-F238E27FC236}">
                <a16:creationId xmlns:a16="http://schemas.microsoft.com/office/drawing/2014/main" id="{FE98525F-FF32-4C38-AE25-84BA311A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19350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998 catalog IDs</a:t>
            </a:r>
          </a:p>
        </p:txBody>
      </p:sp>
      <p:sp>
        <p:nvSpPr>
          <p:cNvPr id="27" name="catalog-body">
            <a:extLst xmlns:a="http://schemas.openxmlformats.org/drawingml/2006/main">
              <a:ext uri="{FF2B5EF4-FFF2-40B4-BE49-F238E27FC236}">
                <a16:creationId xmlns:a16="http://schemas.microsoft.com/office/drawing/2014/main" id="{D4FCE846-841A-4446-B228-EE17F5E1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05100"/>
            <a:ext cx="16478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32 columns</a:t>
            </a:r>
          </a:p>
        </p:txBody>
      </p:sp>
      <p:sp>
        <p:nvSpPr>
          <p:cNvPr id="28" name="lexical">
            <a:extLst xmlns:a="http://schemas.openxmlformats.org/drawingml/2006/main">
              <a:ext uri="{FF2B5EF4-FFF2-40B4-BE49-F238E27FC236}">
                <a16:creationId xmlns:a16="http://schemas.microsoft.com/office/drawing/2014/main" id="{F0C581AE-92E4-46F0-A5F1-F86D83DA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431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6D805-150A-4C96-919A-42CD92D4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0" name="lexical-title">
            <a:extLst xmlns:a="http://schemas.openxmlformats.org/drawingml/2006/main">
              <a:ext uri="{FF2B5EF4-FFF2-40B4-BE49-F238E27FC236}">
                <a16:creationId xmlns:a16="http://schemas.microsoft.com/office/drawing/2014/main" id="{FFDF5A28-4BB0-4031-B2B4-73D0B069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19350"/>
            <a:ext cx="1743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Lexical evidence</a:t>
            </a:r>
          </a:p>
        </p:txBody>
      </p:sp>
      <p:sp>
        <p:nvSpPr>
          <p:cNvPr id="31" name="lexical-body">
            <a:extLst xmlns:a="http://schemas.openxmlformats.org/drawingml/2006/main">
              <a:ext uri="{FF2B5EF4-FFF2-40B4-BE49-F238E27FC236}">
                <a16:creationId xmlns:a16="http://schemas.microsoft.com/office/drawing/2014/main" id="{7FBEC110-BA00-40A8-813A-186755B3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705100"/>
            <a:ext cx="17430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Word + character</a:t>
            </a:r>
          </a:p>
        </p:txBody>
      </p:sp>
      <p:sp>
        <p:nvSpPr>
          <p:cNvPr id="32" name="rank">
            <a:extLst xmlns:a="http://schemas.openxmlformats.org/drawingml/2006/main">
              <a:ext uri="{FF2B5EF4-FFF2-40B4-BE49-F238E27FC236}">
                <a16:creationId xmlns:a16="http://schemas.microsoft.com/office/drawing/2014/main" id="{05517F39-C42C-4F29-8985-B9C8920B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5116F4-5B04-4086-9AE5-F87344F7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34" name="rank-title">
            <a:extLst xmlns:a="http://schemas.openxmlformats.org/drawingml/2006/main">
              <a:ext uri="{FF2B5EF4-FFF2-40B4-BE49-F238E27FC236}">
                <a16:creationId xmlns:a16="http://schemas.microsoft.com/office/drawing/2014/main" id="{F416F5B4-1359-43AD-BF11-F7510508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419350"/>
            <a:ext cx="1743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Top 5 IDs</a:t>
            </a:r>
          </a:p>
        </p:txBody>
      </p:sp>
      <p:sp>
        <p:nvSpPr>
          <p:cNvPr id="35" name="rank-body">
            <a:extLst xmlns:a="http://schemas.openxmlformats.org/drawingml/2006/main">
              <a:ext uri="{FF2B5EF4-FFF2-40B4-BE49-F238E27FC236}">
                <a16:creationId xmlns:a16="http://schemas.microsoft.com/office/drawing/2014/main" id="{3B76A6A8-103A-4573-AB0C-FD02A99B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705100"/>
            <a:ext cx="17430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Score + deterministic tie</a:t>
            </a:r>
          </a:p>
        </p:txBody>
      </p:sp>
      <p:cxnSp>
        <p:nvCxnSpPr>
          <p:cNvPr id="63" name=""/>
          <p:cNvCxnSpPr>
            <a:stCxn xmlns:a="http://schemas.openxmlformats.org/drawingml/2006/main" id="2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686050" y="2895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257800" y="2895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65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924800" y="2895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39" name="pill">
            <a:extLst xmlns:a="http://schemas.openxmlformats.org/drawingml/2006/main">
              <a:ext uri="{FF2B5EF4-FFF2-40B4-BE49-F238E27FC236}">
                <a16:creationId xmlns:a16="http://schemas.microsoft.com/office/drawing/2014/main" id="{B16A3A34-4008-4245-8A0A-02269E5D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2343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B83A3A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B83A3A"/>
                </a:solidFill>
                <a:latin typeface="Calibri"/>
                <a:ea typeface="Calibri"/>
                <a:cs typeface="Calibri"/>
              </a:rPr>
              <a:t>335 MISSING DESCRIPTIONS</a:t>
            </a:r>
          </a:p>
        </p:txBody>
      </p:sp>
      <p:sp>
        <p:nvSpPr>
          <p:cNvPr id="40" name="pill">
            <a:extLst xmlns:a="http://schemas.openxmlformats.org/drawingml/2006/main">
              <a:ext uri="{FF2B5EF4-FFF2-40B4-BE49-F238E27FC236}">
                <a16:creationId xmlns:a16="http://schemas.microsoft.com/office/drawing/2014/main" id="{2E6C2E39-E4ED-4AB4-91F6-BA685C98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00500"/>
            <a:ext cx="2762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FFF0D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81 DUPLICATE NON-EMPTY TEXTS</a:t>
            </a:r>
          </a:p>
        </p:txBody>
      </p:sp>
      <p:sp>
        <p:nvSpPr>
          <p:cNvPr id="41" name="pill">
            <a:extLst xmlns:a="http://schemas.openxmlformats.org/drawingml/2006/main">
              <a:ext uri="{FF2B5EF4-FFF2-40B4-BE49-F238E27FC236}">
                <a16:creationId xmlns:a16="http://schemas.microsoft.com/office/drawing/2014/main" id="{CE1DA7D7-4ED2-4FAD-A799-8505AC56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0050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FED"/>
          </a:solidFill>
          <a:ln xmlns:a="http://schemas.openxmlformats.org/drawingml/2006/main" w="11906">
            <a:solidFill>
              <a:srgbClr val="E8EFED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ABSTAIN WHEN EMPTY</a:t>
            </a:r>
          </a:p>
        </p:txBody>
      </p:sp>
      <p:sp>
        <p:nvSpPr>
          <p:cNvPr id="42" name="callout">
            <a:extLst xmlns:a="http://schemas.openxmlformats.org/drawingml/2006/main">
              <a:ext uri="{FF2B5EF4-FFF2-40B4-BE49-F238E27FC236}">
                <a16:creationId xmlns:a16="http://schemas.microsoft.com/office/drawing/2014/main" id="{FEA9CD5B-3865-41F9-BE8A-CDB84B1E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system retrieves textual candidates. It does not claim engineering compatibility without structured fitment data.</a:t>
            </a:r>
          </a:p>
        </p:txBody>
      </p:sp>
    </p:spTree>
    <p:extLst>
      <p:ext uri="{BB962C8B-B14F-4D97-AF65-F5344CB8AC3E}">
        <p14:creationId xmlns:p14="http://schemas.microsoft.com/office/powerpoint/2010/main" val="3083517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4EF510-086A-4653-9DA8-98B040C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5 |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8752-3076-475D-8A81-0937187E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Combine global terms with local spelling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397BC-9811-4FE4-B041-560A8DB9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7CF24-4774-4E61-BDAB-065D92C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25" name="normalize">
            <a:extLst xmlns:a="http://schemas.openxmlformats.org/drawingml/2006/main">
              <a:ext uri="{FF2B5EF4-FFF2-40B4-BE49-F238E27FC236}">
                <a16:creationId xmlns:a16="http://schemas.microsoft.com/office/drawing/2014/main" id="{1719F3B2-6052-4EB9-A96F-296A9D82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7145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F07C54-5461-40F8-9091-A1B1C852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7" name="normalize-title">
            <a:extLst xmlns:a="http://schemas.openxmlformats.org/drawingml/2006/main">
              <a:ext uri="{FF2B5EF4-FFF2-40B4-BE49-F238E27FC236}">
                <a16:creationId xmlns:a16="http://schemas.microsoft.com/office/drawing/2014/main" id="{B4825DC0-68B6-46F4-80BA-81C49E90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19350"/>
            <a:ext cx="1457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NORMALIZE</a:t>
            </a:r>
          </a:p>
        </p:txBody>
      </p:sp>
      <p:sp>
        <p:nvSpPr>
          <p:cNvPr id="28" name="normalize-body">
            <a:extLst xmlns:a="http://schemas.openxmlformats.org/drawingml/2006/main">
              <a:ext uri="{FF2B5EF4-FFF2-40B4-BE49-F238E27FC236}">
                <a16:creationId xmlns:a16="http://schemas.microsoft.com/office/drawing/2014/main" id="{0E3EC7AF-208D-430D-8627-3215235A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705100"/>
            <a:ext cx="14573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Case, spacing, punctuation</a:t>
            </a:r>
          </a:p>
        </p:txBody>
      </p:sp>
      <p:sp>
        <p:nvSpPr>
          <p:cNvPr id="29" name="word">
            <a:extLst xmlns:a="http://schemas.openxmlformats.org/drawingml/2006/main">
              <a:ext uri="{FF2B5EF4-FFF2-40B4-BE49-F238E27FC236}">
                <a16:creationId xmlns:a16="http://schemas.microsoft.com/office/drawing/2014/main" id="{0482249D-4775-4401-9090-0DE3C7CF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9750"/>
            <a:ext cx="1809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464B94-3BB1-42EF-A78F-A6C6F1C4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9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31" name="word-title">
            <a:extLst xmlns:a="http://schemas.openxmlformats.org/drawingml/2006/main">
              <a:ext uri="{FF2B5EF4-FFF2-40B4-BE49-F238E27FC236}">
                <a16:creationId xmlns:a16="http://schemas.microsoft.com/office/drawing/2014/main" id="{6BDBE851-0959-4312-9608-CEC9E4CD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8859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WORD TF-IDF</a:t>
            </a:r>
          </a:p>
        </p:txBody>
      </p:sp>
      <p:sp>
        <p:nvSpPr>
          <p:cNvPr id="32" name="word-body">
            <a:extLst xmlns:a="http://schemas.openxmlformats.org/drawingml/2006/main">
              <a:ext uri="{FF2B5EF4-FFF2-40B4-BE49-F238E27FC236}">
                <a16:creationId xmlns:a16="http://schemas.microsoft.com/office/drawing/2014/main" id="{A51CFA54-6043-47B7-9B4C-5567CD6C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171700"/>
            <a:ext cx="1552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Weight 0.25</a:t>
            </a:r>
          </a:p>
        </p:txBody>
      </p:sp>
      <p:sp>
        <p:nvSpPr>
          <p:cNvPr id="33" name="chars">
            <a:extLst xmlns:a="http://schemas.openxmlformats.org/drawingml/2006/main">
              <a:ext uri="{FF2B5EF4-FFF2-40B4-BE49-F238E27FC236}">
                <a16:creationId xmlns:a16="http://schemas.microsoft.com/office/drawing/2014/main" id="{471B7CEB-21F2-4CCC-8DB4-D479236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1809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784F91-C25B-4D95-9FDF-3BE5261C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5" name="chars-title">
            <a:extLst xmlns:a="http://schemas.openxmlformats.org/drawingml/2006/main">
              <a:ext uri="{FF2B5EF4-FFF2-40B4-BE49-F238E27FC236}">
                <a16:creationId xmlns:a16="http://schemas.microsoft.com/office/drawing/2014/main" id="{89A5159F-7298-49E9-9B6D-3E6292D7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2194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CHAR TF-IDF</a:t>
            </a:r>
          </a:p>
        </p:txBody>
      </p:sp>
      <p:sp>
        <p:nvSpPr>
          <p:cNvPr id="36" name="chars-body">
            <a:extLst xmlns:a="http://schemas.openxmlformats.org/drawingml/2006/main">
              <a:ext uri="{FF2B5EF4-FFF2-40B4-BE49-F238E27FC236}">
                <a16:creationId xmlns:a16="http://schemas.microsoft.com/office/drawing/2014/main" id="{30C02B15-09EF-473C-A3AF-1E3010D0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505200"/>
            <a:ext cx="1552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Weight 0.75</a:t>
            </a:r>
          </a:p>
        </p:txBody>
      </p:sp>
      <p:sp>
        <p:nvSpPr>
          <p:cNvPr id="37" name="cosine">
            <a:extLst xmlns:a="http://schemas.openxmlformats.org/drawingml/2006/main">
              <a:ext uri="{FF2B5EF4-FFF2-40B4-BE49-F238E27FC236}">
                <a16:creationId xmlns:a16="http://schemas.microsoft.com/office/drawing/2014/main" id="{4D9855A0-6534-4474-9F01-5C7865B9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43150"/>
            <a:ext cx="1809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33ABDE-7B36-4B6F-8CF2-9BE0BA4A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9" name="cosine-title">
            <a:extLst xmlns:a="http://schemas.openxmlformats.org/drawingml/2006/main">
              <a:ext uri="{FF2B5EF4-FFF2-40B4-BE49-F238E27FC236}">
                <a16:creationId xmlns:a16="http://schemas.microsoft.com/office/drawing/2014/main" id="{72355156-FFD7-4680-8D11-5AF7FCE9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4193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COSINE SCORE</a:t>
            </a:r>
          </a:p>
        </p:txBody>
      </p:sp>
      <p:sp>
        <p:nvSpPr>
          <p:cNvPr id="40" name="cosine-body">
            <a:extLst xmlns:a="http://schemas.openxmlformats.org/drawingml/2006/main">
              <a:ext uri="{FF2B5EF4-FFF2-40B4-BE49-F238E27FC236}">
                <a16:creationId xmlns:a16="http://schemas.microsoft.com/office/drawing/2014/main" id="{F67D6DF3-70A6-4E00-B8C9-F1E80826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5100"/>
            <a:ext cx="15525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Per candidate</a:t>
            </a:r>
          </a:p>
        </p:txBody>
      </p:sp>
      <p:sp>
        <p:nvSpPr>
          <p:cNvPr id="41" name="merge">
            <a:extLst xmlns:a="http://schemas.openxmlformats.org/drawingml/2006/main">
              <a:ext uri="{FF2B5EF4-FFF2-40B4-BE49-F238E27FC236}">
                <a16:creationId xmlns:a16="http://schemas.microsoft.com/office/drawing/2014/main" id="{E0784C00-FABF-49D4-A203-B3992CCD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43150"/>
            <a:ext cx="1619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D3B484-92C0-476C-92E0-2D188ED5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43" name="merge-title">
            <a:extLst xmlns:a="http://schemas.openxmlformats.org/drawingml/2006/main">
              <a:ext uri="{FF2B5EF4-FFF2-40B4-BE49-F238E27FC236}">
                <a16:creationId xmlns:a16="http://schemas.microsoft.com/office/drawing/2014/main" id="{4C926130-1C16-42BB-B7A1-DBB9C8EE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419350"/>
            <a:ext cx="1362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MERGE</a:t>
            </a:r>
          </a:p>
        </p:txBody>
      </p:sp>
      <p:sp>
        <p:nvSpPr>
          <p:cNvPr id="44" name="merge-body">
            <a:extLst xmlns:a="http://schemas.openxmlformats.org/drawingml/2006/main">
              <a:ext uri="{FF2B5EF4-FFF2-40B4-BE49-F238E27FC236}">
                <a16:creationId xmlns:a16="http://schemas.microsoft.com/office/drawing/2014/main" id="{A89C5C3E-F619-47D4-8CEC-6E2A8646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705100"/>
            <a:ext cx="13620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Weighted sum</a:t>
            </a:r>
          </a:p>
        </p:txBody>
      </p:sp>
      <p:sp>
        <p:nvSpPr>
          <p:cNvPr id="45" name="top">
            <a:extLst xmlns:a="http://schemas.openxmlformats.org/drawingml/2006/main">
              <a:ext uri="{FF2B5EF4-FFF2-40B4-BE49-F238E27FC236}">
                <a16:creationId xmlns:a16="http://schemas.microsoft.com/office/drawing/2014/main" id="{A2B3AAF5-1748-4536-BBFF-DF6519A5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43150"/>
            <a:ext cx="1428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95BB2E-2730-4F4A-A41C-8E1103D0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431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7" name="top-title">
            <a:extLst xmlns:a="http://schemas.openxmlformats.org/drawingml/2006/main">
              <a:ext uri="{FF2B5EF4-FFF2-40B4-BE49-F238E27FC236}">
                <a16:creationId xmlns:a16="http://schemas.microsoft.com/office/drawing/2014/main" id="{7637747B-12B6-44A9-A9C5-63AFEE64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419350"/>
            <a:ext cx="1171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TOP 5</a:t>
            </a:r>
          </a:p>
        </p:txBody>
      </p:sp>
      <p:sp>
        <p:nvSpPr>
          <p:cNvPr id="48" name="top-body">
            <a:extLst xmlns:a="http://schemas.openxmlformats.org/drawingml/2006/main">
              <a:ext uri="{FF2B5EF4-FFF2-40B4-BE49-F238E27FC236}">
                <a16:creationId xmlns:a16="http://schemas.microsoft.com/office/drawing/2014/main" id="{7A2EE303-8705-4437-8D17-59632DC9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705100"/>
            <a:ext cx="11715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Stable tie order</a:t>
            </a:r>
          </a:p>
        </p:txBody>
      </p:sp>
      <p:cxnSp>
        <p:nvCxnSpPr>
          <p:cNvPr id="84" name=""/>
          <p:cNvCxnSpPr>
            <a:stCxn xmlns:a="http://schemas.openxmlformats.org/drawingml/2006/main" id="25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 flipV="1">
            <a:off x="2457450" y="2314575"/>
            <a:ext cx="571500" cy="581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463EB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25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2457450" y="2895600"/>
            <a:ext cx="571500" cy="752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07A75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29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4838700" y="2314575"/>
            <a:ext cx="666750" cy="581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33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 flipV="1">
            <a:off x="4838700" y="2895600"/>
            <a:ext cx="666750" cy="752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37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7315200" y="28956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9" name=""/>
          <p:cNvCxnSpPr>
            <a:stCxn xmlns:a="http://schemas.openxmlformats.org/drawingml/2006/main" id="41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505950" y="28956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5" name="callout">
            <a:extLst xmlns:a="http://schemas.openxmlformats.org/drawingml/2006/main">
              <a:ext uri="{FF2B5EF4-FFF2-40B4-BE49-F238E27FC236}">
                <a16:creationId xmlns:a16="http://schemas.microsoft.com/office/drawing/2014/main" id="{ED073C64-FED5-4B96-8C61-FD01E683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076325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Character features carry more weight because industrial descriptions contain abbreviations, part codes and spelling variation.</a:t>
            </a:r>
          </a:p>
        </p:txBody>
      </p:sp>
    </p:spTree>
    <p:extLst>
      <p:ext uri="{BB962C8B-B14F-4D97-AF65-F5344CB8AC3E}">
        <p14:creationId xmlns:p14="http://schemas.microsoft.com/office/powerpoint/2010/main" val="71958316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C8756F-C5BD-4A93-A20E-131FA753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5 |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D31A5-C421-470D-A2CA-572280A4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Retrieval quality is useful, not universal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32E87-47FF-44C3-938B-DF635E97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BCF26-582A-418E-A57D-249DEF9D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24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AF073314-963E-4E38-948D-04AC3B4C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0.542857</a:t>
            </a:r>
          </a:p>
        </p:txBody>
      </p:sp>
      <p:sp>
        <p:nvSpPr>
          <p:cNvPr id="25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4AC52A77-F928-41B7-82B2-E804A6B3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Macro Precision@5</a:t>
            </a:r>
          </a:p>
        </p:txBody>
      </p:sp>
      <p:sp>
        <p:nvSpPr>
          <p:cNvPr id="26" name="metric-note">
            <a:extLst xmlns:a="http://schemas.openxmlformats.org/drawingml/2006/main">
              <a:ext uri="{FF2B5EF4-FFF2-40B4-BE49-F238E27FC236}">
                <a16:creationId xmlns:a16="http://schemas.microsoft.com/office/drawing/2014/main" id="{00FE55E5-3673-4EC2-B033-F250ED0E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Evaluated query set.</a:t>
            </a:r>
          </a:p>
        </p:txBody>
      </p:sp>
      <p:sp>
        <p:nvSpPr>
          <p:cNvPr id="27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8C9B2EC6-48A1-4A20-A009-AF747E51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0.846792</a:t>
            </a:r>
          </a:p>
        </p:txBody>
      </p:sp>
      <p:sp>
        <p:nvSpPr>
          <p:cNvPr id="2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0A75738-0C79-4E2F-984D-21859F45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nDCG</a:t>
            </a:r>
          </a:p>
        </p:txBody>
      </p:sp>
      <p:sp>
        <p:nvSpPr>
          <p:cNvPr id="29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37346F6-2FE0-4BEA-957C-9F5A8174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480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Relevant IDs rank early.</a:t>
            </a:r>
          </a:p>
        </p:txBody>
      </p:sp>
      <p:sp>
        <p:nvSpPr>
          <p:cNvPr id="30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79CAD03E-A564-4707-B21F-EA995F66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0.875</a:t>
            </a:r>
          </a:p>
        </p:txBody>
      </p:sp>
      <p:sp>
        <p:nvSpPr>
          <p:cNvPr id="31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7DB8707-A38E-473C-807B-D6B3E45A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Coverage</a:t>
            </a:r>
          </a:p>
        </p:txBody>
      </p:sp>
      <p:sp>
        <p:nvSpPr>
          <p:cNvPr id="32" name="metric-note">
            <a:extLst xmlns:a="http://schemas.openxmlformats.org/drawingml/2006/main">
              <a:ext uri="{FF2B5EF4-FFF2-40B4-BE49-F238E27FC236}">
                <a16:creationId xmlns:a16="http://schemas.microsoft.com/office/drawing/2014/main" id="{3FAEF187-0FBC-42B1-B84C-093A0D80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Non-empty recommendations.</a:t>
            </a:r>
          </a:p>
        </p:txBody>
      </p:sp>
      <p:sp>
        <p:nvSpPr>
          <p:cNvPr id="33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28D60B3-D56C-4684-99D4-C92EC75A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4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59227045-6E91-40E0-B004-150EFC3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Reversal stability</a:t>
            </a:r>
          </a:p>
        </p:txBody>
      </p:sp>
      <p:sp>
        <p:nvSpPr>
          <p:cNvPr id="35" name="metric-note">
            <a:extLst xmlns:a="http://schemas.openxmlformats.org/drawingml/2006/main">
              <a:ext uri="{FF2B5EF4-FFF2-40B4-BE49-F238E27FC236}">
                <a16:creationId xmlns:a16="http://schemas.microsoft.com/office/drawing/2014/main" id="{83F5271F-35FD-4EE7-9F94-EFDF5E38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Order-independent output.</a:t>
            </a:r>
          </a:p>
        </p:txBody>
      </p:sp>
      <p:sp>
        <p:nvSpPr>
          <p:cNvPr id="3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DD88AABD-0F8D-4647-8779-0D521E51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95500"/>
            <a:ext cx="1314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83A3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B83A3A"/>
                </a:solidFill>
                <a:latin typeface="Calibri"/>
                <a:ea typeface="Calibri"/>
                <a:cs typeface="Calibri"/>
              </a:rPr>
              <a:t>66.43%</a:t>
            </a:r>
          </a:p>
        </p:txBody>
      </p:sp>
      <p:sp>
        <p:nvSpPr>
          <p:cNvPr id="3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8B0180AA-8731-4E8D-9BA6-CD036E4D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051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73441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Full-catalog coverage</a:t>
            </a:r>
          </a:p>
        </p:txBody>
      </p:sp>
      <p:sp>
        <p:nvSpPr>
          <p:cNvPr id="38" name="metric-note">
            <a:extLst xmlns:a="http://schemas.openxmlformats.org/drawingml/2006/main">
              <a:ext uri="{FF2B5EF4-FFF2-40B4-BE49-F238E27FC236}">
                <a16:creationId xmlns:a16="http://schemas.microsoft.com/office/drawing/2014/main" id="{B14B81C8-F994-4A87-911F-30ECD367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48000"/>
            <a:ext cx="1314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663 of 998 IDs.</a:t>
            </a:r>
          </a:p>
        </p:txBody>
      </p:sp>
      <p:sp>
        <p:nvSpPr>
          <p:cNvPr id="39" name="callout">
            <a:extLst xmlns:a="http://schemas.openxmlformats.org/drawingml/2006/main">
              <a:ext uri="{FF2B5EF4-FFF2-40B4-BE49-F238E27FC236}">
                <a16:creationId xmlns:a16="http://schemas.microsoft.com/office/drawing/2014/main" id="{EB91430A-F448-4AD5-8334-EE6018BB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FFF0D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Coverage is constrained by missing catalog text. Adding structured attributes would improve both recall and explainability.</a:t>
            </a:r>
          </a:p>
        </p:txBody>
      </p:sp>
    </p:spTree>
    <p:extLst>
      <p:ext uri="{BB962C8B-B14F-4D97-AF65-F5344CB8AC3E}">
        <p14:creationId xmlns:p14="http://schemas.microsoft.com/office/powerpoint/2010/main" val="11833789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53354-DE22-407A-AC55-21E89A74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6 | CATEGORICAL ENCODING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C738E-C490-4BAA-9839-A8BB49FC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Learn rarity from training data only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6421B-194E-4897-9F83-D997F73B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F4F56-4C57-45E0-9430-A30267DF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0" name="train-cat">
            <a:extLst xmlns:a="http://schemas.openxmlformats.org/drawingml/2006/main">
              <a:ext uri="{FF2B5EF4-FFF2-40B4-BE49-F238E27FC236}">
                <a16:creationId xmlns:a16="http://schemas.microsoft.com/office/drawing/2014/main" id="{D2A0976E-B03A-4F58-A4D4-A4D777B3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2000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8EFED"/>
          </a:solidFill>
          <a:ln xmlns:a="http://schemas.openxmlformats.org/drawingml/2006/main" w="11906">
            <a:solidFill>
              <a:srgbClr val="1734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6391A-4D5F-4586-950E-7DB1E126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0">
            <a:solidFill>
              <a:srgbClr val="17343A"/>
            </a:solidFill>
            <a:prstDash val="solid"/>
          </a:ln>
        </p:spPr>
      </p:sp>
      <p:sp>
        <p:nvSpPr>
          <p:cNvPr id="22" name="train-cat-title">
            <a:extLst xmlns:a="http://schemas.openxmlformats.org/drawingml/2006/main">
              <a:ext uri="{FF2B5EF4-FFF2-40B4-BE49-F238E27FC236}">
                <a16:creationId xmlns:a16="http://schemas.microsoft.com/office/drawing/2014/main" id="{FCBE58EB-3A01-4E29-A590-9215045E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00300"/>
            <a:ext cx="17430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TRAIN CATEGORIES</a:t>
            </a:r>
          </a:p>
        </p:txBody>
      </p:sp>
      <p:sp>
        <p:nvSpPr>
          <p:cNvPr id="23" name="train-cat-body">
            <a:extLst xmlns:a="http://schemas.openxmlformats.org/drawingml/2006/main">
              <a:ext uri="{FF2B5EF4-FFF2-40B4-BE49-F238E27FC236}">
                <a16:creationId xmlns:a16="http://schemas.microsoft.com/office/drawing/2014/main" id="{D01614F1-23E0-4017-8DF5-EEECBA89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86050"/>
            <a:ext cx="17430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Counts per value</a:t>
            </a:r>
          </a:p>
        </p:txBody>
      </p:sp>
      <p:sp>
        <p:nvSpPr>
          <p:cNvPr id="24" name="threshold">
            <a:extLst xmlns:a="http://schemas.openxmlformats.org/drawingml/2006/main">
              <a:ext uri="{FF2B5EF4-FFF2-40B4-BE49-F238E27FC236}">
                <a16:creationId xmlns:a16="http://schemas.microsoft.com/office/drawing/2014/main" id="{5340082E-B0F0-4787-94D8-3507B46B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24100"/>
            <a:ext cx="1905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2DA58F-DB56-4DCF-9579-EA16D4BF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241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6" name="threshold-title">
            <a:extLst xmlns:a="http://schemas.openxmlformats.org/drawingml/2006/main">
              <a:ext uri="{FF2B5EF4-FFF2-40B4-BE49-F238E27FC236}">
                <a16:creationId xmlns:a16="http://schemas.microsoft.com/office/drawing/2014/main" id="{D335EDF8-29D7-4305-BCD1-DA6DB986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00300"/>
            <a:ext cx="1647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THRESHOLD</a:t>
            </a:r>
          </a:p>
        </p:txBody>
      </p:sp>
      <p:sp>
        <p:nvSpPr>
          <p:cNvPr id="27" name="threshold-body">
            <a:extLst xmlns:a="http://schemas.openxmlformats.org/drawingml/2006/main">
              <a:ext uri="{FF2B5EF4-FFF2-40B4-BE49-F238E27FC236}">
                <a16:creationId xmlns:a16="http://schemas.microsoft.com/office/drawing/2014/main" id="{9F3C4D7C-C842-4A7C-8A90-7349A04E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686050"/>
            <a:ext cx="1647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Keep frequent values</a:t>
            </a:r>
          </a:p>
        </p:txBody>
      </p:sp>
      <p:sp>
        <p:nvSpPr>
          <p:cNvPr id="28" name="frequent">
            <a:extLst xmlns:a="http://schemas.openxmlformats.org/drawingml/2006/main">
              <a:ext uri="{FF2B5EF4-FFF2-40B4-BE49-F238E27FC236}">
                <a16:creationId xmlns:a16="http://schemas.microsoft.com/office/drawing/2014/main" id="{FFDF71FF-EC68-4853-B711-1C02991D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18097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69480F-8B16-4DA1-95FF-D6E46F66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30" name="frequent-title">
            <a:extLst xmlns:a="http://schemas.openxmlformats.org/drawingml/2006/main">
              <a:ext uri="{FF2B5EF4-FFF2-40B4-BE49-F238E27FC236}">
                <a16:creationId xmlns:a16="http://schemas.microsoft.com/office/drawing/2014/main" id="{E43BABE4-6A9C-45DF-8B20-802F5D40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8859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FREQUENT</a:t>
            </a:r>
          </a:p>
        </p:txBody>
      </p:sp>
      <p:sp>
        <p:nvSpPr>
          <p:cNvPr id="31" name="frequent-body">
            <a:extLst xmlns:a="http://schemas.openxmlformats.org/drawingml/2006/main">
              <a:ext uri="{FF2B5EF4-FFF2-40B4-BE49-F238E27FC236}">
                <a16:creationId xmlns:a16="http://schemas.microsoft.com/office/drawing/2014/main" id="{D1521498-EB5F-4234-9774-279FBCB5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71700"/>
            <a:ext cx="1552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Stable category</a:t>
            </a:r>
          </a:p>
        </p:txBody>
      </p:sp>
      <p:sp>
        <p:nvSpPr>
          <p:cNvPr id="32" name="rare">
            <a:extLst xmlns:a="http://schemas.openxmlformats.org/drawingml/2006/main">
              <a:ext uri="{FF2B5EF4-FFF2-40B4-BE49-F238E27FC236}">
                <a16:creationId xmlns:a16="http://schemas.microsoft.com/office/drawing/2014/main" id="{743B877F-FB50-4BF1-A8D0-4322D90A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43250"/>
            <a:ext cx="18097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B7F424-5852-433B-BC22-E8047A82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432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4" name="rare-title">
            <a:extLst xmlns:a="http://schemas.openxmlformats.org/drawingml/2006/main">
              <a:ext uri="{FF2B5EF4-FFF2-40B4-BE49-F238E27FC236}">
                <a16:creationId xmlns:a16="http://schemas.microsoft.com/office/drawing/2014/main" id="{6D219032-8FF1-48F9-955D-4FF5A495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19450"/>
            <a:ext cx="1552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RARE</a:t>
            </a:r>
          </a:p>
        </p:txBody>
      </p:sp>
      <p:sp>
        <p:nvSpPr>
          <p:cNvPr id="35" name="rare-body">
            <a:extLst xmlns:a="http://schemas.openxmlformats.org/drawingml/2006/main">
              <a:ext uri="{FF2B5EF4-FFF2-40B4-BE49-F238E27FC236}">
                <a16:creationId xmlns:a16="http://schemas.microsoft.com/office/drawing/2014/main" id="{59089DA3-0D62-47A9-BED9-18FA6ED3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05200"/>
            <a:ext cx="1552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Fallback bucket</a:t>
            </a:r>
          </a:p>
        </p:txBody>
      </p:sp>
      <p:sp>
        <p:nvSpPr>
          <p:cNvPr id="36" name="state">
            <a:extLst xmlns:a="http://schemas.openxmlformats.org/drawingml/2006/main">
              <a:ext uri="{FF2B5EF4-FFF2-40B4-BE49-F238E27FC236}">
                <a16:creationId xmlns:a16="http://schemas.microsoft.com/office/drawing/2014/main" id="{99CF3B07-60D2-4623-B5CA-E21C7AC2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24100"/>
            <a:ext cx="2095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83C710-524D-4142-8AD7-D9721CBD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241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8" name="state-title">
            <a:extLst xmlns:a="http://schemas.openxmlformats.org/drawingml/2006/main">
              <a:ext uri="{FF2B5EF4-FFF2-40B4-BE49-F238E27FC236}">
                <a16:creationId xmlns:a16="http://schemas.microsoft.com/office/drawing/2014/main" id="{C686CF78-A0D1-4A27-81B2-9E8D16D7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400300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FITTED STATE</a:t>
            </a:r>
          </a:p>
        </p:txBody>
      </p:sp>
      <p:sp>
        <p:nvSpPr>
          <p:cNvPr id="39" name="state-body">
            <a:extLst xmlns:a="http://schemas.openxmlformats.org/drawingml/2006/main">
              <a:ext uri="{FF2B5EF4-FFF2-40B4-BE49-F238E27FC236}">
                <a16:creationId xmlns:a16="http://schemas.microsoft.com/office/drawing/2014/main" id="{F54C0397-72C3-4814-BD59-8FF75D1D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86050"/>
            <a:ext cx="1838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Vocabulary + diagnostics</a:t>
            </a:r>
          </a:p>
        </p:txBody>
      </p:sp>
      <p:cxnSp>
        <p:nvCxnSpPr>
          <p:cNvPr id="70" name=""/>
          <p:cNvCxnSpPr>
            <a:stCxn xmlns:a="http://schemas.openxmlformats.org/drawingml/2006/main" id="2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857500" y="28860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5429250" y="2324100"/>
            <a:ext cx="857250" cy="561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67A53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24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5429250" y="2886075"/>
            <a:ext cx="85725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C66A19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28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8096250" y="2324100"/>
            <a:ext cx="1047750" cy="561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32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 flipV="1">
            <a:off x="8096250" y="2886075"/>
            <a:ext cx="104775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5" name="callout">
            <a:extLst xmlns:a="http://schemas.openxmlformats.org/drawingml/2006/main">
              <a:ext uri="{FF2B5EF4-FFF2-40B4-BE49-F238E27FC236}">
                <a16:creationId xmlns:a16="http://schemas.microsoft.com/office/drawing/2014/main" id="{2C8AFE30-8E3E-456D-8F1C-5657C0D7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38225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If the fallback label already exists in source data, the transformer creates a collision-safe alternative.</a:t>
            </a:r>
          </a:p>
        </p:txBody>
      </p:sp>
    </p:spTree>
    <p:extLst>
      <p:ext uri="{BB962C8B-B14F-4D97-AF65-F5344CB8AC3E}">
        <p14:creationId xmlns:p14="http://schemas.microsoft.com/office/powerpoint/2010/main" val="30835171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4EF510-086A-4653-9DA8-98B040C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6 | TRANSFORM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8752-3076-475D-8A81-0937187E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Keep train and inference semantics identical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397BC-9811-4FE4-B041-560A8DB9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7CF24-4774-4E61-BDAB-065D92C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25" name="lane">
            <a:extLst xmlns:a="http://schemas.openxmlformats.org/drawingml/2006/main">
              <a:ext uri="{FF2B5EF4-FFF2-40B4-BE49-F238E27FC236}">
                <a16:creationId xmlns:a16="http://schemas.microsoft.com/office/drawing/2014/main" id="{692D3A47-0B41-4C31-A2FB-5DCE22A6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1435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6" name="pill">
            <a:extLst xmlns:a="http://schemas.openxmlformats.org/drawingml/2006/main">
              <a:ext uri="{FF2B5EF4-FFF2-40B4-BE49-F238E27FC236}">
                <a16:creationId xmlns:a16="http://schemas.microsoft.com/office/drawing/2014/main" id="{327E242E-B764-4861-A669-FAACEF23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FIT</a:t>
            </a:r>
          </a:p>
        </p:txBody>
      </p:sp>
      <p:sp>
        <p:nvSpPr>
          <p:cNvPr id="27" name="flow-1">
            <a:extLst xmlns:a="http://schemas.openxmlformats.org/drawingml/2006/main">
              <a:ext uri="{FF2B5EF4-FFF2-40B4-BE49-F238E27FC236}">
                <a16:creationId xmlns:a16="http://schemas.microsoft.com/office/drawing/2014/main" id="{D660222A-768A-47C2-93E5-71BBF304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14478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79CBE2-90E1-4792-8250-1F0F5901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9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E161BD8D-69AB-46B0-AD2C-A69AD84B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43200"/>
            <a:ext cx="1190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COUNT</a:t>
            </a:r>
          </a:p>
        </p:txBody>
      </p:sp>
      <p:sp>
        <p:nvSpPr>
          <p:cNvPr id="30" name="flow-1-body">
            <a:extLst xmlns:a="http://schemas.openxmlformats.org/drawingml/2006/main">
              <a:ext uri="{FF2B5EF4-FFF2-40B4-BE49-F238E27FC236}">
                <a16:creationId xmlns:a16="http://schemas.microsoft.com/office/drawing/2014/main" id="{C2913F92-C95D-4A89-9D10-22BE1F6D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028950"/>
            <a:ext cx="1190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Observed values</a:t>
            </a:r>
          </a:p>
        </p:txBody>
      </p:sp>
      <p:sp>
        <p:nvSpPr>
          <p:cNvPr id="31" name="flow-2">
            <a:extLst xmlns:a="http://schemas.openxmlformats.org/drawingml/2006/main">
              <a:ext uri="{FF2B5EF4-FFF2-40B4-BE49-F238E27FC236}">
                <a16:creationId xmlns:a16="http://schemas.microsoft.com/office/drawing/2014/main" id="{B57475C9-8415-47ED-B525-BF6E0B04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667000"/>
            <a:ext cx="14478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EC3F1C-586F-4213-95C8-F9D5FDB2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6670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3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840D4639-1E5A-4BDF-80C3-3F2E29C9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743200"/>
            <a:ext cx="1190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FREEZE</a:t>
            </a:r>
          </a:p>
        </p:txBody>
      </p:sp>
      <p:sp>
        <p:nvSpPr>
          <p:cNvPr id="34" name="flow-2-body">
            <a:extLst xmlns:a="http://schemas.openxmlformats.org/drawingml/2006/main">
              <a:ext uri="{FF2B5EF4-FFF2-40B4-BE49-F238E27FC236}">
                <a16:creationId xmlns:a16="http://schemas.microsoft.com/office/drawing/2014/main" id="{3A56B268-3945-495A-8F1E-5B143119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28950"/>
            <a:ext cx="1190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Vocabulary</a:t>
            </a:r>
          </a:p>
        </p:txBody>
      </p:sp>
      <p:sp>
        <p:nvSpPr>
          <p:cNvPr id="35" name="flow-3">
            <a:extLst xmlns:a="http://schemas.openxmlformats.org/drawingml/2006/main">
              <a:ext uri="{FF2B5EF4-FFF2-40B4-BE49-F238E27FC236}">
                <a16:creationId xmlns:a16="http://schemas.microsoft.com/office/drawing/2014/main" id="{068066CA-B1C9-41B5-B886-75DF4131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14478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66E16B-ADA7-4407-A65B-5A83444A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7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A15DCA1A-7AA2-47E7-AE03-E72C33E3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43200"/>
            <a:ext cx="1190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DIAGNOSE</a:t>
            </a:r>
          </a:p>
        </p:txBody>
      </p:sp>
      <p:sp>
        <p:nvSpPr>
          <p:cNvPr id="38" name="flow-3-body">
            <a:extLst xmlns:a="http://schemas.openxmlformats.org/drawingml/2006/main">
              <a:ext uri="{FF2B5EF4-FFF2-40B4-BE49-F238E27FC236}">
                <a16:creationId xmlns:a16="http://schemas.microsoft.com/office/drawing/2014/main" id="{6E89B204-A297-4B4D-8B04-A2E81DC3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028950"/>
            <a:ext cx="1190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Rare share</a:t>
            </a:r>
          </a:p>
        </p:txBody>
      </p:sp>
      <p:cxnSp>
        <p:nvCxnSpPr>
          <p:cNvPr id="76" name=""/>
          <p:cNvCxnSpPr>
            <a:stCxn xmlns:a="http://schemas.openxmlformats.org/drawingml/2006/main" id="27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2419350" y="32289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31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3981450" y="32289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1" name="lane">
            <a:extLst xmlns:a="http://schemas.openxmlformats.org/drawingml/2006/main">
              <a:ext uri="{FF2B5EF4-FFF2-40B4-BE49-F238E27FC236}">
                <a16:creationId xmlns:a16="http://schemas.microsoft.com/office/drawing/2014/main" id="{5ACDBE9C-CABD-4ED2-B0D7-A890882B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52600"/>
            <a:ext cx="54483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42" name="pill">
            <a:extLst xmlns:a="http://schemas.openxmlformats.org/drawingml/2006/main">
              <a:ext uri="{FF2B5EF4-FFF2-40B4-BE49-F238E27FC236}">
                <a16:creationId xmlns:a16="http://schemas.microsoft.com/office/drawing/2014/main" id="{6396F295-31A7-436E-8465-055778AA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TRANSFORM</a:t>
            </a:r>
          </a:p>
        </p:txBody>
      </p:sp>
      <p:sp>
        <p:nvSpPr>
          <p:cNvPr id="43" name="flow-1">
            <a:extLst xmlns:a="http://schemas.openxmlformats.org/drawingml/2006/main">
              <a:ext uri="{FF2B5EF4-FFF2-40B4-BE49-F238E27FC236}">
                <a16:creationId xmlns:a16="http://schemas.microsoft.com/office/drawing/2014/main" id="{0AFFE0BA-B33C-49CC-A45A-FA5B51F9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67000"/>
            <a:ext cx="1549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675CB5-5894-4DD4-A413-A9051B8F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670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45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5F355204-39E5-438B-BFF8-5E1C73DD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743200"/>
            <a:ext cx="1292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46" name="flow-1-body">
            <a:extLst xmlns:a="http://schemas.openxmlformats.org/drawingml/2006/main">
              <a:ext uri="{FF2B5EF4-FFF2-40B4-BE49-F238E27FC236}">
                <a16:creationId xmlns:a16="http://schemas.microsoft.com/office/drawing/2014/main" id="{988F5E76-B875-47B7-886D-5C50EE0F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028950"/>
            <a:ext cx="12922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Seen or fallback</a:t>
            </a:r>
          </a:p>
        </p:txBody>
      </p:sp>
      <p:sp>
        <p:nvSpPr>
          <p:cNvPr id="47" name="flow-2">
            <a:extLst xmlns:a="http://schemas.openxmlformats.org/drawingml/2006/main">
              <a:ext uri="{FF2B5EF4-FFF2-40B4-BE49-F238E27FC236}">
                <a16:creationId xmlns:a16="http://schemas.microsoft.com/office/drawing/2014/main" id="{136F544B-A6F3-4B47-8CD7-F998306E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667000"/>
            <a:ext cx="1549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C440A6-7BC8-45B5-8AAA-9C3272D0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6670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49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0D31FAF0-AB61-4DFA-AD58-2BB0F8DC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25" y="2743200"/>
            <a:ext cx="1292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50" name="flow-2-body">
            <a:extLst xmlns:a="http://schemas.openxmlformats.org/drawingml/2006/main">
              <a:ext uri="{FF2B5EF4-FFF2-40B4-BE49-F238E27FC236}">
                <a16:creationId xmlns:a16="http://schemas.microsoft.com/office/drawing/2014/main" id="{5777810F-42B7-44DE-AC06-A5F83A88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25" y="3028950"/>
            <a:ext cx="12922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Frequency 0 to 100</a:t>
            </a:r>
          </a:p>
        </p:txBody>
      </p:sp>
      <p:sp>
        <p:nvSpPr>
          <p:cNvPr id="51" name="flow-3">
            <a:extLst xmlns:a="http://schemas.openxmlformats.org/drawingml/2006/main">
              <a:ext uri="{FF2B5EF4-FFF2-40B4-BE49-F238E27FC236}">
                <a16:creationId xmlns:a16="http://schemas.microsoft.com/office/drawing/2014/main" id="{D091CF03-2DC6-42EA-A9E4-1A0CAB45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1050" y="2667000"/>
            <a:ext cx="1549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C8219B-CE7A-44D3-9F8F-FF303EE0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1050" y="26670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53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8A7EEA37-A608-4787-A64E-40091DFA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743200"/>
            <a:ext cx="1292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54" name="flow-3-body">
            <a:extLst xmlns:a="http://schemas.openxmlformats.org/drawingml/2006/main">
              <a:ext uri="{FF2B5EF4-FFF2-40B4-BE49-F238E27FC236}">
                <a16:creationId xmlns:a16="http://schemas.microsoft.com/office/drawing/2014/main" id="{0A09EF73-A54A-4E3B-9ABD-4C5CD1C4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3028950"/>
            <a:ext cx="12922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Finite output</a:t>
            </a:r>
          </a:p>
        </p:txBody>
      </p:sp>
      <p:cxnSp>
        <p:nvCxnSpPr>
          <p:cNvPr id="92" name="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7893050" y="32289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47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556750" y="32289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57" name="callout">
            <a:extLst xmlns:a="http://schemas.openxmlformats.org/drawingml/2006/main">
              <a:ext uri="{FF2B5EF4-FFF2-40B4-BE49-F238E27FC236}">
                <a16:creationId xmlns:a16="http://schemas.microsoft.com/office/drawing/2014/main" id="{9EF330B2-B400-497B-B7D6-E2C03CAC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Unseen categories map to the fallback. Missing values stay in the denominator so reported frequencies remain honest.</a:t>
            </a:r>
          </a:p>
        </p:txBody>
      </p:sp>
    </p:spTree>
    <p:extLst>
      <p:ext uri="{BB962C8B-B14F-4D97-AF65-F5344CB8AC3E}">
        <p14:creationId xmlns:p14="http://schemas.microsoft.com/office/powerpoint/2010/main" val="71958316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F3EAF-F366-416D-8125-F92734E0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TASK 6 |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C1B4C-890E-47B9-B1C6-059E778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Test invariants before clever encodings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AEF36-F0F8-454A-96DF-B4CAE0C4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18C70-59E6-4611-8202-E84EC855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22" name="flow-1">
            <a:extLst xmlns:a="http://schemas.openxmlformats.org/drawingml/2006/main">
              <a:ext uri="{FF2B5EF4-FFF2-40B4-BE49-F238E27FC236}">
                <a16:creationId xmlns:a16="http://schemas.microsoft.com/office/drawing/2014/main" id="{20919903-0E2D-45C3-804A-F79BC138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2057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85016B-518F-4C43-8264-1E7412FF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4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BE1A7094-4B8B-447F-8E43-C3DD8C1C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47900"/>
            <a:ext cx="1800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TRAIN ONLY</a:t>
            </a:r>
          </a:p>
        </p:txBody>
      </p:sp>
      <p:sp>
        <p:nvSpPr>
          <p:cNvPr id="25" name="flow-1-body">
            <a:extLst xmlns:a="http://schemas.openxmlformats.org/drawingml/2006/main">
              <a:ext uri="{FF2B5EF4-FFF2-40B4-BE49-F238E27FC236}">
                <a16:creationId xmlns:a16="http://schemas.microsoft.com/office/drawing/2014/main" id="{8859447D-BC95-4E54-B4FF-86F58540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33650"/>
            <a:ext cx="18002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No target leakage</a:t>
            </a:r>
          </a:p>
        </p:txBody>
      </p:sp>
      <p:sp>
        <p:nvSpPr>
          <p:cNvPr id="26" name="flow-2">
            <a:extLst xmlns:a="http://schemas.openxmlformats.org/drawingml/2006/main">
              <a:ext uri="{FF2B5EF4-FFF2-40B4-BE49-F238E27FC236}">
                <a16:creationId xmlns:a16="http://schemas.microsoft.com/office/drawing/2014/main" id="{D109F31D-0AF3-4676-B5FB-DFC6F33C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71700"/>
            <a:ext cx="2057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B29B67-A947-4631-9C4E-72C6C310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717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28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820184B3-FEBF-435F-874C-80E9C844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247900"/>
            <a:ext cx="1800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BOUNDED</a:t>
            </a:r>
          </a:p>
        </p:txBody>
      </p:sp>
      <p:sp>
        <p:nvSpPr>
          <p:cNvPr id="29" name="flow-2-body">
            <a:extLst xmlns:a="http://schemas.openxmlformats.org/drawingml/2006/main">
              <a:ext uri="{FF2B5EF4-FFF2-40B4-BE49-F238E27FC236}">
                <a16:creationId xmlns:a16="http://schemas.microsoft.com/office/drawing/2014/main" id="{F24DAAF8-7A93-4354-A69A-4E5AA112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533650"/>
            <a:ext cx="18002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Every score is 0 to 100</a:t>
            </a:r>
          </a:p>
        </p:txBody>
      </p:sp>
      <p:sp>
        <p:nvSpPr>
          <p:cNvPr id="30" name="flow-3">
            <a:extLst xmlns:a="http://schemas.openxmlformats.org/drawingml/2006/main">
              <a:ext uri="{FF2B5EF4-FFF2-40B4-BE49-F238E27FC236}">
                <a16:creationId xmlns:a16="http://schemas.microsoft.com/office/drawing/2014/main" id="{BCB31568-086D-4BED-972C-0519BFF0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71700"/>
            <a:ext cx="2057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AD0870-15C9-4D13-BB63-E10DA073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717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32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AE9E7EBF-ED5D-4056-A57E-F797C5B2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247900"/>
            <a:ext cx="1800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FINITE</a:t>
            </a:r>
          </a:p>
        </p:txBody>
      </p:sp>
      <p:sp>
        <p:nvSpPr>
          <p:cNvPr id="33" name="flow-3-body">
            <a:extLst xmlns:a="http://schemas.openxmlformats.org/drawingml/2006/main">
              <a:ext uri="{FF2B5EF4-FFF2-40B4-BE49-F238E27FC236}">
                <a16:creationId xmlns:a16="http://schemas.microsoft.com/office/drawing/2014/main" id="{9EA6C729-6A44-43E5-91A6-29D9DFEF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533650"/>
            <a:ext cx="18002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No NaN or infinity</a:t>
            </a:r>
          </a:p>
        </p:txBody>
      </p:sp>
      <p:sp>
        <p:nvSpPr>
          <p:cNvPr id="34" name="flow-4">
            <a:extLst xmlns:a="http://schemas.openxmlformats.org/drawingml/2006/main">
              <a:ext uri="{FF2B5EF4-FFF2-40B4-BE49-F238E27FC236}">
                <a16:creationId xmlns:a16="http://schemas.microsoft.com/office/drawing/2014/main" id="{F48AE960-A5D9-43A8-9C18-3D877A7C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71700"/>
            <a:ext cx="2057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F429D-3D07-4A68-A3D9-C07A0CD2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717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36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C060EC74-91E6-48F3-8F8C-1538D922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247900"/>
            <a:ext cx="1800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SCHEMA SAFE</a:t>
            </a:r>
          </a:p>
        </p:txBody>
      </p:sp>
      <p:sp>
        <p:nvSpPr>
          <p:cNvPr id="37" name="flow-4-body">
            <a:extLst xmlns:a="http://schemas.openxmlformats.org/drawingml/2006/main">
              <a:ext uri="{FF2B5EF4-FFF2-40B4-BE49-F238E27FC236}">
                <a16:creationId xmlns:a16="http://schemas.microsoft.com/office/drawing/2014/main" id="{A9E2CA42-D79B-490D-9271-234269E4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533650"/>
            <a:ext cx="18002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Columns stay predictable</a:t>
            </a:r>
          </a:p>
        </p:txBody>
      </p:sp>
      <p:sp>
        <p:nvSpPr>
          <p:cNvPr id="38" name="flow-5">
            <a:extLst xmlns:a="http://schemas.openxmlformats.org/drawingml/2006/main">
              <a:ext uri="{FF2B5EF4-FFF2-40B4-BE49-F238E27FC236}">
                <a16:creationId xmlns:a16="http://schemas.microsoft.com/office/drawing/2014/main" id="{62CDF7BE-9F05-43F7-817D-93FBC083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71700"/>
            <a:ext cx="2057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B83A3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DC1526-645D-4321-BCDD-0BC54AF1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717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A3A"/>
          </a:solidFill>
          <a:ln xmlns:a="http://schemas.openxmlformats.org/drawingml/2006/main" w="0">
            <a:solidFill>
              <a:srgbClr val="B83A3A"/>
            </a:solidFill>
            <a:prstDash val="solid"/>
          </a:ln>
        </p:spPr>
      </p:sp>
      <p:sp>
        <p:nvSpPr>
          <p:cNvPr id="40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6A3CE37F-E789-425A-8000-FDE9EB34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247900"/>
            <a:ext cx="1800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UNSEEN SAFE</a:t>
            </a:r>
          </a:p>
        </p:txBody>
      </p:sp>
      <p:sp>
        <p:nvSpPr>
          <p:cNvPr id="41" name="flow-5-body">
            <a:extLst xmlns:a="http://schemas.openxmlformats.org/drawingml/2006/main">
              <a:ext uri="{FF2B5EF4-FFF2-40B4-BE49-F238E27FC236}">
                <a16:creationId xmlns:a16="http://schemas.microsoft.com/office/drawing/2014/main" id="{053CE66A-5565-465C-9CC8-8CFF22D8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533650"/>
            <a:ext cx="18002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Fallback is deterministic</a:t>
            </a:r>
          </a:p>
        </p:txBody>
      </p:sp>
      <p:cxnSp>
        <p:nvCxnSpPr>
          <p:cNvPr id="71" name=""/>
          <p:cNvCxnSpPr>
            <a:stCxn xmlns:a="http://schemas.openxmlformats.org/drawingml/2006/main" id="22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2743200" y="28479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26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4933950" y="28479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30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7124700" y="28479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34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9315450" y="28479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6" name="decision">
            <a:extLst xmlns:a="http://schemas.openxmlformats.org/drawingml/2006/main">
              <a:ext uri="{FF2B5EF4-FFF2-40B4-BE49-F238E27FC236}">
                <a16:creationId xmlns:a16="http://schemas.microsoft.com/office/drawing/2014/main" id="{264EF895-0FFA-4976-8842-F6EDC70A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95750"/>
            <a:ext cx="8877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If labels and more data become available: compare cross-fitted target encoding or CatBoost, then retain the same leakage tests.</a:t>
            </a:r>
          </a:p>
        </p:txBody>
      </p:sp>
    </p:spTree>
    <p:extLst>
      <p:ext uri="{BB962C8B-B14F-4D97-AF65-F5344CB8AC3E}">
        <p14:creationId xmlns:p14="http://schemas.microsoft.com/office/powerpoint/2010/main" val="16521334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9DB538-6159-4A6C-B52C-EB43DA26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ED7B0E-7852-4029-B2EC-7E242A30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 clean computer is part of the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BCD51-46C0-4C04-828A-AD78D768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B82CC-B193-47A3-8969-F9347401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0" name="flow-1">
            <a:extLst xmlns:a="http://schemas.openxmlformats.org/drawingml/2006/main">
              <a:ext uri="{FF2B5EF4-FFF2-40B4-BE49-F238E27FC236}">
                <a16:creationId xmlns:a16="http://schemas.microsoft.com/office/drawing/2014/main" id="{A5D41D89-7B2E-4DA6-96B9-81CB657D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BF84D9-5A3D-457B-83AD-04B07378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2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75D98239-B38D-477F-B548-1A91FF26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GIT CLONE</a:t>
            </a:r>
          </a:p>
        </p:txBody>
      </p:sp>
      <p:sp>
        <p:nvSpPr>
          <p:cNvPr id="23" name="flow-1-body">
            <a:extLst xmlns:a="http://schemas.openxmlformats.org/drawingml/2006/main">
              <a:ext uri="{FF2B5EF4-FFF2-40B4-BE49-F238E27FC236}">
                <a16:creationId xmlns:a16="http://schemas.microsoft.com/office/drawing/2014/main" id="{F26843F4-1FF1-4A7E-A497-9D8C299C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62890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Public GitHub</a:t>
            </a:r>
          </a:p>
        </p:txBody>
      </p:sp>
      <p:sp>
        <p:nvSpPr>
          <p:cNvPr id="24" name="flow-2">
            <a:extLst xmlns:a="http://schemas.openxmlformats.org/drawingml/2006/main">
              <a:ext uri="{FF2B5EF4-FFF2-40B4-BE49-F238E27FC236}">
                <a16:creationId xmlns:a16="http://schemas.microsoft.com/office/drawing/2014/main" id="{B7617E5A-9E61-4333-9BBE-6C840910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6695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466DD1-262E-4507-A3A6-A295352C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26695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26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556D8CD2-A874-4C7C-A856-18A0127F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ADD INPUTS</a:t>
            </a:r>
          </a:p>
        </p:txBody>
      </p:sp>
      <p:sp>
        <p:nvSpPr>
          <p:cNvPr id="27" name="flow-2-body">
            <a:extLst xmlns:a="http://schemas.openxmlformats.org/drawingml/2006/main">
              <a:ext uri="{FF2B5EF4-FFF2-40B4-BE49-F238E27FC236}">
                <a16:creationId xmlns:a16="http://schemas.microsoft.com/office/drawing/2014/main" id="{9C51134A-927F-4FC7-A0F8-875AD807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25" y="262890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Original tables stay local</a:t>
            </a:r>
          </a:p>
        </p:txBody>
      </p:sp>
      <p:sp>
        <p:nvSpPr>
          <p:cNvPr id="28" name="flow-3">
            <a:extLst xmlns:a="http://schemas.openxmlformats.org/drawingml/2006/main">
              <a:ext uri="{FF2B5EF4-FFF2-40B4-BE49-F238E27FC236}">
                <a16:creationId xmlns:a16="http://schemas.microsoft.com/office/drawing/2014/main" id="{7EDA12B8-E067-4047-B116-2063EE5E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6695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1246F7-7718-495E-8242-C0B2D92F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26695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0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F3B0D944-83BA-4CE4-8BC7-6909B3D7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MAKE</a:t>
            </a:r>
          </a:p>
        </p:txBody>
      </p:sp>
      <p:sp>
        <p:nvSpPr>
          <p:cNvPr id="31" name="flow-3-body">
            <a:extLst xmlns:a="http://schemas.openxmlformats.org/drawingml/2006/main">
              <a:ext uri="{FF2B5EF4-FFF2-40B4-BE49-F238E27FC236}">
                <a16:creationId xmlns:a16="http://schemas.microsoft.com/office/drawing/2014/main" id="{5D13EC35-198E-47D9-8280-9999E868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75" y="262890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local-submission</a:t>
            </a:r>
          </a:p>
        </p:txBody>
      </p:sp>
      <p:sp>
        <p:nvSpPr>
          <p:cNvPr id="32" name="flow-4">
            <a:extLst xmlns:a="http://schemas.openxmlformats.org/drawingml/2006/main">
              <a:ext uri="{FF2B5EF4-FFF2-40B4-BE49-F238E27FC236}">
                <a16:creationId xmlns:a16="http://schemas.microsoft.com/office/drawing/2014/main" id="{BB28635B-A380-4D13-9C1D-27C5B24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EF5D01-6924-46D7-8EC3-EE147652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4" name="flow-4-title">
            <a:extLst xmlns:a="http://schemas.openxmlformats.org/drawingml/2006/main">
              <a:ext uri="{FF2B5EF4-FFF2-40B4-BE49-F238E27FC236}">
                <a16:creationId xmlns:a16="http://schemas.microsoft.com/office/drawing/2014/main" id="{2D92BBDA-3470-47C5-BD7E-2B2F815E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UV SYNC</a:t>
            </a:r>
          </a:p>
        </p:txBody>
      </p:sp>
      <p:sp>
        <p:nvSpPr>
          <p:cNvPr id="35" name="flow-4-body">
            <a:extLst xmlns:a="http://schemas.openxmlformats.org/drawingml/2006/main">
              <a:ext uri="{FF2B5EF4-FFF2-40B4-BE49-F238E27FC236}">
                <a16:creationId xmlns:a16="http://schemas.microsoft.com/office/drawing/2014/main" id="{AD7BB9BE-9C6E-4C24-B52F-D76683B1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2890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Locked dependencies</a:t>
            </a:r>
          </a:p>
        </p:txBody>
      </p:sp>
      <p:sp>
        <p:nvSpPr>
          <p:cNvPr id="36" name="flow-5">
            <a:extLst xmlns:a="http://schemas.openxmlformats.org/drawingml/2006/main">
              <a:ext uri="{FF2B5EF4-FFF2-40B4-BE49-F238E27FC236}">
                <a16:creationId xmlns:a16="http://schemas.microsoft.com/office/drawing/2014/main" id="{5533E4F8-CB1D-4991-9C9F-A0027A6A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6695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58BB89-F356-431E-AD26-3CBC55FF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26695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38" name="flow-5-title">
            <a:extLst xmlns:a="http://schemas.openxmlformats.org/drawingml/2006/main">
              <a:ext uri="{FF2B5EF4-FFF2-40B4-BE49-F238E27FC236}">
                <a16:creationId xmlns:a16="http://schemas.microsoft.com/office/drawing/2014/main" id="{59C6F4DC-DBF3-432C-8BAA-2DE76011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TEST</a:t>
            </a:r>
          </a:p>
        </p:txBody>
      </p:sp>
      <p:sp>
        <p:nvSpPr>
          <p:cNvPr id="39" name="flow-5-body">
            <a:extLst xmlns:a="http://schemas.openxmlformats.org/drawingml/2006/main">
              <a:ext uri="{FF2B5EF4-FFF2-40B4-BE49-F238E27FC236}">
                <a16:creationId xmlns:a16="http://schemas.microsoft.com/office/drawing/2014/main" id="{AF9938F0-A5F1-4C9E-A9F5-4B62435D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262890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All six tasks</a:t>
            </a:r>
          </a:p>
        </p:txBody>
      </p:sp>
      <p:sp>
        <p:nvSpPr>
          <p:cNvPr id="40" name="flow-6">
            <a:extLst xmlns:a="http://schemas.openxmlformats.org/drawingml/2006/main">
              <a:ext uri="{FF2B5EF4-FFF2-40B4-BE49-F238E27FC236}">
                <a16:creationId xmlns:a16="http://schemas.microsoft.com/office/drawing/2014/main" id="{1951CF50-92C7-4B84-AC85-30477CC2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66950"/>
            <a:ext cx="17081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267A5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E37215-8655-4CF9-BC8F-37EBCACD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050" y="2266950"/>
            <a:ext cx="666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A53"/>
          </a:solidFill>
          <a:ln xmlns:a="http://schemas.openxmlformats.org/drawingml/2006/main" w="0">
            <a:solidFill>
              <a:srgbClr val="267A53"/>
            </a:solidFill>
            <a:prstDash val="solid"/>
          </a:ln>
        </p:spPr>
      </p:sp>
      <p:sp>
        <p:nvSpPr>
          <p:cNvPr id="42" name="flow-6-title">
            <a:extLst xmlns:a="http://schemas.openxmlformats.org/drawingml/2006/main">
              <a:ext uri="{FF2B5EF4-FFF2-40B4-BE49-F238E27FC236}">
                <a16:creationId xmlns:a16="http://schemas.microsoft.com/office/drawing/2014/main" id="{187D493D-C97A-4866-AC22-B6BAFF84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343150"/>
            <a:ext cx="1450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HTTP SMOKE</a:t>
            </a:r>
          </a:p>
        </p:txBody>
      </p:sp>
      <p:sp>
        <p:nvSpPr>
          <p:cNvPr id="43" name="flow-6-body">
            <a:extLst xmlns:a="http://schemas.openxmlformats.org/drawingml/2006/main">
              <a:ext uri="{FF2B5EF4-FFF2-40B4-BE49-F238E27FC236}">
                <a16:creationId xmlns:a16="http://schemas.microsoft.com/office/drawing/2014/main" id="{A33CDE09-47DE-4462-B3E6-3DE161A9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925" y="2628900"/>
            <a:ext cx="14509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Agent API</a:t>
            </a:r>
          </a:p>
        </p:txBody>
      </p:sp>
      <p:cxnSp>
        <p:nvCxnSpPr>
          <p:cNvPr id="78" name=""/>
          <p:cNvCxnSpPr>
            <a:stCxn xmlns:a="http://schemas.openxmlformats.org/drawingml/2006/main" id="2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393950" y="29718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79" name=""/>
          <p:cNvCxnSpPr>
            <a:stCxn xmlns:a="http://schemas.openxmlformats.org/drawingml/2006/main" id="24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4216400" y="29718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0" name=""/>
          <p:cNvCxnSpPr>
            <a:stCxn xmlns:a="http://schemas.openxmlformats.org/drawingml/2006/main" id="28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6038850" y="29718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32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7861300" y="29718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82" name=""/>
          <p:cNvCxnSpPr>
            <a:stCxn xmlns:a="http://schemas.openxmlformats.org/drawingml/2006/main" id="36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9683750" y="29718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49" name="callout">
            <a:extLst xmlns:a="http://schemas.openxmlformats.org/drawingml/2006/main">
              <a:ext uri="{FF2B5EF4-FFF2-40B4-BE49-F238E27FC236}">
                <a16:creationId xmlns:a16="http://schemas.microsoft.com/office/drawing/2014/main" id="{ED4CB72A-F479-435B-9FA7-A88D5A06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DE7E5"/>
          </a:solidFill>
          <a:ln xmlns:a="http://schemas.openxmlformats.org/drawingml/2006/main" w="11906">
            <a:solidFill>
              <a:srgbClr val="FDE7E5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Generated artifacts, credentials, Terraform state and source datasets are excluded from version control.</a:t>
            </a:r>
          </a:p>
        </p:txBody>
      </p:sp>
    </p:spTree>
    <p:extLst>
      <p:ext uri="{BB962C8B-B14F-4D97-AF65-F5344CB8AC3E}">
        <p14:creationId xmlns:p14="http://schemas.microsoft.com/office/powerpoint/2010/main" val="8230343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C8756F-C5BD-4A93-A20E-131FA753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D31A5-C421-470D-A2CA-572280A4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Evidence from the release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32E87-47FF-44C3-938B-DF635E97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BCF26-582A-418E-A57D-249DEF9D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24" name="lane">
            <a:extLst xmlns:a="http://schemas.openxmlformats.org/drawingml/2006/main">
              <a:ext uri="{FF2B5EF4-FFF2-40B4-BE49-F238E27FC236}">
                <a16:creationId xmlns:a16="http://schemas.microsoft.com/office/drawing/2014/main" id="{345128A0-5B6F-45E9-94D1-890D5029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2197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5" name="pill">
            <a:extLst xmlns:a="http://schemas.openxmlformats.org/drawingml/2006/main">
              <a:ext uri="{FF2B5EF4-FFF2-40B4-BE49-F238E27FC236}">
                <a16:creationId xmlns:a16="http://schemas.microsoft.com/office/drawing/2014/main" id="{2EC87C52-6459-4E08-B165-EAFA7B50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CLEAN-CLONE ACCEPTANCE</a:t>
            </a:r>
          </a:p>
        </p:txBody>
      </p:sp>
      <p:sp>
        <p:nvSpPr>
          <p:cNvPr id="2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5441823A-DF67-41E6-B82D-9DD2FC49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1,354</a:t>
            </a:r>
          </a:p>
        </p:txBody>
      </p:sp>
      <p:sp>
        <p:nvSpPr>
          <p:cNvPr id="2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1BE51EF1-4B5A-415E-A2EB-1E200429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90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Tests passed</a:t>
            </a:r>
          </a:p>
        </p:txBody>
      </p:sp>
      <p:sp>
        <p:nvSpPr>
          <p:cNvPr id="28" name="metric-note">
            <a:extLst xmlns:a="http://schemas.openxmlformats.org/drawingml/2006/main">
              <a:ext uri="{FF2B5EF4-FFF2-40B4-BE49-F238E27FC236}">
                <a16:creationId xmlns:a16="http://schemas.microsoft.com/office/drawing/2014/main" id="{9A44B194-A77A-4F3A-8D7E-DC585A73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337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All six tasks.</a:t>
            </a:r>
          </a:p>
        </p:txBody>
      </p:sp>
      <p:sp>
        <p:nvSpPr>
          <p:cNvPr id="2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CA8994E4-C9FF-445F-8609-04A145C9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812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F0E363EA-E504-4896-90A0-9351F6F7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90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Tests skipped</a:t>
            </a:r>
          </a:p>
        </p:txBody>
      </p:sp>
      <p:sp>
        <p:nvSpPr>
          <p:cNvPr id="31" name="metric-note">
            <a:extLst xmlns:a="http://schemas.openxmlformats.org/drawingml/2006/main">
              <a:ext uri="{FF2B5EF4-FFF2-40B4-BE49-F238E27FC236}">
                <a16:creationId xmlns:a16="http://schemas.microsoft.com/office/drawing/2014/main" id="{3295C6E9-8C8F-4284-9135-4E6A280A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Explicit optional paths.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D8F49FB4-8923-42D7-9159-00D29199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67150"/>
            <a:ext cx="4152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4771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HTTP acceptance passed</a:t>
            </a:r>
          </a:p>
          <a:p xmlns:a="http://schemas.openxmlformats.org/drawingml/2006/main">
            <a:pPr algn="ctr">
              <a:defRPr sz="1275" b="1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101.55 s total</a:t>
            </a:r>
          </a:p>
          <a:p xmlns:a="http://schemas.openxmlformats.org/drawingml/2006/main">
            <a:pPr algn="ctr">
              <a:defRPr sz="1275" b="1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4 non-failing warnings</a:t>
            </a:r>
          </a:p>
        </p:txBody>
      </p:sp>
      <p:sp>
        <p:nvSpPr>
          <p:cNvPr id="33" name="lane">
            <a:extLst xmlns:a="http://schemas.openxmlformats.org/drawingml/2006/main">
              <a:ext uri="{FF2B5EF4-FFF2-40B4-BE49-F238E27FC236}">
                <a16:creationId xmlns:a16="http://schemas.microsoft.com/office/drawing/2014/main" id="{C40FBAF5-E40F-49F1-AE65-E932126B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5372100" cy="300990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34" name="pill">
            <a:extLst xmlns:a="http://schemas.openxmlformats.org/drawingml/2006/main">
              <a:ext uri="{FF2B5EF4-FFF2-40B4-BE49-F238E27FC236}">
                <a16:creationId xmlns:a16="http://schemas.microsoft.com/office/drawing/2014/main" id="{4A7BE0F3-F675-48DB-AAF4-D61BF6F2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463EB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463EB"/>
                </a:solidFill>
                <a:latin typeface="Calibri"/>
                <a:ea typeface="Calibri"/>
                <a:cs typeface="Calibri"/>
              </a:rPr>
              <a:t>PROTECTED CLOUD RELEASE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AF483729-58C7-475D-9C99-2BE09129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2410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Tests → BuildKit → Trivy → SBOM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AE2E67EC-796D-4313-82F4-B54A0F7C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33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Exact SHA and digest</a:t>
            </a:r>
          </a:p>
          <a:p xmlns:a="http://schemas.openxmlformats.org/drawingml/2006/main">
            <a:pPr algn="ctr">
              <a:defRPr sz="13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WIF credentials</a:t>
            </a:r>
          </a:p>
          <a:p xmlns:a="http://schemas.openxmlformats.org/drawingml/2006/main">
            <a:pPr algn="ctr">
              <a:defRPr sz="1350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Terraform plan and apply gates</a:t>
            </a:r>
          </a:p>
        </p:txBody>
      </p:sp>
      <p:sp>
        <p:nvSpPr>
          <p:cNvPr id="37" name="callout">
            <a:extLst xmlns:a="http://schemas.openxmlformats.org/drawingml/2006/main">
              <a:ext uri="{FF2B5EF4-FFF2-40B4-BE49-F238E27FC236}">
                <a16:creationId xmlns:a16="http://schemas.microsoft.com/office/drawing/2014/main" id="{BCFDFDD5-1DE4-4239-BFB0-EBB2642D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cloud smoke test runs after Terraform finishes and checks authenticated API behavior, scale caps and the EUR 5 budget.</a:t>
            </a:r>
          </a:p>
        </p:txBody>
      </p:sp>
    </p:spTree>
    <p:extLst>
      <p:ext uri="{BB962C8B-B14F-4D97-AF65-F5344CB8AC3E}">
        <p14:creationId xmlns:p14="http://schemas.microsoft.com/office/powerpoint/2010/main" val="118337899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CF6DFD-AE20-462A-B42E-1329343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PRODUCTION READINESS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184F8-5318-4828-8C02-1ED6C8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Scale the boundaries, not the shortcuts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C0CBD-A148-4C07-8D71-0E795B8B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704B4-712D-4420-AA8F-64FE0E05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8" name="lane">
            <a:extLst xmlns:a="http://schemas.openxmlformats.org/drawingml/2006/main">
              <a:ext uri="{FF2B5EF4-FFF2-40B4-BE49-F238E27FC236}">
                <a16:creationId xmlns:a16="http://schemas.microsoft.com/office/drawing/2014/main" id="{5C236EC5-6358-41E0-9291-53203CDF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219700" cy="312420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19" name="pill">
            <a:extLst xmlns:a="http://schemas.openxmlformats.org/drawingml/2006/main">
              <a:ext uri="{FF2B5EF4-FFF2-40B4-BE49-F238E27FC236}">
                <a16:creationId xmlns:a16="http://schemas.microsoft.com/office/drawing/2014/main" id="{78875385-3D5E-4A72-B16D-8E897B52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267A53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67A53"/>
                </a:solidFill>
                <a:latin typeface="Calibri"/>
                <a:ea typeface="Calibri"/>
                <a:cs typeface="Calibri"/>
              </a:rPr>
              <a:t>IMPLEMENTED NOW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52A37AF4-81CB-4A4E-9F09-EF442666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43434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Bounded evidence agent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Durable multi-tenant API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Serverless queue and state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Terraform and protected CI/CD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Cost and security controls</a:t>
            </a:r>
          </a:p>
        </p:txBody>
      </p:sp>
      <p:sp>
        <p:nvSpPr>
          <p:cNvPr id="21" name="lane">
            <a:extLst xmlns:a="http://schemas.openxmlformats.org/drawingml/2006/main">
              <a:ext uri="{FF2B5EF4-FFF2-40B4-BE49-F238E27FC236}">
                <a16:creationId xmlns:a16="http://schemas.microsoft.com/office/drawing/2014/main" id="{76DB9648-92E8-4BEF-BF79-F63E8E9D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5372100" cy="312420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AFC0BD"/>
            </a:solidFill>
            <a:prstDash val="solid"/>
          </a:ln>
        </p:spPr>
      </p:sp>
      <p:sp>
        <p:nvSpPr>
          <p:cNvPr id="22" name="pill">
            <a:extLst xmlns:a="http://schemas.openxmlformats.org/drawingml/2006/main">
              <a:ext uri="{FF2B5EF4-FFF2-40B4-BE49-F238E27FC236}">
                <a16:creationId xmlns:a16="http://schemas.microsoft.com/office/drawing/2014/main" id="{A3D1C5D4-796D-4225-9112-4839F641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669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E9F0FF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557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66A19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C66A19"/>
                </a:solidFill>
                <a:latin typeface="Calibri"/>
                <a:ea typeface="Calibri"/>
                <a:cs typeface="Calibri"/>
              </a:rPr>
              <a:t>NEXT AT PRODUCTION LOAD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7A8EBC0C-7F7B-4479-94CA-7EE71623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266950"/>
            <a:ext cx="44196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Dedicated model plane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SLOs and autoscaling policy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Managed data retention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Offline evaluation registry</a:t>
            </a:r>
          </a:p>
          <a:p xmlns:a="http://schemas.openxmlformats.org/drawingml/2006/main">
            <a:pPr algn="l">
              <a:defRPr sz="16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Drift and quality monitoring</a:t>
            </a:r>
          </a:p>
        </p:txBody>
      </p:sp>
      <p:sp>
        <p:nvSpPr>
          <p:cNvPr id="24" name="callout">
            <a:extLst xmlns:a="http://schemas.openxmlformats.org/drawingml/2006/main">
              <a:ext uri="{FF2B5EF4-FFF2-40B4-BE49-F238E27FC236}">
                <a16:creationId xmlns:a16="http://schemas.microsoft.com/office/drawing/2014/main" id="{240CFE03-9B4F-4C23-A6FC-001B117D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E0F3F1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The assessment caps capacity to protect cost. The architecture keeps compute, queueing, state and inference independently scalable.</a:t>
            </a:r>
          </a:p>
        </p:txBody>
      </p:sp>
    </p:spTree>
    <p:extLst>
      <p:ext uri="{BB962C8B-B14F-4D97-AF65-F5344CB8AC3E}">
        <p14:creationId xmlns:p14="http://schemas.microsoft.com/office/powerpoint/2010/main" val="13573637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A8E43-E1AF-4A1F-8133-0E3F10C6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64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7A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7A75"/>
                </a:solidFill>
                <a:latin typeface="Calibri"/>
                <a:ea typeface="Calibri"/>
                <a:cs typeface="Calibri"/>
              </a:rPr>
              <a:t>CLOSING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BC4402-2031-41C4-ABAC-29540323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A system that fails predictably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310E4-7E37-4F19-BE69-431397BC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FC0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DC6F7-0037-4C5D-86CB-64F77607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38461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975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sp>
        <p:nvSpPr>
          <p:cNvPr id="15" name="close-evidence">
            <a:extLst xmlns:a="http://schemas.openxmlformats.org/drawingml/2006/main">
              <a:ext uri="{FF2B5EF4-FFF2-40B4-BE49-F238E27FC236}">
                <a16:creationId xmlns:a16="http://schemas.microsoft.com/office/drawing/2014/main" id="{F873953F-485A-44F7-8AC5-D1E18713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2857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0F3F1"/>
          </a:solidFill>
          <a:ln xmlns:a="http://schemas.openxmlformats.org/drawingml/2006/main" w="11906">
            <a:solidFill>
              <a:srgbClr val="007A7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6A5FA-A002-44B9-B508-AACFB2B7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75"/>
          </a:solidFill>
          <a:ln xmlns:a="http://schemas.openxmlformats.org/drawingml/2006/main" w="0">
            <a:solidFill>
              <a:srgbClr val="007A75"/>
            </a:solidFill>
            <a:prstDash val="solid"/>
          </a:ln>
        </p:spPr>
      </p:sp>
      <p:sp>
        <p:nvSpPr>
          <p:cNvPr id="17" name="close-evidence-title">
            <a:extLst xmlns:a="http://schemas.openxmlformats.org/drawingml/2006/main">
              <a:ext uri="{FF2B5EF4-FFF2-40B4-BE49-F238E27FC236}">
                <a16:creationId xmlns:a16="http://schemas.microsoft.com/office/drawing/2014/main" id="{F4F4FBF4-98D8-419C-8192-7626E726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324100"/>
            <a:ext cx="2600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EVIDENCE FIRST</a:t>
            </a:r>
          </a:p>
        </p:txBody>
      </p:sp>
      <p:sp>
        <p:nvSpPr>
          <p:cNvPr id="18" name="close-evidence-body">
            <a:extLst xmlns:a="http://schemas.openxmlformats.org/drawingml/2006/main">
              <a:ext uri="{FF2B5EF4-FFF2-40B4-BE49-F238E27FC236}">
                <a16:creationId xmlns:a16="http://schemas.microsoft.com/office/drawing/2014/main" id="{44CE4982-F898-4EB4-8390-9D0B8EF4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609850"/>
            <a:ext cx="26003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Claims trace back to retrieved sources.</a:t>
            </a:r>
          </a:p>
        </p:txBody>
      </p:sp>
      <p:sp>
        <p:nvSpPr>
          <p:cNvPr id="19" name="close-api">
            <a:extLst xmlns:a="http://schemas.openxmlformats.org/drawingml/2006/main">
              <a:ext uri="{FF2B5EF4-FFF2-40B4-BE49-F238E27FC236}">
                <a16:creationId xmlns:a16="http://schemas.microsoft.com/office/drawing/2014/main" id="{8C8A16F1-1A4A-4362-AB21-23E43EDA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47900"/>
            <a:ext cx="2857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11906">
            <a:solidFill>
              <a:srgbClr val="24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F2E6A-5CF6-4932-BEFE-A50929CA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479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3EB"/>
          </a:solidFill>
          <a:ln xmlns:a="http://schemas.openxmlformats.org/drawingml/2006/main" w="0">
            <a:solidFill>
              <a:srgbClr val="2463EB"/>
            </a:solidFill>
            <a:prstDash val="solid"/>
          </a:ln>
        </p:spPr>
      </p:sp>
      <p:sp>
        <p:nvSpPr>
          <p:cNvPr id="21" name="close-api-title">
            <a:extLst xmlns:a="http://schemas.openxmlformats.org/drawingml/2006/main">
              <a:ext uri="{FF2B5EF4-FFF2-40B4-BE49-F238E27FC236}">
                <a16:creationId xmlns:a16="http://schemas.microsoft.com/office/drawing/2014/main" id="{48D4261C-9253-47D2-BED8-7CD178DC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24100"/>
            <a:ext cx="2600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DURABLE BOUNDARY</a:t>
            </a:r>
          </a:p>
        </p:txBody>
      </p:sp>
      <p:sp>
        <p:nvSpPr>
          <p:cNvPr id="22" name="close-api-body">
            <a:extLst xmlns:a="http://schemas.openxmlformats.org/drawingml/2006/main">
              <a:ext uri="{FF2B5EF4-FFF2-40B4-BE49-F238E27FC236}">
                <a16:creationId xmlns:a16="http://schemas.microsoft.com/office/drawing/2014/main" id="{EAA05D6B-A802-4736-AC4C-A1091159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09850"/>
            <a:ext cx="26003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Long work becomes an observable job.</a:t>
            </a:r>
          </a:p>
        </p:txBody>
      </p:sp>
      <p:sp>
        <p:nvSpPr>
          <p:cNvPr id="23" name="close-delivery">
            <a:extLst xmlns:a="http://schemas.openxmlformats.org/drawingml/2006/main">
              <a:ext uri="{FF2B5EF4-FFF2-40B4-BE49-F238E27FC236}">
                <a16:creationId xmlns:a16="http://schemas.microsoft.com/office/drawing/2014/main" id="{1DE6AB50-029D-4718-A543-D4C17DE3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2857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0DF"/>
          </a:solidFill>
          <a:ln xmlns:a="http://schemas.openxmlformats.org/drawingml/2006/main" w="11906">
            <a:solidFill>
              <a:srgbClr val="C66A1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9AB792-1BCC-4AD4-B9BA-A878345C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A19"/>
          </a:solidFill>
          <a:ln xmlns:a="http://schemas.openxmlformats.org/drawingml/2006/main" w="0">
            <a:solidFill>
              <a:srgbClr val="C66A19"/>
            </a:solidFill>
            <a:prstDash val="solid"/>
          </a:ln>
        </p:spPr>
      </p:sp>
      <p:sp>
        <p:nvSpPr>
          <p:cNvPr id="25" name="close-delivery-title">
            <a:extLst xmlns:a="http://schemas.openxmlformats.org/drawingml/2006/main">
              <a:ext uri="{FF2B5EF4-FFF2-40B4-BE49-F238E27FC236}">
                <a16:creationId xmlns:a16="http://schemas.microsoft.com/office/drawing/2014/main" id="{B040A5AE-4BE8-4017-8FCE-D9775643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324100"/>
            <a:ext cx="2600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IMMUTABLE DELIVERY</a:t>
            </a:r>
          </a:p>
        </p:txBody>
      </p:sp>
      <p:sp>
        <p:nvSpPr>
          <p:cNvPr id="26" name="close-delivery-body">
            <a:extLst xmlns:a="http://schemas.openxmlformats.org/drawingml/2006/main">
              <a:ext uri="{FF2B5EF4-FFF2-40B4-BE49-F238E27FC236}">
                <a16:creationId xmlns:a16="http://schemas.microsoft.com/office/drawing/2014/main" id="{37A4DE7D-3D59-4C53-A271-F6A1A12D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609850"/>
            <a:ext cx="26003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27579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627579"/>
                </a:solidFill>
                <a:latin typeface="Calibri"/>
                <a:ea typeface="Calibri"/>
                <a:cs typeface="Calibri"/>
              </a:rPr>
              <a:t>The tested digest is the deployed digest.</a:t>
            </a:r>
          </a:p>
        </p:txBody>
      </p:sp>
      <p:cxnSp>
        <p:nvCxnSpPr>
          <p:cNvPr id="47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981450" y="29622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524750" y="29622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FC0BD"/>
            </a:solidFill>
            <a:prstDash val="solid"/>
            <a:tailEnd type="triangle" w="sm" len="sm"/>
          </a:ln>
        </p:spPr>
      </p:cxn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BC9D93BC-43A3-4B42-A8D5-BCA10E02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29100"/>
            <a:ext cx="937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Tasks 4 to 6 add the same discipline offline: leakage-aware splits, honest retrieval limits and train-only transforms.</a:t>
            </a:r>
          </a:p>
        </p:txBody>
      </p:sp>
      <p:sp>
        <p:nvSpPr>
          <p:cNvPr id="30" name="callout">
            <a:extLst xmlns:a="http://schemas.openxmlformats.org/drawingml/2006/main">
              <a:ext uri="{FF2B5EF4-FFF2-40B4-BE49-F238E27FC236}">
                <a16:creationId xmlns:a16="http://schemas.microsoft.com/office/drawing/2014/main" id="{FD591C47-2360-45A6-B34E-F0D60BB3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9700"/>
            <a:ext cx="99441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3F2E9"/>
          </a:solidFill>
          <a:ln xmlns:a="http://schemas.openxmlformats.org/drawingml/2006/main" w="11906">
            <a:solidFill>
              <a:srgbClr val="E3F2E9"/>
            </a:solidFill>
            <a:prstDash val="solid"/>
          </a:ln>
        </p:spPr>
        <p:txBody>
          <a:bodyPr xmlns:a="http://schemas.openxmlformats.org/drawingml/2006/main" wrap="square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43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7343A"/>
                </a:solidFill>
                <a:latin typeface="Calibri"/>
                <a:ea typeface="Calibri"/>
                <a:cs typeface="Calibri"/>
              </a:rPr>
              <a:t>Repository, deployment guide, Terraform and conference deck are ready to hand over.</a:t>
            </a:r>
          </a:p>
        </p:txBody>
      </p:sp>
    </p:spTree>
    <p:extLst>
      <p:ext uri="{BB962C8B-B14F-4D97-AF65-F5344CB8AC3E}">
        <p14:creationId xmlns:p14="http://schemas.microsoft.com/office/powerpoint/2010/main" val="309986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2026-08-30T13:18:08.4050000Z</dcterms:created>
  <dcterms:modified xsi:type="dcterms:W3CDTF">2026-08-30T13:18:08.4050000Z</dcterms:modified>
</coreProperties>
</file>